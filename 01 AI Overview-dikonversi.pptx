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644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9124" y="366521"/>
            <a:ext cx="1075375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1D1D1B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fld id="{81D60167-4931-47E6-BA6A-407CBD079E47}" type="slidenum">
              <a:rPr spc="15" dirty="0"/>
              <a:t>‹#›</a:t>
            </a:fld>
            <a:r>
              <a:rPr spc="15" dirty="0"/>
              <a:t>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1D1D1B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fld id="{81D60167-4931-47E6-BA6A-407CBD079E47}" type="slidenum">
              <a:rPr spc="15" dirty="0"/>
              <a:t>‹#›</a:t>
            </a:fld>
            <a:r>
              <a:rPr spc="15" dirty="0"/>
              <a:t>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1D1D1B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fld id="{81D60167-4931-47E6-BA6A-407CBD079E47}" type="slidenum">
              <a:rPr spc="15" dirty="0"/>
              <a:t>‹#›</a:t>
            </a:fld>
            <a:r>
              <a:rPr spc="15" dirty="0"/>
              <a:t>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1D1D1B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fld id="{81D60167-4931-47E6-BA6A-407CBD079E47}" type="slidenum">
              <a:rPr spc="15" dirty="0"/>
              <a:t>‹#›</a:t>
            </a:fld>
            <a:r>
              <a:rPr spc="15" dirty="0"/>
              <a:t>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1D1D1B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fld id="{81D60167-4931-47E6-BA6A-407CBD079E47}" type="slidenum">
              <a:rPr spc="15" dirty="0"/>
              <a:t>‹#›</a:t>
            </a:fld>
            <a:r>
              <a:rPr spc="15" dirty="0"/>
              <a:t>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9124" y="366521"/>
            <a:ext cx="10753750" cy="953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8283" y="2078735"/>
            <a:ext cx="942467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1D1D1B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fld id="{81D60167-4931-47E6-BA6A-407CBD079E47}" type="slidenum">
              <a:rPr spc="15" dirty="0"/>
              <a:t>‹#›</a:t>
            </a:fld>
            <a:r>
              <a:rPr spc="15" dirty="0"/>
              <a:t>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g"/><Relationship Id="rId13" Type="http://schemas.openxmlformats.org/officeDocument/2006/relationships/image" Target="../media/image62.png"/><Relationship Id="rId18" Type="http://schemas.openxmlformats.org/officeDocument/2006/relationships/image" Target="../media/image67.jpg"/><Relationship Id="rId3" Type="http://schemas.openxmlformats.org/officeDocument/2006/relationships/image" Target="../media/image52.png"/><Relationship Id="rId7" Type="http://schemas.openxmlformats.org/officeDocument/2006/relationships/image" Target="../media/image56.jpg"/><Relationship Id="rId12" Type="http://schemas.openxmlformats.org/officeDocument/2006/relationships/image" Target="../media/image61.png"/><Relationship Id="rId17" Type="http://schemas.openxmlformats.org/officeDocument/2006/relationships/image" Target="../media/image66.jpg"/><Relationship Id="rId2" Type="http://schemas.openxmlformats.org/officeDocument/2006/relationships/image" Target="../media/image51.png"/><Relationship Id="rId16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jp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jp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84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06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image" Target="../media/image105.png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4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4.jp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03435" y="5975603"/>
            <a:ext cx="2257044" cy="4831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5602605"/>
            <a:chOff x="0" y="0"/>
            <a:chExt cx="12192000" cy="560260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56022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26352" y="2585719"/>
              <a:ext cx="718185" cy="701040"/>
            </a:xfrm>
            <a:custGeom>
              <a:avLst/>
              <a:gdLst/>
              <a:ahLst/>
              <a:cxnLst/>
              <a:rect l="l" t="t" r="r" b="b"/>
              <a:pathLst>
                <a:path w="718184" h="701039">
                  <a:moveTo>
                    <a:pt x="71780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695071" y="21590"/>
                  </a:lnTo>
                  <a:lnTo>
                    <a:pt x="695071" y="701040"/>
                  </a:lnTo>
                  <a:lnTo>
                    <a:pt x="717804" y="701040"/>
                  </a:lnTo>
                  <a:lnTo>
                    <a:pt x="717804" y="21590"/>
                  </a:lnTo>
                  <a:lnTo>
                    <a:pt x="717804" y="0"/>
                  </a:lnTo>
                  <a:close/>
                </a:path>
              </a:pathLst>
            </a:custGeom>
            <a:solidFill>
              <a:srgbClr val="C600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3833" y="826134"/>
            <a:ext cx="22625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</a:t>
            </a:r>
            <a:r>
              <a:rPr spc="30" dirty="0"/>
              <a:t>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2160016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40537"/>
            <a:ext cx="22167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40" dirty="0">
                <a:solidFill>
                  <a:srgbClr val="404040"/>
                </a:solidFill>
              </a:rPr>
              <a:t>Foreword</a:t>
            </a:r>
            <a:endParaRPr sz="40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49017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9794" y="1875281"/>
            <a:ext cx="969518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1800" spc="50" dirty="0">
                <a:latin typeface="Arial"/>
                <a:cs typeface="Arial"/>
              </a:rPr>
              <a:t>Mankind </a:t>
            </a:r>
            <a:r>
              <a:rPr sz="1800" spc="-40" dirty="0">
                <a:latin typeface="Arial"/>
                <a:cs typeface="Arial"/>
              </a:rPr>
              <a:t>is </a:t>
            </a:r>
            <a:r>
              <a:rPr sz="1800" spc="40" dirty="0">
                <a:latin typeface="Arial"/>
                <a:cs typeface="Arial"/>
              </a:rPr>
              <a:t>welcoming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75" dirty="0">
                <a:latin typeface="Arial"/>
                <a:cs typeface="Arial"/>
              </a:rPr>
              <a:t>fourth </a:t>
            </a:r>
            <a:r>
              <a:rPr sz="1800" spc="40" dirty="0">
                <a:latin typeface="Arial"/>
                <a:cs typeface="Arial"/>
              </a:rPr>
              <a:t>industrial </a:t>
            </a:r>
            <a:r>
              <a:rPr sz="1800" spc="45" dirty="0">
                <a:latin typeface="Arial"/>
                <a:cs typeface="Arial"/>
              </a:rPr>
              <a:t>revolution </a:t>
            </a:r>
            <a:r>
              <a:rPr sz="1800" spc="5" dirty="0">
                <a:latin typeface="Arial"/>
                <a:cs typeface="Arial"/>
              </a:rPr>
              <a:t>represented by </a:t>
            </a:r>
            <a:r>
              <a:rPr sz="1800" spc="55" dirty="0">
                <a:latin typeface="Arial"/>
                <a:cs typeface="Arial"/>
              </a:rPr>
              <a:t>intelligent </a:t>
            </a:r>
            <a:r>
              <a:rPr sz="1800" spc="15" dirty="0">
                <a:latin typeface="Arial"/>
                <a:cs typeface="Arial"/>
              </a:rPr>
              <a:t>technology.  </a:t>
            </a:r>
            <a:r>
              <a:rPr sz="1800" spc="45" dirty="0">
                <a:latin typeface="Arial"/>
                <a:cs typeface="Arial"/>
              </a:rPr>
              <a:t>New </a:t>
            </a:r>
            <a:r>
              <a:rPr sz="1800" spc="10" dirty="0">
                <a:latin typeface="Arial"/>
                <a:cs typeface="Arial"/>
              </a:rPr>
              <a:t>technologies </a:t>
            </a:r>
            <a:r>
              <a:rPr sz="1800" spc="-30" dirty="0">
                <a:latin typeface="Arial"/>
                <a:cs typeface="Arial"/>
              </a:rPr>
              <a:t>such </a:t>
            </a:r>
            <a:r>
              <a:rPr sz="1800" spc="-75" dirty="0">
                <a:latin typeface="Arial"/>
                <a:cs typeface="Arial"/>
              </a:rPr>
              <a:t>as </a:t>
            </a:r>
            <a:r>
              <a:rPr sz="1800" spc="-30" dirty="0">
                <a:latin typeface="Arial"/>
                <a:cs typeface="Arial"/>
              </a:rPr>
              <a:t>AI, IoT, </a:t>
            </a:r>
            <a:r>
              <a:rPr sz="1800" spc="-60" dirty="0">
                <a:latin typeface="Arial"/>
                <a:cs typeface="Arial"/>
              </a:rPr>
              <a:t>5G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25" dirty="0">
                <a:latin typeface="Arial"/>
                <a:cs typeface="Arial"/>
              </a:rPr>
              <a:t>bioengineering </a:t>
            </a:r>
            <a:r>
              <a:rPr sz="1800" dirty="0">
                <a:latin typeface="Arial"/>
                <a:cs typeface="Arial"/>
              </a:rPr>
              <a:t>are </a:t>
            </a:r>
            <a:r>
              <a:rPr sz="1800" spc="40" dirty="0">
                <a:latin typeface="Arial"/>
                <a:cs typeface="Arial"/>
              </a:rPr>
              <a:t>integrated </a:t>
            </a:r>
            <a:r>
              <a:rPr sz="1800" spc="70" dirty="0">
                <a:latin typeface="Arial"/>
                <a:cs typeface="Arial"/>
              </a:rPr>
              <a:t>into </a:t>
            </a:r>
            <a:r>
              <a:rPr sz="1800" spc="55" dirty="0">
                <a:latin typeface="Arial"/>
                <a:cs typeface="Arial"/>
              </a:rPr>
              <a:t>all </a:t>
            </a:r>
            <a:r>
              <a:rPr sz="1800" spc="-35" dirty="0">
                <a:latin typeface="Arial"/>
                <a:cs typeface="Arial"/>
              </a:rPr>
              <a:t>aspects </a:t>
            </a:r>
            <a:r>
              <a:rPr sz="1800" spc="70" dirty="0">
                <a:latin typeface="Arial"/>
                <a:cs typeface="Arial"/>
              </a:rPr>
              <a:t>of  </a:t>
            </a:r>
            <a:r>
              <a:rPr sz="1800" spc="50" dirty="0">
                <a:latin typeface="Arial"/>
                <a:cs typeface="Arial"/>
              </a:rPr>
              <a:t>human </a:t>
            </a:r>
            <a:r>
              <a:rPr sz="1800" spc="-20" dirty="0">
                <a:latin typeface="Arial"/>
                <a:cs typeface="Arial"/>
              </a:rPr>
              <a:t>society; </a:t>
            </a:r>
            <a:r>
              <a:rPr sz="1800" spc="40" dirty="0">
                <a:latin typeface="Arial"/>
                <a:cs typeface="Arial"/>
              </a:rPr>
              <a:t>driving </a:t>
            </a:r>
            <a:r>
              <a:rPr sz="1800" spc="-25" dirty="0">
                <a:latin typeface="Arial"/>
                <a:cs typeface="Arial"/>
              </a:rPr>
              <a:t>changes </a:t>
            </a:r>
            <a:r>
              <a:rPr sz="1800" spc="50" dirty="0">
                <a:latin typeface="Arial"/>
                <a:cs typeface="Arial"/>
              </a:rPr>
              <a:t>in </a:t>
            </a:r>
            <a:r>
              <a:rPr sz="1800" spc="40" dirty="0">
                <a:latin typeface="Arial"/>
                <a:cs typeface="Arial"/>
              </a:rPr>
              <a:t>global </a:t>
            </a:r>
            <a:r>
              <a:rPr sz="1800" spc="30" dirty="0">
                <a:latin typeface="Arial"/>
                <a:cs typeface="Arial"/>
              </a:rPr>
              <a:t>macro </a:t>
            </a:r>
            <a:r>
              <a:rPr sz="1800" dirty="0">
                <a:latin typeface="Arial"/>
                <a:cs typeface="Arial"/>
              </a:rPr>
              <a:t>trends, </a:t>
            </a:r>
            <a:r>
              <a:rPr sz="1800" spc="-30" dirty="0">
                <a:latin typeface="Arial"/>
                <a:cs typeface="Arial"/>
              </a:rPr>
              <a:t>such </a:t>
            </a:r>
            <a:r>
              <a:rPr sz="1800" spc="-75" dirty="0">
                <a:latin typeface="Arial"/>
                <a:cs typeface="Arial"/>
              </a:rPr>
              <a:t>as </a:t>
            </a:r>
            <a:r>
              <a:rPr sz="1800" spc="5" dirty="0">
                <a:latin typeface="Arial"/>
                <a:cs typeface="Arial"/>
              </a:rPr>
              <a:t>sustainable </a:t>
            </a:r>
            <a:r>
              <a:rPr sz="1800" spc="-10" dirty="0">
                <a:latin typeface="Arial"/>
                <a:cs typeface="Arial"/>
              </a:rPr>
              <a:t>social  </a:t>
            </a:r>
            <a:r>
              <a:rPr sz="1800" spc="30" dirty="0">
                <a:latin typeface="Arial"/>
                <a:cs typeface="Arial"/>
              </a:rPr>
              <a:t>development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5" dirty="0">
                <a:latin typeface="Arial"/>
                <a:cs typeface="Arial"/>
              </a:rPr>
              <a:t>economic </a:t>
            </a:r>
            <a:r>
              <a:rPr sz="1800" spc="45" dirty="0">
                <a:latin typeface="Arial"/>
                <a:cs typeface="Arial"/>
              </a:rPr>
              <a:t>growth. New </a:t>
            </a:r>
            <a:r>
              <a:rPr sz="1800" spc="30" dirty="0">
                <a:latin typeface="Arial"/>
                <a:cs typeface="Arial"/>
              </a:rPr>
              <a:t>kinetic </a:t>
            </a:r>
            <a:r>
              <a:rPr sz="1800" spc="-10" dirty="0">
                <a:latin typeface="Arial"/>
                <a:cs typeface="Arial"/>
              </a:rPr>
              <a:t>energy, </a:t>
            </a:r>
            <a:r>
              <a:rPr sz="1800" spc="35" dirty="0">
                <a:latin typeface="Arial"/>
                <a:cs typeface="Arial"/>
              </a:rPr>
              <a:t>smart </a:t>
            </a:r>
            <a:r>
              <a:rPr sz="1800" spc="30" dirty="0">
                <a:latin typeface="Arial"/>
                <a:cs typeface="Arial"/>
              </a:rPr>
              <a:t>city </a:t>
            </a:r>
            <a:r>
              <a:rPr sz="1800" spc="25" dirty="0">
                <a:latin typeface="Arial"/>
                <a:cs typeface="Arial"/>
              </a:rPr>
              <a:t>upgrading, </a:t>
            </a:r>
            <a:r>
              <a:rPr sz="1800" spc="40" dirty="0">
                <a:latin typeface="Arial"/>
                <a:cs typeface="Arial"/>
              </a:rPr>
              <a:t>industrial  </a:t>
            </a:r>
            <a:r>
              <a:rPr sz="1800" spc="55" dirty="0">
                <a:latin typeface="Arial"/>
                <a:cs typeface="Arial"/>
              </a:rPr>
              <a:t>digital </a:t>
            </a:r>
            <a:r>
              <a:rPr sz="1800" spc="40" dirty="0">
                <a:latin typeface="Arial"/>
                <a:cs typeface="Arial"/>
              </a:rPr>
              <a:t>transformation, </a:t>
            </a:r>
            <a:r>
              <a:rPr sz="1800" spc="5" dirty="0">
                <a:latin typeface="Arial"/>
                <a:cs typeface="Arial"/>
              </a:rPr>
              <a:t>consumer </a:t>
            </a:r>
            <a:r>
              <a:rPr sz="1800" spc="-20" dirty="0">
                <a:latin typeface="Arial"/>
                <a:cs typeface="Arial"/>
              </a:rPr>
              <a:t>experience,</a:t>
            </a:r>
            <a:r>
              <a:rPr sz="1800" spc="1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7991" y="4071873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9794" y="3898138"/>
            <a:ext cx="969708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As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30" dirty="0">
                <a:latin typeface="Arial"/>
                <a:cs typeface="Arial"/>
              </a:rPr>
              <a:t>world‘s </a:t>
            </a:r>
            <a:r>
              <a:rPr sz="1800" spc="25" dirty="0">
                <a:latin typeface="Arial"/>
                <a:cs typeface="Arial"/>
              </a:rPr>
              <a:t>leading provider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-90" dirty="0">
                <a:latin typeface="Arial"/>
                <a:cs typeface="Arial"/>
              </a:rPr>
              <a:t>ICT </a:t>
            </a:r>
            <a:r>
              <a:rPr sz="1800" spc="70" dirty="0">
                <a:latin typeface="Arial"/>
                <a:cs typeface="Arial"/>
              </a:rPr>
              <a:t>(information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35" dirty="0">
                <a:latin typeface="Arial"/>
                <a:cs typeface="Arial"/>
              </a:rPr>
              <a:t>communications) </a:t>
            </a:r>
            <a:r>
              <a:rPr sz="1800" spc="40" dirty="0">
                <a:latin typeface="Arial"/>
                <a:cs typeface="Arial"/>
              </a:rPr>
              <a:t>infrastructure </a:t>
            </a:r>
            <a:r>
              <a:rPr sz="1800" spc="20" dirty="0">
                <a:latin typeface="Arial"/>
                <a:cs typeface="Arial"/>
              </a:rPr>
              <a:t>and  </a:t>
            </a:r>
            <a:r>
              <a:rPr sz="1800" spc="35" dirty="0">
                <a:latin typeface="Arial"/>
                <a:cs typeface="Arial"/>
              </a:rPr>
              <a:t>smart </a:t>
            </a:r>
            <a:r>
              <a:rPr sz="1800" spc="25" dirty="0">
                <a:latin typeface="Arial"/>
                <a:cs typeface="Arial"/>
              </a:rPr>
              <a:t>terminals, </a:t>
            </a:r>
            <a:r>
              <a:rPr sz="1800" spc="30" dirty="0">
                <a:latin typeface="Arial"/>
                <a:cs typeface="Arial"/>
              </a:rPr>
              <a:t>Huawei </a:t>
            </a:r>
            <a:r>
              <a:rPr sz="1800" spc="10" dirty="0">
                <a:latin typeface="Arial"/>
                <a:cs typeface="Arial"/>
              </a:rPr>
              <a:t>actively </a:t>
            </a:r>
            <a:r>
              <a:rPr sz="1800" spc="20" dirty="0">
                <a:latin typeface="Arial"/>
                <a:cs typeface="Arial"/>
              </a:rPr>
              <a:t>participates </a:t>
            </a:r>
            <a:r>
              <a:rPr sz="1800" spc="50" dirty="0">
                <a:latin typeface="Arial"/>
                <a:cs typeface="Arial"/>
              </a:rPr>
              <a:t>in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50" dirty="0">
                <a:latin typeface="Arial"/>
                <a:cs typeface="Arial"/>
              </a:rPr>
              <a:t>transformation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50" dirty="0">
                <a:latin typeface="Arial"/>
                <a:cs typeface="Arial"/>
              </a:rPr>
              <a:t>artificial </a:t>
            </a:r>
            <a:r>
              <a:rPr sz="1800" spc="25" dirty="0">
                <a:latin typeface="Arial"/>
                <a:cs typeface="Arial"/>
              </a:rPr>
              <a:t>intelligence 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-15" dirty="0">
                <a:latin typeface="Arial"/>
                <a:cs typeface="Arial"/>
              </a:rPr>
              <a:t>proposes </a:t>
            </a:r>
            <a:r>
              <a:rPr sz="1800" spc="10" dirty="0">
                <a:latin typeface="Arial"/>
                <a:cs typeface="Arial"/>
              </a:rPr>
              <a:t>Huawei’s </a:t>
            </a:r>
            <a:r>
              <a:rPr sz="1800" spc="40" dirty="0">
                <a:latin typeface="Arial"/>
                <a:cs typeface="Arial"/>
              </a:rPr>
              <a:t>full-stack </a:t>
            </a:r>
            <a:r>
              <a:rPr sz="1800" spc="30" dirty="0">
                <a:latin typeface="Arial"/>
                <a:cs typeface="Arial"/>
              </a:rPr>
              <a:t>full-scenario </a:t>
            </a:r>
            <a:r>
              <a:rPr sz="1800" spc="-10" dirty="0">
                <a:latin typeface="Arial"/>
                <a:cs typeface="Arial"/>
              </a:rPr>
              <a:t>AI </a:t>
            </a:r>
            <a:r>
              <a:rPr sz="1800" spc="10" dirty="0">
                <a:latin typeface="Arial"/>
                <a:cs typeface="Arial"/>
              </a:rPr>
              <a:t>strategy. </a:t>
            </a:r>
            <a:r>
              <a:rPr sz="1800" spc="-30" dirty="0">
                <a:latin typeface="Arial"/>
                <a:cs typeface="Arial"/>
              </a:rPr>
              <a:t>This </a:t>
            </a:r>
            <a:r>
              <a:rPr sz="1800" spc="20" dirty="0">
                <a:latin typeface="Arial"/>
                <a:cs typeface="Arial"/>
              </a:rPr>
              <a:t>chapter </a:t>
            </a:r>
            <a:r>
              <a:rPr sz="1800" spc="85" dirty="0">
                <a:latin typeface="Arial"/>
                <a:cs typeface="Arial"/>
              </a:rPr>
              <a:t>will </a:t>
            </a:r>
            <a:r>
              <a:rPr sz="1800" spc="50" dirty="0">
                <a:latin typeface="Arial"/>
                <a:cs typeface="Arial"/>
              </a:rPr>
              <a:t>mainly </a:t>
            </a:r>
            <a:r>
              <a:rPr sz="1800" spc="30" dirty="0">
                <a:latin typeface="Arial"/>
                <a:cs typeface="Arial"/>
              </a:rPr>
              <a:t>introduce  </a:t>
            </a:r>
            <a:r>
              <a:rPr sz="1800" spc="-10" dirty="0">
                <a:latin typeface="Arial"/>
                <a:cs typeface="Arial"/>
              </a:rPr>
              <a:t>AI </a:t>
            </a:r>
            <a:r>
              <a:rPr sz="1800" dirty="0">
                <a:latin typeface="Arial"/>
                <a:cs typeface="Arial"/>
              </a:rPr>
              <a:t>Overview, </a:t>
            </a:r>
            <a:r>
              <a:rPr sz="1800" spc="-10" dirty="0">
                <a:latin typeface="Arial"/>
                <a:cs typeface="Arial"/>
              </a:rPr>
              <a:t>Technical </a:t>
            </a:r>
            <a:r>
              <a:rPr sz="1800" spc="-35" dirty="0">
                <a:latin typeface="Arial"/>
                <a:cs typeface="Arial"/>
              </a:rPr>
              <a:t>Fields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35" dirty="0">
                <a:latin typeface="Arial"/>
                <a:cs typeface="Arial"/>
              </a:rPr>
              <a:t>Application </a:t>
            </a:r>
            <a:r>
              <a:rPr sz="1800" spc="-30" dirty="0">
                <a:latin typeface="Arial"/>
                <a:cs typeface="Arial"/>
              </a:rPr>
              <a:t>Fields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-35" dirty="0">
                <a:latin typeface="Arial"/>
                <a:cs typeface="Arial"/>
              </a:rPr>
              <a:t>AI, </a:t>
            </a:r>
            <a:r>
              <a:rPr sz="1800" spc="15" dirty="0">
                <a:latin typeface="Arial"/>
                <a:cs typeface="Arial"/>
              </a:rPr>
              <a:t>Huawei's </a:t>
            </a:r>
            <a:r>
              <a:rPr sz="1800" spc="-10" dirty="0">
                <a:latin typeface="Arial"/>
                <a:cs typeface="Arial"/>
              </a:rPr>
              <a:t>AI </a:t>
            </a:r>
            <a:r>
              <a:rPr sz="1800" spc="25" dirty="0">
                <a:latin typeface="Arial"/>
                <a:cs typeface="Arial"/>
              </a:rPr>
              <a:t>Development  </a:t>
            </a:r>
            <a:r>
              <a:rPr sz="1800" spc="-5" dirty="0">
                <a:latin typeface="Arial"/>
                <a:cs typeface="Arial"/>
              </a:rPr>
              <a:t>Strategy, </a:t>
            </a:r>
            <a:r>
              <a:rPr sz="1800" spc="-10" dirty="0">
                <a:latin typeface="Arial"/>
                <a:cs typeface="Arial"/>
              </a:rPr>
              <a:t>AI </a:t>
            </a:r>
            <a:r>
              <a:rPr sz="1800" spc="-15" dirty="0">
                <a:latin typeface="Arial"/>
                <a:cs typeface="Arial"/>
              </a:rPr>
              <a:t>Disputes, </a:t>
            </a:r>
            <a:r>
              <a:rPr sz="1800" spc="15" dirty="0">
                <a:latin typeface="Arial"/>
                <a:cs typeface="Arial"/>
              </a:rPr>
              <a:t>Future </a:t>
            </a:r>
            <a:r>
              <a:rPr sz="1800" spc="-35" dirty="0">
                <a:latin typeface="Arial"/>
                <a:cs typeface="Arial"/>
              </a:rPr>
              <a:t>Prospects </a:t>
            </a:r>
            <a:r>
              <a:rPr sz="1800" spc="75" dirty="0">
                <a:latin typeface="Arial"/>
                <a:cs typeface="Arial"/>
              </a:rPr>
              <a:t>of</a:t>
            </a:r>
            <a:r>
              <a:rPr sz="1800" spc="44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AI.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339975" cy="0"/>
          </a:xfrm>
          <a:custGeom>
            <a:avLst/>
            <a:gdLst/>
            <a:ahLst/>
            <a:cxnLst/>
            <a:rect l="l" t="t" r="r" b="b"/>
            <a:pathLst>
              <a:path w="2339975">
                <a:moveTo>
                  <a:pt x="2339975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2391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404040"/>
                </a:solidFill>
              </a:rPr>
              <a:t>Objectives</a:t>
            </a:r>
            <a:endParaRPr sz="400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09393"/>
            <a:ext cx="660145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0" dirty="0">
                <a:latin typeface="Arial"/>
                <a:cs typeface="Arial"/>
              </a:rPr>
              <a:t>Upon </a:t>
            </a:r>
            <a:r>
              <a:rPr sz="2200" spc="50" dirty="0">
                <a:latin typeface="Arial"/>
                <a:cs typeface="Arial"/>
              </a:rPr>
              <a:t>completion </a:t>
            </a:r>
            <a:r>
              <a:rPr sz="2200" spc="90" dirty="0">
                <a:latin typeface="Arial"/>
                <a:cs typeface="Arial"/>
              </a:rPr>
              <a:t>of </a:t>
            </a:r>
            <a:r>
              <a:rPr sz="2200" spc="30" dirty="0">
                <a:latin typeface="Arial"/>
                <a:cs typeface="Arial"/>
              </a:rPr>
              <a:t>this </a:t>
            </a:r>
            <a:r>
              <a:rPr sz="2200" spc="-35" dirty="0">
                <a:latin typeface="Arial"/>
                <a:cs typeface="Arial"/>
              </a:rPr>
              <a:t>course, </a:t>
            </a:r>
            <a:r>
              <a:rPr sz="2200" spc="20" dirty="0">
                <a:latin typeface="Arial"/>
                <a:cs typeface="Arial"/>
              </a:rPr>
              <a:t>you </a:t>
            </a:r>
            <a:r>
              <a:rPr sz="2200" spc="105" dirty="0">
                <a:latin typeface="Arial"/>
                <a:cs typeface="Arial"/>
              </a:rPr>
              <a:t>will </a:t>
            </a:r>
            <a:r>
              <a:rPr sz="2200" spc="-20" dirty="0">
                <a:latin typeface="Arial"/>
                <a:cs typeface="Arial"/>
              </a:rPr>
              <a:t>be </a:t>
            </a:r>
            <a:r>
              <a:rPr sz="2200" spc="15" dirty="0">
                <a:latin typeface="Arial"/>
                <a:cs typeface="Arial"/>
              </a:rPr>
              <a:t>able</a:t>
            </a:r>
            <a:r>
              <a:rPr sz="2200" spc="505" dirty="0">
                <a:latin typeface="Arial"/>
                <a:cs typeface="Arial"/>
              </a:rPr>
              <a:t> </a:t>
            </a:r>
            <a:r>
              <a:rPr sz="2200" spc="30" dirty="0">
                <a:latin typeface="Arial"/>
                <a:cs typeface="Arial"/>
              </a:rPr>
              <a:t>to: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1797" y="2626613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1797" y="3141979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1797" y="3658615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1797" y="4173982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1797" y="4689094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1838" y="2554681"/>
            <a:ext cx="7960359" cy="2393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5" dirty="0">
                <a:latin typeface="Arial"/>
                <a:cs typeface="Arial"/>
              </a:rPr>
              <a:t>Understand </a:t>
            </a:r>
            <a:r>
              <a:rPr sz="2000" spc="-25" dirty="0">
                <a:latin typeface="Arial"/>
                <a:cs typeface="Arial"/>
              </a:rPr>
              <a:t>basic </a:t>
            </a:r>
            <a:r>
              <a:rPr sz="2000" spc="-10" dirty="0">
                <a:latin typeface="Arial"/>
                <a:cs typeface="Arial"/>
              </a:rPr>
              <a:t>concepts </a:t>
            </a:r>
            <a:r>
              <a:rPr sz="2000" spc="90" dirty="0">
                <a:latin typeface="Arial"/>
                <a:cs typeface="Arial"/>
              </a:rPr>
              <a:t>of</a:t>
            </a:r>
            <a:r>
              <a:rPr sz="2000" spc="1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AI.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000" spc="25" dirty="0">
                <a:latin typeface="Arial"/>
                <a:cs typeface="Arial"/>
              </a:rPr>
              <a:t>Understand </a:t>
            </a: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15" dirty="0">
                <a:latin typeface="Arial"/>
                <a:cs typeface="Arial"/>
              </a:rPr>
              <a:t>technologies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65" dirty="0">
                <a:latin typeface="Arial"/>
                <a:cs typeface="Arial"/>
              </a:rPr>
              <a:t>their </a:t>
            </a:r>
            <a:r>
              <a:rPr sz="2000" spc="35" dirty="0">
                <a:latin typeface="Arial"/>
                <a:cs typeface="Arial"/>
              </a:rPr>
              <a:t>development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history.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69100"/>
              </a:lnSpc>
              <a:spcBef>
                <a:spcPts val="5"/>
              </a:spcBef>
            </a:pPr>
            <a:r>
              <a:rPr sz="2000" spc="25" dirty="0">
                <a:latin typeface="Arial"/>
                <a:cs typeface="Arial"/>
              </a:rPr>
              <a:t>Understand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40" dirty="0">
                <a:latin typeface="Arial"/>
                <a:cs typeface="Arial"/>
              </a:rPr>
              <a:t>application </a:t>
            </a:r>
            <a:r>
              <a:rPr sz="2000" spc="15" dirty="0">
                <a:latin typeface="Arial"/>
                <a:cs typeface="Arial"/>
              </a:rPr>
              <a:t>technologies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40" dirty="0">
                <a:latin typeface="Arial"/>
                <a:cs typeface="Arial"/>
              </a:rPr>
              <a:t>application </a:t>
            </a:r>
            <a:r>
              <a:rPr sz="2000" spc="20" dirty="0">
                <a:latin typeface="Arial"/>
                <a:cs typeface="Arial"/>
              </a:rPr>
              <a:t>fields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-40" dirty="0">
                <a:latin typeface="Arial"/>
                <a:cs typeface="Arial"/>
              </a:rPr>
              <a:t>AI.  </a:t>
            </a:r>
            <a:r>
              <a:rPr sz="2000" spc="25" dirty="0">
                <a:latin typeface="Arial"/>
                <a:cs typeface="Arial"/>
              </a:rPr>
              <a:t>Know </a:t>
            </a:r>
            <a:r>
              <a:rPr sz="2000" spc="20" dirty="0">
                <a:latin typeface="Arial"/>
                <a:cs typeface="Arial"/>
              </a:rPr>
              <a:t>Huawei's </a:t>
            </a: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35" dirty="0">
                <a:latin typeface="Arial"/>
                <a:cs typeface="Arial"/>
              </a:rPr>
              <a:t>development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strategy.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000" spc="25" dirty="0">
                <a:latin typeface="Arial"/>
                <a:cs typeface="Arial"/>
              </a:rPr>
              <a:t>Know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35" dirty="0">
                <a:latin typeface="Arial"/>
                <a:cs typeface="Arial"/>
              </a:rPr>
              <a:t>development </a:t>
            </a:r>
            <a:r>
              <a:rPr sz="2000" spc="25" dirty="0">
                <a:latin typeface="Arial"/>
                <a:cs typeface="Arial"/>
              </a:rPr>
              <a:t>trends </a:t>
            </a:r>
            <a:r>
              <a:rPr sz="2000" spc="90" dirty="0">
                <a:latin typeface="Arial"/>
                <a:cs typeface="Arial"/>
              </a:rPr>
              <a:t>of</a:t>
            </a:r>
            <a:r>
              <a:rPr sz="2000" spc="9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AI.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>
                <a:moveTo>
                  <a:pt x="2015997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20726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" dirty="0">
                <a:solidFill>
                  <a:srgbClr val="404040"/>
                </a:solidFill>
              </a:rPr>
              <a:t>Conte</a:t>
            </a:r>
            <a:r>
              <a:rPr sz="4000" spc="15" dirty="0">
                <a:solidFill>
                  <a:srgbClr val="404040"/>
                </a:solidFill>
              </a:rPr>
              <a:t>n</a:t>
            </a:r>
            <a:r>
              <a:rPr sz="4000" spc="10" dirty="0">
                <a:solidFill>
                  <a:srgbClr val="404040"/>
                </a:solidFill>
              </a:rPr>
              <a:t>ts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09393"/>
            <a:ext cx="6064885" cy="2639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b="1" spc="5" dirty="0">
                <a:latin typeface="Arial"/>
                <a:cs typeface="Arial"/>
              </a:rPr>
              <a:t>AI</a:t>
            </a:r>
            <a:r>
              <a:rPr sz="2200" b="1" spc="80" dirty="0">
                <a:latin typeface="Arial"/>
                <a:cs typeface="Arial"/>
              </a:rPr>
              <a:t> </a:t>
            </a:r>
            <a:r>
              <a:rPr sz="2200" b="1" spc="20" dirty="0">
                <a:latin typeface="Arial"/>
                <a:cs typeface="Arial"/>
              </a:rPr>
              <a:t>Overview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5" dirty="0">
                <a:solidFill>
                  <a:srgbClr val="7E7E7E"/>
                </a:solidFill>
                <a:latin typeface="Arial"/>
                <a:cs typeface="Arial"/>
              </a:rPr>
              <a:t>Technical </a:t>
            </a:r>
            <a:r>
              <a:rPr sz="2200" spc="-40" dirty="0">
                <a:solidFill>
                  <a:srgbClr val="7E7E7E"/>
                </a:solidFill>
                <a:latin typeface="Arial"/>
                <a:cs typeface="Arial"/>
              </a:rPr>
              <a:t>Fields </a:t>
            </a:r>
            <a:r>
              <a:rPr sz="2200" spc="25" dirty="0">
                <a:solidFill>
                  <a:srgbClr val="7E7E7E"/>
                </a:solidFill>
                <a:latin typeface="Arial"/>
                <a:cs typeface="Arial"/>
              </a:rPr>
              <a:t>and </a:t>
            </a:r>
            <a:r>
              <a:rPr sz="2200" spc="40" dirty="0">
                <a:solidFill>
                  <a:srgbClr val="7E7E7E"/>
                </a:solidFill>
                <a:latin typeface="Arial"/>
                <a:cs typeface="Arial"/>
              </a:rPr>
              <a:t>Application </a:t>
            </a:r>
            <a:r>
              <a:rPr sz="2200" spc="-40" dirty="0">
                <a:solidFill>
                  <a:srgbClr val="7E7E7E"/>
                </a:solidFill>
                <a:latin typeface="Arial"/>
                <a:cs typeface="Arial"/>
              </a:rPr>
              <a:t>Fields </a:t>
            </a:r>
            <a:r>
              <a:rPr sz="2200" spc="95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2200" spc="5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4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15" dirty="0">
                <a:solidFill>
                  <a:srgbClr val="7E7E7E"/>
                </a:solidFill>
                <a:latin typeface="Arial"/>
                <a:cs typeface="Arial"/>
              </a:rPr>
              <a:t>Huawei's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 </a:t>
            </a:r>
            <a:r>
              <a:rPr sz="2200" spc="30" dirty="0">
                <a:solidFill>
                  <a:srgbClr val="7E7E7E"/>
                </a:solidFill>
                <a:latin typeface="Arial"/>
                <a:cs typeface="Arial"/>
              </a:rPr>
              <a:t>Development</a:t>
            </a:r>
            <a:r>
              <a:rPr sz="2200" spc="2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srgbClr val="7E7E7E"/>
                </a:solidFill>
                <a:latin typeface="Arial"/>
                <a:cs typeface="Arial"/>
              </a:rPr>
              <a:t>Strategy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39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r>
              <a:rPr sz="2200" spc="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7E7E7E"/>
                </a:solidFill>
                <a:latin typeface="Arial"/>
                <a:cs typeface="Arial"/>
              </a:rPr>
              <a:t>Disputes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20" dirty="0">
                <a:solidFill>
                  <a:srgbClr val="7E7E7E"/>
                </a:solidFill>
                <a:latin typeface="Arial"/>
                <a:cs typeface="Arial"/>
              </a:rPr>
              <a:t>Future </a:t>
            </a:r>
            <a:r>
              <a:rPr sz="2200" spc="-50" dirty="0">
                <a:solidFill>
                  <a:srgbClr val="7E7E7E"/>
                </a:solidFill>
                <a:latin typeface="Arial"/>
                <a:cs typeface="Arial"/>
              </a:rPr>
              <a:t>Prospects </a:t>
            </a:r>
            <a:r>
              <a:rPr sz="2200" spc="90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2200" spc="2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2012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 </a:t>
            </a:r>
            <a:r>
              <a:rPr spc="95" dirty="0"/>
              <a:t>in </a:t>
            </a:r>
            <a:r>
              <a:rPr spc="90" dirty="0"/>
              <a:t>the </a:t>
            </a:r>
            <a:r>
              <a:rPr spc="-190" dirty="0"/>
              <a:t>Eyes </a:t>
            </a:r>
            <a:r>
              <a:rPr spc="145" dirty="0"/>
              <a:t>of </a:t>
            </a:r>
            <a:r>
              <a:rPr spc="90" dirty="0"/>
              <a:t>the</a:t>
            </a:r>
            <a:r>
              <a:rPr spc="-235" dirty="0"/>
              <a:t> </a:t>
            </a:r>
            <a:r>
              <a:rPr spc="-40" dirty="0"/>
              <a:t>Society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90574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837" y="2489961"/>
            <a:ext cx="44761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30" dirty="0">
                <a:latin typeface="Arial"/>
                <a:cs typeface="Arial"/>
              </a:rPr>
              <a:t>Haidian </a:t>
            </a:r>
            <a:r>
              <a:rPr sz="1600" spc="-25" dirty="0">
                <a:latin typeface="Arial"/>
                <a:cs typeface="Arial"/>
              </a:rPr>
              <a:t>Park: </a:t>
            </a:r>
            <a:r>
              <a:rPr sz="1600" spc="-10" dirty="0">
                <a:latin typeface="Arial"/>
                <a:cs typeface="Arial"/>
              </a:rPr>
              <a:t>First </a:t>
            </a:r>
            <a:r>
              <a:rPr sz="1600" spc="25" dirty="0">
                <a:latin typeface="Arial"/>
                <a:cs typeface="Arial"/>
              </a:rPr>
              <a:t>AI-themed </a:t>
            </a:r>
            <a:r>
              <a:rPr sz="1600" spc="-15" dirty="0">
                <a:latin typeface="Arial"/>
                <a:cs typeface="Arial"/>
              </a:rPr>
              <a:t>Park </a:t>
            </a:r>
            <a:r>
              <a:rPr sz="1600" spc="45" dirty="0">
                <a:latin typeface="Arial"/>
                <a:cs typeface="Arial"/>
              </a:rPr>
              <a:t>in </a:t>
            </a:r>
            <a:r>
              <a:rPr sz="1600" spc="40" dirty="0">
                <a:latin typeface="Arial"/>
                <a:cs typeface="Arial"/>
              </a:rPr>
              <a:t>the </a:t>
            </a:r>
            <a:r>
              <a:rPr sz="1600" spc="45" dirty="0">
                <a:latin typeface="Arial"/>
                <a:cs typeface="Arial"/>
              </a:rPr>
              <a:t>World  </a:t>
            </a:r>
            <a:r>
              <a:rPr sz="1600" spc="5" dirty="0">
                <a:latin typeface="Arial"/>
                <a:cs typeface="Arial"/>
              </a:rPr>
              <a:t>StarCraft </a:t>
            </a:r>
            <a:r>
              <a:rPr sz="1600" spc="-20" dirty="0">
                <a:latin typeface="Arial"/>
                <a:cs typeface="Arial"/>
              </a:rPr>
              <a:t>II: </a:t>
            </a:r>
            <a:r>
              <a:rPr sz="1600" spc="10" dirty="0">
                <a:latin typeface="Arial"/>
                <a:cs typeface="Arial"/>
              </a:rPr>
              <a:t>AlphaStar </a:t>
            </a:r>
            <a:r>
              <a:rPr sz="1600" spc="-10" dirty="0">
                <a:latin typeface="Arial"/>
                <a:cs typeface="Arial"/>
              </a:rPr>
              <a:t>Beat Professional</a:t>
            </a:r>
            <a:r>
              <a:rPr sz="1600" spc="38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Players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5837" y="2977642"/>
            <a:ext cx="472059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10" dirty="0">
                <a:latin typeface="Arial"/>
                <a:cs typeface="Arial"/>
              </a:rPr>
              <a:t>AI-created </a:t>
            </a:r>
            <a:r>
              <a:rPr sz="1600" dirty="0">
                <a:latin typeface="Arial"/>
                <a:cs typeface="Arial"/>
              </a:rPr>
              <a:t>Edmond </a:t>
            </a:r>
            <a:r>
              <a:rPr sz="1600" spc="-20" dirty="0">
                <a:latin typeface="Arial"/>
                <a:cs typeface="Arial"/>
              </a:rPr>
              <a:t>de </a:t>
            </a:r>
            <a:r>
              <a:rPr sz="1600" spc="-5" dirty="0">
                <a:latin typeface="Arial"/>
                <a:cs typeface="Arial"/>
              </a:rPr>
              <a:t>Belamy </a:t>
            </a:r>
            <a:r>
              <a:rPr sz="1600" spc="-25" dirty="0">
                <a:latin typeface="Arial"/>
                <a:cs typeface="Arial"/>
              </a:rPr>
              <a:t>Sold </a:t>
            </a:r>
            <a:r>
              <a:rPr sz="1600" spc="60" dirty="0">
                <a:latin typeface="Arial"/>
                <a:cs typeface="Arial"/>
              </a:rPr>
              <a:t>at </a:t>
            </a:r>
            <a:r>
              <a:rPr sz="1600" spc="-35" dirty="0">
                <a:latin typeface="Arial"/>
                <a:cs typeface="Arial"/>
              </a:rPr>
              <a:t>US$430,000  </a:t>
            </a:r>
            <a:r>
              <a:rPr sz="1600" spc="15" dirty="0">
                <a:latin typeface="Arial"/>
                <a:cs typeface="Arial"/>
              </a:rPr>
              <a:t>Demand </a:t>
            </a:r>
            <a:r>
              <a:rPr sz="1600" spc="65" dirty="0">
                <a:latin typeface="Arial"/>
                <a:cs typeface="Arial"/>
              </a:rPr>
              <a:t>for </a:t>
            </a:r>
            <a:r>
              <a:rPr sz="1600" spc="-10" dirty="0">
                <a:latin typeface="Arial"/>
                <a:cs typeface="Arial"/>
              </a:rPr>
              <a:t>AI </a:t>
            </a:r>
            <a:r>
              <a:rPr sz="1600" dirty="0">
                <a:latin typeface="Arial"/>
                <a:cs typeface="Arial"/>
              </a:rPr>
              <a:t>Programmers:↑ </a:t>
            </a:r>
            <a:r>
              <a:rPr sz="1600" spc="-5" dirty="0">
                <a:latin typeface="Arial"/>
                <a:cs typeface="Arial"/>
              </a:rPr>
              <a:t>35 </a:t>
            </a:r>
            <a:r>
              <a:rPr sz="1600" spc="-20" dirty="0">
                <a:latin typeface="Arial"/>
                <a:cs typeface="Arial"/>
              </a:rPr>
              <a:t>Times! </a:t>
            </a:r>
            <a:r>
              <a:rPr sz="1600" spc="-30" dirty="0">
                <a:latin typeface="Arial"/>
                <a:cs typeface="Arial"/>
              </a:rPr>
              <a:t>Salary:  </a:t>
            </a:r>
            <a:r>
              <a:rPr sz="1600" spc="-15" dirty="0">
                <a:latin typeface="Arial"/>
                <a:cs typeface="Arial"/>
              </a:rPr>
              <a:t>Top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1!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10" dirty="0">
                <a:latin typeface="Arial"/>
                <a:cs typeface="Arial"/>
              </a:rPr>
              <a:t>50% </a:t>
            </a:r>
            <a:r>
              <a:rPr sz="1600" spc="-85" dirty="0">
                <a:latin typeface="Arial"/>
                <a:cs typeface="Arial"/>
              </a:rPr>
              <a:t>Jobs </a:t>
            </a:r>
            <a:r>
              <a:rPr sz="1600" spc="55" dirty="0">
                <a:latin typeface="Arial"/>
                <a:cs typeface="Arial"/>
              </a:rPr>
              <a:t>Will </a:t>
            </a:r>
            <a:r>
              <a:rPr sz="1600" spc="-15" dirty="0">
                <a:latin typeface="Arial"/>
                <a:cs typeface="Arial"/>
              </a:rPr>
              <a:t>be </a:t>
            </a:r>
            <a:r>
              <a:rPr sz="1600" spc="-35" dirty="0">
                <a:latin typeface="Arial"/>
                <a:cs typeface="Arial"/>
              </a:rPr>
              <a:t>Replaced </a:t>
            </a:r>
            <a:r>
              <a:rPr sz="1600" dirty="0">
                <a:latin typeface="Arial"/>
                <a:cs typeface="Arial"/>
              </a:rPr>
              <a:t>by </a:t>
            </a:r>
            <a:r>
              <a:rPr sz="1600" spc="-5" dirty="0">
                <a:latin typeface="Arial"/>
                <a:cs typeface="Arial"/>
              </a:rPr>
              <a:t>AI </a:t>
            </a:r>
            <a:r>
              <a:rPr sz="1600" spc="45" dirty="0">
                <a:latin typeface="Arial"/>
                <a:cs typeface="Arial"/>
              </a:rPr>
              <a:t>in </a:t>
            </a:r>
            <a:r>
              <a:rPr sz="1600" spc="40" dirty="0">
                <a:latin typeface="Arial"/>
                <a:cs typeface="Arial"/>
              </a:rPr>
              <a:t>the</a:t>
            </a:r>
            <a:r>
              <a:rPr sz="1600" spc="270" dirty="0">
                <a:latin typeface="Arial"/>
                <a:cs typeface="Arial"/>
              </a:rPr>
              <a:t> </a:t>
            </a:r>
            <a:r>
              <a:rPr sz="1600" spc="55" dirty="0">
                <a:latin typeface="Arial"/>
                <a:cs typeface="Arial"/>
              </a:rPr>
              <a:t>future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40" dirty="0">
                <a:latin typeface="Arial"/>
                <a:cs typeface="Arial"/>
              </a:rPr>
              <a:t>Winter </a:t>
            </a:r>
            <a:r>
              <a:rPr sz="1600" spc="-40" dirty="0">
                <a:latin typeface="Arial"/>
                <a:cs typeface="Arial"/>
              </a:rPr>
              <a:t>is </a:t>
            </a:r>
            <a:r>
              <a:rPr sz="1600" spc="-10" dirty="0">
                <a:latin typeface="Arial"/>
                <a:cs typeface="Arial"/>
              </a:rPr>
              <a:t>Coming? AI </a:t>
            </a:r>
            <a:r>
              <a:rPr sz="1600" spc="-85" dirty="0">
                <a:latin typeface="Arial"/>
                <a:cs typeface="Arial"/>
              </a:rPr>
              <a:t>Faces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Challenges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0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9596" y="2489961"/>
            <a:ext cx="2145665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Arial"/>
                <a:cs typeface="Arial"/>
              </a:rPr>
              <a:t>The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30" dirty="0">
                <a:latin typeface="Arial"/>
                <a:cs typeface="Arial"/>
              </a:rPr>
              <a:t>Terminator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spc="-20" dirty="0">
                <a:latin typeface="Arial"/>
                <a:cs typeface="Arial"/>
              </a:rPr>
              <a:t>2001: </a:t>
            </a:r>
            <a:r>
              <a:rPr sz="1600" spc="-25" dirty="0">
                <a:latin typeface="Arial"/>
                <a:cs typeface="Arial"/>
              </a:rPr>
              <a:t>A </a:t>
            </a:r>
            <a:r>
              <a:rPr sz="1600" spc="-65" dirty="0">
                <a:latin typeface="Arial"/>
                <a:cs typeface="Arial"/>
              </a:rPr>
              <a:t>Space </a:t>
            </a:r>
            <a:r>
              <a:rPr sz="1600" spc="-50" dirty="0">
                <a:latin typeface="Arial"/>
                <a:cs typeface="Arial"/>
              </a:rPr>
              <a:t>Odyssey  </a:t>
            </a:r>
            <a:r>
              <a:rPr sz="1600" spc="-30" dirty="0">
                <a:latin typeface="Arial"/>
                <a:cs typeface="Arial"/>
              </a:rPr>
              <a:t>The</a:t>
            </a:r>
            <a:r>
              <a:rPr sz="1600" spc="55" dirty="0">
                <a:latin typeface="Arial"/>
                <a:cs typeface="Arial"/>
              </a:rPr>
              <a:t> Matrix</a:t>
            </a:r>
            <a:endParaRPr sz="1600">
              <a:latin typeface="Arial"/>
              <a:cs typeface="Arial"/>
            </a:endParaRPr>
          </a:p>
          <a:p>
            <a:pPr marL="12700" marR="883285">
              <a:lnSpc>
                <a:spcPct val="100000"/>
              </a:lnSpc>
            </a:pPr>
            <a:r>
              <a:rPr sz="1600" spc="-30" dirty="0">
                <a:latin typeface="Arial"/>
                <a:cs typeface="Arial"/>
              </a:rPr>
              <a:t>I, </a:t>
            </a:r>
            <a:r>
              <a:rPr sz="1600" dirty="0">
                <a:latin typeface="Arial"/>
                <a:cs typeface="Arial"/>
              </a:rPr>
              <a:t>Robot  </a:t>
            </a:r>
            <a:r>
              <a:rPr sz="1600" spc="-15" dirty="0">
                <a:latin typeface="Arial"/>
                <a:cs typeface="Arial"/>
              </a:rPr>
              <a:t>Blade </a:t>
            </a:r>
            <a:r>
              <a:rPr sz="1600" spc="-10" dirty="0">
                <a:latin typeface="Arial"/>
                <a:cs typeface="Arial"/>
              </a:rPr>
              <a:t>Runner  </a:t>
            </a:r>
            <a:r>
              <a:rPr sz="1600" spc="-25" dirty="0">
                <a:latin typeface="Arial"/>
                <a:cs typeface="Arial"/>
              </a:rPr>
              <a:t>Elle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10" dirty="0">
                <a:latin typeface="Arial"/>
                <a:cs typeface="Arial"/>
              </a:rPr>
              <a:t>Bicentennial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spc="55" dirty="0">
                <a:latin typeface="Arial"/>
                <a:cs typeface="Arial"/>
              </a:rPr>
              <a:t>Man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0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1039" y="1076604"/>
            <a:ext cx="10292080" cy="149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200" spc="-35" dirty="0">
                <a:latin typeface="Arial"/>
                <a:cs typeface="Arial"/>
              </a:rPr>
              <a:t>People </a:t>
            </a:r>
            <a:r>
              <a:rPr sz="2200" spc="50" dirty="0">
                <a:latin typeface="Arial"/>
                <a:cs typeface="Arial"/>
              </a:rPr>
              <a:t>get </a:t>
            </a:r>
            <a:r>
              <a:rPr sz="2200" spc="105" dirty="0">
                <a:latin typeface="Arial"/>
                <a:cs typeface="Arial"/>
              </a:rPr>
              <a:t>to </a:t>
            </a:r>
            <a:r>
              <a:rPr sz="2200" spc="70" dirty="0">
                <a:latin typeface="Arial"/>
                <a:cs typeface="Arial"/>
              </a:rPr>
              <a:t>know </a:t>
            </a:r>
            <a:r>
              <a:rPr sz="2200" spc="-10" dirty="0">
                <a:latin typeface="Arial"/>
                <a:cs typeface="Arial"/>
              </a:rPr>
              <a:t>AI </a:t>
            </a:r>
            <a:r>
              <a:rPr sz="2200" spc="70" dirty="0">
                <a:latin typeface="Arial"/>
                <a:cs typeface="Arial"/>
              </a:rPr>
              <a:t>through </a:t>
            </a:r>
            <a:r>
              <a:rPr sz="2200" spc="-25" dirty="0">
                <a:latin typeface="Arial"/>
                <a:cs typeface="Arial"/>
              </a:rPr>
              <a:t>news, </a:t>
            </a:r>
            <a:r>
              <a:rPr sz="2200" spc="-15" dirty="0">
                <a:latin typeface="Arial"/>
                <a:cs typeface="Arial"/>
              </a:rPr>
              <a:t>movies, </a:t>
            </a:r>
            <a:r>
              <a:rPr sz="2200" spc="25" dirty="0">
                <a:latin typeface="Arial"/>
                <a:cs typeface="Arial"/>
              </a:rPr>
              <a:t>and </a:t>
            </a:r>
            <a:r>
              <a:rPr sz="2200" spc="35" dirty="0">
                <a:latin typeface="Arial"/>
                <a:cs typeface="Arial"/>
              </a:rPr>
              <a:t>actual </a:t>
            </a:r>
            <a:r>
              <a:rPr sz="2200" spc="20" dirty="0">
                <a:latin typeface="Arial"/>
                <a:cs typeface="Arial"/>
              </a:rPr>
              <a:t>applications </a:t>
            </a:r>
            <a:r>
              <a:rPr sz="2200" spc="65" dirty="0">
                <a:latin typeface="Arial"/>
                <a:cs typeface="Arial"/>
              </a:rPr>
              <a:t>in </a:t>
            </a:r>
            <a:r>
              <a:rPr sz="2200" spc="35" dirty="0">
                <a:latin typeface="Arial"/>
                <a:cs typeface="Arial"/>
              </a:rPr>
              <a:t>daily  life. </a:t>
            </a:r>
            <a:r>
              <a:rPr sz="2200" spc="65" dirty="0">
                <a:latin typeface="Arial"/>
                <a:cs typeface="Arial"/>
              </a:rPr>
              <a:t>What </a:t>
            </a:r>
            <a:r>
              <a:rPr sz="2200" spc="-55" dirty="0">
                <a:latin typeface="Arial"/>
                <a:cs typeface="Arial"/>
              </a:rPr>
              <a:t>is </a:t>
            </a:r>
            <a:r>
              <a:rPr sz="2200" spc="-10" dirty="0">
                <a:latin typeface="Arial"/>
                <a:cs typeface="Arial"/>
              </a:rPr>
              <a:t>AI </a:t>
            </a:r>
            <a:r>
              <a:rPr sz="2200" spc="65" dirty="0">
                <a:latin typeface="Arial"/>
                <a:cs typeface="Arial"/>
              </a:rPr>
              <a:t>in </a:t>
            </a:r>
            <a:r>
              <a:rPr sz="2200" spc="55" dirty="0">
                <a:latin typeface="Arial"/>
                <a:cs typeface="Arial"/>
              </a:rPr>
              <a:t>the </a:t>
            </a:r>
            <a:r>
              <a:rPr sz="2200" spc="-80" dirty="0">
                <a:latin typeface="Arial"/>
                <a:cs typeface="Arial"/>
              </a:rPr>
              <a:t>eyes </a:t>
            </a:r>
            <a:r>
              <a:rPr sz="2200" b="1" spc="40" dirty="0">
                <a:solidFill>
                  <a:srgbClr val="C6000A"/>
                </a:solidFill>
                <a:latin typeface="Arial"/>
                <a:cs typeface="Arial"/>
              </a:rPr>
              <a:t>of </a:t>
            </a:r>
            <a:r>
              <a:rPr sz="2200" b="1" spc="65" dirty="0">
                <a:solidFill>
                  <a:srgbClr val="C6000A"/>
                </a:solidFill>
                <a:latin typeface="Arial"/>
                <a:cs typeface="Arial"/>
              </a:rPr>
              <a:t>the</a:t>
            </a:r>
            <a:r>
              <a:rPr sz="2200" b="1" spc="590" dirty="0">
                <a:solidFill>
                  <a:srgbClr val="C6000A"/>
                </a:solidFill>
                <a:latin typeface="Arial"/>
                <a:cs typeface="Arial"/>
              </a:rPr>
              <a:t> </a:t>
            </a:r>
            <a:r>
              <a:rPr sz="2200" b="1" spc="-55" dirty="0">
                <a:solidFill>
                  <a:srgbClr val="C6000A"/>
                </a:solidFill>
                <a:latin typeface="Arial"/>
                <a:cs typeface="Arial"/>
              </a:rPr>
              <a:t>public?</a:t>
            </a:r>
            <a:endParaRPr sz="2200">
              <a:latin typeface="Arial"/>
              <a:cs typeface="Arial"/>
            </a:endParaRPr>
          </a:p>
          <a:p>
            <a:pPr marL="7370445" marR="283210">
              <a:lnSpc>
                <a:spcPct val="100000"/>
              </a:lnSpc>
              <a:spcBef>
                <a:spcPts val="365"/>
              </a:spcBef>
            </a:pPr>
            <a:r>
              <a:rPr sz="1600" spc="-20" dirty="0">
                <a:latin typeface="Arial"/>
                <a:cs typeface="Arial"/>
              </a:rPr>
              <a:t>Self-service </a:t>
            </a:r>
            <a:r>
              <a:rPr sz="1600" dirty="0">
                <a:latin typeface="Arial"/>
                <a:cs typeface="Arial"/>
              </a:rPr>
              <a:t>security </a:t>
            </a:r>
            <a:r>
              <a:rPr sz="1600" spc="-20" dirty="0">
                <a:latin typeface="Arial"/>
                <a:cs typeface="Arial"/>
              </a:rPr>
              <a:t>check  </a:t>
            </a:r>
            <a:r>
              <a:rPr sz="1600" spc="-30" dirty="0">
                <a:latin typeface="Arial"/>
                <a:cs typeface="Arial"/>
              </a:rPr>
              <a:t>Spoken </a:t>
            </a:r>
            <a:r>
              <a:rPr sz="1600" spc="20" dirty="0">
                <a:latin typeface="Arial"/>
                <a:cs typeface="Arial"/>
              </a:rPr>
              <a:t>language</a:t>
            </a:r>
            <a:r>
              <a:rPr sz="1600" spc="125" dirty="0">
                <a:latin typeface="Arial"/>
                <a:cs typeface="Arial"/>
              </a:rPr>
              <a:t> </a:t>
            </a:r>
            <a:r>
              <a:rPr sz="1600" spc="25" dirty="0">
                <a:latin typeface="Arial"/>
                <a:cs typeface="Arial"/>
              </a:rPr>
              <a:t>evaluation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59216" y="2550109"/>
            <a:ext cx="2849245" cy="197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30" dirty="0">
                <a:latin typeface="Arial"/>
                <a:cs typeface="Arial"/>
              </a:rPr>
              <a:t>Music/Movie</a:t>
            </a:r>
            <a:r>
              <a:rPr sz="1600" spc="75" dirty="0">
                <a:latin typeface="Arial"/>
                <a:cs typeface="Arial"/>
              </a:rPr>
              <a:t> </a:t>
            </a:r>
            <a:r>
              <a:rPr sz="1600" spc="30" dirty="0">
                <a:latin typeface="Arial"/>
                <a:cs typeface="Arial"/>
              </a:rPr>
              <a:t>recommendation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10" dirty="0">
                <a:latin typeface="Arial"/>
                <a:cs typeface="Arial"/>
              </a:rPr>
              <a:t>Smart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speaker</a:t>
            </a:r>
            <a:endParaRPr sz="1600">
              <a:latin typeface="Arial"/>
              <a:cs typeface="Arial"/>
            </a:endParaRPr>
          </a:p>
          <a:p>
            <a:pPr marL="12700" marR="280670">
              <a:lnSpc>
                <a:spcPct val="100000"/>
              </a:lnSpc>
            </a:pPr>
            <a:r>
              <a:rPr sz="1600" spc="10" dirty="0">
                <a:latin typeface="Arial"/>
                <a:cs typeface="Arial"/>
              </a:rPr>
              <a:t>Ai </a:t>
            </a:r>
            <a:r>
              <a:rPr sz="1600" spc="25" dirty="0">
                <a:latin typeface="Arial"/>
                <a:cs typeface="Arial"/>
              </a:rPr>
              <a:t>facial </a:t>
            </a:r>
            <a:r>
              <a:rPr sz="1600" spc="50" dirty="0">
                <a:latin typeface="Arial"/>
                <a:cs typeface="Arial"/>
              </a:rPr>
              <a:t>fortune-telling  </a:t>
            </a:r>
            <a:r>
              <a:rPr sz="1600" spc="5" dirty="0">
                <a:latin typeface="Arial"/>
                <a:cs typeface="Arial"/>
              </a:rPr>
              <a:t>Vacuum </a:t>
            </a:r>
            <a:r>
              <a:rPr sz="1600" spc="10" dirty="0">
                <a:latin typeface="Arial"/>
                <a:cs typeface="Arial"/>
              </a:rPr>
              <a:t>cleaning </a:t>
            </a:r>
            <a:r>
              <a:rPr sz="1600" spc="50" dirty="0">
                <a:latin typeface="Arial"/>
                <a:cs typeface="Arial"/>
              </a:rPr>
              <a:t>robot  </a:t>
            </a:r>
            <a:r>
              <a:rPr sz="1600" spc="-20" dirty="0">
                <a:latin typeface="Arial"/>
                <a:cs typeface="Arial"/>
              </a:rPr>
              <a:t>Self-service </a:t>
            </a:r>
            <a:r>
              <a:rPr sz="1600" spc="20" dirty="0">
                <a:latin typeface="Arial"/>
                <a:cs typeface="Arial"/>
              </a:rPr>
              <a:t>bank </a:t>
            </a:r>
            <a:r>
              <a:rPr sz="1600" spc="50" dirty="0">
                <a:latin typeface="Arial"/>
                <a:cs typeface="Arial"/>
              </a:rPr>
              <a:t>terminal  </a:t>
            </a:r>
            <a:r>
              <a:rPr sz="1600" spc="40" dirty="0">
                <a:latin typeface="Arial"/>
                <a:cs typeface="Arial"/>
              </a:rPr>
              <a:t>Intelligent </a:t>
            </a:r>
            <a:r>
              <a:rPr sz="1600" spc="15" dirty="0">
                <a:latin typeface="Arial"/>
                <a:cs typeface="Arial"/>
              </a:rPr>
              <a:t>customer </a:t>
            </a:r>
            <a:r>
              <a:rPr sz="1600" spc="-30" dirty="0">
                <a:latin typeface="Arial"/>
                <a:cs typeface="Arial"/>
              </a:rPr>
              <a:t>service  </a:t>
            </a:r>
            <a:r>
              <a:rPr sz="1600" spc="-20" dirty="0">
                <a:latin typeface="Arial"/>
                <a:cs typeface="Arial"/>
              </a:rPr>
              <a:t>Siri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0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9045" y="4566665"/>
            <a:ext cx="10172700" cy="16510"/>
          </a:xfrm>
          <a:custGeom>
            <a:avLst/>
            <a:gdLst/>
            <a:ahLst/>
            <a:cxnLst/>
            <a:rect l="l" t="t" r="r" b="b"/>
            <a:pathLst>
              <a:path w="10172700" h="16510">
                <a:moveTo>
                  <a:pt x="0" y="16128"/>
                </a:moveTo>
                <a:lnTo>
                  <a:pt x="10172700" y="0"/>
                </a:lnTo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46961" y="4644974"/>
            <a:ext cx="21304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695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6000A"/>
                </a:solidFill>
                <a:latin typeface="Arial"/>
                <a:cs typeface="Arial"/>
              </a:rPr>
              <a:t>News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Arial"/>
                <a:cs typeface="Arial"/>
              </a:rPr>
              <a:t>AI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Applications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25" dirty="0">
                <a:latin typeface="Arial"/>
                <a:cs typeface="Arial"/>
              </a:rPr>
              <a:t>industry </a:t>
            </a:r>
            <a:r>
              <a:rPr sz="1600" spc="50" dirty="0">
                <a:latin typeface="Arial"/>
                <a:cs typeface="Arial"/>
              </a:rPr>
              <a:t>outlook  </a:t>
            </a:r>
            <a:r>
              <a:rPr sz="1600" spc="-20" dirty="0">
                <a:latin typeface="Arial"/>
                <a:cs typeface="Arial"/>
              </a:rPr>
              <a:t>Challenges </a:t>
            </a:r>
            <a:r>
              <a:rPr sz="1600" dirty="0">
                <a:latin typeface="Arial"/>
                <a:cs typeface="Arial"/>
              </a:rPr>
              <a:t>faced by</a:t>
            </a:r>
            <a:r>
              <a:rPr sz="1600" spc="204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AI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0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721222" y="4644974"/>
            <a:ext cx="2141855" cy="148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652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C6000A"/>
                </a:solidFill>
                <a:latin typeface="Arial"/>
                <a:cs typeface="Arial"/>
              </a:rPr>
              <a:t>Movies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25" dirty="0">
                <a:latin typeface="Arial"/>
                <a:cs typeface="Arial"/>
              </a:rPr>
              <a:t>Control </a:t>
            </a:r>
            <a:r>
              <a:rPr sz="1600" dirty="0">
                <a:latin typeface="Arial"/>
                <a:cs typeface="Arial"/>
              </a:rPr>
              <a:t>over </a:t>
            </a:r>
            <a:r>
              <a:rPr sz="1600" spc="45" dirty="0">
                <a:latin typeface="Arial"/>
                <a:cs typeface="Arial"/>
              </a:rPr>
              <a:t>human  </a:t>
            </a:r>
            <a:r>
              <a:rPr sz="1600" spc="-10" dirty="0">
                <a:latin typeface="Arial"/>
                <a:cs typeface="Arial"/>
              </a:rPr>
              <a:t>beings</a:t>
            </a:r>
            <a:endParaRPr sz="1600">
              <a:latin typeface="Arial"/>
              <a:cs typeface="Arial"/>
            </a:endParaRPr>
          </a:p>
          <a:p>
            <a:pPr marL="12700" marR="22352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Fall </a:t>
            </a:r>
            <a:r>
              <a:rPr sz="1600" spc="45" dirty="0">
                <a:latin typeface="Arial"/>
                <a:cs typeface="Arial"/>
              </a:rPr>
              <a:t>in </a:t>
            </a:r>
            <a:r>
              <a:rPr sz="1600" spc="5" dirty="0">
                <a:latin typeface="Arial"/>
                <a:cs typeface="Arial"/>
              </a:rPr>
              <a:t>love </a:t>
            </a:r>
            <a:r>
              <a:rPr sz="1600" spc="75" dirty="0">
                <a:latin typeface="Arial"/>
                <a:cs typeface="Arial"/>
              </a:rPr>
              <a:t>with </a:t>
            </a:r>
            <a:r>
              <a:rPr sz="1600" spc="-10" dirty="0">
                <a:latin typeface="Arial"/>
                <a:cs typeface="Arial"/>
              </a:rPr>
              <a:t>AI  </a:t>
            </a:r>
            <a:r>
              <a:rPr sz="1600" spc="-15" dirty="0">
                <a:latin typeface="Arial"/>
                <a:cs typeface="Arial"/>
              </a:rPr>
              <a:t>Self-awareness </a:t>
            </a:r>
            <a:r>
              <a:rPr sz="1600" spc="65" dirty="0">
                <a:latin typeface="Arial"/>
                <a:cs typeface="Arial"/>
              </a:rPr>
              <a:t>of</a:t>
            </a:r>
            <a:r>
              <a:rPr sz="1600" spc="1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AI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495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3581" y="4644974"/>
            <a:ext cx="2408555" cy="148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8910">
              <a:lnSpc>
                <a:spcPct val="100000"/>
              </a:lnSpc>
              <a:spcBef>
                <a:spcPts val="95"/>
              </a:spcBef>
            </a:pPr>
            <a:r>
              <a:rPr sz="1600" spc="15" dirty="0">
                <a:solidFill>
                  <a:srgbClr val="C00000"/>
                </a:solidFill>
                <a:latin typeface="Arial"/>
                <a:cs typeface="Arial"/>
              </a:rPr>
              <a:t>Applications </a:t>
            </a:r>
            <a:r>
              <a:rPr sz="1600" spc="45" dirty="0">
                <a:solidFill>
                  <a:srgbClr val="C00000"/>
                </a:solidFill>
                <a:latin typeface="Arial"/>
                <a:cs typeface="Arial"/>
              </a:rPr>
              <a:t>in </a:t>
            </a:r>
            <a:r>
              <a:rPr sz="1600" spc="20" dirty="0">
                <a:solidFill>
                  <a:srgbClr val="C00000"/>
                </a:solidFill>
                <a:latin typeface="Arial"/>
                <a:cs typeface="Arial"/>
              </a:rPr>
              <a:t>daily </a:t>
            </a:r>
            <a:r>
              <a:rPr sz="1600" spc="45" dirty="0">
                <a:solidFill>
                  <a:srgbClr val="C00000"/>
                </a:solidFill>
                <a:latin typeface="Arial"/>
                <a:cs typeface="Arial"/>
              </a:rPr>
              <a:t>life  </a:t>
            </a:r>
            <a:r>
              <a:rPr sz="1600" spc="-15" dirty="0">
                <a:latin typeface="Arial"/>
                <a:cs typeface="Arial"/>
              </a:rPr>
              <a:t>Security </a:t>
            </a:r>
            <a:r>
              <a:rPr sz="1600" spc="35" dirty="0">
                <a:latin typeface="Arial"/>
                <a:cs typeface="Arial"/>
              </a:rPr>
              <a:t>protection  </a:t>
            </a:r>
            <a:r>
              <a:rPr sz="1600" spc="30" dirty="0">
                <a:latin typeface="Arial"/>
                <a:cs typeface="Arial"/>
              </a:rPr>
              <a:t>Entertainment</a:t>
            </a:r>
            <a:endParaRPr sz="1600">
              <a:latin typeface="Arial"/>
              <a:cs typeface="Arial"/>
            </a:endParaRPr>
          </a:p>
          <a:p>
            <a:pPr marL="12700" marR="1209040">
              <a:lnSpc>
                <a:spcPct val="100000"/>
              </a:lnSpc>
              <a:spcBef>
                <a:spcPts val="5"/>
              </a:spcBef>
            </a:pPr>
            <a:r>
              <a:rPr sz="1600" spc="10" dirty="0">
                <a:latin typeface="Arial"/>
                <a:cs typeface="Arial"/>
              </a:rPr>
              <a:t>Smart </a:t>
            </a:r>
            <a:r>
              <a:rPr sz="1600" spc="30" dirty="0">
                <a:latin typeface="Arial"/>
                <a:cs typeface="Arial"/>
              </a:rPr>
              <a:t>Home  </a:t>
            </a:r>
            <a:r>
              <a:rPr sz="1600" spc="-20" dirty="0">
                <a:latin typeface="Arial"/>
                <a:cs typeface="Arial"/>
              </a:rPr>
              <a:t>Finance</a:t>
            </a:r>
            <a:endParaRPr sz="16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1600" spc="-495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3625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 </a:t>
            </a:r>
            <a:r>
              <a:rPr spc="95" dirty="0"/>
              <a:t>in </a:t>
            </a:r>
            <a:r>
              <a:rPr spc="90" dirty="0"/>
              <a:t>the </a:t>
            </a:r>
            <a:r>
              <a:rPr spc="-190" dirty="0"/>
              <a:t>Eyes </a:t>
            </a:r>
            <a:r>
              <a:rPr spc="145" dirty="0"/>
              <a:t>of</a:t>
            </a:r>
            <a:r>
              <a:rPr spc="-190" dirty="0"/>
              <a:t> </a:t>
            </a:r>
            <a:r>
              <a:rPr spc="-85" dirty="0"/>
              <a:t>Researchers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199133"/>
            <a:ext cx="10594975" cy="40309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95" dirty="0">
                <a:latin typeface="Arial"/>
                <a:cs typeface="Arial"/>
              </a:rPr>
              <a:t>"I </a:t>
            </a:r>
            <a:r>
              <a:rPr sz="2000" dirty="0">
                <a:latin typeface="Arial"/>
                <a:cs typeface="Arial"/>
              </a:rPr>
              <a:t>propose </a:t>
            </a:r>
            <a:r>
              <a:rPr sz="2000" spc="105" dirty="0">
                <a:latin typeface="Arial"/>
                <a:cs typeface="Arial"/>
              </a:rPr>
              <a:t>to </a:t>
            </a:r>
            <a:r>
              <a:rPr sz="2000" spc="-5" dirty="0">
                <a:latin typeface="Arial"/>
                <a:cs typeface="Arial"/>
              </a:rPr>
              <a:t>consider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15" dirty="0">
                <a:latin typeface="Arial"/>
                <a:cs typeface="Arial"/>
              </a:rPr>
              <a:t>question, </a:t>
            </a:r>
            <a:r>
              <a:rPr sz="2000" spc="-30" dirty="0">
                <a:latin typeface="Arial"/>
                <a:cs typeface="Arial"/>
              </a:rPr>
              <a:t>'Can </a:t>
            </a:r>
            <a:r>
              <a:rPr sz="2000" dirty="0">
                <a:latin typeface="Arial"/>
                <a:cs typeface="Arial"/>
              </a:rPr>
              <a:t>machines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spc="60" dirty="0">
                <a:latin typeface="Arial"/>
                <a:cs typeface="Arial"/>
              </a:rPr>
              <a:t>think?'"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760"/>
              </a:spcBef>
            </a:pPr>
            <a:r>
              <a:rPr sz="2000" spc="120" dirty="0">
                <a:latin typeface="Arial"/>
                <a:cs typeface="Arial"/>
              </a:rPr>
              <a:t>— </a:t>
            </a:r>
            <a:r>
              <a:rPr sz="2000" spc="30" dirty="0">
                <a:latin typeface="Arial"/>
                <a:cs typeface="Arial"/>
              </a:rPr>
              <a:t>Alan Turing</a:t>
            </a:r>
            <a:r>
              <a:rPr sz="2000" dirty="0">
                <a:latin typeface="Arial"/>
                <a:cs typeface="Arial"/>
              </a:rPr>
              <a:t> 1950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25" dirty="0">
                <a:latin typeface="Arial"/>
                <a:cs typeface="Arial"/>
              </a:rPr>
              <a:t>branch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45" dirty="0">
                <a:latin typeface="Arial"/>
                <a:cs typeface="Arial"/>
              </a:rPr>
              <a:t>computer </a:t>
            </a:r>
            <a:r>
              <a:rPr sz="2000" spc="-45" dirty="0">
                <a:latin typeface="Arial"/>
                <a:cs typeface="Arial"/>
              </a:rPr>
              <a:t>science </a:t>
            </a:r>
            <a:r>
              <a:rPr sz="2000" spc="-5" dirty="0">
                <a:latin typeface="Arial"/>
                <a:cs typeface="Arial"/>
              </a:rPr>
              <a:t>concerned </a:t>
            </a:r>
            <a:r>
              <a:rPr sz="2000" spc="105" dirty="0">
                <a:latin typeface="Arial"/>
                <a:cs typeface="Arial"/>
              </a:rPr>
              <a:t>with </a:t>
            </a:r>
            <a:r>
              <a:rPr sz="2000" spc="55" dirty="0">
                <a:latin typeface="Arial"/>
                <a:cs typeface="Arial"/>
              </a:rPr>
              <a:t>making </a:t>
            </a:r>
            <a:r>
              <a:rPr sz="2000" spc="20" dirty="0">
                <a:latin typeface="Arial"/>
                <a:cs typeface="Arial"/>
              </a:rPr>
              <a:t>computers </a:t>
            </a:r>
            <a:r>
              <a:rPr sz="2000" spc="-5" dirty="0">
                <a:latin typeface="Arial"/>
                <a:cs typeface="Arial"/>
              </a:rPr>
              <a:t>behave </a:t>
            </a:r>
            <a:r>
              <a:rPr sz="2000" spc="45" dirty="0">
                <a:latin typeface="Arial"/>
                <a:cs typeface="Arial"/>
              </a:rPr>
              <a:t>like</a:t>
            </a:r>
            <a:r>
              <a:rPr sz="2000" spc="44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humans.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764"/>
              </a:spcBef>
            </a:pPr>
            <a:r>
              <a:rPr sz="2000" spc="120" dirty="0">
                <a:latin typeface="Arial"/>
                <a:cs typeface="Arial"/>
              </a:rPr>
              <a:t>— </a:t>
            </a:r>
            <a:r>
              <a:rPr sz="2000" spc="-40" dirty="0">
                <a:latin typeface="Arial"/>
                <a:cs typeface="Arial"/>
              </a:rPr>
              <a:t>John </a:t>
            </a:r>
            <a:r>
              <a:rPr sz="2000" spc="20" dirty="0">
                <a:latin typeface="Arial"/>
                <a:cs typeface="Arial"/>
              </a:rPr>
              <a:t>McCarthy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1956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-45" dirty="0">
                <a:latin typeface="Arial"/>
                <a:cs typeface="Arial"/>
              </a:rPr>
              <a:t>science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60" dirty="0">
                <a:latin typeface="Arial"/>
                <a:cs typeface="Arial"/>
              </a:rPr>
              <a:t>making </a:t>
            </a:r>
            <a:r>
              <a:rPr sz="2000" dirty="0">
                <a:latin typeface="Arial"/>
                <a:cs typeface="Arial"/>
              </a:rPr>
              <a:t>machines </a:t>
            </a:r>
            <a:r>
              <a:rPr sz="2000" spc="35" dirty="0">
                <a:latin typeface="Arial"/>
                <a:cs typeface="Arial"/>
              </a:rPr>
              <a:t>do things </a:t>
            </a:r>
            <a:r>
              <a:rPr sz="2000" spc="95" dirty="0">
                <a:latin typeface="Arial"/>
                <a:cs typeface="Arial"/>
              </a:rPr>
              <a:t>that </a:t>
            </a:r>
            <a:r>
              <a:rPr sz="2000" spc="70" dirty="0">
                <a:latin typeface="Arial"/>
                <a:cs typeface="Arial"/>
              </a:rPr>
              <a:t>would </a:t>
            </a:r>
            <a:r>
              <a:rPr sz="2000" spc="30" dirty="0">
                <a:latin typeface="Arial"/>
                <a:cs typeface="Arial"/>
              </a:rPr>
              <a:t>require </a:t>
            </a:r>
            <a:r>
              <a:rPr sz="2000" spc="35" dirty="0">
                <a:latin typeface="Arial"/>
                <a:cs typeface="Arial"/>
              </a:rPr>
              <a:t>intelligence </a:t>
            </a:r>
            <a:r>
              <a:rPr sz="2000" spc="105" dirty="0">
                <a:latin typeface="Arial"/>
                <a:cs typeface="Arial"/>
              </a:rPr>
              <a:t>if </a:t>
            </a:r>
            <a:r>
              <a:rPr sz="2000" spc="20" dirty="0">
                <a:latin typeface="Arial"/>
                <a:cs typeface="Arial"/>
              </a:rPr>
              <a:t>done </a:t>
            </a:r>
            <a:r>
              <a:rPr sz="2000" spc="10" dirty="0">
                <a:latin typeface="Arial"/>
                <a:cs typeface="Arial"/>
              </a:rPr>
              <a:t>by</a:t>
            </a:r>
            <a:r>
              <a:rPr sz="2000" spc="38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men.</a:t>
            </a:r>
            <a:endParaRPr sz="2000">
              <a:latin typeface="Arial"/>
              <a:cs typeface="Arial"/>
            </a:endParaRPr>
          </a:p>
          <a:p>
            <a:pPr marR="5715" algn="r">
              <a:lnSpc>
                <a:spcPct val="100000"/>
              </a:lnSpc>
              <a:spcBef>
                <a:spcPts val="1770"/>
              </a:spcBef>
            </a:pPr>
            <a:r>
              <a:rPr sz="2000" spc="120" dirty="0">
                <a:latin typeface="Arial"/>
                <a:cs typeface="Arial"/>
              </a:rPr>
              <a:t>— </a:t>
            </a:r>
            <a:r>
              <a:rPr sz="2000" spc="60" dirty="0">
                <a:latin typeface="Arial"/>
                <a:cs typeface="Arial"/>
              </a:rPr>
              <a:t>Marvin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Minsky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44157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5" dirty="0"/>
              <a:t>What </a:t>
            </a:r>
            <a:r>
              <a:rPr dirty="0"/>
              <a:t>Are</a:t>
            </a:r>
            <a:r>
              <a:rPr spc="95" dirty="0"/>
              <a:t> </a:t>
            </a:r>
            <a:r>
              <a:rPr dirty="0"/>
              <a:t>Intelligences?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90574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211325"/>
            <a:ext cx="7380605" cy="930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55" dirty="0">
                <a:latin typeface="Arial"/>
                <a:cs typeface="Arial"/>
              </a:rPr>
              <a:t>Howard </a:t>
            </a:r>
            <a:r>
              <a:rPr sz="2200" spc="-5" dirty="0">
                <a:latin typeface="Arial"/>
                <a:cs typeface="Arial"/>
              </a:rPr>
              <a:t>Gardner's </a:t>
            </a:r>
            <a:r>
              <a:rPr sz="2200" spc="85" dirty="0">
                <a:latin typeface="Arial"/>
                <a:cs typeface="Arial"/>
              </a:rPr>
              <a:t>Multiple</a:t>
            </a:r>
            <a:r>
              <a:rPr sz="2200" spc="195" dirty="0">
                <a:latin typeface="Arial"/>
                <a:cs typeface="Arial"/>
              </a:rPr>
              <a:t> </a:t>
            </a:r>
            <a:r>
              <a:rPr sz="2200" spc="15" dirty="0">
                <a:latin typeface="Arial"/>
                <a:cs typeface="Arial"/>
              </a:rPr>
              <a:t>Intelligences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200" spc="60" dirty="0">
                <a:latin typeface="Arial"/>
                <a:cs typeface="Arial"/>
              </a:rPr>
              <a:t>Human </a:t>
            </a:r>
            <a:r>
              <a:rPr sz="2200" spc="20" dirty="0">
                <a:latin typeface="Arial"/>
                <a:cs typeface="Arial"/>
              </a:rPr>
              <a:t>intelligences </a:t>
            </a:r>
            <a:r>
              <a:rPr sz="2200" spc="-15" dirty="0">
                <a:latin typeface="Arial"/>
                <a:cs typeface="Arial"/>
              </a:rPr>
              <a:t>can be </a:t>
            </a:r>
            <a:r>
              <a:rPr sz="2200" spc="25" dirty="0">
                <a:latin typeface="Arial"/>
                <a:cs typeface="Arial"/>
              </a:rPr>
              <a:t>divided </a:t>
            </a:r>
            <a:r>
              <a:rPr sz="2200" spc="90" dirty="0">
                <a:latin typeface="Arial"/>
                <a:cs typeface="Arial"/>
              </a:rPr>
              <a:t>into </a:t>
            </a:r>
            <a:r>
              <a:rPr sz="2200" spc="-55" dirty="0">
                <a:latin typeface="Arial"/>
                <a:cs typeface="Arial"/>
              </a:rPr>
              <a:t>seven</a:t>
            </a:r>
            <a:r>
              <a:rPr sz="2200" spc="365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categories: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1860550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3147" y="2400426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4911" y="2328799"/>
            <a:ext cx="3234690" cy="3423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5" dirty="0">
                <a:latin typeface="Arial"/>
                <a:cs typeface="Arial"/>
              </a:rPr>
              <a:t>Verbal/Linguistic</a:t>
            </a:r>
            <a:endParaRPr sz="2000">
              <a:latin typeface="Arial"/>
              <a:cs typeface="Arial"/>
            </a:endParaRPr>
          </a:p>
          <a:p>
            <a:pPr marL="12700" marR="697865">
              <a:lnSpc>
                <a:spcPct val="169000"/>
              </a:lnSpc>
            </a:pPr>
            <a:r>
              <a:rPr sz="2000" spc="45" dirty="0">
                <a:latin typeface="Arial"/>
                <a:cs typeface="Arial"/>
              </a:rPr>
              <a:t>Logical/Mathematical  </a:t>
            </a:r>
            <a:r>
              <a:rPr sz="2000" spc="20" dirty="0">
                <a:latin typeface="Arial"/>
                <a:cs typeface="Arial"/>
              </a:rPr>
              <a:t>Visual/Spatial  Bodily/Kinesthetic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000" spc="30" dirty="0">
                <a:latin typeface="Arial"/>
                <a:cs typeface="Arial"/>
              </a:rPr>
              <a:t>Musical/Rhythmic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000" spc="20" dirty="0">
                <a:latin typeface="Arial"/>
                <a:cs typeface="Arial"/>
              </a:rPr>
              <a:t>Inter-personal/Social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spc="35" dirty="0">
                <a:latin typeface="Arial"/>
                <a:cs typeface="Arial"/>
              </a:rPr>
              <a:t>Intra-personal/Introspective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3147" y="2915538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3147" y="3430904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3147" y="3946016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3147" y="4462653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3147" y="4978146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3147" y="5493207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21494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5" dirty="0"/>
              <a:t>What </a:t>
            </a:r>
            <a:r>
              <a:rPr spc="-114" dirty="0"/>
              <a:t>Is</a:t>
            </a:r>
            <a:r>
              <a:rPr spc="40" dirty="0"/>
              <a:t> </a:t>
            </a:r>
            <a:r>
              <a:rPr spc="-90" dirty="0"/>
              <a:t>AI?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196085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214"/>
            <a:ext cx="10293350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800" spc="50" dirty="0">
                <a:latin typeface="Arial"/>
                <a:cs typeface="Arial"/>
              </a:rPr>
              <a:t>Artificial </a:t>
            </a:r>
            <a:r>
              <a:rPr sz="1800" spc="20" dirty="0">
                <a:latin typeface="Arial"/>
                <a:cs typeface="Arial"/>
              </a:rPr>
              <a:t>Intelligence </a:t>
            </a:r>
            <a:r>
              <a:rPr sz="1800" spc="65" dirty="0">
                <a:latin typeface="Arial"/>
                <a:cs typeface="Arial"/>
              </a:rPr>
              <a:t>(AI) </a:t>
            </a:r>
            <a:r>
              <a:rPr sz="1800" spc="-45" dirty="0">
                <a:latin typeface="Arial"/>
                <a:cs typeface="Arial"/>
              </a:rPr>
              <a:t>is </a:t>
            </a:r>
            <a:r>
              <a:rPr sz="1800" spc="-10" dirty="0">
                <a:latin typeface="Arial"/>
                <a:cs typeface="Arial"/>
              </a:rPr>
              <a:t>a </a:t>
            </a:r>
            <a:r>
              <a:rPr sz="1800" spc="30" dirty="0">
                <a:latin typeface="Arial"/>
                <a:cs typeface="Arial"/>
              </a:rPr>
              <a:t>new </a:t>
            </a:r>
            <a:r>
              <a:rPr sz="1800" spc="15" dirty="0">
                <a:latin typeface="Arial"/>
                <a:cs typeface="Arial"/>
              </a:rPr>
              <a:t>technical </a:t>
            </a:r>
            <a:r>
              <a:rPr sz="1800" spc="-45" dirty="0">
                <a:latin typeface="Arial"/>
                <a:cs typeface="Arial"/>
              </a:rPr>
              <a:t>science </a:t>
            </a:r>
            <a:r>
              <a:rPr sz="1800" spc="85" dirty="0">
                <a:latin typeface="Arial"/>
                <a:cs typeface="Arial"/>
              </a:rPr>
              <a:t>that </a:t>
            </a:r>
            <a:r>
              <a:rPr sz="1800" spc="-10" dirty="0">
                <a:latin typeface="Arial"/>
                <a:cs typeface="Arial"/>
              </a:rPr>
              <a:t>studies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-15" dirty="0">
                <a:latin typeface="Arial"/>
                <a:cs typeface="Arial"/>
              </a:rPr>
              <a:t>develops </a:t>
            </a:r>
            <a:r>
              <a:rPr sz="1800" dirty="0">
                <a:latin typeface="Arial"/>
                <a:cs typeface="Arial"/>
              </a:rPr>
              <a:t>theories, </a:t>
            </a:r>
            <a:r>
              <a:rPr sz="1800" spc="10" dirty="0">
                <a:latin typeface="Arial"/>
                <a:cs typeface="Arial"/>
              </a:rPr>
              <a:t>methods,  </a:t>
            </a:r>
            <a:r>
              <a:rPr sz="1800" spc="-5" dirty="0">
                <a:latin typeface="Arial"/>
                <a:cs typeface="Arial"/>
              </a:rPr>
              <a:t>techniques,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35" dirty="0">
                <a:latin typeface="Arial"/>
                <a:cs typeface="Arial"/>
              </a:rPr>
              <a:t>application </a:t>
            </a:r>
            <a:r>
              <a:rPr sz="1800" spc="-35" dirty="0">
                <a:latin typeface="Arial"/>
                <a:cs typeface="Arial"/>
              </a:rPr>
              <a:t>systems </a:t>
            </a:r>
            <a:r>
              <a:rPr sz="1800" spc="75" dirty="0">
                <a:latin typeface="Arial"/>
                <a:cs typeface="Arial"/>
              </a:rPr>
              <a:t>for </a:t>
            </a:r>
            <a:r>
              <a:rPr sz="1800" spc="45" dirty="0">
                <a:latin typeface="Arial"/>
                <a:cs typeface="Arial"/>
              </a:rPr>
              <a:t>simulating </a:t>
            </a:r>
            <a:r>
              <a:rPr sz="1800" spc="25" dirty="0">
                <a:latin typeface="Arial"/>
                <a:cs typeface="Arial"/>
              </a:rPr>
              <a:t>and </a:t>
            </a:r>
            <a:r>
              <a:rPr sz="1800" spc="20" dirty="0">
                <a:latin typeface="Arial"/>
                <a:cs typeface="Arial"/>
              </a:rPr>
              <a:t>extending </a:t>
            </a:r>
            <a:r>
              <a:rPr sz="1800" spc="50" dirty="0">
                <a:latin typeface="Arial"/>
                <a:cs typeface="Arial"/>
              </a:rPr>
              <a:t>human </a:t>
            </a:r>
            <a:r>
              <a:rPr sz="1800" spc="15" dirty="0">
                <a:latin typeface="Arial"/>
                <a:cs typeface="Arial"/>
              </a:rPr>
              <a:t>intelligence. </a:t>
            </a:r>
            <a:r>
              <a:rPr sz="1800" spc="30" dirty="0">
                <a:latin typeface="Arial"/>
                <a:cs typeface="Arial"/>
              </a:rPr>
              <a:t>In </a:t>
            </a:r>
            <a:r>
              <a:rPr sz="1800" spc="-10" dirty="0">
                <a:latin typeface="Arial"/>
                <a:cs typeface="Arial"/>
              </a:rPr>
              <a:t>1956, </a:t>
            </a:r>
            <a:r>
              <a:rPr sz="1800" spc="45" dirty="0">
                <a:latin typeface="Arial"/>
                <a:cs typeface="Arial"/>
              </a:rPr>
              <a:t>the  </a:t>
            </a:r>
            <a:r>
              <a:rPr sz="1800" spc="5" dirty="0">
                <a:latin typeface="Arial"/>
                <a:cs typeface="Arial"/>
              </a:rPr>
              <a:t>concept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AI was </a:t>
            </a:r>
            <a:r>
              <a:rPr sz="1800" spc="50" dirty="0">
                <a:latin typeface="Arial"/>
                <a:cs typeface="Arial"/>
              </a:rPr>
              <a:t>first </a:t>
            </a:r>
            <a:r>
              <a:rPr sz="1800" spc="5" dirty="0">
                <a:latin typeface="Arial"/>
                <a:cs typeface="Arial"/>
              </a:rPr>
              <a:t>proposed by </a:t>
            </a:r>
            <a:r>
              <a:rPr sz="1800" spc="-40" dirty="0">
                <a:latin typeface="Arial"/>
                <a:cs typeface="Arial"/>
              </a:rPr>
              <a:t>John </a:t>
            </a:r>
            <a:r>
              <a:rPr sz="1800" spc="5" dirty="0">
                <a:latin typeface="Arial"/>
                <a:cs typeface="Arial"/>
              </a:rPr>
              <a:t>McCarthy, </a:t>
            </a:r>
            <a:r>
              <a:rPr sz="1800" spc="65" dirty="0">
                <a:latin typeface="Arial"/>
                <a:cs typeface="Arial"/>
              </a:rPr>
              <a:t>who </a:t>
            </a:r>
            <a:r>
              <a:rPr sz="1800" spc="25" dirty="0">
                <a:latin typeface="Arial"/>
                <a:cs typeface="Arial"/>
              </a:rPr>
              <a:t>defined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subject </a:t>
            </a:r>
            <a:r>
              <a:rPr sz="1800" spc="-75" dirty="0">
                <a:latin typeface="Arial"/>
                <a:cs typeface="Arial"/>
              </a:rPr>
              <a:t>as </a:t>
            </a:r>
            <a:r>
              <a:rPr sz="1800" spc="-20" dirty="0">
                <a:latin typeface="Arial"/>
                <a:cs typeface="Arial"/>
              </a:rPr>
              <a:t>"science </a:t>
            </a:r>
            <a:r>
              <a:rPr sz="1800" spc="20" dirty="0">
                <a:latin typeface="Arial"/>
                <a:cs typeface="Arial"/>
              </a:rPr>
              <a:t>and  </a:t>
            </a:r>
            <a:r>
              <a:rPr sz="1800" spc="15" dirty="0">
                <a:latin typeface="Arial"/>
                <a:cs typeface="Arial"/>
              </a:rPr>
              <a:t>engineering </a:t>
            </a:r>
            <a:r>
              <a:rPr sz="1800" spc="85" dirty="0">
                <a:latin typeface="Arial"/>
                <a:cs typeface="Arial"/>
              </a:rPr>
              <a:t>of </a:t>
            </a:r>
            <a:r>
              <a:rPr sz="1800" spc="45" dirty="0">
                <a:latin typeface="Arial"/>
                <a:cs typeface="Arial"/>
              </a:rPr>
              <a:t>making </a:t>
            </a:r>
            <a:r>
              <a:rPr sz="1800" spc="55" dirty="0">
                <a:latin typeface="Arial"/>
                <a:cs typeface="Arial"/>
              </a:rPr>
              <a:t>intelligent </a:t>
            </a:r>
            <a:r>
              <a:rPr sz="1800" spc="-10" dirty="0">
                <a:latin typeface="Arial"/>
                <a:cs typeface="Arial"/>
              </a:rPr>
              <a:t>machines, especially </a:t>
            </a:r>
            <a:r>
              <a:rPr sz="1800" spc="55" dirty="0">
                <a:latin typeface="Arial"/>
                <a:cs typeface="Arial"/>
              </a:rPr>
              <a:t>intelligent </a:t>
            </a:r>
            <a:r>
              <a:rPr sz="1800" spc="35" dirty="0">
                <a:latin typeface="Arial"/>
                <a:cs typeface="Arial"/>
              </a:rPr>
              <a:t>computer </a:t>
            </a:r>
            <a:r>
              <a:rPr sz="1800" spc="50" dirty="0">
                <a:latin typeface="Arial"/>
                <a:cs typeface="Arial"/>
              </a:rPr>
              <a:t>program". </a:t>
            </a:r>
            <a:r>
              <a:rPr sz="1800" spc="-10" dirty="0">
                <a:latin typeface="Arial"/>
                <a:cs typeface="Arial"/>
              </a:rPr>
              <a:t>AI </a:t>
            </a:r>
            <a:r>
              <a:rPr sz="1800" spc="-45" dirty="0">
                <a:latin typeface="Arial"/>
                <a:cs typeface="Arial"/>
              </a:rPr>
              <a:t>is  </a:t>
            </a:r>
            <a:r>
              <a:rPr sz="1800" spc="-5" dirty="0">
                <a:latin typeface="Arial"/>
                <a:cs typeface="Arial"/>
              </a:rPr>
              <a:t>concerned </a:t>
            </a:r>
            <a:r>
              <a:rPr sz="1800" spc="90" dirty="0">
                <a:latin typeface="Arial"/>
                <a:cs typeface="Arial"/>
              </a:rPr>
              <a:t>with </a:t>
            </a:r>
            <a:r>
              <a:rPr sz="1800" spc="45" dirty="0">
                <a:latin typeface="Arial"/>
                <a:cs typeface="Arial"/>
              </a:rPr>
              <a:t>making </a:t>
            </a:r>
            <a:r>
              <a:rPr sz="1800" spc="-5" dirty="0">
                <a:latin typeface="Arial"/>
                <a:cs typeface="Arial"/>
              </a:rPr>
              <a:t>machines </a:t>
            </a:r>
            <a:r>
              <a:rPr sz="1800" spc="65" dirty="0">
                <a:latin typeface="Arial"/>
                <a:cs typeface="Arial"/>
              </a:rPr>
              <a:t>work </a:t>
            </a:r>
            <a:r>
              <a:rPr sz="1800" spc="50" dirty="0">
                <a:latin typeface="Arial"/>
                <a:cs typeface="Arial"/>
              </a:rPr>
              <a:t>in </a:t>
            </a:r>
            <a:r>
              <a:rPr sz="1800" spc="20" dirty="0">
                <a:latin typeface="Arial"/>
                <a:cs typeface="Arial"/>
              </a:rPr>
              <a:t>an </a:t>
            </a:r>
            <a:r>
              <a:rPr sz="1800" spc="55" dirty="0">
                <a:latin typeface="Arial"/>
                <a:cs typeface="Arial"/>
              </a:rPr>
              <a:t>intelligent </a:t>
            </a:r>
            <a:r>
              <a:rPr sz="1800" spc="5" dirty="0">
                <a:latin typeface="Arial"/>
                <a:cs typeface="Arial"/>
              </a:rPr>
              <a:t>way, </a:t>
            </a:r>
            <a:r>
              <a:rPr sz="1800" spc="35" dirty="0">
                <a:latin typeface="Arial"/>
                <a:cs typeface="Arial"/>
              </a:rPr>
              <a:t>similar </a:t>
            </a:r>
            <a:r>
              <a:rPr sz="1800" spc="85" dirty="0">
                <a:latin typeface="Arial"/>
                <a:cs typeface="Arial"/>
              </a:rPr>
              <a:t>to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30" dirty="0">
                <a:latin typeface="Arial"/>
                <a:cs typeface="Arial"/>
              </a:rPr>
              <a:t>way </a:t>
            </a:r>
            <a:r>
              <a:rPr sz="1800" spc="80" dirty="0">
                <a:latin typeface="Arial"/>
                <a:cs typeface="Arial"/>
              </a:rPr>
              <a:t>that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50" dirty="0">
                <a:latin typeface="Arial"/>
                <a:cs typeface="Arial"/>
              </a:rPr>
              <a:t>human  </a:t>
            </a:r>
            <a:r>
              <a:rPr sz="1800" spc="65" dirty="0">
                <a:latin typeface="Arial"/>
                <a:cs typeface="Arial"/>
              </a:rPr>
              <a:t>mind </a:t>
            </a:r>
            <a:r>
              <a:rPr sz="1800" spc="5" dirty="0">
                <a:latin typeface="Arial"/>
                <a:cs typeface="Arial"/>
              </a:rPr>
              <a:t>works. </a:t>
            </a:r>
            <a:r>
              <a:rPr sz="1800" spc="60" dirty="0">
                <a:latin typeface="Arial"/>
                <a:cs typeface="Arial"/>
              </a:rPr>
              <a:t>At </a:t>
            </a:r>
            <a:r>
              <a:rPr sz="1800" spc="-5" dirty="0">
                <a:latin typeface="Arial"/>
                <a:cs typeface="Arial"/>
              </a:rPr>
              <a:t>present, </a:t>
            </a:r>
            <a:r>
              <a:rPr sz="1800" spc="-10" dirty="0">
                <a:latin typeface="Arial"/>
                <a:cs typeface="Arial"/>
              </a:rPr>
              <a:t>AI </a:t>
            </a:r>
            <a:r>
              <a:rPr sz="1800" spc="-35" dirty="0">
                <a:latin typeface="Arial"/>
                <a:cs typeface="Arial"/>
              </a:rPr>
              <a:t>has </a:t>
            </a:r>
            <a:r>
              <a:rPr sz="1800" dirty="0">
                <a:latin typeface="Arial"/>
                <a:cs typeface="Arial"/>
              </a:rPr>
              <a:t>become </a:t>
            </a:r>
            <a:r>
              <a:rPr sz="1800" spc="20" dirty="0">
                <a:latin typeface="Arial"/>
                <a:cs typeface="Arial"/>
              </a:rPr>
              <a:t>an </a:t>
            </a:r>
            <a:r>
              <a:rPr sz="1800" spc="25" dirty="0">
                <a:latin typeface="Arial"/>
                <a:cs typeface="Arial"/>
              </a:rPr>
              <a:t>interdisciplinary </a:t>
            </a:r>
            <a:r>
              <a:rPr sz="1800" spc="-20" dirty="0">
                <a:latin typeface="Arial"/>
                <a:cs typeface="Arial"/>
              </a:rPr>
              <a:t>course </a:t>
            </a:r>
            <a:r>
              <a:rPr sz="1800" spc="85" dirty="0">
                <a:latin typeface="Arial"/>
                <a:cs typeface="Arial"/>
              </a:rPr>
              <a:t>that</a:t>
            </a:r>
            <a:r>
              <a:rPr sz="1800" spc="2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involves </a:t>
            </a:r>
            <a:r>
              <a:rPr sz="1800" dirty="0">
                <a:latin typeface="Arial"/>
                <a:cs typeface="Arial"/>
              </a:rPr>
              <a:t>various fields.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26452" y="3238500"/>
            <a:ext cx="2711196" cy="2679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684132" y="4469638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AI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1614" y="3373882"/>
            <a:ext cx="548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Brain  </a:t>
            </a:r>
            <a:r>
              <a:rPr sz="1200" b="1" spc="-145" dirty="0">
                <a:latin typeface="Arial"/>
                <a:cs typeface="Arial"/>
              </a:rPr>
              <a:t>s</a:t>
            </a:r>
            <a:r>
              <a:rPr sz="1200" b="1" spc="-25" dirty="0">
                <a:latin typeface="Arial"/>
                <a:cs typeface="Arial"/>
              </a:rPr>
              <a:t>cience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61450" y="3560445"/>
            <a:ext cx="715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5080" indent="-83820">
              <a:lnSpc>
                <a:spcPct val="100000"/>
              </a:lnSpc>
              <a:spcBef>
                <a:spcPts val="100"/>
              </a:spcBef>
            </a:pPr>
            <a:r>
              <a:rPr sz="1200" b="1" spc="-75" dirty="0">
                <a:latin typeface="Arial"/>
                <a:cs typeface="Arial"/>
              </a:rPr>
              <a:t>C</a:t>
            </a:r>
            <a:r>
              <a:rPr sz="1200" b="1" spc="-70" dirty="0">
                <a:latin typeface="Arial"/>
                <a:cs typeface="Arial"/>
              </a:rPr>
              <a:t>o</a:t>
            </a:r>
            <a:r>
              <a:rPr sz="1200" b="1" spc="20" dirty="0">
                <a:latin typeface="Arial"/>
                <a:cs typeface="Arial"/>
              </a:rPr>
              <a:t>gniti</a:t>
            </a:r>
            <a:r>
              <a:rPr sz="1200" b="1" spc="-35" dirty="0">
                <a:latin typeface="Arial"/>
                <a:cs typeface="Arial"/>
              </a:rPr>
              <a:t>v</a:t>
            </a:r>
            <a:r>
              <a:rPr sz="1200" b="1" dirty="0">
                <a:latin typeface="Arial"/>
                <a:cs typeface="Arial"/>
              </a:rPr>
              <a:t>e  </a:t>
            </a:r>
            <a:r>
              <a:rPr sz="1200" b="1" spc="-45" dirty="0">
                <a:latin typeface="Arial"/>
                <a:cs typeface="Arial"/>
              </a:rPr>
              <a:t>science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87382" y="4448302"/>
            <a:ext cx="835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"/>
                <a:cs typeface="Arial"/>
              </a:rPr>
              <a:t>Psychology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31605" y="5212460"/>
            <a:ext cx="793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0" dirty="0">
                <a:latin typeface="Arial"/>
                <a:cs typeface="Arial"/>
              </a:rPr>
              <a:t>Linguistics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40343" y="5296280"/>
            <a:ext cx="408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"/>
                <a:cs typeface="Arial"/>
              </a:rPr>
              <a:t>Logic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90841" y="4749800"/>
            <a:ext cx="819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latin typeface="Arial"/>
                <a:cs typeface="Arial"/>
              </a:rPr>
              <a:t>Ph</a:t>
            </a:r>
            <a:r>
              <a:rPr sz="1200" b="1" spc="-25" dirty="0">
                <a:latin typeface="Arial"/>
                <a:cs typeface="Arial"/>
              </a:rPr>
              <a:t>ilo</a:t>
            </a:r>
            <a:r>
              <a:rPr sz="1200" b="1" spc="-40" dirty="0">
                <a:latin typeface="Arial"/>
                <a:cs typeface="Arial"/>
              </a:rPr>
              <a:t>s</a:t>
            </a:r>
            <a:r>
              <a:rPr sz="1200" b="1" spc="-30" dirty="0">
                <a:latin typeface="Arial"/>
                <a:cs typeface="Arial"/>
              </a:rPr>
              <a:t>o</a:t>
            </a:r>
            <a:r>
              <a:rPr sz="1200" b="1" spc="-15" dirty="0">
                <a:latin typeface="Arial"/>
                <a:cs typeface="Arial"/>
              </a:rPr>
              <a:t>phy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46975" y="3854957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100"/>
              </a:spcBef>
            </a:pPr>
            <a:r>
              <a:rPr sz="1200" b="1" spc="-75" dirty="0">
                <a:latin typeface="Arial"/>
                <a:cs typeface="Arial"/>
              </a:rPr>
              <a:t>C</a:t>
            </a:r>
            <a:r>
              <a:rPr sz="1200" b="1" spc="-70" dirty="0">
                <a:latin typeface="Arial"/>
                <a:cs typeface="Arial"/>
              </a:rPr>
              <a:t>o</a:t>
            </a:r>
            <a:r>
              <a:rPr sz="1200" b="1" spc="25" dirty="0">
                <a:latin typeface="Arial"/>
                <a:cs typeface="Arial"/>
              </a:rPr>
              <a:t>mputer  </a:t>
            </a:r>
            <a:r>
              <a:rPr sz="1200" b="1" spc="-45" dirty="0">
                <a:latin typeface="Arial"/>
                <a:cs typeface="Arial"/>
              </a:rPr>
              <a:t>science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12416" y="3208058"/>
            <a:ext cx="4321974" cy="2570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74595" y="5861405"/>
            <a:ext cx="3711575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spc="25" dirty="0">
                <a:latin typeface="Arial"/>
                <a:cs typeface="Arial"/>
              </a:rPr>
              <a:t>Identification </a:t>
            </a:r>
            <a:r>
              <a:rPr sz="1050" spc="45" dirty="0">
                <a:latin typeface="Arial"/>
                <a:cs typeface="Arial"/>
              </a:rPr>
              <a:t>of </a:t>
            </a:r>
            <a:r>
              <a:rPr sz="1050" spc="-10" dirty="0">
                <a:latin typeface="Arial"/>
                <a:cs typeface="Arial"/>
              </a:rPr>
              <a:t>concepts </a:t>
            </a:r>
            <a:r>
              <a:rPr sz="1050" spc="20" dirty="0">
                <a:latin typeface="Arial"/>
                <a:cs typeface="Arial"/>
              </a:rPr>
              <a:t>related </a:t>
            </a:r>
            <a:r>
              <a:rPr sz="1050" spc="55" dirty="0">
                <a:latin typeface="Arial"/>
                <a:cs typeface="Arial"/>
              </a:rPr>
              <a:t>to </a:t>
            </a:r>
            <a:r>
              <a:rPr sz="1050" dirty="0">
                <a:latin typeface="Arial"/>
                <a:cs typeface="Arial"/>
              </a:rPr>
              <a:t>AI </a:t>
            </a:r>
            <a:r>
              <a:rPr sz="1050" spc="15" dirty="0">
                <a:latin typeface="Arial"/>
                <a:cs typeface="Arial"/>
              </a:rPr>
              <a:t>and </a:t>
            </a:r>
            <a:r>
              <a:rPr sz="1050" spc="10" dirty="0">
                <a:latin typeface="Arial"/>
                <a:cs typeface="Arial"/>
              </a:rPr>
              <a:t>machine</a:t>
            </a:r>
            <a:r>
              <a:rPr sz="1050" spc="-95" dirty="0">
                <a:latin typeface="Arial"/>
                <a:cs typeface="Arial"/>
              </a:rPr>
              <a:t> </a:t>
            </a:r>
            <a:r>
              <a:rPr sz="1050" spc="20" dirty="0">
                <a:latin typeface="Arial"/>
                <a:cs typeface="Arial"/>
              </a:rPr>
              <a:t>learning</a:t>
            </a:r>
            <a:endParaRPr sz="105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"/>
                <a:cs typeface="Arial"/>
              </a:rPr>
              <a:t>AI </a:t>
            </a:r>
            <a:r>
              <a:rPr sz="1050" spc="15" dirty="0">
                <a:latin typeface="Arial"/>
                <a:cs typeface="Arial"/>
              </a:rPr>
              <a:t>Development </a:t>
            </a:r>
            <a:r>
              <a:rPr sz="1050" dirty="0">
                <a:latin typeface="Arial"/>
                <a:cs typeface="Arial"/>
              </a:rPr>
              <a:t>Report 2020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7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105911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" dirty="0"/>
              <a:t>Relationship </a:t>
            </a:r>
            <a:r>
              <a:rPr spc="145" dirty="0"/>
              <a:t>of </a:t>
            </a:r>
            <a:r>
              <a:rPr spc="-50" dirty="0"/>
              <a:t>AI, </a:t>
            </a:r>
            <a:r>
              <a:rPr spc="45" dirty="0"/>
              <a:t>Machine </a:t>
            </a:r>
            <a:r>
              <a:rPr spc="10" dirty="0"/>
              <a:t>Learning, </a:t>
            </a:r>
            <a:r>
              <a:rPr spc="45" dirty="0"/>
              <a:t>and </a:t>
            </a:r>
            <a:r>
              <a:rPr spc="-30" dirty="0"/>
              <a:t>Deep</a:t>
            </a:r>
            <a:r>
              <a:rPr spc="480" dirty="0"/>
              <a:t> </a:t>
            </a:r>
            <a:r>
              <a:rPr spc="25" dirty="0"/>
              <a:t>Learning</a:t>
            </a:r>
          </a:p>
        </p:txBody>
      </p:sp>
      <p:sp>
        <p:nvSpPr>
          <p:cNvPr id="3" name="object 3"/>
          <p:cNvSpPr/>
          <p:nvPr/>
        </p:nvSpPr>
        <p:spPr>
          <a:xfrm>
            <a:off x="2057014" y="1556007"/>
            <a:ext cx="7876037" cy="4467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8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104965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" dirty="0"/>
              <a:t>Relationship </a:t>
            </a:r>
            <a:r>
              <a:rPr spc="145" dirty="0"/>
              <a:t>of </a:t>
            </a:r>
            <a:r>
              <a:rPr spc="-50" dirty="0"/>
              <a:t>AI, </a:t>
            </a:r>
            <a:r>
              <a:rPr spc="45" dirty="0"/>
              <a:t>Machine </a:t>
            </a:r>
            <a:r>
              <a:rPr spc="25" dirty="0"/>
              <a:t>Learning </a:t>
            </a:r>
            <a:r>
              <a:rPr spc="45" dirty="0"/>
              <a:t>and </a:t>
            </a:r>
            <a:r>
              <a:rPr spc="-35" dirty="0"/>
              <a:t>Deep</a:t>
            </a:r>
            <a:r>
              <a:rPr spc="520" dirty="0"/>
              <a:t> </a:t>
            </a:r>
            <a:r>
              <a:rPr spc="25" dirty="0"/>
              <a:t>Learning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9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293985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0100"/>
              </a:lnSpc>
              <a:spcBef>
                <a:spcPts val="95"/>
              </a:spcBef>
            </a:pPr>
            <a:r>
              <a:rPr sz="2000" spc="-35" dirty="0">
                <a:latin typeface="Arial"/>
                <a:cs typeface="Arial"/>
              </a:rPr>
              <a:t>AI: </a:t>
            </a:r>
            <a:r>
              <a:rPr sz="2000" spc="-25" dirty="0">
                <a:latin typeface="Arial"/>
                <a:cs typeface="Arial"/>
              </a:rPr>
              <a:t>A </a:t>
            </a:r>
            <a:r>
              <a:rPr sz="2000" spc="40" dirty="0">
                <a:latin typeface="Arial"/>
                <a:cs typeface="Arial"/>
              </a:rPr>
              <a:t>new </a:t>
            </a:r>
            <a:r>
              <a:rPr sz="2000" spc="20" dirty="0">
                <a:latin typeface="Arial"/>
                <a:cs typeface="Arial"/>
              </a:rPr>
              <a:t>technical </a:t>
            </a:r>
            <a:r>
              <a:rPr sz="2000" spc="-45" dirty="0">
                <a:latin typeface="Arial"/>
                <a:cs typeface="Arial"/>
              </a:rPr>
              <a:t>science </a:t>
            </a:r>
            <a:r>
              <a:rPr sz="2000" spc="95" dirty="0">
                <a:latin typeface="Arial"/>
                <a:cs typeface="Arial"/>
              </a:rPr>
              <a:t>that </a:t>
            </a:r>
            <a:r>
              <a:rPr sz="2000" spc="-35" dirty="0">
                <a:latin typeface="Arial"/>
                <a:cs typeface="Arial"/>
              </a:rPr>
              <a:t>focuses </a:t>
            </a:r>
            <a:r>
              <a:rPr sz="2000" spc="45" dirty="0">
                <a:latin typeface="Arial"/>
                <a:cs typeface="Arial"/>
              </a:rPr>
              <a:t>on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-20" dirty="0">
                <a:latin typeface="Arial"/>
                <a:cs typeface="Arial"/>
              </a:rPr>
              <a:t>research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30" dirty="0">
                <a:latin typeface="Arial"/>
                <a:cs typeface="Arial"/>
              </a:rPr>
              <a:t>development </a:t>
            </a:r>
            <a:r>
              <a:rPr sz="2000" spc="85" dirty="0">
                <a:latin typeface="Arial"/>
                <a:cs typeface="Arial"/>
              </a:rPr>
              <a:t>of </a:t>
            </a:r>
            <a:r>
              <a:rPr sz="2000" spc="5" dirty="0">
                <a:latin typeface="Arial"/>
                <a:cs typeface="Arial"/>
              </a:rPr>
              <a:t>theories,  </a:t>
            </a:r>
            <a:r>
              <a:rPr sz="2000" spc="15" dirty="0">
                <a:latin typeface="Arial"/>
                <a:cs typeface="Arial"/>
              </a:rPr>
              <a:t>methods, </a:t>
            </a:r>
            <a:r>
              <a:rPr sz="2000" spc="-5" dirty="0">
                <a:latin typeface="Arial"/>
                <a:cs typeface="Arial"/>
              </a:rPr>
              <a:t>techniques,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40" dirty="0">
                <a:latin typeface="Arial"/>
                <a:cs typeface="Arial"/>
              </a:rPr>
              <a:t>application </a:t>
            </a:r>
            <a:r>
              <a:rPr sz="2000" spc="-30" dirty="0">
                <a:latin typeface="Arial"/>
                <a:cs typeface="Arial"/>
              </a:rPr>
              <a:t>systems </a:t>
            </a:r>
            <a:r>
              <a:rPr sz="2000" spc="85" dirty="0">
                <a:latin typeface="Arial"/>
                <a:cs typeface="Arial"/>
              </a:rPr>
              <a:t>for </a:t>
            </a:r>
            <a:r>
              <a:rPr sz="2000" spc="50" dirty="0">
                <a:latin typeface="Arial"/>
                <a:cs typeface="Arial"/>
              </a:rPr>
              <a:t>simulating </a:t>
            </a:r>
            <a:r>
              <a:rPr sz="2000" spc="25" dirty="0">
                <a:latin typeface="Arial"/>
                <a:cs typeface="Arial"/>
              </a:rPr>
              <a:t>and extending </a:t>
            </a:r>
            <a:r>
              <a:rPr sz="2000" spc="60" dirty="0">
                <a:latin typeface="Arial"/>
                <a:cs typeface="Arial"/>
              </a:rPr>
              <a:t>human  </a:t>
            </a:r>
            <a:r>
              <a:rPr sz="2000" spc="20" dirty="0">
                <a:latin typeface="Arial"/>
                <a:cs typeface="Arial"/>
              </a:rPr>
              <a:t>intelligence.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65341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460472"/>
            <a:ext cx="1029335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2000" spc="30" dirty="0">
                <a:latin typeface="Arial"/>
                <a:cs typeface="Arial"/>
              </a:rPr>
              <a:t>Machine </a:t>
            </a:r>
            <a:r>
              <a:rPr sz="2000" spc="25" dirty="0">
                <a:latin typeface="Arial"/>
                <a:cs typeface="Arial"/>
              </a:rPr>
              <a:t>learning: </a:t>
            </a:r>
            <a:r>
              <a:rPr sz="2000" spc="-25" dirty="0">
                <a:latin typeface="Arial"/>
                <a:cs typeface="Arial"/>
              </a:rPr>
              <a:t>A </a:t>
            </a:r>
            <a:r>
              <a:rPr sz="2000" spc="-10" dirty="0">
                <a:latin typeface="Arial"/>
                <a:cs typeface="Arial"/>
              </a:rPr>
              <a:t>core </a:t>
            </a:r>
            <a:r>
              <a:rPr sz="2000" spc="-20" dirty="0">
                <a:latin typeface="Arial"/>
                <a:cs typeface="Arial"/>
              </a:rPr>
              <a:t>research </a:t>
            </a:r>
            <a:r>
              <a:rPr sz="2000" spc="50" dirty="0">
                <a:latin typeface="Arial"/>
                <a:cs typeface="Arial"/>
              </a:rPr>
              <a:t>field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-35" dirty="0">
                <a:latin typeface="Arial"/>
                <a:cs typeface="Arial"/>
              </a:rPr>
              <a:t>AI. </a:t>
            </a:r>
            <a:r>
              <a:rPr sz="2000" spc="95" dirty="0">
                <a:latin typeface="Arial"/>
                <a:cs typeface="Arial"/>
              </a:rPr>
              <a:t>It </a:t>
            </a:r>
            <a:r>
              <a:rPr sz="2000" spc="-30" dirty="0">
                <a:latin typeface="Arial"/>
                <a:cs typeface="Arial"/>
              </a:rPr>
              <a:t>focuses </a:t>
            </a:r>
            <a:r>
              <a:rPr sz="2000" spc="45" dirty="0">
                <a:latin typeface="Arial"/>
                <a:cs typeface="Arial"/>
              </a:rPr>
              <a:t>on </a:t>
            </a:r>
            <a:r>
              <a:rPr sz="2000" spc="50" dirty="0">
                <a:latin typeface="Arial"/>
                <a:cs typeface="Arial"/>
              </a:rPr>
              <a:t>the </a:t>
            </a:r>
            <a:r>
              <a:rPr sz="2000" spc="15" dirty="0">
                <a:latin typeface="Arial"/>
                <a:cs typeface="Arial"/>
              </a:rPr>
              <a:t>study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70" dirty="0">
                <a:latin typeface="Arial"/>
                <a:cs typeface="Arial"/>
              </a:rPr>
              <a:t>how </a:t>
            </a:r>
            <a:r>
              <a:rPr sz="2000" spc="20" dirty="0">
                <a:latin typeface="Arial"/>
                <a:cs typeface="Arial"/>
              </a:rPr>
              <a:t>computers  </a:t>
            </a:r>
            <a:r>
              <a:rPr sz="2000" spc="-15" dirty="0">
                <a:latin typeface="Arial"/>
                <a:cs typeface="Arial"/>
              </a:rPr>
              <a:t>can </a:t>
            </a:r>
            <a:r>
              <a:rPr sz="2000" spc="55" dirty="0">
                <a:latin typeface="Arial"/>
                <a:cs typeface="Arial"/>
              </a:rPr>
              <a:t>obtain </a:t>
            </a:r>
            <a:r>
              <a:rPr sz="2000" spc="40" dirty="0">
                <a:latin typeface="Arial"/>
                <a:cs typeface="Arial"/>
              </a:rPr>
              <a:t>new </a:t>
            </a:r>
            <a:r>
              <a:rPr sz="2000" spc="35" dirty="0">
                <a:latin typeface="Arial"/>
                <a:cs typeface="Arial"/>
              </a:rPr>
              <a:t>knowledge </a:t>
            </a:r>
            <a:r>
              <a:rPr sz="2000" spc="60" dirty="0">
                <a:latin typeface="Arial"/>
                <a:cs typeface="Arial"/>
              </a:rPr>
              <a:t>or </a:t>
            </a:r>
            <a:r>
              <a:rPr sz="2000" spc="5" dirty="0">
                <a:latin typeface="Arial"/>
                <a:cs typeface="Arial"/>
              </a:rPr>
              <a:t>skills </a:t>
            </a:r>
            <a:r>
              <a:rPr sz="2000" spc="10" dirty="0">
                <a:latin typeface="Arial"/>
                <a:cs typeface="Arial"/>
              </a:rPr>
              <a:t>by </a:t>
            </a:r>
            <a:r>
              <a:rPr sz="2000" spc="50" dirty="0">
                <a:latin typeface="Arial"/>
                <a:cs typeface="Arial"/>
              </a:rPr>
              <a:t>simulating </a:t>
            </a:r>
            <a:r>
              <a:rPr sz="2000" spc="60" dirty="0">
                <a:latin typeface="Arial"/>
                <a:cs typeface="Arial"/>
              </a:rPr>
              <a:t>or performing </a:t>
            </a:r>
            <a:r>
              <a:rPr sz="2000" spc="40" dirty="0">
                <a:latin typeface="Arial"/>
                <a:cs typeface="Arial"/>
              </a:rPr>
              <a:t>learning </a:t>
            </a:r>
            <a:r>
              <a:rPr sz="2000" spc="25" dirty="0">
                <a:latin typeface="Arial"/>
                <a:cs typeface="Arial"/>
              </a:rPr>
              <a:t>behavior </a:t>
            </a:r>
            <a:r>
              <a:rPr sz="2000" spc="85" dirty="0">
                <a:latin typeface="Arial"/>
                <a:cs typeface="Arial"/>
              </a:rPr>
              <a:t>of  </a:t>
            </a:r>
            <a:r>
              <a:rPr sz="2000" spc="60" dirty="0">
                <a:latin typeface="Arial"/>
                <a:cs typeface="Arial"/>
              </a:rPr>
              <a:t>human</a:t>
            </a:r>
            <a:r>
              <a:rPr sz="2000" spc="67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beings, 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15" dirty="0">
                <a:latin typeface="Arial"/>
                <a:cs typeface="Arial"/>
              </a:rPr>
              <a:t>reorganize existing </a:t>
            </a:r>
            <a:r>
              <a:rPr sz="2000" spc="35" dirty="0">
                <a:latin typeface="Arial"/>
                <a:cs typeface="Arial"/>
              </a:rPr>
              <a:t>knowledge  </a:t>
            </a:r>
            <a:r>
              <a:rPr sz="2000" spc="25" dirty="0">
                <a:latin typeface="Arial"/>
                <a:cs typeface="Arial"/>
              </a:rPr>
              <a:t>architecture </a:t>
            </a:r>
            <a:r>
              <a:rPr sz="2000" spc="105" dirty="0">
                <a:latin typeface="Arial"/>
                <a:cs typeface="Arial"/>
              </a:rPr>
              <a:t>to </a:t>
            </a:r>
            <a:r>
              <a:rPr sz="2000" spc="35" dirty="0">
                <a:latin typeface="Arial"/>
                <a:cs typeface="Arial"/>
              </a:rPr>
              <a:t>improve  </a:t>
            </a:r>
            <a:r>
              <a:rPr sz="2000" spc="30" dirty="0">
                <a:latin typeface="Arial"/>
                <a:cs typeface="Arial"/>
              </a:rPr>
              <a:t>its  </a:t>
            </a:r>
            <a:r>
              <a:rPr sz="2000" spc="20" dirty="0">
                <a:latin typeface="Arial"/>
                <a:cs typeface="Arial"/>
              </a:rPr>
              <a:t>performance. </a:t>
            </a:r>
            <a:r>
              <a:rPr sz="2000" spc="95" dirty="0">
                <a:latin typeface="Arial"/>
                <a:cs typeface="Arial"/>
              </a:rPr>
              <a:t>It </a:t>
            </a:r>
            <a:r>
              <a:rPr sz="2000" spc="-45" dirty="0">
                <a:latin typeface="Arial"/>
                <a:cs typeface="Arial"/>
              </a:rPr>
              <a:t>is </a:t>
            </a:r>
            <a:r>
              <a:rPr sz="2000" spc="10" dirty="0">
                <a:latin typeface="Arial"/>
                <a:cs typeface="Arial"/>
              </a:rPr>
              <a:t>one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core </a:t>
            </a:r>
            <a:r>
              <a:rPr sz="2000" spc="-20" dirty="0">
                <a:latin typeface="Arial"/>
                <a:cs typeface="Arial"/>
              </a:rPr>
              <a:t>research </a:t>
            </a:r>
            <a:r>
              <a:rPr sz="2000" spc="20" dirty="0">
                <a:latin typeface="Arial"/>
                <a:cs typeface="Arial"/>
              </a:rPr>
              <a:t>fields </a:t>
            </a:r>
            <a:r>
              <a:rPr sz="2000" spc="90" dirty="0">
                <a:latin typeface="Arial"/>
                <a:cs typeface="Arial"/>
              </a:rPr>
              <a:t>of</a:t>
            </a:r>
            <a:r>
              <a:rPr sz="2000" spc="38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AI.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287" y="4461128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1039" y="4267420"/>
            <a:ext cx="10293350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5"/>
              </a:spcBef>
            </a:pPr>
            <a:r>
              <a:rPr sz="2000" spc="-20" dirty="0">
                <a:latin typeface="Arial"/>
                <a:cs typeface="Arial"/>
              </a:rPr>
              <a:t>Deep </a:t>
            </a:r>
            <a:r>
              <a:rPr sz="2000" spc="25" dirty="0">
                <a:latin typeface="Arial"/>
                <a:cs typeface="Arial"/>
              </a:rPr>
              <a:t>learning: </a:t>
            </a:r>
            <a:r>
              <a:rPr sz="2000" spc="-25" dirty="0">
                <a:latin typeface="Arial"/>
                <a:cs typeface="Arial"/>
              </a:rPr>
              <a:t>A </a:t>
            </a:r>
            <a:r>
              <a:rPr sz="2000" spc="40" dirty="0">
                <a:latin typeface="Arial"/>
                <a:cs typeface="Arial"/>
              </a:rPr>
              <a:t>new </a:t>
            </a:r>
            <a:r>
              <a:rPr sz="2000" spc="55" dirty="0">
                <a:latin typeface="Arial"/>
                <a:cs typeface="Arial"/>
              </a:rPr>
              <a:t>field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20" dirty="0">
                <a:latin typeface="Arial"/>
                <a:cs typeface="Arial"/>
              </a:rPr>
              <a:t>machine </a:t>
            </a:r>
            <a:r>
              <a:rPr sz="2000" spc="30" dirty="0">
                <a:latin typeface="Arial"/>
                <a:cs typeface="Arial"/>
              </a:rPr>
              <a:t>learning. </a:t>
            </a: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5" dirty="0">
                <a:latin typeface="Arial"/>
                <a:cs typeface="Arial"/>
              </a:rPr>
              <a:t>concept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-15" dirty="0">
                <a:latin typeface="Arial"/>
                <a:cs typeface="Arial"/>
              </a:rPr>
              <a:t>deep </a:t>
            </a:r>
            <a:r>
              <a:rPr sz="2000" spc="40" dirty="0">
                <a:latin typeface="Arial"/>
                <a:cs typeface="Arial"/>
              </a:rPr>
              <a:t>learning </a:t>
            </a:r>
            <a:r>
              <a:rPr sz="2000" spc="25" dirty="0">
                <a:latin typeface="Arial"/>
                <a:cs typeface="Arial"/>
              </a:rPr>
              <a:t>originates  </a:t>
            </a:r>
            <a:r>
              <a:rPr sz="2000" spc="100" dirty="0">
                <a:latin typeface="Arial"/>
                <a:cs typeface="Arial"/>
              </a:rPr>
              <a:t>from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-25" dirty="0">
                <a:latin typeface="Arial"/>
                <a:cs typeface="Arial"/>
              </a:rPr>
              <a:t>research </a:t>
            </a:r>
            <a:r>
              <a:rPr sz="2000" spc="45" dirty="0">
                <a:latin typeface="Arial"/>
                <a:cs typeface="Arial"/>
              </a:rPr>
              <a:t>on </a:t>
            </a:r>
            <a:r>
              <a:rPr sz="2000" spc="55" dirty="0">
                <a:latin typeface="Arial"/>
                <a:cs typeface="Arial"/>
              </a:rPr>
              <a:t>artificial </a:t>
            </a:r>
            <a:r>
              <a:rPr sz="2000" spc="40" dirty="0">
                <a:latin typeface="Arial"/>
                <a:cs typeface="Arial"/>
              </a:rPr>
              <a:t>neural </a:t>
            </a:r>
            <a:r>
              <a:rPr sz="2000" spc="25" dirty="0">
                <a:latin typeface="Arial"/>
                <a:cs typeface="Arial"/>
              </a:rPr>
              <a:t>networks. </a:t>
            </a: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70" dirty="0">
                <a:latin typeface="Arial"/>
                <a:cs typeface="Arial"/>
              </a:rPr>
              <a:t>multi-layer </a:t>
            </a:r>
            <a:r>
              <a:rPr sz="2000" spc="30" dirty="0">
                <a:latin typeface="Arial"/>
                <a:cs typeface="Arial"/>
              </a:rPr>
              <a:t>perceptron </a:t>
            </a:r>
            <a:r>
              <a:rPr sz="2000" spc="40" dirty="0">
                <a:latin typeface="Arial"/>
                <a:cs typeface="Arial"/>
              </a:rPr>
              <a:t>(MLP) </a:t>
            </a:r>
            <a:r>
              <a:rPr sz="2000" spc="-45" dirty="0">
                <a:latin typeface="Arial"/>
                <a:cs typeface="Arial"/>
              </a:rPr>
              <a:t>is </a:t>
            </a:r>
            <a:r>
              <a:rPr sz="2000" spc="-5" dirty="0">
                <a:latin typeface="Arial"/>
                <a:cs typeface="Arial"/>
              </a:rPr>
              <a:t>a  </a:t>
            </a:r>
            <a:r>
              <a:rPr sz="2000" spc="30" dirty="0">
                <a:latin typeface="Arial"/>
                <a:cs typeface="Arial"/>
              </a:rPr>
              <a:t>type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-10" dirty="0">
                <a:latin typeface="Arial"/>
                <a:cs typeface="Arial"/>
              </a:rPr>
              <a:t>deep </a:t>
            </a:r>
            <a:r>
              <a:rPr sz="2000" spc="45" dirty="0">
                <a:latin typeface="Arial"/>
                <a:cs typeface="Arial"/>
              </a:rPr>
              <a:t>learning </a:t>
            </a:r>
            <a:r>
              <a:rPr sz="2000" spc="20" dirty="0">
                <a:latin typeface="Arial"/>
                <a:cs typeface="Arial"/>
              </a:rPr>
              <a:t>architecture. </a:t>
            </a:r>
            <a:r>
              <a:rPr sz="2000" spc="-25" dirty="0">
                <a:latin typeface="Arial"/>
                <a:cs typeface="Arial"/>
              </a:rPr>
              <a:t>Deep </a:t>
            </a:r>
            <a:r>
              <a:rPr sz="2000" spc="45" dirty="0">
                <a:latin typeface="Arial"/>
                <a:cs typeface="Arial"/>
              </a:rPr>
              <a:t>learning </a:t>
            </a:r>
            <a:r>
              <a:rPr sz="2000" spc="10" dirty="0">
                <a:latin typeface="Arial"/>
                <a:cs typeface="Arial"/>
              </a:rPr>
              <a:t>aims </a:t>
            </a:r>
            <a:r>
              <a:rPr sz="2000" spc="105" dirty="0">
                <a:latin typeface="Arial"/>
                <a:cs typeface="Arial"/>
              </a:rPr>
              <a:t>to </a:t>
            </a:r>
            <a:r>
              <a:rPr sz="2000" spc="40" dirty="0">
                <a:latin typeface="Arial"/>
                <a:cs typeface="Arial"/>
              </a:rPr>
              <a:t>simulate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60" dirty="0">
                <a:latin typeface="Arial"/>
                <a:cs typeface="Arial"/>
              </a:rPr>
              <a:t>human </a:t>
            </a:r>
            <a:r>
              <a:rPr sz="2000" spc="45" dirty="0">
                <a:latin typeface="Arial"/>
                <a:cs typeface="Arial"/>
              </a:rPr>
              <a:t>brain </a:t>
            </a:r>
            <a:r>
              <a:rPr sz="2000" spc="105" dirty="0">
                <a:latin typeface="Arial"/>
                <a:cs typeface="Arial"/>
              </a:rPr>
              <a:t>to  </a:t>
            </a:r>
            <a:r>
              <a:rPr sz="2000" spc="60" dirty="0">
                <a:latin typeface="Arial"/>
                <a:cs typeface="Arial"/>
              </a:rPr>
              <a:t>interpret </a:t>
            </a:r>
            <a:r>
              <a:rPr sz="2000" spc="45" dirty="0">
                <a:latin typeface="Arial"/>
                <a:cs typeface="Arial"/>
              </a:rPr>
              <a:t>data </a:t>
            </a:r>
            <a:r>
              <a:rPr sz="2000" spc="-30" dirty="0">
                <a:latin typeface="Arial"/>
                <a:cs typeface="Arial"/>
              </a:rPr>
              <a:t>such </a:t>
            </a:r>
            <a:r>
              <a:rPr sz="2000" spc="-85" dirty="0">
                <a:latin typeface="Arial"/>
                <a:cs typeface="Arial"/>
              </a:rPr>
              <a:t>as </a:t>
            </a:r>
            <a:r>
              <a:rPr sz="2000" spc="-5" dirty="0">
                <a:latin typeface="Arial"/>
                <a:cs typeface="Arial"/>
              </a:rPr>
              <a:t>images, </a:t>
            </a:r>
            <a:r>
              <a:rPr sz="2000" spc="-25" dirty="0">
                <a:latin typeface="Arial"/>
                <a:cs typeface="Arial"/>
              </a:rPr>
              <a:t>sounds, </a:t>
            </a:r>
            <a:r>
              <a:rPr sz="2000" spc="25" dirty="0">
                <a:latin typeface="Arial"/>
                <a:cs typeface="Arial"/>
              </a:rPr>
              <a:t>and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texts.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82327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Three </a:t>
            </a:r>
            <a:r>
              <a:rPr spc="114" dirty="0"/>
              <a:t>Major </a:t>
            </a:r>
            <a:r>
              <a:rPr spc="-65" dirty="0"/>
              <a:t>Schools </a:t>
            </a:r>
            <a:r>
              <a:rPr spc="145" dirty="0"/>
              <a:t>of </a:t>
            </a:r>
            <a:r>
              <a:rPr spc="45" dirty="0"/>
              <a:t>Thought:</a:t>
            </a:r>
            <a:r>
              <a:rPr spc="350" dirty="0"/>
              <a:t> </a:t>
            </a:r>
            <a:r>
              <a:rPr spc="15" dirty="0"/>
              <a:t>Symbolism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10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90574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211325"/>
            <a:ext cx="18802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latin typeface="Arial"/>
                <a:cs typeface="Arial"/>
              </a:rPr>
              <a:t>Basic</a:t>
            </a:r>
            <a:r>
              <a:rPr sz="2200" spc="25" dirty="0">
                <a:latin typeface="Arial"/>
                <a:cs typeface="Arial"/>
              </a:rPr>
              <a:t> </a:t>
            </a:r>
            <a:r>
              <a:rPr sz="2200" spc="50" dirty="0">
                <a:latin typeface="Arial"/>
                <a:cs typeface="Arial"/>
              </a:rPr>
              <a:t>thoughts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3147" y="1828545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4911" y="1635226"/>
            <a:ext cx="963866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100"/>
              </a:lnSpc>
              <a:spcBef>
                <a:spcPts val="100"/>
              </a:spcBef>
            </a:pP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30" dirty="0">
                <a:latin typeface="Arial"/>
                <a:cs typeface="Arial"/>
              </a:rPr>
              <a:t>cognitive </a:t>
            </a:r>
            <a:r>
              <a:rPr sz="2000" spc="-45" dirty="0">
                <a:latin typeface="Arial"/>
                <a:cs typeface="Arial"/>
              </a:rPr>
              <a:t>process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60" dirty="0">
                <a:latin typeface="Arial"/>
                <a:cs typeface="Arial"/>
              </a:rPr>
              <a:t>human </a:t>
            </a:r>
            <a:r>
              <a:rPr sz="2000" spc="-5" dirty="0">
                <a:latin typeface="Arial"/>
                <a:cs typeface="Arial"/>
              </a:rPr>
              <a:t>beings </a:t>
            </a:r>
            <a:r>
              <a:rPr sz="2000" spc="-45" dirty="0">
                <a:latin typeface="Arial"/>
                <a:cs typeface="Arial"/>
              </a:rPr>
              <a:t>is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-45" dirty="0">
                <a:latin typeface="Arial"/>
                <a:cs typeface="Arial"/>
              </a:rPr>
              <a:t>process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15" dirty="0">
                <a:latin typeface="Arial"/>
                <a:cs typeface="Arial"/>
              </a:rPr>
              <a:t>inference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45" dirty="0">
                <a:latin typeface="Arial"/>
                <a:cs typeface="Arial"/>
              </a:rPr>
              <a:t>operation </a:t>
            </a:r>
            <a:r>
              <a:rPr sz="2000" spc="85" dirty="0">
                <a:latin typeface="Arial"/>
                <a:cs typeface="Arial"/>
              </a:rPr>
              <a:t>of  </a:t>
            </a:r>
            <a:r>
              <a:rPr sz="2000" spc="5" dirty="0">
                <a:latin typeface="Arial"/>
                <a:cs typeface="Arial"/>
              </a:rPr>
              <a:t>various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symbols.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3147" y="2770758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4911" y="2578270"/>
            <a:ext cx="9076690" cy="87884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000" spc="-25" dirty="0">
                <a:latin typeface="Arial"/>
                <a:cs typeface="Arial"/>
              </a:rPr>
              <a:t>A </a:t>
            </a:r>
            <a:r>
              <a:rPr sz="2000" spc="60" dirty="0">
                <a:latin typeface="Arial"/>
                <a:cs typeface="Arial"/>
              </a:rPr>
              <a:t>human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being </a:t>
            </a:r>
            <a:r>
              <a:rPr sz="2000" spc="-45" dirty="0">
                <a:latin typeface="Arial"/>
                <a:cs typeface="Arial"/>
              </a:rPr>
              <a:t>is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dirty="0">
                <a:latin typeface="Arial"/>
                <a:cs typeface="Arial"/>
              </a:rPr>
              <a:t>physical </a:t>
            </a:r>
            <a:r>
              <a:rPr sz="2000" spc="25" dirty="0">
                <a:latin typeface="Arial"/>
                <a:cs typeface="Arial"/>
              </a:rPr>
              <a:t>symbol </a:t>
            </a:r>
            <a:r>
              <a:rPr sz="2000" spc="-20" dirty="0">
                <a:latin typeface="Arial"/>
                <a:cs typeface="Arial"/>
              </a:rPr>
              <a:t>system,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-60" dirty="0">
                <a:latin typeface="Arial"/>
                <a:cs typeface="Arial"/>
              </a:rPr>
              <a:t>so </a:t>
            </a:r>
            <a:r>
              <a:rPr sz="2000" spc="-45" dirty="0">
                <a:latin typeface="Arial"/>
                <a:cs typeface="Arial"/>
              </a:rPr>
              <a:t>is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30" dirty="0">
                <a:latin typeface="Arial"/>
                <a:cs typeface="Arial"/>
              </a:rPr>
              <a:t>computer. </a:t>
            </a:r>
            <a:r>
              <a:rPr sz="2000" dirty="0">
                <a:latin typeface="Arial"/>
                <a:cs typeface="Arial"/>
              </a:rPr>
              <a:t>Computers,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spc="30" dirty="0">
                <a:latin typeface="Arial"/>
                <a:cs typeface="Arial"/>
              </a:rPr>
              <a:t>therefore, </a:t>
            </a:r>
            <a:r>
              <a:rPr sz="2000" spc="-15" dirty="0">
                <a:latin typeface="Arial"/>
                <a:cs typeface="Arial"/>
              </a:rPr>
              <a:t>can </a:t>
            </a:r>
            <a:r>
              <a:rPr sz="2000" spc="-10" dirty="0">
                <a:latin typeface="Arial"/>
                <a:cs typeface="Arial"/>
              </a:rPr>
              <a:t>be </a:t>
            </a:r>
            <a:r>
              <a:rPr sz="2000" spc="-30" dirty="0">
                <a:latin typeface="Arial"/>
                <a:cs typeface="Arial"/>
              </a:rPr>
              <a:t>used </a:t>
            </a:r>
            <a:r>
              <a:rPr sz="2000" spc="105" dirty="0">
                <a:latin typeface="Arial"/>
                <a:cs typeface="Arial"/>
              </a:rPr>
              <a:t>to </a:t>
            </a:r>
            <a:r>
              <a:rPr sz="2000" spc="40" dirty="0">
                <a:latin typeface="Arial"/>
                <a:cs typeface="Arial"/>
              </a:rPr>
              <a:t>simulate </a:t>
            </a:r>
            <a:r>
              <a:rPr sz="2000" spc="65" dirty="0">
                <a:latin typeface="Arial"/>
                <a:cs typeface="Arial"/>
              </a:rPr>
              <a:t>intelligent </a:t>
            </a:r>
            <a:r>
              <a:rPr sz="2000" spc="25" dirty="0">
                <a:latin typeface="Arial"/>
                <a:cs typeface="Arial"/>
              </a:rPr>
              <a:t>behavior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60" dirty="0">
                <a:latin typeface="Arial"/>
                <a:cs typeface="Arial"/>
              </a:rPr>
              <a:t>human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beings.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3147" y="3712845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4911" y="3519906"/>
            <a:ext cx="9872345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core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-10" dirty="0">
                <a:latin typeface="Arial"/>
                <a:cs typeface="Arial"/>
              </a:rPr>
              <a:t>lies </a:t>
            </a:r>
            <a:r>
              <a:rPr sz="2000" spc="60" dirty="0">
                <a:latin typeface="Arial"/>
                <a:cs typeface="Arial"/>
              </a:rPr>
              <a:t>in </a:t>
            </a:r>
            <a:r>
              <a:rPr sz="2000" spc="40" dirty="0">
                <a:latin typeface="Arial"/>
                <a:cs typeface="Arial"/>
              </a:rPr>
              <a:t>knowledge </a:t>
            </a:r>
            <a:r>
              <a:rPr sz="2000" spc="20" dirty="0">
                <a:latin typeface="Arial"/>
                <a:cs typeface="Arial"/>
              </a:rPr>
              <a:t>representation, </a:t>
            </a:r>
            <a:r>
              <a:rPr sz="2000" spc="40" dirty="0">
                <a:latin typeface="Arial"/>
                <a:cs typeface="Arial"/>
              </a:rPr>
              <a:t>knowledge </a:t>
            </a:r>
            <a:r>
              <a:rPr sz="2000" dirty="0">
                <a:latin typeface="Arial"/>
                <a:cs typeface="Arial"/>
              </a:rPr>
              <a:t>inference, </a:t>
            </a:r>
            <a:r>
              <a:rPr sz="2000" spc="25" dirty="0">
                <a:latin typeface="Arial"/>
                <a:cs typeface="Arial"/>
              </a:rPr>
              <a:t>and  </a:t>
            </a:r>
            <a:r>
              <a:rPr sz="2000" spc="40" dirty="0">
                <a:latin typeface="Arial"/>
                <a:cs typeface="Arial"/>
              </a:rPr>
              <a:t>knowledge </a:t>
            </a:r>
            <a:r>
              <a:rPr sz="2000" spc="30" dirty="0">
                <a:latin typeface="Arial"/>
                <a:cs typeface="Arial"/>
              </a:rPr>
              <a:t>application. </a:t>
            </a:r>
            <a:r>
              <a:rPr sz="2000" spc="15" dirty="0">
                <a:latin typeface="Arial"/>
                <a:cs typeface="Arial"/>
              </a:rPr>
              <a:t>Knowledge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-15" dirty="0">
                <a:latin typeface="Arial"/>
                <a:cs typeface="Arial"/>
              </a:rPr>
              <a:t>concepts can </a:t>
            </a:r>
            <a:r>
              <a:rPr sz="2000" spc="-10" dirty="0">
                <a:latin typeface="Arial"/>
                <a:cs typeface="Arial"/>
              </a:rPr>
              <a:t>be </a:t>
            </a:r>
            <a:r>
              <a:rPr sz="2000" spc="5" dirty="0">
                <a:latin typeface="Arial"/>
                <a:cs typeface="Arial"/>
              </a:rPr>
              <a:t>represented </a:t>
            </a:r>
            <a:r>
              <a:rPr sz="2000" spc="105" dirty="0">
                <a:latin typeface="Arial"/>
                <a:cs typeface="Arial"/>
              </a:rPr>
              <a:t>with </a:t>
            </a:r>
            <a:r>
              <a:rPr sz="2000" spc="-10" dirty="0">
                <a:latin typeface="Arial"/>
                <a:cs typeface="Arial"/>
              </a:rPr>
              <a:t>symbols.  </a:t>
            </a:r>
            <a:r>
              <a:rPr sz="2000" spc="35" dirty="0">
                <a:latin typeface="Arial"/>
                <a:cs typeface="Arial"/>
              </a:rPr>
              <a:t>Cognition </a:t>
            </a:r>
            <a:r>
              <a:rPr sz="2000" spc="-45" dirty="0">
                <a:latin typeface="Arial"/>
                <a:cs typeface="Arial"/>
              </a:rPr>
              <a:t>is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-45" dirty="0">
                <a:latin typeface="Arial"/>
                <a:cs typeface="Arial"/>
              </a:rPr>
              <a:t>process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25" dirty="0">
                <a:latin typeface="Arial"/>
                <a:cs typeface="Arial"/>
              </a:rPr>
              <a:t>symbol </a:t>
            </a:r>
            <a:r>
              <a:rPr sz="2000" spc="-15" dirty="0">
                <a:latin typeface="Arial"/>
                <a:cs typeface="Arial"/>
              </a:rPr>
              <a:t>processing </a:t>
            </a:r>
            <a:r>
              <a:rPr sz="2000" spc="60" dirty="0">
                <a:latin typeface="Arial"/>
                <a:cs typeface="Arial"/>
              </a:rPr>
              <a:t>while </a:t>
            </a:r>
            <a:r>
              <a:rPr sz="2000" spc="15" dirty="0">
                <a:latin typeface="Arial"/>
                <a:cs typeface="Arial"/>
              </a:rPr>
              <a:t>inference </a:t>
            </a:r>
            <a:r>
              <a:rPr sz="2000" spc="5" dirty="0">
                <a:latin typeface="Arial"/>
                <a:cs typeface="Arial"/>
              </a:rPr>
              <a:t>refers </a:t>
            </a:r>
            <a:r>
              <a:rPr sz="2000" spc="105" dirty="0">
                <a:latin typeface="Arial"/>
                <a:cs typeface="Arial"/>
              </a:rPr>
              <a:t>to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-45" dirty="0">
                <a:latin typeface="Arial"/>
                <a:cs typeface="Arial"/>
              </a:rPr>
              <a:t>process </a:t>
            </a:r>
            <a:r>
              <a:rPr sz="2000" spc="90" dirty="0">
                <a:latin typeface="Arial"/>
                <a:cs typeface="Arial"/>
              </a:rPr>
              <a:t>of  </a:t>
            </a:r>
            <a:r>
              <a:rPr sz="2000" spc="20" dirty="0">
                <a:latin typeface="Arial"/>
                <a:cs typeface="Arial"/>
              </a:rPr>
              <a:t>solving </a:t>
            </a:r>
            <a:r>
              <a:rPr sz="2000" spc="25" dirty="0">
                <a:latin typeface="Arial"/>
                <a:cs typeface="Arial"/>
              </a:rPr>
              <a:t>problems </a:t>
            </a:r>
            <a:r>
              <a:rPr sz="2000" spc="10" dirty="0">
                <a:latin typeface="Arial"/>
                <a:cs typeface="Arial"/>
              </a:rPr>
              <a:t>by using </a:t>
            </a:r>
            <a:r>
              <a:rPr sz="2000" spc="20" dirty="0">
                <a:latin typeface="Arial"/>
                <a:cs typeface="Arial"/>
              </a:rPr>
              <a:t>heuristic </a:t>
            </a:r>
            <a:r>
              <a:rPr sz="2000" spc="40" dirty="0">
                <a:latin typeface="Arial"/>
                <a:cs typeface="Arial"/>
              </a:rPr>
              <a:t>knowledge </a:t>
            </a:r>
            <a:r>
              <a:rPr sz="2000" spc="25" dirty="0">
                <a:latin typeface="Arial"/>
                <a:cs typeface="Arial"/>
              </a:rPr>
              <a:t>and</a:t>
            </a:r>
            <a:r>
              <a:rPr sz="2000" spc="21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search.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9287" y="5540451"/>
            <a:ext cx="1301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1039" y="5325785"/>
            <a:ext cx="10292080" cy="96520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  <a:tabLst>
                <a:tab pos="2109470" algn="l"/>
                <a:tab pos="2592705" algn="l"/>
                <a:tab pos="4228465" algn="l"/>
                <a:tab pos="5693410" algn="l"/>
                <a:tab pos="7073900" algn="l"/>
                <a:tab pos="8402955" algn="l"/>
                <a:tab pos="9800590" algn="l"/>
              </a:tabLst>
            </a:pPr>
            <a:r>
              <a:rPr sz="2200" spc="-185" dirty="0">
                <a:latin typeface="Arial"/>
                <a:cs typeface="Arial"/>
              </a:rPr>
              <a:t>R</a:t>
            </a:r>
            <a:r>
              <a:rPr sz="2200" spc="-135" dirty="0">
                <a:latin typeface="Arial"/>
                <a:cs typeface="Arial"/>
              </a:rPr>
              <a:t>e</a:t>
            </a:r>
            <a:r>
              <a:rPr sz="2200" spc="15" dirty="0">
                <a:latin typeface="Arial"/>
                <a:cs typeface="Arial"/>
              </a:rPr>
              <a:t>pr</a:t>
            </a:r>
            <a:r>
              <a:rPr sz="2200" spc="2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sent</a:t>
            </a:r>
            <a:r>
              <a:rPr sz="2200" spc="-15" dirty="0">
                <a:latin typeface="Arial"/>
                <a:cs typeface="Arial"/>
              </a:rPr>
              <a:t>a</a:t>
            </a:r>
            <a:r>
              <a:rPr sz="2200" spc="135" dirty="0">
                <a:latin typeface="Arial"/>
                <a:cs typeface="Arial"/>
              </a:rPr>
              <a:t>t</a:t>
            </a:r>
            <a:r>
              <a:rPr sz="2200" spc="120" dirty="0">
                <a:latin typeface="Arial"/>
                <a:cs typeface="Arial"/>
              </a:rPr>
              <a:t>i</a:t>
            </a:r>
            <a:r>
              <a:rPr sz="2200" spc="-45" dirty="0">
                <a:latin typeface="Arial"/>
                <a:cs typeface="Arial"/>
              </a:rPr>
              <a:t>ve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20" dirty="0">
                <a:latin typeface="Arial"/>
                <a:cs typeface="Arial"/>
              </a:rPr>
              <a:t>o</a:t>
            </a:r>
            <a:r>
              <a:rPr sz="2200" spc="65" dirty="0">
                <a:latin typeface="Arial"/>
                <a:cs typeface="Arial"/>
              </a:rPr>
              <a:t>f</a:t>
            </a:r>
            <a:r>
              <a:rPr sz="2200" dirty="0">
                <a:latin typeface="Arial"/>
                <a:cs typeface="Arial"/>
              </a:rPr>
              <a:t>	sym</a:t>
            </a:r>
            <a:r>
              <a:rPr sz="2200" spc="-10" dirty="0">
                <a:latin typeface="Arial"/>
                <a:cs typeface="Arial"/>
              </a:rPr>
              <a:t>b</a:t>
            </a:r>
            <a:r>
              <a:rPr sz="2200" spc="105" dirty="0">
                <a:latin typeface="Arial"/>
                <a:cs typeface="Arial"/>
              </a:rPr>
              <a:t>o</a:t>
            </a:r>
            <a:r>
              <a:rPr sz="2200" spc="30" dirty="0">
                <a:latin typeface="Arial"/>
                <a:cs typeface="Arial"/>
              </a:rPr>
              <a:t>l</a:t>
            </a:r>
            <a:r>
              <a:rPr sz="2200" spc="-35" dirty="0">
                <a:latin typeface="Arial"/>
                <a:cs typeface="Arial"/>
              </a:rPr>
              <a:t>i</a:t>
            </a:r>
            <a:r>
              <a:rPr sz="2200" spc="-65" dirty="0">
                <a:latin typeface="Arial"/>
                <a:cs typeface="Arial"/>
              </a:rPr>
              <a:t>s</a:t>
            </a:r>
            <a:r>
              <a:rPr sz="2200" spc="145" dirty="0">
                <a:latin typeface="Arial"/>
                <a:cs typeface="Arial"/>
              </a:rPr>
              <a:t>m</a:t>
            </a:r>
            <a:r>
              <a:rPr sz="2200" spc="-105" dirty="0">
                <a:latin typeface="Arial"/>
                <a:cs typeface="Arial"/>
              </a:rPr>
              <a:t>: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80" dirty="0">
                <a:latin typeface="Arial"/>
                <a:cs typeface="Arial"/>
              </a:rPr>
              <a:t>i</a:t>
            </a:r>
            <a:r>
              <a:rPr sz="2200" spc="60" dirty="0">
                <a:latin typeface="Arial"/>
                <a:cs typeface="Arial"/>
              </a:rPr>
              <a:t>nfe</a:t>
            </a:r>
            <a:r>
              <a:rPr sz="2200" spc="50" dirty="0">
                <a:latin typeface="Arial"/>
                <a:cs typeface="Arial"/>
              </a:rPr>
              <a:t>r</a:t>
            </a:r>
            <a:r>
              <a:rPr sz="2200" spc="-40" dirty="0">
                <a:latin typeface="Arial"/>
                <a:cs typeface="Arial"/>
              </a:rPr>
              <a:t>en</a:t>
            </a:r>
            <a:r>
              <a:rPr sz="2200" spc="-35" dirty="0">
                <a:latin typeface="Arial"/>
                <a:cs typeface="Arial"/>
              </a:rPr>
              <a:t>c</a:t>
            </a:r>
            <a:r>
              <a:rPr sz="2200" spc="-110" dirty="0">
                <a:latin typeface="Arial"/>
                <a:cs typeface="Arial"/>
              </a:rPr>
              <a:t>e</a:t>
            </a:r>
            <a:r>
              <a:rPr sz="2200" spc="-55" dirty="0">
                <a:latin typeface="Arial"/>
                <a:cs typeface="Arial"/>
              </a:rPr>
              <a:t>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45" dirty="0">
                <a:latin typeface="Arial"/>
                <a:cs typeface="Arial"/>
              </a:rPr>
              <a:t>including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5" dirty="0">
                <a:latin typeface="Arial"/>
                <a:cs typeface="Arial"/>
              </a:rPr>
              <a:t>symbolic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05" dirty="0">
                <a:latin typeface="Arial"/>
                <a:cs typeface="Arial"/>
              </a:rPr>
              <a:t>in</a:t>
            </a:r>
            <a:r>
              <a:rPr sz="2200" spc="85" dirty="0">
                <a:latin typeface="Arial"/>
                <a:cs typeface="Arial"/>
              </a:rPr>
              <a:t>f</a:t>
            </a:r>
            <a:r>
              <a:rPr sz="2200" spc="10" dirty="0">
                <a:latin typeface="Arial"/>
                <a:cs typeface="Arial"/>
              </a:rPr>
              <a:t>er</a:t>
            </a:r>
            <a:r>
              <a:rPr sz="2200" spc="-40" dirty="0">
                <a:latin typeface="Arial"/>
                <a:cs typeface="Arial"/>
              </a:rPr>
              <a:t>en</a:t>
            </a:r>
            <a:r>
              <a:rPr sz="2200" spc="-35" dirty="0">
                <a:latin typeface="Arial"/>
                <a:cs typeface="Arial"/>
              </a:rPr>
              <a:t>c</a:t>
            </a:r>
            <a:r>
              <a:rPr sz="2200" spc="-6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25" dirty="0">
                <a:latin typeface="Arial"/>
                <a:cs typeface="Arial"/>
              </a:rPr>
              <a:t>and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2200" spc="20" dirty="0">
                <a:latin typeface="Arial"/>
                <a:cs typeface="Arial"/>
              </a:rPr>
              <a:t>machine</a:t>
            </a:r>
            <a:r>
              <a:rPr sz="2200" spc="85" dirty="0">
                <a:latin typeface="Arial"/>
                <a:cs typeface="Arial"/>
              </a:rPr>
              <a:t> </a:t>
            </a:r>
            <a:r>
              <a:rPr sz="2200" spc="15" dirty="0">
                <a:latin typeface="Arial"/>
                <a:cs typeface="Arial"/>
              </a:rPr>
              <a:t>inference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89471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Three </a:t>
            </a:r>
            <a:r>
              <a:rPr spc="114" dirty="0"/>
              <a:t>Major </a:t>
            </a:r>
            <a:r>
              <a:rPr spc="-65" dirty="0"/>
              <a:t>Schools </a:t>
            </a:r>
            <a:r>
              <a:rPr spc="145" dirty="0"/>
              <a:t>of </a:t>
            </a:r>
            <a:r>
              <a:rPr spc="45" dirty="0"/>
              <a:t>Thought:</a:t>
            </a:r>
            <a:r>
              <a:rPr spc="360" dirty="0"/>
              <a:t> </a:t>
            </a:r>
            <a:r>
              <a:rPr spc="15" dirty="0"/>
              <a:t>Connectionism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199133"/>
            <a:ext cx="1721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65" dirty="0">
                <a:latin typeface="Arial"/>
                <a:cs typeface="Arial"/>
              </a:rPr>
              <a:t>Basic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55" dirty="0">
                <a:latin typeface="Arial"/>
                <a:cs typeface="Arial"/>
              </a:rPr>
              <a:t>thoughts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3147" y="1766061"/>
            <a:ext cx="127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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4911" y="1702053"/>
            <a:ext cx="9476105" cy="115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The </a:t>
            </a:r>
            <a:r>
              <a:rPr sz="1800" spc="-45" dirty="0">
                <a:latin typeface="Arial"/>
                <a:cs typeface="Arial"/>
              </a:rPr>
              <a:t>basis </a:t>
            </a:r>
            <a:r>
              <a:rPr sz="1800" spc="80" dirty="0">
                <a:latin typeface="Arial"/>
                <a:cs typeface="Arial"/>
              </a:rPr>
              <a:t>of </a:t>
            </a:r>
            <a:r>
              <a:rPr sz="1800" spc="55" dirty="0">
                <a:latin typeface="Arial"/>
                <a:cs typeface="Arial"/>
              </a:rPr>
              <a:t>thinking </a:t>
            </a:r>
            <a:r>
              <a:rPr sz="1800" spc="-40" dirty="0">
                <a:latin typeface="Arial"/>
                <a:cs typeface="Arial"/>
              </a:rPr>
              <a:t>is </a:t>
            </a:r>
            <a:r>
              <a:rPr sz="1800" spc="5" dirty="0">
                <a:latin typeface="Arial"/>
                <a:cs typeface="Arial"/>
              </a:rPr>
              <a:t>neurons </a:t>
            </a:r>
            <a:r>
              <a:rPr sz="1800" spc="45" dirty="0">
                <a:latin typeface="Arial"/>
                <a:cs typeface="Arial"/>
              </a:rPr>
              <a:t>rather </a:t>
            </a:r>
            <a:r>
              <a:rPr sz="1800" spc="55" dirty="0">
                <a:latin typeface="Arial"/>
                <a:cs typeface="Arial"/>
              </a:rPr>
              <a:t>than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-40" dirty="0">
                <a:latin typeface="Arial"/>
                <a:cs typeface="Arial"/>
              </a:rPr>
              <a:t>process </a:t>
            </a:r>
            <a:r>
              <a:rPr sz="1800" spc="80" dirty="0">
                <a:latin typeface="Arial"/>
                <a:cs typeface="Arial"/>
              </a:rPr>
              <a:t>of </a:t>
            </a:r>
            <a:r>
              <a:rPr sz="1800" spc="20" dirty="0">
                <a:latin typeface="Arial"/>
                <a:cs typeface="Arial"/>
              </a:rPr>
              <a:t>symbol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processing.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40000"/>
              </a:lnSpc>
              <a:spcBef>
                <a:spcPts val="710"/>
              </a:spcBef>
            </a:pPr>
            <a:r>
              <a:rPr sz="1800" spc="50" dirty="0">
                <a:latin typeface="Arial"/>
                <a:cs typeface="Arial"/>
              </a:rPr>
              <a:t>Human </a:t>
            </a:r>
            <a:r>
              <a:rPr sz="1800" spc="5" dirty="0">
                <a:latin typeface="Arial"/>
                <a:cs typeface="Arial"/>
              </a:rPr>
              <a:t>brains vary </a:t>
            </a:r>
            <a:r>
              <a:rPr sz="1800" spc="90" dirty="0">
                <a:latin typeface="Arial"/>
                <a:cs typeface="Arial"/>
              </a:rPr>
              <a:t>from </a:t>
            </a:r>
            <a:r>
              <a:rPr sz="1800" spc="5" dirty="0">
                <a:latin typeface="Arial"/>
                <a:cs typeface="Arial"/>
              </a:rPr>
              <a:t>computers. </a:t>
            </a:r>
            <a:r>
              <a:rPr sz="1800" spc="-25" dirty="0">
                <a:latin typeface="Arial"/>
                <a:cs typeface="Arial"/>
              </a:rPr>
              <a:t>A </a:t>
            </a:r>
            <a:r>
              <a:rPr sz="1800" spc="35" dirty="0">
                <a:latin typeface="Arial"/>
                <a:cs typeface="Arial"/>
              </a:rPr>
              <a:t>computer </a:t>
            </a:r>
            <a:r>
              <a:rPr sz="1800" spc="55" dirty="0">
                <a:latin typeface="Arial"/>
                <a:cs typeface="Arial"/>
              </a:rPr>
              <a:t>working </a:t>
            </a:r>
            <a:r>
              <a:rPr sz="1800" spc="30" dirty="0">
                <a:latin typeface="Arial"/>
                <a:cs typeface="Arial"/>
              </a:rPr>
              <a:t>mode </a:t>
            </a:r>
            <a:r>
              <a:rPr sz="1800" spc="-30" dirty="0">
                <a:latin typeface="Arial"/>
                <a:cs typeface="Arial"/>
              </a:rPr>
              <a:t>based </a:t>
            </a:r>
            <a:r>
              <a:rPr sz="1800" spc="40" dirty="0">
                <a:latin typeface="Arial"/>
                <a:cs typeface="Arial"/>
              </a:rPr>
              <a:t>on </a:t>
            </a:r>
            <a:r>
              <a:rPr sz="1800" spc="15" dirty="0">
                <a:latin typeface="Arial"/>
                <a:cs typeface="Arial"/>
              </a:rPr>
              <a:t>connectionism </a:t>
            </a:r>
            <a:r>
              <a:rPr sz="1800" spc="-40" dirty="0">
                <a:latin typeface="Arial"/>
                <a:cs typeface="Arial"/>
              </a:rPr>
              <a:t>is  </a:t>
            </a:r>
            <a:r>
              <a:rPr sz="1800" dirty="0">
                <a:latin typeface="Arial"/>
                <a:cs typeface="Arial"/>
              </a:rPr>
              <a:t>proposed </a:t>
            </a:r>
            <a:r>
              <a:rPr sz="1800" spc="9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replace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40" dirty="0">
                <a:latin typeface="Arial"/>
                <a:cs typeface="Arial"/>
              </a:rPr>
              <a:t>computer </a:t>
            </a:r>
            <a:r>
              <a:rPr sz="1800" spc="55" dirty="0">
                <a:latin typeface="Arial"/>
                <a:cs typeface="Arial"/>
              </a:rPr>
              <a:t>working </a:t>
            </a:r>
            <a:r>
              <a:rPr sz="1800" spc="30" dirty="0">
                <a:latin typeface="Arial"/>
                <a:cs typeface="Arial"/>
              </a:rPr>
              <a:t>mode </a:t>
            </a:r>
            <a:r>
              <a:rPr sz="1800" spc="-30" dirty="0">
                <a:latin typeface="Arial"/>
                <a:cs typeface="Arial"/>
              </a:rPr>
              <a:t>based </a:t>
            </a:r>
            <a:r>
              <a:rPr sz="1800" spc="40" dirty="0">
                <a:latin typeface="Arial"/>
                <a:cs typeface="Arial"/>
              </a:rPr>
              <a:t>on </a:t>
            </a:r>
            <a:r>
              <a:rPr sz="1800" spc="10" dirty="0">
                <a:latin typeface="Arial"/>
                <a:cs typeface="Arial"/>
              </a:rPr>
              <a:t>symbolic</a:t>
            </a:r>
            <a:r>
              <a:rPr sz="1800" spc="440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operation.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3147" y="2240407"/>
            <a:ext cx="127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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63947" y="3028580"/>
            <a:ext cx="4239371" cy="31249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0564" y="3116961"/>
            <a:ext cx="61436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Arial"/>
                <a:cs typeface="Arial"/>
              </a:rPr>
              <a:t>Representative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10" dirty="0">
                <a:latin typeface="Arial"/>
                <a:cs typeface="Arial"/>
              </a:rPr>
              <a:t>connectionism: </a:t>
            </a:r>
            <a:r>
              <a:rPr sz="2000" spc="40" dirty="0">
                <a:latin typeface="Arial"/>
                <a:cs typeface="Arial"/>
              </a:rPr>
              <a:t>neural </a:t>
            </a:r>
            <a:r>
              <a:rPr sz="2000" spc="35" dirty="0">
                <a:latin typeface="Arial"/>
                <a:cs typeface="Arial"/>
              </a:rPr>
              <a:t>networks 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-10" dirty="0">
                <a:latin typeface="Arial"/>
                <a:cs typeface="Arial"/>
              </a:rPr>
              <a:t>deep</a:t>
            </a:r>
            <a:r>
              <a:rPr sz="2000" spc="90" dirty="0">
                <a:latin typeface="Arial"/>
                <a:cs typeface="Arial"/>
              </a:rPr>
              <a:t> </a:t>
            </a:r>
            <a:r>
              <a:rPr sz="2000" spc="45" dirty="0">
                <a:latin typeface="Arial"/>
                <a:cs typeface="Arial"/>
              </a:rPr>
              <a:t>learning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84778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Three </a:t>
            </a:r>
            <a:r>
              <a:rPr spc="114" dirty="0"/>
              <a:t>Major </a:t>
            </a:r>
            <a:r>
              <a:rPr spc="-65" dirty="0"/>
              <a:t>Schools </a:t>
            </a:r>
            <a:r>
              <a:rPr spc="145" dirty="0"/>
              <a:t>of </a:t>
            </a:r>
            <a:r>
              <a:rPr spc="45" dirty="0"/>
              <a:t>Thought:</a:t>
            </a:r>
            <a:r>
              <a:rPr spc="355" dirty="0"/>
              <a:t> </a:t>
            </a:r>
            <a:r>
              <a:rPr spc="5" dirty="0"/>
              <a:t>Behaviorism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90574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211325"/>
            <a:ext cx="1943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latin typeface="Arial"/>
                <a:cs typeface="Arial"/>
              </a:rPr>
              <a:t>Basic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thoughts: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3147" y="1828545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4911" y="1635226"/>
            <a:ext cx="908621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100"/>
              </a:lnSpc>
              <a:spcBef>
                <a:spcPts val="100"/>
              </a:spcBef>
            </a:pPr>
            <a:r>
              <a:rPr sz="2000" spc="25" dirty="0">
                <a:latin typeface="Arial"/>
                <a:cs typeface="Arial"/>
              </a:rPr>
              <a:t>Intelligence </a:t>
            </a:r>
            <a:r>
              <a:rPr sz="2000" spc="-15" dirty="0">
                <a:latin typeface="Arial"/>
                <a:cs typeface="Arial"/>
              </a:rPr>
              <a:t>depends </a:t>
            </a:r>
            <a:r>
              <a:rPr sz="2000" spc="45" dirty="0">
                <a:latin typeface="Arial"/>
                <a:cs typeface="Arial"/>
              </a:rPr>
              <a:t>on </a:t>
            </a:r>
            <a:r>
              <a:rPr sz="2000" spc="30" dirty="0">
                <a:latin typeface="Arial"/>
                <a:cs typeface="Arial"/>
              </a:rPr>
              <a:t>perception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15" dirty="0">
                <a:latin typeface="Arial"/>
                <a:cs typeface="Arial"/>
              </a:rPr>
              <a:t>action. </a:t>
            </a: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35" dirty="0">
                <a:latin typeface="Arial"/>
                <a:cs typeface="Arial"/>
              </a:rPr>
              <a:t>perception-action mode </a:t>
            </a:r>
            <a:r>
              <a:rPr sz="2000" spc="85" dirty="0">
                <a:latin typeface="Arial"/>
                <a:cs typeface="Arial"/>
              </a:rPr>
              <a:t>of  </a:t>
            </a:r>
            <a:r>
              <a:rPr sz="2000" spc="60" dirty="0">
                <a:latin typeface="Arial"/>
                <a:cs typeface="Arial"/>
              </a:rPr>
              <a:t>intelligent </a:t>
            </a:r>
            <a:r>
              <a:rPr sz="2000" spc="25" dirty="0">
                <a:latin typeface="Arial"/>
                <a:cs typeface="Arial"/>
              </a:rPr>
              <a:t>behavior </a:t>
            </a:r>
            <a:r>
              <a:rPr sz="2000" spc="-45" dirty="0">
                <a:latin typeface="Arial"/>
                <a:cs typeface="Arial"/>
              </a:rPr>
              <a:t>is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proposed.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3147" y="2770758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4911" y="2578270"/>
            <a:ext cx="972629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5"/>
              </a:spcBef>
            </a:pPr>
            <a:r>
              <a:rPr sz="2000" spc="25" dirty="0">
                <a:latin typeface="Arial"/>
                <a:cs typeface="Arial"/>
              </a:rPr>
              <a:t>Intelligence </a:t>
            </a:r>
            <a:r>
              <a:rPr sz="2000" spc="5" dirty="0">
                <a:latin typeface="Arial"/>
                <a:cs typeface="Arial"/>
              </a:rPr>
              <a:t>requires </a:t>
            </a:r>
            <a:r>
              <a:rPr sz="2000" spc="45" dirty="0">
                <a:latin typeface="Arial"/>
                <a:cs typeface="Arial"/>
              </a:rPr>
              <a:t>no </a:t>
            </a:r>
            <a:r>
              <a:rPr sz="2000" spc="25" dirty="0">
                <a:latin typeface="Arial"/>
                <a:cs typeface="Arial"/>
              </a:rPr>
              <a:t>knowledge, </a:t>
            </a:r>
            <a:r>
              <a:rPr sz="2000" spc="20" dirty="0">
                <a:latin typeface="Arial"/>
                <a:cs typeface="Arial"/>
              </a:rPr>
              <a:t>representation, </a:t>
            </a:r>
            <a:r>
              <a:rPr sz="2000" spc="60" dirty="0">
                <a:latin typeface="Arial"/>
                <a:cs typeface="Arial"/>
              </a:rPr>
              <a:t>or </a:t>
            </a:r>
            <a:r>
              <a:rPr sz="2000" spc="5" dirty="0">
                <a:latin typeface="Arial"/>
                <a:cs typeface="Arial"/>
              </a:rPr>
              <a:t>inference. </a:t>
            </a: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-15" dirty="0">
                <a:latin typeface="Arial"/>
                <a:cs typeface="Arial"/>
              </a:rPr>
              <a:t>can </a:t>
            </a:r>
            <a:r>
              <a:rPr sz="2000" spc="-5" dirty="0">
                <a:latin typeface="Arial"/>
                <a:cs typeface="Arial"/>
              </a:rPr>
              <a:t>evolve </a:t>
            </a:r>
            <a:r>
              <a:rPr sz="2000" spc="45" dirty="0">
                <a:latin typeface="Arial"/>
                <a:cs typeface="Arial"/>
              </a:rPr>
              <a:t>like  </a:t>
            </a:r>
            <a:r>
              <a:rPr sz="2000" spc="60" dirty="0">
                <a:latin typeface="Arial"/>
                <a:cs typeface="Arial"/>
              </a:rPr>
              <a:t>human </a:t>
            </a:r>
            <a:r>
              <a:rPr sz="2000" spc="20" dirty="0">
                <a:latin typeface="Arial"/>
                <a:cs typeface="Arial"/>
              </a:rPr>
              <a:t>intelligence. </a:t>
            </a:r>
            <a:r>
              <a:rPr sz="2000" spc="60" dirty="0">
                <a:latin typeface="Arial"/>
                <a:cs typeface="Arial"/>
              </a:rPr>
              <a:t>Intelligent </a:t>
            </a:r>
            <a:r>
              <a:rPr sz="2000" spc="20" dirty="0">
                <a:latin typeface="Arial"/>
                <a:cs typeface="Arial"/>
              </a:rPr>
              <a:t>behavior </a:t>
            </a:r>
            <a:r>
              <a:rPr sz="2000" spc="-15" dirty="0">
                <a:latin typeface="Arial"/>
                <a:cs typeface="Arial"/>
              </a:rPr>
              <a:t>can </a:t>
            </a:r>
            <a:r>
              <a:rPr sz="2000" spc="45" dirty="0">
                <a:latin typeface="Arial"/>
                <a:cs typeface="Arial"/>
              </a:rPr>
              <a:t>only </a:t>
            </a:r>
            <a:r>
              <a:rPr sz="2000" spc="-10" dirty="0">
                <a:latin typeface="Arial"/>
                <a:cs typeface="Arial"/>
              </a:rPr>
              <a:t>be </a:t>
            </a:r>
            <a:r>
              <a:rPr sz="2000" spc="35" dirty="0">
                <a:latin typeface="Arial"/>
                <a:cs typeface="Arial"/>
              </a:rPr>
              <a:t>demonstrated </a:t>
            </a:r>
            <a:r>
              <a:rPr sz="2000" spc="60" dirty="0">
                <a:latin typeface="Arial"/>
                <a:cs typeface="Arial"/>
              </a:rPr>
              <a:t>in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30" dirty="0">
                <a:latin typeface="Arial"/>
                <a:cs typeface="Arial"/>
              </a:rPr>
              <a:t>real </a:t>
            </a:r>
            <a:r>
              <a:rPr sz="2000" spc="75" dirty="0">
                <a:latin typeface="Arial"/>
                <a:cs typeface="Arial"/>
              </a:rPr>
              <a:t>world  </a:t>
            </a:r>
            <a:r>
              <a:rPr sz="2000" spc="70" dirty="0">
                <a:latin typeface="Arial"/>
                <a:cs typeface="Arial"/>
              </a:rPr>
              <a:t>through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30" dirty="0">
                <a:latin typeface="Arial"/>
                <a:cs typeface="Arial"/>
              </a:rPr>
              <a:t>constant </a:t>
            </a:r>
            <a:r>
              <a:rPr sz="2000" spc="45" dirty="0">
                <a:latin typeface="Arial"/>
                <a:cs typeface="Arial"/>
              </a:rPr>
              <a:t>interaction </a:t>
            </a:r>
            <a:r>
              <a:rPr sz="2000" spc="105" dirty="0">
                <a:latin typeface="Arial"/>
                <a:cs typeface="Arial"/>
              </a:rPr>
              <a:t>with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40" dirty="0">
                <a:latin typeface="Arial"/>
                <a:cs typeface="Arial"/>
              </a:rPr>
              <a:t>surrounding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environment.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9287" y="4173092"/>
            <a:ext cx="1301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1039" y="3960266"/>
            <a:ext cx="10290175" cy="962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700"/>
              </a:lnSpc>
              <a:spcBef>
                <a:spcPts val="100"/>
              </a:spcBef>
              <a:tabLst>
                <a:tab pos="2022475" algn="l"/>
                <a:tab pos="2418715" algn="l"/>
                <a:tab pos="4162425" algn="l"/>
                <a:tab pos="5398770" algn="l"/>
                <a:tab pos="6497955" algn="l"/>
                <a:tab pos="8082915" algn="l"/>
                <a:tab pos="8698865" algn="l"/>
              </a:tabLst>
            </a:pPr>
            <a:r>
              <a:rPr sz="2200" spc="-185" dirty="0">
                <a:latin typeface="Arial"/>
                <a:cs typeface="Arial"/>
              </a:rPr>
              <a:t>R</a:t>
            </a:r>
            <a:r>
              <a:rPr sz="2200" spc="-135" dirty="0">
                <a:latin typeface="Arial"/>
                <a:cs typeface="Arial"/>
              </a:rPr>
              <a:t>e</a:t>
            </a:r>
            <a:r>
              <a:rPr sz="2200" spc="15" dirty="0">
                <a:latin typeface="Arial"/>
                <a:cs typeface="Arial"/>
              </a:rPr>
              <a:t>pr</a:t>
            </a:r>
            <a:r>
              <a:rPr sz="2200" spc="25" dirty="0">
                <a:latin typeface="Arial"/>
                <a:cs typeface="Arial"/>
              </a:rPr>
              <a:t>e</a:t>
            </a:r>
            <a:r>
              <a:rPr sz="2200" spc="35" dirty="0">
                <a:latin typeface="Arial"/>
                <a:cs typeface="Arial"/>
              </a:rPr>
              <a:t>sentati</a:t>
            </a:r>
            <a:r>
              <a:rPr sz="2200" spc="-50" dirty="0">
                <a:latin typeface="Arial"/>
                <a:cs typeface="Arial"/>
              </a:rPr>
              <a:t>ve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20" dirty="0">
                <a:latin typeface="Arial"/>
                <a:cs typeface="Arial"/>
              </a:rPr>
              <a:t>o</a:t>
            </a:r>
            <a:r>
              <a:rPr sz="2200" spc="65" dirty="0">
                <a:latin typeface="Arial"/>
                <a:cs typeface="Arial"/>
              </a:rPr>
              <a:t>f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beh</a:t>
            </a:r>
            <a:r>
              <a:rPr sz="2200" spc="15" dirty="0">
                <a:latin typeface="Arial"/>
                <a:cs typeface="Arial"/>
              </a:rPr>
              <a:t>a</a:t>
            </a:r>
            <a:r>
              <a:rPr sz="2200" spc="50" dirty="0">
                <a:latin typeface="Arial"/>
                <a:cs typeface="Arial"/>
              </a:rPr>
              <a:t>vior</a:t>
            </a:r>
            <a:r>
              <a:rPr sz="2200" spc="35" dirty="0">
                <a:latin typeface="Arial"/>
                <a:cs typeface="Arial"/>
              </a:rPr>
              <a:t>i</a:t>
            </a:r>
            <a:r>
              <a:rPr sz="2200" spc="-10" dirty="0">
                <a:latin typeface="Arial"/>
                <a:cs typeface="Arial"/>
              </a:rPr>
              <a:t>s</a:t>
            </a:r>
            <a:r>
              <a:rPr sz="2200" spc="-20" dirty="0">
                <a:latin typeface="Arial"/>
                <a:cs typeface="Arial"/>
              </a:rPr>
              <a:t>m</a:t>
            </a:r>
            <a:r>
              <a:rPr sz="2200" spc="-110" dirty="0">
                <a:latin typeface="Arial"/>
                <a:cs typeface="Arial"/>
              </a:rPr>
              <a:t>: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30" dirty="0">
                <a:latin typeface="Arial"/>
                <a:cs typeface="Arial"/>
              </a:rPr>
              <a:t>b</a:t>
            </a:r>
            <a:r>
              <a:rPr sz="2200" spc="-70" dirty="0">
                <a:latin typeface="Arial"/>
                <a:cs typeface="Arial"/>
              </a:rPr>
              <a:t>e</a:t>
            </a:r>
            <a:r>
              <a:rPr sz="2200" spc="35" dirty="0">
                <a:latin typeface="Arial"/>
                <a:cs typeface="Arial"/>
              </a:rPr>
              <a:t>havio</a:t>
            </a:r>
            <a:r>
              <a:rPr sz="2200" spc="2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0" dirty="0">
                <a:latin typeface="Arial"/>
                <a:cs typeface="Arial"/>
              </a:rPr>
              <a:t>con</a:t>
            </a:r>
            <a:r>
              <a:rPr sz="2200" spc="35" dirty="0">
                <a:latin typeface="Arial"/>
                <a:cs typeface="Arial"/>
              </a:rPr>
              <a:t>t</a:t>
            </a:r>
            <a:r>
              <a:rPr sz="2200" spc="90" dirty="0">
                <a:latin typeface="Arial"/>
                <a:cs typeface="Arial"/>
              </a:rPr>
              <a:t>r</a:t>
            </a:r>
            <a:r>
              <a:rPr sz="2200" spc="15" dirty="0">
                <a:latin typeface="Arial"/>
                <a:cs typeface="Arial"/>
              </a:rPr>
              <a:t>ol,</a:t>
            </a:r>
            <a:r>
              <a:rPr sz="2200" dirty="0">
                <a:latin typeface="Arial"/>
                <a:cs typeface="Arial"/>
              </a:rPr>
              <a:t>	ad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spc="40" dirty="0">
                <a:latin typeface="Arial"/>
                <a:cs typeface="Arial"/>
              </a:rPr>
              <a:t>p</a:t>
            </a:r>
            <a:r>
              <a:rPr sz="2200" spc="50" dirty="0">
                <a:latin typeface="Arial"/>
                <a:cs typeface="Arial"/>
              </a:rPr>
              <a:t>t</a:t>
            </a:r>
            <a:r>
              <a:rPr sz="2200" spc="105" dirty="0">
                <a:latin typeface="Arial"/>
                <a:cs typeface="Arial"/>
              </a:rPr>
              <a:t>a</a:t>
            </a:r>
            <a:r>
              <a:rPr sz="2200" spc="185" dirty="0">
                <a:latin typeface="Arial"/>
                <a:cs typeface="Arial"/>
              </a:rPr>
              <a:t>t</a:t>
            </a:r>
            <a:r>
              <a:rPr sz="2200" spc="20" dirty="0">
                <a:latin typeface="Arial"/>
                <a:cs typeface="Arial"/>
              </a:rPr>
              <a:t>ion,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20" dirty="0">
                <a:latin typeface="Arial"/>
                <a:cs typeface="Arial"/>
              </a:rPr>
              <a:t>an</a:t>
            </a:r>
            <a:r>
              <a:rPr sz="2200" spc="2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70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spc="105" dirty="0">
                <a:latin typeface="Arial"/>
                <a:cs typeface="Arial"/>
              </a:rPr>
              <a:t>o</a:t>
            </a:r>
            <a:r>
              <a:rPr sz="2200" spc="30" dirty="0">
                <a:latin typeface="Arial"/>
                <a:cs typeface="Arial"/>
              </a:rPr>
              <a:t>l</a:t>
            </a:r>
            <a:r>
              <a:rPr sz="2200" spc="80" dirty="0">
                <a:latin typeface="Arial"/>
                <a:cs typeface="Arial"/>
              </a:rPr>
              <a:t>ution</a:t>
            </a:r>
            <a:r>
              <a:rPr sz="2200" spc="10" dirty="0">
                <a:latin typeface="Arial"/>
                <a:cs typeface="Arial"/>
              </a:rPr>
              <a:t>ary  </a:t>
            </a:r>
            <a:r>
              <a:rPr sz="2200" spc="55" dirty="0">
                <a:latin typeface="Arial"/>
                <a:cs typeface="Arial"/>
              </a:rPr>
              <a:t>computing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9353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0" dirty="0"/>
              <a:t>Brief </a:t>
            </a:r>
            <a:r>
              <a:rPr spc="50" dirty="0"/>
              <a:t>Development </a:t>
            </a:r>
            <a:r>
              <a:rPr spc="55" dirty="0"/>
              <a:t>History </a:t>
            </a:r>
            <a:r>
              <a:rPr spc="145" dirty="0"/>
              <a:t>of</a:t>
            </a:r>
            <a:r>
              <a:rPr spc="215" dirty="0"/>
              <a:t> </a:t>
            </a:r>
            <a:r>
              <a:rPr spc="-5" dirty="0"/>
              <a:t>AI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53412" y="1100207"/>
            <a:ext cx="9237980" cy="5127625"/>
            <a:chOff x="1153412" y="1100207"/>
            <a:chExt cx="9237980" cy="5127625"/>
          </a:xfrm>
        </p:grpSpPr>
        <p:sp>
          <p:nvSpPr>
            <p:cNvPr id="4" name="object 4"/>
            <p:cNvSpPr/>
            <p:nvPr/>
          </p:nvSpPr>
          <p:spPr>
            <a:xfrm>
              <a:off x="1369930" y="3481542"/>
              <a:ext cx="9004300" cy="127635"/>
            </a:xfrm>
            <a:custGeom>
              <a:avLst/>
              <a:gdLst/>
              <a:ahLst/>
              <a:cxnLst/>
              <a:rect l="l" t="t" r="r" b="b"/>
              <a:pathLst>
                <a:path w="9004300" h="127635">
                  <a:moveTo>
                    <a:pt x="0" y="63749"/>
                  </a:moveTo>
                  <a:lnTo>
                    <a:pt x="9003714" y="63749"/>
                  </a:lnTo>
                </a:path>
                <a:path w="9004300" h="127635">
                  <a:moveTo>
                    <a:pt x="8927784" y="127499"/>
                  </a:moveTo>
                  <a:lnTo>
                    <a:pt x="9003714" y="63749"/>
                  </a:lnTo>
                  <a:lnTo>
                    <a:pt x="8927784" y="0"/>
                  </a:lnTo>
                </a:path>
              </a:pathLst>
            </a:custGeom>
            <a:ln w="32943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3412" y="3444055"/>
              <a:ext cx="230125" cy="2023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27880" y="3444055"/>
              <a:ext cx="230156" cy="2023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57838" y="3444055"/>
              <a:ext cx="230078" cy="20234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27003" y="3444055"/>
              <a:ext cx="230078" cy="20234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10209" y="3444055"/>
              <a:ext cx="230078" cy="20234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27513" y="3444055"/>
              <a:ext cx="230078" cy="20234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09253" y="3444055"/>
              <a:ext cx="230078" cy="20234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59509" y="3444055"/>
              <a:ext cx="230078" cy="20234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43684" y="1100213"/>
              <a:ext cx="6586855" cy="5127625"/>
            </a:xfrm>
            <a:custGeom>
              <a:avLst/>
              <a:gdLst/>
              <a:ahLst/>
              <a:cxnLst/>
              <a:rect l="l" t="t" r="r" b="b"/>
              <a:pathLst>
                <a:path w="6586855" h="5127625">
                  <a:moveTo>
                    <a:pt x="11950" y="0"/>
                  </a:moveTo>
                  <a:lnTo>
                    <a:pt x="0" y="0"/>
                  </a:lnTo>
                  <a:lnTo>
                    <a:pt x="0" y="5127079"/>
                  </a:lnTo>
                  <a:lnTo>
                    <a:pt x="11950" y="5127079"/>
                  </a:lnTo>
                  <a:lnTo>
                    <a:pt x="11950" y="0"/>
                  </a:lnTo>
                  <a:close/>
                </a:path>
                <a:path w="6586855" h="5127625">
                  <a:moveTo>
                    <a:pt x="2318093" y="1330591"/>
                  </a:moveTo>
                  <a:lnTo>
                    <a:pt x="2306142" y="1330591"/>
                  </a:lnTo>
                  <a:lnTo>
                    <a:pt x="2306142" y="5127079"/>
                  </a:lnTo>
                  <a:lnTo>
                    <a:pt x="2318093" y="5127079"/>
                  </a:lnTo>
                  <a:lnTo>
                    <a:pt x="2318093" y="1330591"/>
                  </a:lnTo>
                  <a:close/>
                </a:path>
                <a:path w="6586855" h="5127625">
                  <a:moveTo>
                    <a:pt x="2318093" y="0"/>
                  </a:moveTo>
                  <a:lnTo>
                    <a:pt x="2306142" y="0"/>
                  </a:lnTo>
                  <a:lnTo>
                    <a:pt x="2306142" y="948169"/>
                  </a:lnTo>
                  <a:lnTo>
                    <a:pt x="2318093" y="948169"/>
                  </a:lnTo>
                  <a:lnTo>
                    <a:pt x="2318093" y="0"/>
                  </a:lnTo>
                  <a:close/>
                </a:path>
                <a:path w="6586855" h="5127625">
                  <a:moveTo>
                    <a:pt x="3205696" y="4230878"/>
                  </a:moveTo>
                  <a:lnTo>
                    <a:pt x="3193745" y="4230878"/>
                  </a:lnTo>
                  <a:lnTo>
                    <a:pt x="3193745" y="5127079"/>
                  </a:lnTo>
                  <a:lnTo>
                    <a:pt x="3205696" y="5127079"/>
                  </a:lnTo>
                  <a:lnTo>
                    <a:pt x="3205696" y="4230878"/>
                  </a:lnTo>
                  <a:close/>
                </a:path>
                <a:path w="6586855" h="5127625">
                  <a:moveTo>
                    <a:pt x="3205696" y="2809278"/>
                  </a:moveTo>
                  <a:lnTo>
                    <a:pt x="3193745" y="2809278"/>
                  </a:lnTo>
                  <a:lnTo>
                    <a:pt x="3193745" y="3876281"/>
                  </a:lnTo>
                  <a:lnTo>
                    <a:pt x="3205696" y="3876281"/>
                  </a:lnTo>
                  <a:lnTo>
                    <a:pt x="3205696" y="2809278"/>
                  </a:lnTo>
                  <a:close/>
                </a:path>
                <a:path w="6586855" h="5127625">
                  <a:moveTo>
                    <a:pt x="3205696" y="1330591"/>
                  </a:moveTo>
                  <a:lnTo>
                    <a:pt x="3193745" y="1330591"/>
                  </a:lnTo>
                  <a:lnTo>
                    <a:pt x="3193745" y="2581300"/>
                  </a:lnTo>
                  <a:lnTo>
                    <a:pt x="3205696" y="2581300"/>
                  </a:lnTo>
                  <a:lnTo>
                    <a:pt x="3205696" y="1330591"/>
                  </a:lnTo>
                  <a:close/>
                </a:path>
                <a:path w="6586855" h="5127625">
                  <a:moveTo>
                    <a:pt x="3205696" y="0"/>
                  </a:moveTo>
                  <a:lnTo>
                    <a:pt x="3193745" y="0"/>
                  </a:lnTo>
                  <a:lnTo>
                    <a:pt x="3193745" y="948169"/>
                  </a:lnTo>
                  <a:lnTo>
                    <a:pt x="3205696" y="948169"/>
                  </a:lnTo>
                  <a:lnTo>
                    <a:pt x="3205696" y="0"/>
                  </a:lnTo>
                  <a:close/>
                </a:path>
                <a:path w="6586855" h="5127625">
                  <a:moveTo>
                    <a:pt x="4013073" y="4230878"/>
                  </a:moveTo>
                  <a:lnTo>
                    <a:pt x="4001122" y="4230878"/>
                  </a:lnTo>
                  <a:lnTo>
                    <a:pt x="4001122" y="5127079"/>
                  </a:lnTo>
                  <a:lnTo>
                    <a:pt x="4013073" y="5127079"/>
                  </a:lnTo>
                  <a:lnTo>
                    <a:pt x="4013073" y="4230878"/>
                  </a:lnTo>
                  <a:close/>
                </a:path>
                <a:path w="6586855" h="5127625">
                  <a:moveTo>
                    <a:pt x="4013073" y="2781477"/>
                  </a:moveTo>
                  <a:lnTo>
                    <a:pt x="4001122" y="2781477"/>
                  </a:lnTo>
                  <a:lnTo>
                    <a:pt x="4001122" y="3876281"/>
                  </a:lnTo>
                  <a:lnTo>
                    <a:pt x="4013073" y="3876281"/>
                  </a:lnTo>
                  <a:lnTo>
                    <a:pt x="4013073" y="2781477"/>
                  </a:lnTo>
                  <a:close/>
                </a:path>
                <a:path w="6586855" h="5127625">
                  <a:moveTo>
                    <a:pt x="4013073" y="1331671"/>
                  </a:moveTo>
                  <a:lnTo>
                    <a:pt x="4001122" y="1331671"/>
                  </a:lnTo>
                  <a:lnTo>
                    <a:pt x="4001122" y="2553500"/>
                  </a:lnTo>
                  <a:lnTo>
                    <a:pt x="4013073" y="2553500"/>
                  </a:lnTo>
                  <a:lnTo>
                    <a:pt x="4013073" y="1331671"/>
                  </a:lnTo>
                  <a:close/>
                </a:path>
                <a:path w="6586855" h="5127625">
                  <a:moveTo>
                    <a:pt x="4013073" y="0"/>
                  </a:moveTo>
                  <a:lnTo>
                    <a:pt x="4001122" y="0"/>
                  </a:lnTo>
                  <a:lnTo>
                    <a:pt x="4001122" y="949236"/>
                  </a:lnTo>
                  <a:lnTo>
                    <a:pt x="4013073" y="949236"/>
                  </a:lnTo>
                  <a:lnTo>
                    <a:pt x="4013073" y="0"/>
                  </a:lnTo>
                  <a:close/>
                </a:path>
                <a:path w="6586855" h="5127625">
                  <a:moveTo>
                    <a:pt x="5114937" y="2781477"/>
                  </a:moveTo>
                  <a:lnTo>
                    <a:pt x="5102987" y="2781477"/>
                  </a:lnTo>
                  <a:lnTo>
                    <a:pt x="5102987" y="5127079"/>
                  </a:lnTo>
                  <a:lnTo>
                    <a:pt x="5114937" y="5127079"/>
                  </a:lnTo>
                  <a:lnTo>
                    <a:pt x="5114937" y="2781477"/>
                  </a:lnTo>
                  <a:close/>
                </a:path>
                <a:path w="6586855" h="5127625">
                  <a:moveTo>
                    <a:pt x="5114937" y="0"/>
                  </a:moveTo>
                  <a:lnTo>
                    <a:pt x="5102987" y="0"/>
                  </a:lnTo>
                  <a:lnTo>
                    <a:pt x="5102987" y="2553500"/>
                  </a:lnTo>
                  <a:lnTo>
                    <a:pt x="5114937" y="2553500"/>
                  </a:lnTo>
                  <a:lnTo>
                    <a:pt x="5114937" y="0"/>
                  </a:lnTo>
                  <a:close/>
                </a:path>
                <a:path w="6586855" h="5127625">
                  <a:moveTo>
                    <a:pt x="6586575" y="2781477"/>
                  </a:moveTo>
                  <a:lnTo>
                    <a:pt x="6574625" y="2781477"/>
                  </a:lnTo>
                  <a:lnTo>
                    <a:pt x="6574625" y="5127079"/>
                  </a:lnTo>
                  <a:lnTo>
                    <a:pt x="6586575" y="5127079"/>
                  </a:lnTo>
                  <a:lnTo>
                    <a:pt x="6586575" y="2781477"/>
                  </a:lnTo>
                  <a:close/>
                </a:path>
                <a:path w="6586855" h="5127625">
                  <a:moveTo>
                    <a:pt x="6586575" y="1974113"/>
                  </a:moveTo>
                  <a:lnTo>
                    <a:pt x="6574625" y="1974113"/>
                  </a:lnTo>
                  <a:lnTo>
                    <a:pt x="6574625" y="2553500"/>
                  </a:lnTo>
                  <a:lnTo>
                    <a:pt x="6586575" y="2553500"/>
                  </a:lnTo>
                  <a:lnTo>
                    <a:pt x="6586575" y="1974113"/>
                  </a:lnTo>
                  <a:close/>
                </a:path>
                <a:path w="6586855" h="5127625">
                  <a:moveTo>
                    <a:pt x="6586575" y="815251"/>
                  </a:moveTo>
                  <a:lnTo>
                    <a:pt x="6574625" y="815251"/>
                  </a:lnTo>
                  <a:lnTo>
                    <a:pt x="6574625" y="1591678"/>
                  </a:lnTo>
                  <a:lnTo>
                    <a:pt x="6586575" y="1591678"/>
                  </a:lnTo>
                  <a:lnTo>
                    <a:pt x="6586575" y="815251"/>
                  </a:lnTo>
                  <a:close/>
                </a:path>
                <a:path w="6586855" h="5127625">
                  <a:moveTo>
                    <a:pt x="6586575" y="0"/>
                  </a:moveTo>
                  <a:lnTo>
                    <a:pt x="6574625" y="0"/>
                  </a:lnTo>
                  <a:lnTo>
                    <a:pt x="6574625" y="432816"/>
                  </a:lnTo>
                  <a:lnTo>
                    <a:pt x="6586575" y="432816"/>
                  </a:lnTo>
                  <a:lnTo>
                    <a:pt x="658657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192319" y="4287368"/>
            <a:ext cx="1579245" cy="5080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600" spc="75" dirty="0">
                <a:latin typeface="Arial"/>
                <a:cs typeface="Arial"/>
              </a:rPr>
              <a:t>1956-1976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spc="50" dirty="0">
                <a:solidFill>
                  <a:srgbClr val="C00000"/>
                </a:solidFill>
                <a:latin typeface="Arial"/>
                <a:cs typeface="Arial"/>
              </a:rPr>
              <a:t>First </a:t>
            </a:r>
            <a:r>
              <a:rPr sz="600" spc="70" dirty="0">
                <a:solidFill>
                  <a:srgbClr val="C00000"/>
                </a:solidFill>
                <a:latin typeface="Arial"/>
                <a:cs typeface="Arial"/>
              </a:rPr>
              <a:t>period </a:t>
            </a:r>
            <a:r>
              <a:rPr sz="600" spc="85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60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spc="85" dirty="0">
                <a:solidFill>
                  <a:srgbClr val="C00000"/>
                </a:solidFill>
                <a:latin typeface="Arial"/>
                <a:cs typeface="Arial"/>
              </a:rPr>
              <a:t>boom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600" spc="75" dirty="0">
                <a:latin typeface="Arial"/>
                <a:cs typeface="Arial"/>
              </a:rPr>
              <a:t>The concept </a:t>
            </a:r>
            <a:r>
              <a:rPr sz="600" spc="85" dirty="0">
                <a:latin typeface="Arial"/>
                <a:cs typeface="Arial"/>
              </a:rPr>
              <a:t>and </a:t>
            </a:r>
            <a:r>
              <a:rPr sz="600" spc="70" dirty="0">
                <a:latin typeface="Arial"/>
                <a:cs typeface="Arial"/>
              </a:rPr>
              <a:t>development</a:t>
            </a:r>
            <a:r>
              <a:rPr sz="600" spc="-50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target</a:t>
            </a:r>
            <a:endParaRPr sz="6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40"/>
              </a:spcBef>
            </a:pPr>
            <a:r>
              <a:rPr sz="600" spc="40" dirty="0">
                <a:latin typeface="Arial"/>
                <a:cs typeface="Arial"/>
              </a:rPr>
              <a:t>of</a:t>
            </a:r>
            <a:r>
              <a:rPr sz="600" spc="85" dirty="0">
                <a:latin typeface="Arial"/>
                <a:cs typeface="Arial"/>
              </a:rPr>
              <a:t> </a:t>
            </a:r>
            <a:r>
              <a:rPr sz="600" spc="50" dirty="0">
                <a:latin typeface="Arial"/>
                <a:cs typeface="Arial"/>
              </a:rPr>
              <a:t>AI</a:t>
            </a:r>
            <a:r>
              <a:rPr sz="600" spc="90" dirty="0">
                <a:latin typeface="Arial"/>
                <a:cs typeface="Arial"/>
              </a:rPr>
              <a:t> </a:t>
            </a:r>
            <a:r>
              <a:rPr sz="600" spc="80" dirty="0">
                <a:latin typeface="Arial"/>
                <a:cs typeface="Arial"/>
              </a:rPr>
              <a:t>were</a:t>
            </a:r>
            <a:r>
              <a:rPr sz="600" spc="-25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determined</a:t>
            </a:r>
            <a:r>
              <a:rPr sz="600" spc="-30" dirty="0">
                <a:latin typeface="Arial"/>
                <a:cs typeface="Arial"/>
              </a:rPr>
              <a:t> </a:t>
            </a:r>
            <a:r>
              <a:rPr sz="600" spc="85" dirty="0">
                <a:latin typeface="Arial"/>
                <a:cs typeface="Arial"/>
              </a:rPr>
              <a:t>at</a:t>
            </a:r>
            <a:r>
              <a:rPr sz="600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the</a:t>
            </a:r>
            <a:endParaRPr sz="600">
              <a:latin typeface="Arial"/>
              <a:cs typeface="Arial"/>
            </a:endParaRPr>
          </a:p>
          <a:p>
            <a:pPr marL="4445" algn="ctr">
              <a:lnSpc>
                <a:spcPct val="100000"/>
              </a:lnSpc>
              <a:spcBef>
                <a:spcPts val="40"/>
              </a:spcBef>
            </a:pPr>
            <a:r>
              <a:rPr sz="600" spc="75" dirty="0">
                <a:latin typeface="Arial"/>
                <a:cs typeface="Arial"/>
              </a:rPr>
              <a:t>Dartmouth </a:t>
            </a:r>
            <a:r>
              <a:rPr sz="600" spc="45" dirty="0">
                <a:latin typeface="Arial"/>
                <a:cs typeface="Arial"/>
              </a:rPr>
              <a:t>conf</a:t>
            </a:r>
            <a:r>
              <a:rPr sz="600" spc="-110" dirty="0">
                <a:latin typeface="Arial"/>
                <a:cs typeface="Arial"/>
              </a:rPr>
              <a:t> </a:t>
            </a:r>
            <a:r>
              <a:rPr sz="600" spc="65" dirty="0">
                <a:latin typeface="Arial"/>
                <a:cs typeface="Arial"/>
              </a:rPr>
              <a:t>erence.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50070" y="3703728"/>
            <a:ext cx="28638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40" dirty="0">
                <a:latin typeface="Arial"/>
                <a:cs typeface="Arial"/>
              </a:rPr>
              <a:t>1</a:t>
            </a:r>
            <a:r>
              <a:rPr sz="600" spc="135" dirty="0">
                <a:latin typeface="Arial"/>
                <a:cs typeface="Arial"/>
              </a:rPr>
              <a:t>9</a:t>
            </a:r>
            <a:r>
              <a:rPr sz="600" spc="40" dirty="0">
                <a:latin typeface="Arial"/>
                <a:cs typeface="Arial"/>
              </a:rPr>
              <a:t>5</a:t>
            </a:r>
            <a:r>
              <a:rPr sz="600" spc="110" dirty="0">
                <a:latin typeface="Arial"/>
                <a:cs typeface="Arial"/>
              </a:rPr>
              <a:t>0</a:t>
            </a:r>
            <a:r>
              <a:rPr sz="600" spc="75" dirty="0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01757" y="3703728"/>
            <a:ext cx="28638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40" dirty="0">
                <a:latin typeface="Arial"/>
                <a:cs typeface="Arial"/>
              </a:rPr>
              <a:t>1</a:t>
            </a:r>
            <a:r>
              <a:rPr sz="600" spc="130" dirty="0">
                <a:latin typeface="Arial"/>
                <a:cs typeface="Arial"/>
              </a:rPr>
              <a:t>9</a:t>
            </a:r>
            <a:r>
              <a:rPr sz="600" spc="40" dirty="0">
                <a:latin typeface="Arial"/>
                <a:cs typeface="Arial"/>
              </a:rPr>
              <a:t>6</a:t>
            </a:r>
            <a:r>
              <a:rPr sz="600" spc="120" dirty="0">
                <a:latin typeface="Arial"/>
                <a:cs typeface="Arial"/>
              </a:rPr>
              <a:t>0</a:t>
            </a:r>
            <a:r>
              <a:rPr sz="600" spc="75" dirty="0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53525" y="3703728"/>
            <a:ext cx="28638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40" dirty="0">
                <a:latin typeface="Arial"/>
                <a:cs typeface="Arial"/>
              </a:rPr>
              <a:t>1</a:t>
            </a:r>
            <a:r>
              <a:rPr sz="600" spc="130" dirty="0">
                <a:latin typeface="Arial"/>
                <a:cs typeface="Arial"/>
              </a:rPr>
              <a:t>9</a:t>
            </a:r>
            <a:r>
              <a:rPr sz="600" spc="40" dirty="0">
                <a:latin typeface="Arial"/>
                <a:cs typeface="Arial"/>
              </a:rPr>
              <a:t>7</a:t>
            </a:r>
            <a:r>
              <a:rPr sz="600" spc="114" dirty="0">
                <a:latin typeface="Arial"/>
                <a:cs typeface="Arial"/>
              </a:rPr>
              <a:t>0</a:t>
            </a:r>
            <a:r>
              <a:rPr sz="600" spc="75" dirty="0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03906" y="3732128"/>
            <a:ext cx="28575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35" dirty="0">
                <a:latin typeface="Arial"/>
                <a:cs typeface="Arial"/>
              </a:rPr>
              <a:t>1</a:t>
            </a:r>
            <a:r>
              <a:rPr sz="600" spc="130" dirty="0">
                <a:latin typeface="Arial"/>
                <a:cs typeface="Arial"/>
              </a:rPr>
              <a:t>9</a:t>
            </a:r>
            <a:r>
              <a:rPr sz="600" spc="35" dirty="0">
                <a:latin typeface="Arial"/>
                <a:cs typeface="Arial"/>
              </a:rPr>
              <a:t>8</a:t>
            </a:r>
            <a:r>
              <a:rPr sz="600" spc="110" dirty="0">
                <a:latin typeface="Arial"/>
                <a:cs typeface="Arial"/>
              </a:rPr>
              <a:t>0</a:t>
            </a:r>
            <a:r>
              <a:rPr sz="600" spc="75" dirty="0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08761" y="3703728"/>
            <a:ext cx="28638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40" dirty="0">
                <a:latin typeface="Arial"/>
                <a:cs typeface="Arial"/>
              </a:rPr>
              <a:t>1</a:t>
            </a:r>
            <a:r>
              <a:rPr sz="600" spc="130" dirty="0">
                <a:latin typeface="Arial"/>
                <a:cs typeface="Arial"/>
              </a:rPr>
              <a:t>9</a:t>
            </a:r>
            <a:r>
              <a:rPr sz="600" spc="40" dirty="0">
                <a:latin typeface="Arial"/>
                <a:cs typeface="Arial"/>
              </a:rPr>
              <a:t>9</a:t>
            </a:r>
            <a:r>
              <a:rPr sz="600" spc="114" dirty="0">
                <a:latin typeface="Arial"/>
                <a:cs typeface="Arial"/>
              </a:rPr>
              <a:t>0</a:t>
            </a:r>
            <a:r>
              <a:rPr sz="600" spc="75" dirty="0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6588" y="3703728"/>
            <a:ext cx="28638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40" dirty="0">
                <a:latin typeface="Arial"/>
                <a:cs typeface="Arial"/>
              </a:rPr>
              <a:t>2</a:t>
            </a:r>
            <a:r>
              <a:rPr sz="600" spc="130" dirty="0">
                <a:latin typeface="Arial"/>
                <a:cs typeface="Arial"/>
              </a:rPr>
              <a:t>0</a:t>
            </a:r>
            <a:r>
              <a:rPr sz="600" spc="40" dirty="0">
                <a:latin typeface="Arial"/>
                <a:cs typeface="Arial"/>
              </a:rPr>
              <a:t>0</a:t>
            </a:r>
            <a:r>
              <a:rPr sz="600" spc="114" dirty="0">
                <a:latin typeface="Arial"/>
                <a:cs typeface="Arial"/>
              </a:rPr>
              <a:t>0</a:t>
            </a:r>
            <a:r>
              <a:rPr sz="600" spc="75" dirty="0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90136" y="3703728"/>
            <a:ext cx="28638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40" dirty="0">
                <a:latin typeface="Arial"/>
                <a:cs typeface="Arial"/>
              </a:rPr>
              <a:t>2</a:t>
            </a:r>
            <a:r>
              <a:rPr sz="600" spc="130" dirty="0">
                <a:latin typeface="Arial"/>
                <a:cs typeface="Arial"/>
              </a:rPr>
              <a:t>0</a:t>
            </a:r>
            <a:r>
              <a:rPr sz="600" spc="40" dirty="0">
                <a:latin typeface="Arial"/>
                <a:cs typeface="Arial"/>
              </a:rPr>
              <a:t>1</a:t>
            </a:r>
            <a:r>
              <a:rPr sz="600" spc="120" dirty="0">
                <a:latin typeface="Arial"/>
                <a:cs typeface="Arial"/>
              </a:rPr>
              <a:t>0</a:t>
            </a:r>
            <a:r>
              <a:rPr sz="600" spc="75" dirty="0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41983" y="3703728"/>
            <a:ext cx="28575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40" dirty="0">
                <a:latin typeface="Arial"/>
                <a:cs typeface="Arial"/>
              </a:rPr>
              <a:t>2</a:t>
            </a:r>
            <a:r>
              <a:rPr sz="600" spc="130" dirty="0">
                <a:latin typeface="Arial"/>
                <a:cs typeface="Arial"/>
              </a:rPr>
              <a:t>0</a:t>
            </a:r>
            <a:r>
              <a:rPr sz="600" spc="40" dirty="0">
                <a:latin typeface="Arial"/>
                <a:cs typeface="Arial"/>
              </a:rPr>
              <a:t>2</a:t>
            </a:r>
            <a:r>
              <a:rPr sz="600" spc="114" dirty="0">
                <a:latin typeface="Arial"/>
                <a:cs typeface="Arial"/>
              </a:rPr>
              <a:t>0</a:t>
            </a:r>
            <a:r>
              <a:rPr sz="600" spc="75" dirty="0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154531" y="4960635"/>
            <a:ext cx="871855" cy="354965"/>
          </a:xfrm>
          <a:custGeom>
            <a:avLst/>
            <a:gdLst/>
            <a:ahLst/>
            <a:cxnLst/>
            <a:rect l="l" t="t" r="r" b="b"/>
            <a:pathLst>
              <a:path w="871854" h="354964">
                <a:moveTo>
                  <a:pt x="0" y="354594"/>
                </a:moveTo>
                <a:lnTo>
                  <a:pt x="871764" y="354594"/>
                </a:lnTo>
                <a:lnTo>
                  <a:pt x="871764" y="0"/>
                </a:lnTo>
                <a:lnTo>
                  <a:pt x="0" y="0"/>
                </a:lnTo>
                <a:lnTo>
                  <a:pt x="0" y="354594"/>
                </a:lnTo>
                <a:close/>
              </a:path>
            </a:pathLst>
          </a:custGeom>
          <a:ln w="1030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228745" y="4450485"/>
            <a:ext cx="735965" cy="13754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600" spc="75" dirty="0">
                <a:latin typeface="Arial"/>
                <a:cs typeface="Arial"/>
              </a:rPr>
              <a:t>1976-1982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spc="50" dirty="0">
                <a:solidFill>
                  <a:srgbClr val="C00000"/>
                </a:solidFill>
                <a:latin typeface="Arial"/>
                <a:cs typeface="Arial"/>
              </a:rPr>
              <a:t>First </a:t>
            </a:r>
            <a:r>
              <a:rPr sz="600" spc="70" dirty="0">
                <a:solidFill>
                  <a:srgbClr val="C00000"/>
                </a:solidFill>
                <a:latin typeface="Arial"/>
                <a:cs typeface="Arial"/>
              </a:rPr>
              <a:t>period</a:t>
            </a:r>
            <a:r>
              <a:rPr sz="6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spc="85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600" spc="65" dirty="0">
                <a:solidFill>
                  <a:srgbClr val="C00000"/>
                </a:solidFill>
                <a:latin typeface="Arial"/>
                <a:cs typeface="Arial"/>
              </a:rPr>
              <a:t>low</a:t>
            </a:r>
            <a:r>
              <a:rPr sz="600" spc="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spc="85" dirty="0">
                <a:solidFill>
                  <a:srgbClr val="C00000"/>
                </a:solidFill>
                <a:latin typeface="Arial"/>
                <a:cs typeface="Arial"/>
              </a:rPr>
              <a:t>ebb</a:t>
            </a:r>
            <a:endParaRPr sz="600">
              <a:latin typeface="Arial"/>
              <a:cs typeface="Arial"/>
            </a:endParaRPr>
          </a:p>
          <a:p>
            <a:pPr marL="28575" marR="25400" indent="-3175" algn="just">
              <a:lnSpc>
                <a:spcPts val="760"/>
              </a:lnSpc>
              <a:spcBef>
                <a:spcPts val="30"/>
              </a:spcBef>
            </a:pPr>
            <a:r>
              <a:rPr sz="600" spc="55" dirty="0">
                <a:latin typeface="Arial"/>
                <a:cs typeface="Arial"/>
              </a:rPr>
              <a:t>AI </a:t>
            </a:r>
            <a:r>
              <a:rPr sz="600" spc="40" dirty="0">
                <a:latin typeface="Arial"/>
                <a:cs typeface="Arial"/>
              </a:rPr>
              <a:t>suff </a:t>
            </a:r>
            <a:r>
              <a:rPr sz="600" spc="60" dirty="0">
                <a:latin typeface="Arial"/>
                <a:cs typeface="Arial"/>
              </a:rPr>
              <a:t>ered</a:t>
            </a:r>
            <a:r>
              <a:rPr sz="600" spc="-100" dirty="0">
                <a:latin typeface="Arial"/>
                <a:cs typeface="Arial"/>
              </a:rPr>
              <a:t> </a:t>
            </a:r>
            <a:r>
              <a:rPr sz="600" spc="65" dirty="0">
                <a:latin typeface="Arial"/>
                <a:cs typeface="Arial"/>
              </a:rPr>
              <a:t>from  quest</a:t>
            </a:r>
            <a:r>
              <a:rPr sz="600" spc="-150" dirty="0">
                <a:latin typeface="Arial"/>
                <a:cs typeface="Arial"/>
              </a:rPr>
              <a:t> </a:t>
            </a:r>
            <a:r>
              <a:rPr sz="600" spc="50" dirty="0">
                <a:latin typeface="Arial"/>
                <a:cs typeface="Arial"/>
              </a:rPr>
              <a:t>ioning </a:t>
            </a:r>
            <a:r>
              <a:rPr sz="600" spc="85" dirty="0">
                <a:latin typeface="Arial"/>
                <a:cs typeface="Arial"/>
              </a:rPr>
              <a:t>and  </a:t>
            </a:r>
            <a:r>
              <a:rPr sz="600" spc="35" dirty="0">
                <a:latin typeface="Arial"/>
                <a:cs typeface="Arial"/>
              </a:rPr>
              <a:t>crit</a:t>
            </a:r>
            <a:r>
              <a:rPr sz="600" spc="-105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icism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spc="85" dirty="0">
                <a:latin typeface="Arial"/>
                <a:cs typeface="Arial"/>
              </a:rPr>
              <a:t>due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spc="50" dirty="0">
                <a:latin typeface="Arial"/>
                <a:cs typeface="Arial"/>
              </a:rPr>
              <a:t>to</a:t>
            </a:r>
            <a:endParaRPr sz="6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10"/>
              </a:spcBef>
            </a:pPr>
            <a:r>
              <a:rPr sz="600" spc="60" dirty="0">
                <a:latin typeface="Arial"/>
                <a:cs typeface="Arial"/>
              </a:rPr>
              <a:t>insufficient</a:t>
            </a:r>
            <a:endParaRPr sz="600">
              <a:latin typeface="Arial"/>
              <a:cs typeface="Arial"/>
            </a:endParaRPr>
          </a:p>
          <a:p>
            <a:pPr marR="1905" algn="ctr">
              <a:lnSpc>
                <a:spcPct val="100000"/>
              </a:lnSpc>
              <a:spcBef>
                <a:spcPts val="40"/>
              </a:spcBef>
            </a:pPr>
            <a:r>
              <a:rPr sz="600" spc="70" dirty="0">
                <a:latin typeface="Arial"/>
                <a:cs typeface="Arial"/>
              </a:rPr>
              <a:t>computing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600" spc="55" dirty="0">
                <a:latin typeface="Arial"/>
                <a:cs typeface="Arial"/>
              </a:rPr>
              <a:t>capabilities,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high</a:t>
            </a:r>
            <a:endParaRPr sz="600">
              <a:latin typeface="Arial"/>
              <a:cs typeface="Arial"/>
            </a:endParaRPr>
          </a:p>
          <a:p>
            <a:pPr marL="17780" marR="11430" indent="127635">
              <a:lnSpc>
                <a:spcPct val="105400"/>
              </a:lnSpc>
              <a:spcBef>
                <a:spcPts val="5"/>
              </a:spcBef>
            </a:pPr>
            <a:r>
              <a:rPr sz="600" spc="70" dirty="0">
                <a:latin typeface="Arial"/>
                <a:cs typeface="Arial"/>
              </a:rPr>
              <a:t>computing  </a:t>
            </a:r>
            <a:r>
              <a:rPr sz="600" spc="65" dirty="0">
                <a:latin typeface="Arial"/>
                <a:cs typeface="Arial"/>
              </a:rPr>
              <a:t>complexity, </a:t>
            </a:r>
            <a:r>
              <a:rPr sz="600" spc="85" dirty="0">
                <a:latin typeface="Arial"/>
                <a:cs typeface="Arial"/>
              </a:rPr>
              <a:t>and  </a:t>
            </a:r>
            <a:r>
              <a:rPr sz="600" spc="65" dirty="0">
                <a:latin typeface="Arial"/>
                <a:cs typeface="Arial"/>
              </a:rPr>
              <a:t>great </a:t>
            </a:r>
            <a:r>
              <a:rPr sz="600" spc="50" dirty="0">
                <a:latin typeface="Arial"/>
                <a:cs typeface="Arial"/>
              </a:rPr>
              <a:t>difficulty</a:t>
            </a:r>
            <a:r>
              <a:rPr sz="600" spc="5" dirty="0">
                <a:latin typeface="Arial"/>
                <a:cs typeface="Arial"/>
              </a:rPr>
              <a:t> </a:t>
            </a:r>
            <a:r>
              <a:rPr sz="600" spc="40" dirty="0">
                <a:latin typeface="Arial"/>
                <a:cs typeface="Arial"/>
              </a:rPr>
              <a:t>of</a:t>
            </a:r>
            <a:endParaRPr sz="600">
              <a:latin typeface="Arial"/>
              <a:cs typeface="Arial"/>
            </a:endParaRPr>
          </a:p>
          <a:p>
            <a:pPr marL="168910">
              <a:lnSpc>
                <a:spcPct val="100000"/>
              </a:lnSpc>
              <a:spcBef>
                <a:spcPts val="40"/>
              </a:spcBef>
            </a:pPr>
            <a:r>
              <a:rPr sz="600" spc="60" dirty="0">
                <a:latin typeface="Arial"/>
                <a:cs typeface="Arial"/>
              </a:rPr>
              <a:t>inference</a:t>
            </a:r>
            <a:endParaRPr sz="600">
              <a:latin typeface="Arial"/>
              <a:cs typeface="Arial"/>
            </a:endParaRPr>
          </a:p>
          <a:p>
            <a:pPr marL="134620">
              <a:lnSpc>
                <a:spcPct val="100000"/>
              </a:lnSpc>
              <a:spcBef>
                <a:spcPts val="35"/>
              </a:spcBef>
            </a:pPr>
            <a:r>
              <a:rPr sz="600" spc="55" dirty="0">
                <a:latin typeface="Arial"/>
                <a:cs typeface="Arial"/>
              </a:rPr>
              <a:t>realization.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545226" y="3617826"/>
            <a:ext cx="4417060" cy="1646555"/>
            <a:chOff x="2545226" y="3617826"/>
            <a:chExt cx="4417060" cy="1646555"/>
          </a:xfrm>
        </p:grpSpPr>
        <p:sp>
          <p:nvSpPr>
            <p:cNvPr id="26" name="object 26"/>
            <p:cNvSpPr/>
            <p:nvPr/>
          </p:nvSpPr>
          <p:spPr>
            <a:xfrm>
              <a:off x="2551316" y="3641786"/>
              <a:ext cx="3480435" cy="0"/>
            </a:xfrm>
            <a:custGeom>
              <a:avLst/>
              <a:gdLst/>
              <a:ahLst/>
              <a:cxnLst/>
              <a:rect l="l" t="t" r="r" b="b"/>
              <a:pathLst>
                <a:path w="3480435">
                  <a:moveTo>
                    <a:pt x="0" y="0"/>
                  </a:moveTo>
                  <a:lnTo>
                    <a:pt x="11950" y="0"/>
                  </a:lnTo>
                </a:path>
                <a:path w="3480435">
                  <a:moveTo>
                    <a:pt x="3467957" y="0"/>
                  </a:moveTo>
                  <a:lnTo>
                    <a:pt x="3479907" y="0"/>
                  </a:lnTo>
                </a:path>
              </a:pathLst>
            </a:custGeom>
            <a:ln w="23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84530" y="4904129"/>
              <a:ext cx="1072515" cy="354965"/>
            </a:xfrm>
            <a:custGeom>
              <a:avLst/>
              <a:gdLst/>
              <a:ahLst/>
              <a:cxnLst/>
              <a:rect l="l" t="t" r="r" b="b"/>
              <a:pathLst>
                <a:path w="1072515" h="354964">
                  <a:moveTo>
                    <a:pt x="0" y="354594"/>
                  </a:moveTo>
                  <a:lnTo>
                    <a:pt x="1072032" y="354594"/>
                  </a:lnTo>
                  <a:lnTo>
                    <a:pt x="1072032" y="0"/>
                  </a:lnTo>
                  <a:lnTo>
                    <a:pt x="0" y="0"/>
                  </a:lnTo>
                  <a:lnTo>
                    <a:pt x="0" y="354594"/>
                  </a:lnTo>
                  <a:close/>
                </a:path>
              </a:pathLst>
            </a:custGeom>
            <a:ln w="102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102977" y="4465787"/>
            <a:ext cx="699135" cy="13760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35"/>
              </a:spcBef>
            </a:pPr>
            <a:r>
              <a:rPr sz="600" spc="75" dirty="0">
                <a:latin typeface="Arial"/>
                <a:cs typeface="Arial"/>
              </a:rPr>
              <a:t>1982-1987</a:t>
            </a:r>
            <a:endParaRPr sz="600">
              <a:latin typeface="Arial"/>
              <a:cs typeface="Arial"/>
            </a:endParaRPr>
          </a:p>
          <a:p>
            <a:pPr marR="3175" algn="ctr">
              <a:lnSpc>
                <a:spcPct val="100000"/>
              </a:lnSpc>
              <a:spcBef>
                <a:spcPts val="40"/>
              </a:spcBef>
            </a:pPr>
            <a:r>
              <a:rPr sz="600" spc="85" dirty="0">
                <a:solidFill>
                  <a:srgbClr val="C00000"/>
                </a:solidFill>
                <a:latin typeface="Arial"/>
                <a:cs typeface="Arial"/>
              </a:rPr>
              <a:t>Second</a:t>
            </a:r>
            <a:r>
              <a:rPr sz="6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spc="70" dirty="0">
                <a:solidFill>
                  <a:srgbClr val="C00000"/>
                </a:solidFill>
                <a:latin typeface="Arial"/>
                <a:cs typeface="Arial"/>
              </a:rPr>
              <a:t>period</a:t>
            </a:r>
            <a:endParaRPr sz="600">
              <a:latin typeface="Arial"/>
              <a:cs typeface="Arial"/>
            </a:endParaRPr>
          </a:p>
          <a:p>
            <a:pPr marL="12700" marR="5080" indent="159385">
              <a:lnSpc>
                <a:spcPts val="760"/>
              </a:lnSpc>
              <a:spcBef>
                <a:spcPts val="30"/>
              </a:spcBef>
            </a:pPr>
            <a:r>
              <a:rPr sz="600" spc="40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600" spc="85" dirty="0">
                <a:solidFill>
                  <a:srgbClr val="C00000"/>
                </a:solidFill>
                <a:latin typeface="Arial"/>
                <a:cs typeface="Arial"/>
              </a:rPr>
              <a:t>boom  </a:t>
            </a:r>
            <a:r>
              <a:rPr sz="600" spc="70" dirty="0">
                <a:latin typeface="Arial"/>
                <a:cs typeface="Arial"/>
              </a:rPr>
              <a:t>Expert </a:t>
            </a:r>
            <a:r>
              <a:rPr sz="600" spc="65" dirty="0">
                <a:latin typeface="Arial"/>
                <a:cs typeface="Arial"/>
              </a:rPr>
              <a:t>syst </a:t>
            </a:r>
            <a:r>
              <a:rPr sz="600" spc="80" dirty="0">
                <a:latin typeface="Arial"/>
                <a:cs typeface="Arial"/>
              </a:rPr>
              <a:t>em  capable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spc="85" dirty="0">
                <a:latin typeface="Arial"/>
                <a:cs typeface="Arial"/>
              </a:rPr>
              <a:t>of</a:t>
            </a:r>
            <a:r>
              <a:rPr sz="600" spc="-30" dirty="0">
                <a:latin typeface="Arial"/>
                <a:cs typeface="Arial"/>
              </a:rPr>
              <a:t> </a:t>
            </a:r>
            <a:r>
              <a:rPr sz="600" spc="70" dirty="0">
                <a:latin typeface="Arial"/>
                <a:cs typeface="Arial"/>
              </a:rPr>
              <a:t>logic</a:t>
            </a:r>
            <a:endParaRPr sz="6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spcBef>
                <a:spcPts val="5"/>
              </a:spcBef>
            </a:pPr>
            <a:r>
              <a:rPr sz="600" spc="60" dirty="0">
                <a:latin typeface="Arial"/>
                <a:cs typeface="Arial"/>
              </a:rPr>
              <a:t>rule inference</a:t>
            </a:r>
            <a:endParaRPr sz="600">
              <a:latin typeface="Arial"/>
              <a:cs typeface="Arial"/>
            </a:endParaRPr>
          </a:p>
          <a:p>
            <a:pPr marL="33655" marR="31115" algn="ctr">
              <a:lnSpc>
                <a:spcPct val="105400"/>
              </a:lnSpc>
            </a:pPr>
            <a:r>
              <a:rPr sz="600" spc="85" dirty="0">
                <a:latin typeface="Arial"/>
                <a:cs typeface="Arial"/>
              </a:rPr>
              <a:t>and</a:t>
            </a:r>
            <a:r>
              <a:rPr sz="600" spc="-20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answering  </a:t>
            </a:r>
            <a:r>
              <a:rPr sz="600" spc="65" dirty="0">
                <a:latin typeface="Arial"/>
                <a:cs typeface="Arial"/>
              </a:rPr>
              <a:t>quest </a:t>
            </a:r>
            <a:r>
              <a:rPr sz="600" spc="50" dirty="0">
                <a:latin typeface="Arial"/>
                <a:cs typeface="Arial"/>
              </a:rPr>
              <a:t>ions </a:t>
            </a:r>
            <a:r>
              <a:rPr sz="600" spc="85" dirty="0">
                <a:latin typeface="Arial"/>
                <a:cs typeface="Arial"/>
              </a:rPr>
              <a:t>of  </a:t>
            </a:r>
            <a:r>
              <a:rPr sz="600" spc="65" dirty="0">
                <a:latin typeface="Arial"/>
                <a:cs typeface="Arial"/>
              </a:rPr>
              <a:t>specific </a:t>
            </a:r>
            <a:r>
              <a:rPr sz="600" spc="60" dirty="0">
                <a:latin typeface="Arial"/>
                <a:cs typeface="Arial"/>
              </a:rPr>
              <a:t>fields  </a:t>
            </a:r>
            <a:r>
              <a:rPr sz="600" spc="85" dirty="0">
                <a:latin typeface="Arial"/>
                <a:cs typeface="Arial"/>
              </a:rPr>
              <a:t>went </a:t>
            </a:r>
            <a:r>
              <a:rPr sz="600" spc="70" dirty="0">
                <a:latin typeface="Arial"/>
                <a:cs typeface="Arial"/>
              </a:rPr>
              <a:t>popular  </a:t>
            </a:r>
            <a:r>
              <a:rPr sz="600" spc="85" dirty="0">
                <a:latin typeface="Arial"/>
                <a:cs typeface="Arial"/>
              </a:rPr>
              <a:t>and</a:t>
            </a:r>
            <a:r>
              <a:rPr sz="600" spc="50" dirty="0">
                <a:latin typeface="Arial"/>
                <a:cs typeface="Arial"/>
              </a:rPr>
              <a:t> </a:t>
            </a:r>
            <a:r>
              <a:rPr sz="600" spc="40" dirty="0">
                <a:latin typeface="Arial"/>
                <a:cs typeface="Arial"/>
              </a:rPr>
              <a:t>fifth-</a:t>
            </a:r>
            <a:endParaRPr sz="600">
              <a:latin typeface="Arial"/>
              <a:cs typeface="Arial"/>
            </a:endParaRPr>
          </a:p>
          <a:p>
            <a:pPr marL="110489" marR="112395" indent="8255" algn="just">
              <a:lnSpc>
                <a:spcPct val="105400"/>
              </a:lnSpc>
            </a:pPr>
            <a:r>
              <a:rPr sz="600" spc="65" dirty="0">
                <a:latin typeface="Arial"/>
                <a:cs typeface="Arial"/>
              </a:rPr>
              <a:t>generation  </a:t>
            </a:r>
            <a:r>
              <a:rPr sz="600" spc="75" dirty="0">
                <a:latin typeface="Arial"/>
                <a:cs typeface="Arial"/>
              </a:rPr>
              <a:t>computers  </a:t>
            </a:r>
            <a:r>
              <a:rPr sz="600" spc="40" dirty="0">
                <a:latin typeface="Arial"/>
                <a:cs typeface="Arial"/>
              </a:rPr>
              <a:t>d</a:t>
            </a:r>
            <a:r>
              <a:rPr sz="600" spc="130" dirty="0">
                <a:latin typeface="Arial"/>
                <a:cs typeface="Arial"/>
              </a:rPr>
              <a:t>e</a:t>
            </a:r>
            <a:r>
              <a:rPr sz="600" spc="75" dirty="0">
                <a:latin typeface="Arial"/>
                <a:cs typeface="Arial"/>
              </a:rPr>
              <a:t>v</a:t>
            </a:r>
            <a:r>
              <a:rPr sz="600" spc="40" dirty="0">
                <a:latin typeface="Arial"/>
                <a:cs typeface="Arial"/>
              </a:rPr>
              <a:t>e</a:t>
            </a:r>
            <a:r>
              <a:rPr sz="600" spc="50" dirty="0">
                <a:latin typeface="Arial"/>
                <a:cs typeface="Arial"/>
              </a:rPr>
              <a:t>l</a:t>
            </a:r>
            <a:r>
              <a:rPr sz="600" spc="130" dirty="0">
                <a:latin typeface="Arial"/>
                <a:cs typeface="Arial"/>
              </a:rPr>
              <a:t>o</a:t>
            </a:r>
            <a:r>
              <a:rPr sz="600" spc="40" dirty="0">
                <a:latin typeface="Arial"/>
                <a:cs typeface="Arial"/>
              </a:rPr>
              <a:t>pe</a:t>
            </a:r>
            <a:r>
              <a:rPr sz="600" spc="105" dirty="0">
                <a:latin typeface="Arial"/>
                <a:cs typeface="Arial"/>
              </a:rPr>
              <a:t>d</a:t>
            </a:r>
            <a:r>
              <a:rPr sz="600" spc="40" dirty="0">
                <a:latin typeface="Arial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54605" y="4586070"/>
            <a:ext cx="940435" cy="9906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5"/>
              </a:spcBef>
            </a:pPr>
            <a:r>
              <a:rPr sz="600" spc="75" dirty="0">
                <a:latin typeface="Arial"/>
                <a:cs typeface="Arial"/>
              </a:rPr>
              <a:t>1987-1997</a:t>
            </a:r>
            <a:endParaRPr sz="600">
              <a:latin typeface="Arial"/>
              <a:cs typeface="Arial"/>
            </a:endParaRPr>
          </a:p>
          <a:p>
            <a:pPr marL="25400" marR="12065" algn="ctr">
              <a:lnSpc>
                <a:spcPct val="105500"/>
              </a:lnSpc>
            </a:pPr>
            <a:r>
              <a:rPr sz="600" spc="90" dirty="0">
                <a:solidFill>
                  <a:srgbClr val="C00000"/>
                </a:solidFill>
                <a:latin typeface="Arial"/>
                <a:cs typeface="Arial"/>
              </a:rPr>
              <a:t>Second </a:t>
            </a:r>
            <a:r>
              <a:rPr sz="600" spc="70" dirty="0">
                <a:solidFill>
                  <a:srgbClr val="C00000"/>
                </a:solidFill>
                <a:latin typeface="Arial"/>
                <a:cs typeface="Arial"/>
              </a:rPr>
              <a:t>period </a:t>
            </a:r>
            <a:r>
              <a:rPr sz="600" spc="4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600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spc="65" dirty="0">
                <a:solidFill>
                  <a:srgbClr val="C00000"/>
                </a:solidFill>
                <a:latin typeface="Arial"/>
                <a:cs typeface="Arial"/>
              </a:rPr>
              <a:t>low  </a:t>
            </a:r>
            <a:r>
              <a:rPr sz="600" spc="85" dirty="0">
                <a:solidFill>
                  <a:srgbClr val="C00000"/>
                </a:solidFill>
                <a:latin typeface="Arial"/>
                <a:cs typeface="Arial"/>
              </a:rPr>
              <a:t>ebb</a:t>
            </a:r>
            <a:endParaRPr sz="600">
              <a:latin typeface="Arial"/>
              <a:cs typeface="Arial"/>
            </a:endParaRPr>
          </a:p>
          <a:p>
            <a:pPr marL="12700" marR="7620" algn="ctr">
              <a:lnSpc>
                <a:spcPct val="105400"/>
              </a:lnSpc>
            </a:pPr>
            <a:r>
              <a:rPr sz="600" spc="65" dirty="0">
                <a:latin typeface="Arial"/>
                <a:cs typeface="Arial"/>
              </a:rPr>
              <a:t>Technical</a:t>
            </a:r>
            <a:r>
              <a:rPr sz="600" spc="5" dirty="0">
                <a:latin typeface="Arial"/>
                <a:cs typeface="Arial"/>
              </a:rPr>
              <a:t> </a:t>
            </a:r>
            <a:r>
              <a:rPr sz="600" spc="40" dirty="0">
                <a:latin typeface="Arial"/>
                <a:cs typeface="Arial"/>
              </a:rPr>
              <a:t>f</a:t>
            </a:r>
            <a:r>
              <a:rPr sz="600" spc="-114" dirty="0">
                <a:latin typeface="Arial"/>
                <a:cs typeface="Arial"/>
              </a:rPr>
              <a:t> </a:t>
            </a:r>
            <a:r>
              <a:rPr sz="600" spc="50" dirty="0">
                <a:latin typeface="Arial"/>
                <a:cs typeface="Arial"/>
              </a:rPr>
              <a:t>ields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70" dirty="0">
                <a:latin typeface="Arial"/>
                <a:cs typeface="Arial"/>
              </a:rPr>
              <a:t>faced  </a:t>
            </a:r>
            <a:r>
              <a:rPr sz="600" spc="65" dirty="0">
                <a:latin typeface="Arial"/>
                <a:cs typeface="Arial"/>
              </a:rPr>
              <a:t>bottlenecks, </a:t>
            </a:r>
            <a:r>
              <a:rPr sz="600" spc="80" dirty="0">
                <a:latin typeface="Arial"/>
                <a:cs typeface="Arial"/>
              </a:rPr>
              <a:t>people  </a:t>
            </a:r>
            <a:r>
              <a:rPr sz="600" spc="60" dirty="0">
                <a:latin typeface="Arial"/>
                <a:cs typeface="Arial"/>
              </a:rPr>
              <a:t>on </a:t>
            </a:r>
            <a:r>
              <a:rPr sz="600" spc="70" dirty="0">
                <a:latin typeface="Arial"/>
                <a:cs typeface="Arial"/>
              </a:rPr>
              <a:t>longer </a:t>
            </a:r>
            <a:r>
              <a:rPr sz="600" spc="65" dirty="0">
                <a:latin typeface="Arial"/>
                <a:cs typeface="Arial"/>
              </a:rPr>
              <a:t>focused</a:t>
            </a:r>
            <a:r>
              <a:rPr sz="600" spc="20" dirty="0">
                <a:latin typeface="Arial"/>
                <a:cs typeface="Arial"/>
              </a:rPr>
              <a:t> </a:t>
            </a:r>
            <a:r>
              <a:rPr sz="600" spc="60" dirty="0">
                <a:latin typeface="Arial"/>
                <a:cs typeface="Arial"/>
              </a:rPr>
              <a:t>on</a:t>
            </a:r>
            <a:endParaRPr sz="600">
              <a:latin typeface="Arial"/>
              <a:cs typeface="Arial"/>
            </a:endParaRPr>
          </a:p>
          <a:p>
            <a:pPr marL="15240" marR="5080" indent="1270" algn="ctr">
              <a:lnSpc>
                <a:spcPct val="105500"/>
              </a:lnSpc>
            </a:pPr>
            <a:r>
              <a:rPr sz="600" spc="60" dirty="0">
                <a:latin typeface="Arial"/>
                <a:cs typeface="Arial"/>
              </a:rPr>
              <a:t>abstract inference,  </a:t>
            </a:r>
            <a:r>
              <a:rPr sz="600" spc="85" dirty="0">
                <a:latin typeface="Arial"/>
                <a:cs typeface="Arial"/>
              </a:rPr>
              <a:t>and </a:t>
            </a:r>
            <a:r>
              <a:rPr sz="600" spc="65" dirty="0">
                <a:latin typeface="Arial"/>
                <a:cs typeface="Arial"/>
              </a:rPr>
              <a:t>models </a:t>
            </a:r>
            <a:r>
              <a:rPr sz="600" spc="75" dirty="0">
                <a:latin typeface="Arial"/>
                <a:cs typeface="Arial"/>
              </a:rPr>
              <a:t>based</a:t>
            </a:r>
            <a:r>
              <a:rPr sz="600" spc="30" dirty="0">
                <a:latin typeface="Arial"/>
                <a:cs typeface="Arial"/>
              </a:rPr>
              <a:t> </a:t>
            </a:r>
            <a:r>
              <a:rPr sz="600" spc="60" dirty="0">
                <a:latin typeface="Arial"/>
                <a:cs typeface="Arial"/>
              </a:rPr>
              <a:t>on  </a:t>
            </a:r>
            <a:r>
              <a:rPr sz="600" spc="85" dirty="0">
                <a:latin typeface="Arial"/>
                <a:cs typeface="Arial"/>
              </a:rPr>
              <a:t>symbol </a:t>
            </a:r>
            <a:r>
              <a:rPr sz="600" spc="70" dirty="0">
                <a:latin typeface="Arial"/>
                <a:cs typeface="Arial"/>
              </a:rPr>
              <a:t>processing  </a:t>
            </a:r>
            <a:r>
              <a:rPr sz="600" spc="80" dirty="0">
                <a:latin typeface="Arial"/>
                <a:cs typeface="Arial"/>
              </a:rPr>
              <a:t>were</a:t>
            </a:r>
            <a:r>
              <a:rPr sz="600" spc="60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rejected.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65987" y="4250347"/>
            <a:ext cx="1151890" cy="6045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600" spc="75" dirty="0">
                <a:latin typeface="Arial"/>
                <a:cs typeface="Arial"/>
              </a:rPr>
              <a:t>1997-2010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600" spc="75" dirty="0">
                <a:solidFill>
                  <a:srgbClr val="C00000"/>
                </a:solidFill>
                <a:latin typeface="Arial"/>
                <a:cs typeface="Arial"/>
              </a:rPr>
              <a:t>Period </a:t>
            </a:r>
            <a:r>
              <a:rPr sz="600" spc="85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600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spc="75" dirty="0">
                <a:solidFill>
                  <a:srgbClr val="C00000"/>
                </a:solidFill>
                <a:latin typeface="Arial"/>
                <a:cs typeface="Arial"/>
              </a:rPr>
              <a:t>recovery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spc="75" dirty="0">
                <a:latin typeface="Arial"/>
                <a:cs typeface="Arial"/>
              </a:rPr>
              <a:t>Computing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spc="70" dirty="0">
                <a:latin typeface="Arial"/>
                <a:cs typeface="Arial"/>
              </a:rPr>
              <a:t>performance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spc="80" dirty="0">
                <a:latin typeface="Arial"/>
                <a:cs typeface="Arial"/>
              </a:rPr>
              <a:t>was improved </a:t>
            </a:r>
            <a:r>
              <a:rPr sz="600" spc="50" dirty="0">
                <a:latin typeface="Arial"/>
                <a:cs typeface="Arial"/>
              </a:rPr>
              <a:t>and</a:t>
            </a:r>
            <a:r>
              <a:rPr sz="600" spc="-25" dirty="0">
                <a:latin typeface="Arial"/>
                <a:cs typeface="Arial"/>
              </a:rPr>
              <a:t> </a:t>
            </a:r>
            <a:r>
              <a:rPr sz="600" spc="60" dirty="0">
                <a:latin typeface="Arial"/>
                <a:cs typeface="Arial"/>
              </a:rPr>
              <a:t>Internet</a:t>
            </a:r>
            <a:endParaRPr sz="600">
              <a:latin typeface="Arial"/>
              <a:cs typeface="Arial"/>
            </a:endParaRPr>
          </a:p>
          <a:p>
            <a:pPr marL="156210" marR="147320" indent="71120">
              <a:lnSpc>
                <a:spcPts val="760"/>
              </a:lnSpc>
              <a:spcBef>
                <a:spcPts val="30"/>
              </a:spcBef>
            </a:pPr>
            <a:r>
              <a:rPr sz="600" spc="65" dirty="0">
                <a:latin typeface="Arial"/>
                <a:cs typeface="Arial"/>
              </a:rPr>
              <a:t>technologies </a:t>
            </a:r>
            <a:r>
              <a:rPr sz="600" spc="70" dirty="0">
                <a:latin typeface="Arial"/>
                <a:cs typeface="Arial"/>
              </a:rPr>
              <a:t>got  </a:t>
            </a:r>
            <a:r>
              <a:rPr sz="600" spc="65" dirty="0">
                <a:latin typeface="Arial"/>
                <a:cs typeface="Arial"/>
              </a:rPr>
              <a:t>popularized</a:t>
            </a:r>
            <a:r>
              <a:rPr sz="600" spc="50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quickly.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9661" y="4490178"/>
            <a:ext cx="1179195" cy="11823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600" spc="75" dirty="0">
                <a:latin typeface="Arial"/>
                <a:cs typeface="Arial"/>
              </a:rPr>
              <a:t>2010-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spc="75" dirty="0">
                <a:solidFill>
                  <a:srgbClr val="C00000"/>
                </a:solidFill>
                <a:latin typeface="Arial"/>
                <a:cs typeface="Arial"/>
              </a:rPr>
              <a:t>Period</a:t>
            </a:r>
            <a:r>
              <a:rPr sz="6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spc="85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6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spc="75" dirty="0">
                <a:solidFill>
                  <a:srgbClr val="C00000"/>
                </a:solidFill>
                <a:latin typeface="Arial"/>
                <a:cs typeface="Arial"/>
              </a:rPr>
              <a:t>rapid</a:t>
            </a:r>
            <a:r>
              <a:rPr sz="6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spc="80" dirty="0">
                <a:solidFill>
                  <a:srgbClr val="C00000"/>
                </a:solidFill>
                <a:latin typeface="Arial"/>
                <a:cs typeface="Arial"/>
              </a:rPr>
              <a:t>growth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spc="70" dirty="0">
                <a:latin typeface="Arial"/>
                <a:cs typeface="Arial"/>
              </a:rPr>
              <a:t>New-generation</a:t>
            </a:r>
            <a:endParaRPr sz="600">
              <a:latin typeface="Arial"/>
              <a:cs typeface="Arial"/>
            </a:endParaRPr>
          </a:p>
          <a:p>
            <a:pPr marL="28575" marR="18415" indent="-1905" algn="ctr">
              <a:lnSpc>
                <a:spcPct val="105400"/>
              </a:lnSpc>
            </a:pPr>
            <a:r>
              <a:rPr sz="600" spc="65" dirty="0">
                <a:latin typeface="Arial"/>
                <a:cs typeface="Arial"/>
              </a:rPr>
              <a:t>information technologies  </a:t>
            </a:r>
            <a:r>
              <a:rPr sz="600" spc="60" dirty="0">
                <a:latin typeface="Arial"/>
                <a:cs typeface="Arial"/>
              </a:rPr>
              <a:t>triggered transformation </a:t>
            </a:r>
            <a:r>
              <a:rPr sz="600" spc="85" dirty="0">
                <a:latin typeface="Arial"/>
                <a:cs typeface="Arial"/>
              </a:rPr>
              <a:t>of  </a:t>
            </a:r>
            <a:r>
              <a:rPr sz="600" spc="65" dirty="0">
                <a:latin typeface="Arial"/>
                <a:cs typeface="Arial"/>
              </a:rPr>
              <a:t>information </a:t>
            </a:r>
            <a:r>
              <a:rPr sz="600" spc="75" dirty="0">
                <a:latin typeface="Arial"/>
                <a:cs typeface="Arial"/>
              </a:rPr>
              <a:t>environment  </a:t>
            </a:r>
            <a:r>
              <a:rPr sz="600" spc="85" dirty="0">
                <a:latin typeface="Arial"/>
                <a:cs typeface="Arial"/>
              </a:rPr>
              <a:t>and </a:t>
            </a:r>
            <a:r>
              <a:rPr sz="600" spc="70" dirty="0">
                <a:latin typeface="Arial"/>
                <a:cs typeface="Arial"/>
              </a:rPr>
              <a:t>data basis.</a:t>
            </a:r>
            <a:r>
              <a:rPr sz="600" spc="-100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Multi-</a:t>
            </a:r>
            <a:endParaRPr sz="600">
              <a:latin typeface="Arial"/>
              <a:cs typeface="Arial"/>
            </a:endParaRPr>
          </a:p>
          <a:p>
            <a:pPr marL="71120" marR="63500" indent="-6350" algn="ctr">
              <a:lnSpc>
                <a:spcPct val="105400"/>
              </a:lnSpc>
            </a:pPr>
            <a:r>
              <a:rPr sz="600" spc="80" dirty="0">
                <a:latin typeface="Arial"/>
                <a:cs typeface="Arial"/>
              </a:rPr>
              <a:t>model </a:t>
            </a:r>
            <a:r>
              <a:rPr sz="600" spc="65" dirty="0">
                <a:latin typeface="Arial"/>
                <a:cs typeface="Arial"/>
              </a:rPr>
              <a:t>data such </a:t>
            </a:r>
            <a:r>
              <a:rPr sz="600" spc="55" dirty="0">
                <a:latin typeface="Arial"/>
                <a:cs typeface="Arial"/>
              </a:rPr>
              <a:t>as  </a:t>
            </a:r>
            <a:r>
              <a:rPr sz="600" spc="75" dirty="0">
                <a:latin typeface="Arial"/>
                <a:cs typeface="Arial"/>
              </a:rPr>
              <a:t>massive </a:t>
            </a:r>
            <a:r>
              <a:rPr sz="600" spc="65" dirty="0">
                <a:latin typeface="Arial"/>
                <a:cs typeface="Arial"/>
              </a:rPr>
              <a:t>images,</a:t>
            </a:r>
            <a:r>
              <a:rPr sz="600" spc="5" dirty="0">
                <a:latin typeface="Arial"/>
                <a:cs typeface="Arial"/>
              </a:rPr>
              <a:t> </a:t>
            </a:r>
            <a:r>
              <a:rPr sz="600" spc="65" dirty="0">
                <a:latin typeface="Arial"/>
                <a:cs typeface="Arial"/>
              </a:rPr>
              <a:t>voices,  </a:t>
            </a:r>
            <a:r>
              <a:rPr sz="600" spc="85" dirty="0">
                <a:latin typeface="Arial"/>
                <a:cs typeface="Arial"/>
              </a:rPr>
              <a:t>and </a:t>
            </a:r>
            <a:r>
              <a:rPr sz="600" spc="45" dirty="0">
                <a:latin typeface="Arial"/>
                <a:cs typeface="Arial"/>
              </a:rPr>
              <a:t>texts</a:t>
            </a:r>
            <a:r>
              <a:rPr sz="600" spc="85" dirty="0">
                <a:latin typeface="Arial"/>
                <a:cs typeface="Arial"/>
              </a:rPr>
              <a:t> </a:t>
            </a:r>
            <a:r>
              <a:rPr sz="600" spc="80" dirty="0">
                <a:latin typeface="Arial"/>
                <a:cs typeface="Arial"/>
              </a:rPr>
              <a:t>emerged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spc="65" dirty="0">
                <a:latin typeface="Arial"/>
                <a:cs typeface="Arial"/>
              </a:rPr>
              <a:t>continuously.</a:t>
            </a:r>
            <a:r>
              <a:rPr sz="600" spc="25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Computing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spc="60" dirty="0">
                <a:latin typeface="Arial"/>
                <a:cs typeface="Arial"/>
              </a:rPr>
              <a:t>capabilities </a:t>
            </a:r>
            <a:r>
              <a:rPr sz="600" spc="80" dirty="0">
                <a:latin typeface="Arial"/>
                <a:cs typeface="Arial"/>
              </a:rPr>
              <a:t>were</a:t>
            </a:r>
            <a:r>
              <a:rPr sz="600" spc="-95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improved.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849659" y="2240757"/>
            <a:ext cx="1131570" cy="1304925"/>
          </a:xfrm>
          <a:custGeom>
            <a:avLst/>
            <a:gdLst/>
            <a:ahLst/>
            <a:cxnLst/>
            <a:rect l="l" t="t" r="r" b="b"/>
            <a:pathLst>
              <a:path w="1131570" h="1304925">
                <a:moveTo>
                  <a:pt x="0" y="1304535"/>
                </a:moveTo>
                <a:lnTo>
                  <a:pt x="211394" y="0"/>
                </a:lnTo>
              </a:path>
              <a:path w="1131570" h="1304925">
                <a:moveTo>
                  <a:pt x="0" y="0"/>
                </a:moveTo>
                <a:lnTo>
                  <a:pt x="1131535" y="0"/>
                </a:lnTo>
              </a:path>
            </a:pathLst>
          </a:custGeom>
          <a:ln w="2196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918127" y="1810541"/>
            <a:ext cx="1179195" cy="21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30"/>
              </a:spcBef>
            </a:pPr>
            <a:r>
              <a:rPr sz="600" spc="70" dirty="0">
                <a:latin typeface="Arial"/>
                <a:cs typeface="Arial"/>
              </a:rPr>
              <a:t>1956: </a:t>
            </a:r>
            <a:r>
              <a:rPr sz="600" spc="50" dirty="0">
                <a:solidFill>
                  <a:srgbClr val="FF0000"/>
                </a:solidFill>
                <a:latin typeface="Arial"/>
                <a:cs typeface="Arial"/>
              </a:rPr>
              <a:t>AI </a:t>
            </a:r>
            <a:r>
              <a:rPr sz="600" spc="80" dirty="0">
                <a:latin typeface="Arial"/>
                <a:cs typeface="Arial"/>
              </a:rPr>
              <a:t>was proposed</a:t>
            </a:r>
            <a:r>
              <a:rPr sz="600" spc="-30" dirty="0">
                <a:latin typeface="Arial"/>
                <a:cs typeface="Arial"/>
              </a:rPr>
              <a:t> </a:t>
            </a:r>
            <a:r>
              <a:rPr sz="600" spc="40" dirty="0">
                <a:latin typeface="Arial"/>
                <a:cs typeface="Arial"/>
              </a:rPr>
              <a:t>at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spc="75" dirty="0">
                <a:latin typeface="Arial"/>
                <a:cs typeface="Arial"/>
              </a:rPr>
              <a:t>the Dartmouth</a:t>
            </a:r>
            <a:r>
              <a:rPr sz="600" spc="-55" dirty="0">
                <a:latin typeface="Arial"/>
                <a:cs typeface="Arial"/>
              </a:rPr>
              <a:t> </a:t>
            </a:r>
            <a:r>
              <a:rPr sz="600" spc="70" dirty="0">
                <a:latin typeface="Arial"/>
                <a:cs typeface="Arial"/>
              </a:rPr>
              <a:t>Conference.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182145" y="3206495"/>
            <a:ext cx="1114425" cy="339090"/>
          </a:xfrm>
          <a:custGeom>
            <a:avLst/>
            <a:gdLst/>
            <a:ahLst/>
            <a:cxnLst/>
            <a:rect l="l" t="t" r="r" b="b"/>
            <a:pathLst>
              <a:path w="1114425" h="339089">
                <a:moveTo>
                  <a:pt x="0" y="338796"/>
                </a:moveTo>
                <a:lnTo>
                  <a:pt x="460149" y="0"/>
                </a:lnTo>
              </a:path>
              <a:path w="1114425" h="339089">
                <a:moveTo>
                  <a:pt x="108960" y="0"/>
                </a:moveTo>
                <a:lnTo>
                  <a:pt x="1113913" y="0"/>
                </a:lnTo>
              </a:path>
            </a:pathLst>
          </a:custGeom>
          <a:ln w="2196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302155" y="2721350"/>
            <a:ext cx="897255" cy="314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5500"/>
              </a:lnSpc>
              <a:spcBef>
                <a:spcPts val="90"/>
              </a:spcBef>
            </a:pPr>
            <a:r>
              <a:rPr sz="600" spc="75" dirty="0">
                <a:latin typeface="Arial"/>
                <a:cs typeface="Arial"/>
              </a:rPr>
              <a:t>1959: </a:t>
            </a:r>
            <a:r>
              <a:rPr sz="600" spc="60" dirty="0">
                <a:latin typeface="Arial"/>
                <a:cs typeface="Arial"/>
              </a:rPr>
              <a:t>Arthur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Samuel  proposed </a:t>
            </a:r>
            <a:r>
              <a:rPr sz="600" spc="65" dirty="0">
                <a:latin typeface="Arial"/>
                <a:cs typeface="Arial"/>
              </a:rPr>
              <a:t>machine  </a:t>
            </a:r>
            <a:r>
              <a:rPr sz="600" spc="60" dirty="0">
                <a:latin typeface="Arial"/>
                <a:cs typeface="Arial"/>
              </a:rPr>
              <a:t>learning.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155805" y="3196338"/>
            <a:ext cx="738505" cy="349250"/>
          </a:xfrm>
          <a:custGeom>
            <a:avLst/>
            <a:gdLst/>
            <a:ahLst/>
            <a:cxnLst/>
            <a:rect l="l" t="t" r="r" b="b"/>
            <a:pathLst>
              <a:path w="738504" h="349250">
                <a:moveTo>
                  <a:pt x="96783" y="348954"/>
                </a:moveTo>
                <a:lnTo>
                  <a:pt x="241321" y="0"/>
                </a:lnTo>
              </a:path>
              <a:path w="738504" h="349250">
                <a:moveTo>
                  <a:pt x="0" y="0"/>
                </a:moveTo>
                <a:lnTo>
                  <a:pt x="738449" y="0"/>
                </a:lnTo>
              </a:path>
            </a:pathLst>
          </a:custGeom>
          <a:ln w="2196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167460" y="1835333"/>
            <a:ext cx="880744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160" algn="just">
              <a:lnSpc>
                <a:spcPct val="105400"/>
              </a:lnSpc>
              <a:spcBef>
                <a:spcPts val="95"/>
              </a:spcBef>
            </a:pPr>
            <a:r>
              <a:rPr sz="600" spc="75" dirty="0">
                <a:latin typeface="Arial"/>
                <a:cs typeface="Arial"/>
              </a:rPr>
              <a:t>1976: </a:t>
            </a:r>
            <a:r>
              <a:rPr sz="600" spc="80" dirty="0">
                <a:latin typeface="Arial"/>
                <a:cs typeface="Arial"/>
              </a:rPr>
              <a:t>Due </a:t>
            </a:r>
            <a:r>
              <a:rPr sz="600" spc="50" dirty="0">
                <a:latin typeface="Arial"/>
                <a:cs typeface="Arial"/>
              </a:rPr>
              <a:t>to failure  </a:t>
            </a:r>
            <a:r>
              <a:rPr sz="600" spc="40" dirty="0">
                <a:latin typeface="Arial"/>
                <a:cs typeface="Arial"/>
              </a:rPr>
              <a:t>of </a:t>
            </a:r>
            <a:r>
              <a:rPr sz="600" spc="60" dirty="0">
                <a:latin typeface="Arial"/>
                <a:cs typeface="Arial"/>
              </a:rPr>
              <a:t>projects </a:t>
            </a:r>
            <a:r>
              <a:rPr sz="600" spc="90" dirty="0">
                <a:latin typeface="Arial"/>
                <a:cs typeface="Arial"/>
              </a:rPr>
              <a:t>such </a:t>
            </a:r>
            <a:r>
              <a:rPr sz="600" spc="105" dirty="0">
                <a:latin typeface="Arial"/>
                <a:cs typeface="Arial"/>
              </a:rPr>
              <a:t>as  </a:t>
            </a:r>
            <a:r>
              <a:rPr sz="600" spc="80" dirty="0">
                <a:latin typeface="Arial"/>
                <a:cs typeface="Arial"/>
              </a:rPr>
              <a:t>machine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spc="60" dirty="0">
                <a:latin typeface="Arial"/>
                <a:cs typeface="Arial"/>
              </a:rPr>
              <a:t>translat</a:t>
            </a:r>
            <a:r>
              <a:rPr sz="600" spc="-110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ion  </a:t>
            </a:r>
            <a:r>
              <a:rPr sz="600" spc="85" dirty="0">
                <a:latin typeface="Arial"/>
                <a:cs typeface="Arial"/>
              </a:rPr>
              <a:t>and </a:t>
            </a:r>
            <a:r>
              <a:rPr sz="600" spc="60" dirty="0">
                <a:latin typeface="Arial"/>
                <a:cs typeface="Arial"/>
              </a:rPr>
              <a:t>negative</a:t>
            </a:r>
            <a:r>
              <a:rPr sz="600" spc="25" dirty="0">
                <a:latin typeface="Arial"/>
                <a:cs typeface="Arial"/>
              </a:rPr>
              <a:t> </a:t>
            </a:r>
            <a:r>
              <a:rPr sz="600" spc="65" dirty="0">
                <a:latin typeface="Arial"/>
                <a:cs typeface="Arial"/>
              </a:rPr>
              <a:t>impact  </a:t>
            </a:r>
            <a:r>
              <a:rPr sz="600" spc="40" dirty="0">
                <a:latin typeface="Arial"/>
                <a:cs typeface="Arial"/>
              </a:rPr>
              <a:t>of </a:t>
            </a:r>
            <a:r>
              <a:rPr sz="600" spc="85" dirty="0">
                <a:latin typeface="Arial"/>
                <a:cs typeface="Arial"/>
              </a:rPr>
              <a:t>some</a:t>
            </a:r>
            <a:r>
              <a:rPr sz="600" spc="90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academic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78125" y="2317734"/>
            <a:ext cx="861694" cy="314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5500"/>
              </a:lnSpc>
              <a:spcBef>
                <a:spcPts val="90"/>
              </a:spcBef>
            </a:pPr>
            <a:r>
              <a:rPr sz="600" spc="60" dirty="0">
                <a:latin typeface="Arial"/>
                <a:cs typeface="Arial"/>
              </a:rPr>
              <a:t>reports, </a:t>
            </a:r>
            <a:r>
              <a:rPr sz="600" spc="75" dirty="0">
                <a:latin typeface="Arial"/>
                <a:cs typeface="Arial"/>
              </a:rPr>
              <a:t>the </a:t>
            </a:r>
            <a:r>
              <a:rPr sz="600" spc="65" dirty="0">
                <a:latin typeface="Arial"/>
                <a:cs typeface="Arial"/>
              </a:rPr>
              <a:t>fund</a:t>
            </a:r>
            <a:r>
              <a:rPr sz="600" spc="-90" dirty="0">
                <a:latin typeface="Arial"/>
                <a:cs typeface="Arial"/>
              </a:rPr>
              <a:t> </a:t>
            </a:r>
            <a:r>
              <a:rPr sz="600" spc="65" dirty="0">
                <a:latin typeface="Arial"/>
                <a:cs typeface="Arial"/>
              </a:rPr>
              <a:t>for  </a:t>
            </a:r>
            <a:r>
              <a:rPr sz="600" spc="55" dirty="0">
                <a:latin typeface="Arial"/>
                <a:cs typeface="Arial"/>
              </a:rPr>
              <a:t>AI </a:t>
            </a:r>
            <a:r>
              <a:rPr sz="600" spc="80" dirty="0">
                <a:latin typeface="Arial"/>
                <a:cs typeface="Arial"/>
              </a:rPr>
              <a:t>was </a:t>
            </a:r>
            <a:r>
              <a:rPr sz="600" spc="75" dirty="0">
                <a:latin typeface="Arial"/>
                <a:cs typeface="Arial"/>
              </a:rPr>
              <a:t>decreased  </a:t>
            </a:r>
            <a:r>
              <a:rPr sz="600" spc="65" dirty="0">
                <a:latin typeface="Arial"/>
                <a:cs typeface="Arial"/>
              </a:rPr>
              <a:t>in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spc="70" dirty="0">
                <a:latin typeface="Arial"/>
                <a:cs typeface="Arial"/>
              </a:rPr>
              <a:t>general.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72824" y="3192462"/>
            <a:ext cx="690245" cy="349250"/>
          </a:xfrm>
          <a:custGeom>
            <a:avLst/>
            <a:gdLst/>
            <a:ahLst/>
            <a:cxnLst/>
            <a:rect l="l" t="t" r="r" b="b"/>
            <a:pathLst>
              <a:path w="690245" h="349250">
                <a:moveTo>
                  <a:pt x="196909" y="348954"/>
                </a:moveTo>
                <a:lnTo>
                  <a:pt x="341447" y="0"/>
                </a:lnTo>
              </a:path>
              <a:path w="690245" h="349250">
                <a:moveTo>
                  <a:pt x="0" y="14033"/>
                </a:moveTo>
                <a:lnTo>
                  <a:pt x="690057" y="14033"/>
                </a:lnTo>
              </a:path>
            </a:pathLst>
          </a:custGeom>
          <a:ln w="2196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128128" y="1691662"/>
            <a:ext cx="706120" cy="604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320" marR="12700" algn="ctr">
              <a:lnSpc>
                <a:spcPct val="105600"/>
              </a:lnSpc>
              <a:spcBef>
                <a:spcPts val="90"/>
              </a:spcBef>
            </a:pPr>
            <a:r>
              <a:rPr sz="600" spc="70" dirty="0">
                <a:latin typeface="Arial"/>
                <a:cs typeface="Arial"/>
              </a:rPr>
              <a:t>1985:</a:t>
            </a:r>
            <a:r>
              <a:rPr sz="600" spc="5" dirty="0">
                <a:latin typeface="Arial"/>
                <a:cs typeface="Arial"/>
              </a:rPr>
              <a:t> </a:t>
            </a:r>
            <a:r>
              <a:rPr sz="600" spc="65" dirty="0">
                <a:latin typeface="Arial"/>
                <a:cs typeface="Arial"/>
              </a:rPr>
              <a:t>Decision-  </a:t>
            </a:r>
            <a:r>
              <a:rPr sz="600" spc="70" dirty="0">
                <a:latin typeface="Arial"/>
                <a:cs typeface="Arial"/>
              </a:rPr>
              <a:t>making </a:t>
            </a:r>
            <a:r>
              <a:rPr sz="600" spc="55" dirty="0">
                <a:latin typeface="Arial"/>
                <a:cs typeface="Arial"/>
              </a:rPr>
              <a:t>tree  </a:t>
            </a:r>
            <a:r>
              <a:rPr sz="600" spc="80" dirty="0">
                <a:latin typeface="Arial"/>
                <a:cs typeface="Arial"/>
              </a:rPr>
              <a:t>models</a:t>
            </a:r>
            <a:r>
              <a:rPr sz="600" dirty="0">
                <a:latin typeface="Arial"/>
                <a:cs typeface="Arial"/>
              </a:rPr>
              <a:t> </a:t>
            </a:r>
            <a:r>
              <a:rPr sz="600" spc="70" dirty="0">
                <a:latin typeface="Arial"/>
                <a:cs typeface="Arial"/>
              </a:rPr>
              <a:t>with</a:t>
            </a:r>
            <a:endParaRPr sz="6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40"/>
              </a:spcBef>
            </a:pPr>
            <a:r>
              <a:rPr sz="600" spc="65" dirty="0">
                <a:latin typeface="Arial"/>
                <a:cs typeface="Arial"/>
              </a:rPr>
              <a:t>better</a:t>
            </a:r>
            <a:endParaRPr sz="6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40"/>
              </a:spcBef>
            </a:pPr>
            <a:r>
              <a:rPr sz="600" spc="60" dirty="0">
                <a:latin typeface="Arial"/>
                <a:cs typeface="Arial"/>
              </a:rPr>
              <a:t>visualization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600" spc="55" dirty="0">
                <a:latin typeface="Arial"/>
                <a:cs typeface="Arial"/>
              </a:rPr>
              <a:t>effect </a:t>
            </a:r>
            <a:r>
              <a:rPr sz="600" spc="85" dirty="0">
                <a:latin typeface="Arial"/>
                <a:cs typeface="Arial"/>
              </a:rPr>
              <a:t>and</a:t>
            </a:r>
            <a:r>
              <a:rPr sz="600" spc="-55" dirty="0">
                <a:latin typeface="Arial"/>
                <a:cs typeface="Arial"/>
              </a:rPr>
              <a:t> </a:t>
            </a:r>
            <a:r>
              <a:rPr sz="600" spc="65" dirty="0">
                <a:latin typeface="Arial"/>
                <a:cs typeface="Arial"/>
              </a:rPr>
              <a:t>multi-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89241" y="2270690"/>
            <a:ext cx="79883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84860" algn="l"/>
              </a:tabLst>
            </a:pPr>
            <a:r>
              <a:rPr sz="600" u="heavy" spc="40" dirty="0">
                <a:uFill>
                  <a:solidFill>
                    <a:srgbClr val="00AF50"/>
                  </a:solidFill>
                </a:uFill>
                <a:latin typeface="Arial"/>
                <a:cs typeface="Arial"/>
              </a:rPr>
              <a:t> 	</a:t>
            </a:r>
            <a:endParaRPr sz="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28128" y="2270690"/>
            <a:ext cx="708025" cy="5073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600" spc="70" dirty="0">
                <a:latin typeface="Arial"/>
                <a:cs typeface="Arial"/>
              </a:rPr>
              <a:t>layer</a:t>
            </a:r>
            <a:r>
              <a:rPr sz="600" spc="-30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ANNs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spc="75" dirty="0">
                <a:latin typeface="Arial"/>
                <a:cs typeface="Arial"/>
              </a:rPr>
              <a:t>which</a:t>
            </a:r>
            <a:r>
              <a:rPr sz="600" spc="-10" dirty="0">
                <a:latin typeface="Arial"/>
                <a:cs typeface="Arial"/>
              </a:rPr>
              <a:t> </a:t>
            </a:r>
            <a:r>
              <a:rPr sz="600" spc="60" dirty="0">
                <a:latin typeface="Arial"/>
                <a:cs typeface="Arial"/>
              </a:rPr>
              <a:t>broke</a:t>
            </a:r>
            <a:endParaRPr sz="600">
              <a:latin typeface="Arial"/>
              <a:cs typeface="Arial"/>
            </a:endParaRPr>
          </a:p>
          <a:p>
            <a:pPr marL="12700" marR="5080" algn="ctr">
              <a:lnSpc>
                <a:spcPts val="760"/>
              </a:lnSpc>
              <a:spcBef>
                <a:spcPts val="30"/>
              </a:spcBef>
            </a:pPr>
            <a:r>
              <a:rPr sz="600" spc="75" dirty="0">
                <a:latin typeface="Arial"/>
                <a:cs typeface="Arial"/>
              </a:rPr>
              <a:t>through the</a:t>
            </a:r>
            <a:r>
              <a:rPr sz="600" spc="-100" dirty="0">
                <a:latin typeface="Arial"/>
                <a:cs typeface="Arial"/>
              </a:rPr>
              <a:t> </a:t>
            </a:r>
            <a:r>
              <a:rPr sz="600" spc="50" dirty="0">
                <a:latin typeface="Arial"/>
                <a:cs typeface="Arial"/>
              </a:rPr>
              <a:t>limit  </a:t>
            </a:r>
            <a:r>
              <a:rPr sz="600" spc="40" dirty="0">
                <a:latin typeface="Arial"/>
                <a:cs typeface="Arial"/>
              </a:rPr>
              <a:t>of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early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600" spc="60" dirty="0">
                <a:latin typeface="Arial"/>
                <a:cs typeface="Arial"/>
              </a:rPr>
              <a:t>percept</a:t>
            </a:r>
            <a:r>
              <a:rPr sz="600" spc="-105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ron.</a:t>
            </a:r>
            <a:endParaRPr sz="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848077" y="3206495"/>
            <a:ext cx="971550" cy="349250"/>
          </a:xfrm>
          <a:custGeom>
            <a:avLst/>
            <a:gdLst/>
            <a:ahLst/>
            <a:cxnLst/>
            <a:rect l="l" t="t" r="r" b="b"/>
            <a:pathLst>
              <a:path w="971550" h="349250">
                <a:moveTo>
                  <a:pt x="0" y="348954"/>
                </a:moveTo>
                <a:lnTo>
                  <a:pt x="269974" y="2806"/>
                </a:lnTo>
              </a:path>
              <a:path w="971550" h="349250">
                <a:moveTo>
                  <a:pt x="123844" y="0"/>
                </a:moveTo>
                <a:lnTo>
                  <a:pt x="971333" y="0"/>
                </a:lnTo>
              </a:path>
            </a:pathLst>
          </a:custGeom>
          <a:ln w="2196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053299" y="2673237"/>
            <a:ext cx="662305" cy="4108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30"/>
              </a:spcBef>
            </a:pPr>
            <a:r>
              <a:rPr sz="600" spc="70" dirty="0">
                <a:latin typeface="Arial"/>
                <a:cs typeface="Arial"/>
              </a:rPr>
              <a:t>1987:</a:t>
            </a:r>
            <a:r>
              <a:rPr sz="600" spc="25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The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spc="70" dirty="0">
                <a:latin typeface="Arial"/>
                <a:cs typeface="Arial"/>
              </a:rPr>
              <a:t>market </a:t>
            </a:r>
            <a:r>
              <a:rPr sz="600" spc="40" dirty="0">
                <a:latin typeface="Arial"/>
                <a:cs typeface="Arial"/>
              </a:rPr>
              <a:t>of</a:t>
            </a:r>
            <a:r>
              <a:rPr sz="600" spc="45" dirty="0">
                <a:latin typeface="Arial"/>
                <a:cs typeface="Arial"/>
              </a:rPr>
              <a:t> </a:t>
            </a:r>
            <a:r>
              <a:rPr sz="600" spc="80" dirty="0">
                <a:latin typeface="Arial"/>
                <a:cs typeface="Arial"/>
              </a:rPr>
              <a:t>LISP</a:t>
            </a:r>
            <a:endParaRPr sz="600">
              <a:latin typeface="Arial"/>
              <a:cs typeface="Arial"/>
            </a:endParaRPr>
          </a:p>
          <a:p>
            <a:pPr marL="123825">
              <a:lnSpc>
                <a:spcPct val="100000"/>
              </a:lnSpc>
              <a:spcBef>
                <a:spcPts val="40"/>
              </a:spcBef>
            </a:pPr>
            <a:r>
              <a:rPr sz="600" spc="75" dirty="0">
                <a:latin typeface="Arial"/>
                <a:cs typeface="Arial"/>
              </a:rPr>
              <a:t>machines</a:t>
            </a:r>
            <a:endParaRPr sz="600">
              <a:latin typeface="Arial"/>
              <a:cs typeface="Arial"/>
            </a:endParaRPr>
          </a:p>
          <a:p>
            <a:pPr marL="113030">
              <a:lnSpc>
                <a:spcPct val="100000"/>
              </a:lnSpc>
              <a:spcBef>
                <a:spcPts val="35"/>
              </a:spcBef>
            </a:pPr>
            <a:r>
              <a:rPr sz="600" spc="65" dirty="0">
                <a:latin typeface="Arial"/>
                <a:cs typeface="Arial"/>
              </a:rPr>
              <a:t>collapsed.</a:t>
            </a:r>
            <a:endParaRPr sz="6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713236" y="2370662"/>
            <a:ext cx="248920" cy="1174750"/>
          </a:xfrm>
          <a:custGeom>
            <a:avLst/>
            <a:gdLst/>
            <a:ahLst/>
            <a:cxnLst/>
            <a:rect l="l" t="t" r="r" b="b"/>
            <a:pathLst>
              <a:path w="248920" h="1174750">
                <a:moveTo>
                  <a:pt x="248802" y="1174629"/>
                </a:moveTo>
                <a:lnTo>
                  <a:pt x="0" y="0"/>
                </a:lnTo>
              </a:path>
            </a:pathLst>
          </a:custGeom>
          <a:ln w="237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032605" y="1640207"/>
            <a:ext cx="806450" cy="411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15" algn="ctr">
              <a:lnSpc>
                <a:spcPct val="105500"/>
              </a:lnSpc>
              <a:spcBef>
                <a:spcPts val="95"/>
              </a:spcBef>
            </a:pPr>
            <a:r>
              <a:rPr sz="600" spc="75" dirty="0">
                <a:latin typeface="Arial"/>
                <a:cs typeface="Arial"/>
              </a:rPr>
              <a:t>1997: </a:t>
            </a:r>
            <a:r>
              <a:rPr sz="600" spc="95" dirty="0">
                <a:latin typeface="Arial"/>
                <a:cs typeface="Arial"/>
              </a:rPr>
              <a:t>Deep </a:t>
            </a:r>
            <a:r>
              <a:rPr sz="600" spc="80" dirty="0">
                <a:latin typeface="Arial"/>
                <a:cs typeface="Arial"/>
              </a:rPr>
              <a:t>Blue  </a:t>
            </a:r>
            <a:r>
              <a:rPr sz="600" spc="75" dirty="0">
                <a:latin typeface="Arial"/>
                <a:cs typeface="Arial"/>
              </a:rPr>
              <a:t>defeated the</a:t>
            </a:r>
            <a:r>
              <a:rPr sz="600" spc="-100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world  </a:t>
            </a:r>
            <a:r>
              <a:rPr sz="600" spc="80" dirty="0">
                <a:latin typeface="Arial"/>
                <a:cs typeface="Arial"/>
              </a:rPr>
              <a:t>chess </a:t>
            </a:r>
            <a:r>
              <a:rPr sz="600" spc="75" dirty="0">
                <a:latin typeface="Arial"/>
                <a:cs typeface="Arial"/>
              </a:rPr>
              <a:t>champion  </a:t>
            </a:r>
            <a:r>
              <a:rPr sz="600" spc="70" dirty="0">
                <a:latin typeface="Arial"/>
                <a:cs typeface="Arial"/>
              </a:rPr>
              <a:t>Garry</a:t>
            </a:r>
            <a:r>
              <a:rPr sz="600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Kasparov.</a:t>
            </a:r>
            <a:endParaRPr sz="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194764" y="2626999"/>
            <a:ext cx="1078230" cy="925194"/>
          </a:xfrm>
          <a:custGeom>
            <a:avLst/>
            <a:gdLst/>
            <a:ahLst/>
            <a:cxnLst/>
            <a:rect l="l" t="t" r="r" b="b"/>
            <a:pathLst>
              <a:path w="1078229" h="925195">
                <a:moveTo>
                  <a:pt x="617629" y="925109"/>
                </a:moveTo>
                <a:lnTo>
                  <a:pt x="617629" y="0"/>
                </a:lnTo>
              </a:path>
              <a:path w="1078229" h="925195">
                <a:moveTo>
                  <a:pt x="0" y="0"/>
                </a:moveTo>
                <a:lnTo>
                  <a:pt x="1077667" y="0"/>
                </a:lnTo>
              </a:path>
            </a:pathLst>
          </a:custGeom>
          <a:ln w="2196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226158" y="2075832"/>
            <a:ext cx="937894" cy="21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30"/>
              </a:spcBef>
            </a:pPr>
            <a:r>
              <a:rPr sz="600" spc="75" dirty="0">
                <a:latin typeface="Arial"/>
                <a:cs typeface="Arial"/>
              </a:rPr>
              <a:t>2006:</a:t>
            </a:r>
            <a:r>
              <a:rPr sz="600" spc="10" dirty="0">
                <a:latin typeface="Arial"/>
                <a:cs typeface="Arial"/>
              </a:rPr>
              <a:t> </a:t>
            </a:r>
            <a:r>
              <a:rPr sz="600" spc="75" dirty="0">
                <a:latin typeface="Arial"/>
                <a:cs typeface="Arial"/>
              </a:rPr>
              <a:t>Hinton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spc="85" dirty="0">
                <a:latin typeface="Arial"/>
                <a:cs typeface="Arial"/>
              </a:rPr>
              <a:t>and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his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spc="65" dirty="0">
                <a:latin typeface="Arial"/>
                <a:cs typeface="Arial"/>
              </a:rPr>
              <a:t>students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60" dirty="0">
                <a:latin typeface="Arial"/>
                <a:cs typeface="Arial"/>
              </a:rPr>
              <a:t>st</a:t>
            </a:r>
            <a:r>
              <a:rPr sz="600" spc="-110" dirty="0">
                <a:latin typeface="Arial"/>
                <a:cs typeface="Arial"/>
              </a:rPr>
              <a:t> </a:t>
            </a:r>
            <a:r>
              <a:rPr sz="600" spc="50" dirty="0">
                <a:latin typeface="Arial"/>
                <a:cs typeface="Arial"/>
              </a:rPr>
              <a:t>arted </a:t>
            </a:r>
            <a:r>
              <a:rPr sz="600" spc="70" dirty="0">
                <a:latin typeface="Arial"/>
                <a:cs typeface="Arial"/>
              </a:rPr>
              <a:t>deep</a:t>
            </a:r>
            <a:endParaRPr sz="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02181" y="2268686"/>
            <a:ext cx="39243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60" dirty="0">
                <a:latin typeface="Arial"/>
                <a:cs typeface="Arial"/>
              </a:rPr>
              <a:t>learning.</a:t>
            </a:r>
            <a:endParaRPr sz="6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424292" y="3206495"/>
            <a:ext cx="454025" cy="346075"/>
          </a:xfrm>
          <a:custGeom>
            <a:avLst/>
            <a:gdLst/>
            <a:ahLst/>
            <a:cxnLst/>
            <a:rect l="l" t="t" r="r" b="b"/>
            <a:pathLst>
              <a:path w="454025" h="346075">
                <a:moveTo>
                  <a:pt x="11620" y="345613"/>
                </a:moveTo>
                <a:lnTo>
                  <a:pt x="308177" y="0"/>
                </a:lnTo>
              </a:path>
              <a:path w="454025" h="346075">
                <a:moveTo>
                  <a:pt x="0" y="0"/>
                </a:moveTo>
                <a:lnTo>
                  <a:pt x="453511" y="0"/>
                </a:lnTo>
              </a:path>
            </a:pathLst>
          </a:custGeom>
          <a:ln w="2196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480518" y="2673237"/>
            <a:ext cx="452120" cy="4108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600" spc="75" dirty="0">
                <a:latin typeface="Arial"/>
                <a:cs typeface="Arial"/>
              </a:rPr>
              <a:t>2010:</a:t>
            </a:r>
            <a:r>
              <a:rPr sz="600" spc="-50" dirty="0">
                <a:latin typeface="Arial"/>
                <a:cs typeface="Arial"/>
              </a:rPr>
              <a:t> </a:t>
            </a:r>
            <a:r>
              <a:rPr sz="600" spc="70" dirty="0">
                <a:latin typeface="Arial"/>
                <a:cs typeface="Arial"/>
              </a:rPr>
              <a:t>The</a:t>
            </a:r>
            <a:endParaRPr sz="6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40"/>
              </a:spcBef>
            </a:pPr>
            <a:r>
              <a:rPr sz="600" spc="65" dirty="0">
                <a:latin typeface="Arial"/>
                <a:cs typeface="Arial"/>
              </a:rPr>
              <a:t>era </a:t>
            </a:r>
            <a:r>
              <a:rPr sz="600" spc="40" dirty="0">
                <a:latin typeface="Arial"/>
                <a:cs typeface="Arial"/>
              </a:rPr>
              <a:t>of</a:t>
            </a:r>
            <a:r>
              <a:rPr sz="600" spc="20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big</a:t>
            </a:r>
            <a:endParaRPr sz="600">
              <a:latin typeface="Arial"/>
              <a:cs typeface="Arial"/>
            </a:endParaRPr>
          </a:p>
          <a:p>
            <a:pPr marL="3175" algn="ctr">
              <a:lnSpc>
                <a:spcPct val="100000"/>
              </a:lnSpc>
              <a:spcBef>
                <a:spcPts val="40"/>
              </a:spcBef>
            </a:pPr>
            <a:r>
              <a:rPr sz="600" spc="70" dirty="0">
                <a:latin typeface="Arial"/>
                <a:cs typeface="Arial"/>
              </a:rPr>
              <a:t>data</a:t>
            </a:r>
            <a:endParaRPr sz="600">
              <a:latin typeface="Arial"/>
              <a:cs typeface="Arial"/>
            </a:endParaRPr>
          </a:p>
          <a:p>
            <a:pPr marL="4445" algn="ctr">
              <a:lnSpc>
                <a:spcPct val="100000"/>
              </a:lnSpc>
              <a:spcBef>
                <a:spcPts val="35"/>
              </a:spcBef>
            </a:pPr>
            <a:r>
              <a:rPr sz="600" spc="80" dirty="0">
                <a:latin typeface="Arial"/>
                <a:cs typeface="Arial"/>
              </a:rPr>
              <a:t>came.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565038" y="1924025"/>
            <a:ext cx="2451735" cy="1644014"/>
            <a:chOff x="8565038" y="1924025"/>
            <a:chExt cx="2451735" cy="1644014"/>
          </a:xfrm>
        </p:grpSpPr>
        <p:sp>
          <p:nvSpPr>
            <p:cNvPr id="53" name="object 53"/>
            <p:cNvSpPr/>
            <p:nvPr/>
          </p:nvSpPr>
          <p:spPr>
            <a:xfrm>
              <a:off x="8575198" y="1935773"/>
              <a:ext cx="1537970" cy="1619885"/>
            </a:xfrm>
            <a:custGeom>
              <a:avLst/>
              <a:gdLst/>
              <a:ahLst/>
              <a:cxnLst/>
              <a:rect l="l" t="t" r="r" b="b"/>
              <a:pathLst>
                <a:path w="1537970" h="1619885">
                  <a:moveTo>
                    <a:pt x="451760" y="1619676"/>
                  </a:moveTo>
                  <a:lnTo>
                    <a:pt x="383948" y="304984"/>
                  </a:lnTo>
                </a:path>
                <a:path w="1537970" h="1619885">
                  <a:moveTo>
                    <a:pt x="0" y="304984"/>
                  </a:moveTo>
                  <a:lnTo>
                    <a:pt x="512409" y="304984"/>
                  </a:lnTo>
                </a:path>
                <a:path w="1537970" h="1619885">
                  <a:moveTo>
                    <a:pt x="569078" y="1585863"/>
                  </a:moveTo>
                  <a:lnTo>
                    <a:pt x="1307527" y="0"/>
                  </a:lnTo>
                </a:path>
                <a:path w="1537970" h="1619885">
                  <a:moveTo>
                    <a:pt x="774902" y="1609519"/>
                  </a:moveTo>
                  <a:lnTo>
                    <a:pt x="1537706" y="1189331"/>
                  </a:lnTo>
                </a:path>
              </a:pathLst>
            </a:custGeom>
            <a:ln w="2196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652706" y="3115080"/>
              <a:ext cx="1363980" cy="20320"/>
            </a:xfrm>
            <a:custGeom>
              <a:avLst/>
              <a:gdLst/>
              <a:ahLst/>
              <a:cxnLst/>
              <a:rect l="l" t="t" r="r" b="b"/>
              <a:pathLst>
                <a:path w="1363979" h="20319">
                  <a:moveTo>
                    <a:pt x="0" y="20047"/>
                  </a:moveTo>
                  <a:lnTo>
                    <a:pt x="1363878" y="20047"/>
                  </a:lnTo>
                  <a:lnTo>
                    <a:pt x="1363878" y="0"/>
                  </a:lnTo>
                  <a:lnTo>
                    <a:pt x="0" y="0"/>
                  </a:lnTo>
                  <a:lnTo>
                    <a:pt x="0" y="2004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494049" y="1463391"/>
            <a:ext cx="908050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735" marR="35560" indent="3175" algn="ctr">
              <a:lnSpc>
                <a:spcPct val="105500"/>
              </a:lnSpc>
              <a:spcBef>
                <a:spcPts val="95"/>
              </a:spcBef>
            </a:pPr>
            <a:r>
              <a:rPr sz="600" spc="70" dirty="0">
                <a:latin typeface="Arial"/>
                <a:cs typeface="Arial"/>
              </a:rPr>
              <a:t>2014: </a:t>
            </a:r>
            <a:r>
              <a:rPr sz="600" spc="65" dirty="0">
                <a:latin typeface="Arial"/>
                <a:cs typeface="Arial"/>
              </a:rPr>
              <a:t>Microsoft  released </a:t>
            </a:r>
            <a:r>
              <a:rPr sz="600" spc="75" dirty="0">
                <a:latin typeface="Arial"/>
                <a:cs typeface="Arial"/>
              </a:rPr>
              <a:t>the </a:t>
            </a:r>
            <a:r>
              <a:rPr sz="600" spc="50" dirty="0">
                <a:latin typeface="Arial"/>
                <a:cs typeface="Arial"/>
              </a:rPr>
              <a:t>first  </a:t>
            </a:r>
            <a:r>
              <a:rPr sz="600" spc="60" dirty="0">
                <a:latin typeface="Arial"/>
                <a:cs typeface="Arial"/>
              </a:rPr>
              <a:t>individual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50" dirty="0">
                <a:latin typeface="Arial"/>
                <a:cs typeface="Arial"/>
              </a:rPr>
              <a:t>intelligent  </a:t>
            </a:r>
            <a:r>
              <a:rPr sz="600" spc="60" dirty="0">
                <a:latin typeface="Arial"/>
                <a:cs typeface="Arial"/>
              </a:rPr>
              <a:t>assistant Microsf</a:t>
            </a:r>
            <a:r>
              <a:rPr sz="600" spc="-100" dirty="0">
                <a:latin typeface="Arial"/>
                <a:cs typeface="Arial"/>
              </a:rPr>
              <a:t> </a:t>
            </a:r>
            <a:r>
              <a:rPr sz="600" spc="40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600" spc="70" dirty="0">
                <a:latin typeface="Arial"/>
                <a:cs typeface="Arial"/>
              </a:rPr>
              <a:t>Cortana </a:t>
            </a:r>
            <a:r>
              <a:rPr sz="600" spc="20" dirty="0">
                <a:latin typeface="Arial"/>
                <a:cs typeface="Arial"/>
              </a:rPr>
              <a:t>in </a:t>
            </a:r>
            <a:r>
              <a:rPr sz="600" spc="75" dirty="0">
                <a:latin typeface="Arial"/>
                <a:cs typeface="Arial"/>
              </a:rPr>
              <a:t>the</a:t>
            </a:r>
            <a:r>
              <a:rPr sz="600" spc="5" dirty="0">
                <a:latin typeface="Arial"/>
                <a:cs typeface="Arial"/>
              </a:rPr>
              <a:t> </a:t>
            </a:r>
            <a:r>
              <a:rPr sz="600" spc="70" dirty="0">
                <a:latin typeface="Arial"/>
                <a:cs typeface="Arial"/>
              </a:rPr>
              <a:t>world.</a:t>
            </a:r>
            <a:endParaRPr sz="6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712752" y="1848965"/>
            <a:ext cx="79883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85495" algn="l"/>
              </a:tabLst>
            </a:pPr>
            <a:r>
              <a:rPr sz="600" u="heavy" spc="40" dirty="0">
                <a:uFill>
                  <a:solidFill>
                    <a:srgbClr val="00AF50"/>
                  </a:solidFill>
                </a:uFill>
                <a:latin typeface="Arial"/>
                <a:cs typeface="Arial"/>
              </a:rPr>
              <a:t> 	</a:t>
            </a:r>
            <a:endParaRPr sz="6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682190" y="1308427"/>
            <a:ext cx="1071245" cy="4108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600" spc="70" dirty="0">
                <a:latin typeface="Arial"/>
                <a:cs typeface="Arial"/>
              </a:rPr>
              <a:t>2016 </a:t>
            </a:r>
            <a:r>
              <a:rPr sz="600" spc="75" dirty="0">
                <a:latin typeface="Arial"/>
                <a:cs typeface="Arial"/>
              </a:rPr>
              <a:t>March:</a:t>
            </a:r>
            <a:r>
              <a:rPr sz="600" spc="15" dirty="0">
                <a:latin typeface="Arial"/>
                <a:cs typeface="Arial"/>
              </a:rPr>
              <a:t> </a:t>
            </a:r>
            <a:r>
              <a:rPr sz="600" spc="85" dirty="0">
                <a:latin typeface="Arial"/>
                <a:cs typeface="Arial"/>
              </a:rPr>
              <a:t>AlphaGo</a:t>
            </a:r>
            <a:endParaRPr sz="600">
              <a:latin typeface="Arial"/>
              <a:cs typeface="Arial"/>
            </a:endParaRPr>
          </a:p>
          <a:p>
            <a:pPr marR="1905" algn="ctr">
              <a:lnSpc>
                <a:spcPct val="100000"/>
              </a:lnSpc>
              <a:spcBef>
                <a:spcPts val="40"/>
              </a:spcBef>
            </a:pPr>
            <a:r>
              <a:rPr sz="600" spc="70" dirty="0">
                <a:latin typeface="Arial"/>
                <a:cs typeface="Arial"/>
              </a:rPr>
              <a:t>defeated </a:t>
            </a:r>
            <a:r>
              <a:rPr sz="600" spc="80" dirty="0">
                <a:latin typeface="Arial"/>
                <a:cs typeface="Arial"/>
              </a:rPr>
              <a:t>the</a:t>
            </a:r>
            <a:r>
              <a:rPr sz="600" spc="-40" dirty="0">
                <a:latin typeface="Arial"/>
                <a:cs typeface="Arial"/>
              </a:rPr>
              <a:t> </a:t>
            </a:r>
            <a:r>
              <a:rPr sz="600" spc="55" dirty="0">
                <a:latin typeface="Arial"/>
                <a:cs typeface="Arial"/>
              </a:rPr>
              <a:t>world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600" spc="75" dirty="0">
                <a:latin typeface="Arial"/>
                <a:cs typeface="Arial"/>
              </a:rPr>
              <a:t>champion </a:t>
            </a:r>
            <a:r>
              <a:rPr sz="600" spc="90" dirty="0">
                <a:latin typeface="Arial"/>
                <a:cs typeface="Arial"/>
              </a:rPr>
              <a:t>Go </a:t>
            </a:r>
            <a:r>
              <a:rPr sz="600" spc="65" dirty="0">
                <a:latin typeface="Arial"/>
                <a:cs typeface="Arial"/>
              </a:rPr>
              <a:t>player</a:t>
            </a:r>
            <a:r>
              <a:rPr sz="600" spc="-25" dirty="0">
                <a:latin typeface="Arial"/>
                <a:cs typeface="Arial"/>
              </a:rPr>
              <a:t> </a:t>
            </a:r>
            <a:r>
              <a:rPr sz="600" spc="85" dirty="0">
                <a:latin typeface="Arial"/>
                <a:cs typeface="Arial"/>
              </a:rPr>
              <a:t>Lee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spc="80" dirty="0">
                <a:latin typeface="Arial"/>
                <a:cs typeface="Arial"/>
              </a:rPr>
              <a:t>Sedol </a:t>
            </a:r>
            <a:r>
              <a:rPr sz="600" spc="55" dirty="0">
                <a:latin typeface="Arial"/>
                <a:cs typeface="Arial"/>
              </a:rPr>
              <a:t>by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65" dirty="0">
                <a:latin typeface="Arial"/>
                <a:cs typeface="Arial"/>
              </a:rPr>
              <a:t>4-1.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9710504" y="2493366"/>
            <a:ext cx="1304290" cy="393700"/>
            <a:chOff x="9710504" y="2493366"/>
            <a:chExt cx="1304290" cy="393700"/>
          </a:xfrm>
        </p:grpSpPr>
        <p:sp>
          <p:nvSpPr>
            <p:cNvPr id="59" name="object 59"/>
            <p:cNvSpPr/>
            <p:nvPr/>
          </p:nvSpPr>
          <p:spPr>
            <a:xfrm>
              <a:off x="9715902" y="2498764"/>
              <a:ext cx="1293495" cy="382905"/>
            </a:xfrm>
            <a:custGeom>
              <a:avLst/>
              <a:gdLst/>
              <a:ahLst/>
              <a:cxnLst/>
              <a:rect l="l" t="t" r="r" b="b"/>
              <a:pathLst>
                <a:path w="1293495" h="382905">
                  <a:moveTo>
                    <a:pt x="1292882" y="0"/>
                  </a:moveTo>
                  <a:lnTo>
                    <a:pt x="0" y="0"/>
                  </a:lnTo>
                  <a:lnTo>
                    <a:pt x="0" y="382432"/>
                  </a:lnTo>
                  <a:lnTo>
                    <a:pt x="1292882" y="382432"/>
                  </a:lnTo>
                  <a:lnTo>
                    <a:pt x="1292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715902" y="2498764"/>
              <a:ext cx="1293495" cy="382905"/>
            </a:xfrm>
            <a:custGeom>
              <a:avLst/>
              <a:gdLst/>
              <a:ahLst/>
              <a:cxnLst/>
              <a:rect l="l" t="t" r="r" b="b"/>
              <a:pathLst>
                <a:path w="1293495" h="382905">
                  <a:moveTo>
                    <a:pt x="0" y="382432"/>
                  </a:moveTo>
                  <a:lnTo>
                    <a:pt x="1292882" y="382432"/>
                  </a:lnTo>
                  <a:lnTo>
                    <a:pt x="1292882" y="0"/>
                  </a:lnTo>
                  <a:lnTo>
                    <a:pt x="0" y="0"/>
                  </a:lnTo>
                  <a:lnTo>
                    <a:pt x="0" y="382432"/>
                  </a:lnTo>
                  <a:close/>
                </a:path>
              </a:pathLst>
            </a:custGeom>
            <a:ln w="101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9834687" y="2431001"/>
            <a:ext cx="108394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70" dirty="0">
                <a:latin typeface="Arial"/>
                <a:cs typeface="Arial"/>
              </a:rPr>
              <a:t>2017 October: </a:t>
            </a:r>
            <a:r>
              <a:rPr sz="600" spc="75" dirty="0">
                <a:latin typeface="Arial"/>
                <a:cs typeface="Arial"/>
              </a:rPr>
              <a:t>The</a:t>
            </a:r>
            <a:r>
              <a:rPr sz="600" spc="10" dirty="0">
                <a:latin typeface="Arial"/>
                <a:cs typeface="Arial"/>
              </a:rPr>
              <a:t> </a:t>
            </a:r>
            <a:r>
              <a:rPr sz="600" spc="95" dirty="0">
                <a:latin typeface="Arial"/>
                <a:cs typeface="Arial"/>
              </a:rPr>
              <a:t>Deep</a:t>
            </a:r>
            <a:endParaRPr sz="6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940862" y="2527962"/>
            <a:ext cx="866140" cy="410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 algn="ctr">
              <a:lnSpc>
                <a:spcPct val="105300"/>
              </a:lnSpc>
              <a:spcBef>
                <a:spcPts val="90"/>
              </a:spcBef>
            </a:pPr>
            <a:r>
              <a:rPr sz="600" spc="80" dirty="0">
                <a:latin typeface="Arial"/>
                <a:cs typeface="Arial"/>
              </a:rPr>
              <a:t>Mind </a:t>
            </a:r>
            <a:r>
              <a:rPr sz="600" spc="75" dirty="0">
                <a:latin typeface="Arial"/>
                <a:cs typeface="Arial"/>
              </a:rPr>
              <a:t>team</a:t>
            </a:r>
            <a:r>
              <a:rPr sz="600" dirty="0">
                <a:latin typeface="Arial"/>
                <a:cs typeface="Arial"/>
              </a:rPr>
              <a:t> </a:t>
            </a:r>
            <a:r>
              <a:rPr sz="600" spc="65" dirty="0">
                <a:latin typeface="Arial"/>
                <a:cs typeface="Arial"/>
              </a:rPr>
              <a:t>released  </a:t>
            </a:r>
            <a:r>
              <a:rPr sz="600" spc="85" dirty="0">
                <a:latin typeface="Arial"/>
                <a:cs typeface="Arial"/>
              </a:rPr>
              <a:t>AlphaGo </a:t>
            </a:r>
            <a:r>
              <a:rPr sz="600" spc="75" dirty="0">
                <a:latin typeface="Arial"/>
                <a:cs typeface="Arial"/>
              </a:rPr>
              <a:t>Zero, the  </a:t>
            </a:r>
            <a:r>
              <a:rPr sz="600" spc="70" dirty="0">
                <a:latin typeface="Arial"/>
                <a:cs typeface="Arial"/>
              </a:rPr>
              <a:t>strongest </a:t>
            </a:r>
            <a:r>
              <a:rPr sz="600" spc="60" dirty="0">
                <a:latin typeface="Arial"/>
                <a:cs typeface="Arial"/>
              </a:rPr>
              <a:t>version</a:t>
            </a:r>
            <a:r>
              <a:rPr sz="600" spc="-50" dirty="0">
                <a:latin typeface="Arial"/>
                <a:cs typeface="Arial"/>
              </a:rPr>
              <a:t> </a:t>
            </a:r>
            <a:r>
              <a:rPr sz="600" spc="85" dirty="0">
                <a:latin typeface="Arial"/>
                <a:cs typeface="Arial"/>
              </a:rPr>
              <a:t>of  </a:t>
            </a:r>
            <a:r>
              <a:rPr sz="600" spc="75" dirty="0">
                <a:latin typeface="Arial"/>
                <a:cs typeface="Arial"/>
              </a:rPr>
              <a:t>AlphaGo.</a:t>
            </a:r>
            <a:endParaRPr sz="6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045207" y="1935492"/>
            <a:ext cx="8063865" cy="1763395"/>
          </a:xfrm>
          <a:custGeom>
            <a:avLst/>
            <a:gdLst/>
            <a:ahLst/>
            <a:cxnLst/>
            <a:rect l="l" t="t" r="r" b="b"/>
            <a:pathLst>
              <a:path w="8063865" h="1763395">
                <a:moveTo>
                  <a:pt x="0" y="1763255"/>
                </a:moveTo>
                <a:lnTo>
                  <a:pt x="47128" y="1726062"/>
                </a:lnTo>
                <a:lnTo>
                  <a:pt x="94226" y="1688933"/>
                </a:lnTo>
                <a:lnTo>
                  <a:pt x="141263" y="1651932"/>
                </a:lnTo>
                <a:lnTo>
                  <a:pt x="188209" y="1615123"/>
                </a:lnTo>
                <a:lnTo>
                  <a:pt x="235034" y="1578570"/>
                </a:lnTo>
                <a:lnTo>
                  <a:pt x="281708" y="1542338"/>
                </a:lnTo>
                <a:lnTo>
                  <a:pt x="328199" y="1506492"/>
                </a:lnTo>
                <a:lnTo>
                  <a:pt x="374478" y="1471094"/>
                </a:lnTo>
                <a:lnTo>
                  <a:pt x="420514" y="1436210"/>
                </a:lnTo>
                <a:lnTo>
                  <a:pt x="466277" y="1401904"/>
                </a:lnTo>
                <a:lnTo>
                  <a:pt x="511737" y="1368240"/>
                </a:lnTo>
                <a:lnTo>
                  <a:pt x="556863" y="1335283"/>
                </a:lnTo>
                <a:lnTo>
                  <a:pt x="601626" y="1303097"/>
                </a:lnTo>
                <a:lnTo>
                  <a:pt x="645993" y="1271746"/>
                </a:lnTo>
                <a:lnTo>
                  <a:pt x="689936" y="1241294"/>
                </a:lnTo>
                <a:lnTo>
                  <a:pt x="733424" y="1211806"/>
                </a:lnTo>
                <a:lnTo>
                  <a:pt x="776427" y="1183346"/>
                </a:lnTo>
                <a:lnTo>
                  <a:pt x="818914" y="1155979"/>
                </a:lnTo>
                <a:lnTo>
                  <a:pt x="860855" y="1129768"/>
                </a:lnTo>
                <a:lnTo>
                  <a:pt x="902220" y="1104778"/>
                </a:lnTo>
                <a:lnTo>
                  <a:pt x="942977" y="1081073"/>
                </a:lnTo>
                <a:lnTo>
                  <a:pt x="983098" y="1058718"/>
                </a:lnTo>
                <a:lnTo>
                  <a:pt x="1022552" y="1037777"/>
                </a:lnTo>
                <a:lnTo>
                  <a:pt x="1061307" y="1018314"/>
                </a:lnTo>
                <a:lnTo>
                  <a:pt x="1099335" y="1000394"/>
                </a:lnTo>
                <a:lnTo>
                  <a:pt x="1136604" y="984080"/>
                </a:lnTo>
                <a:lnTo>
                  <a:pt x="1173085" y="969438"/>
                </a:lnTo>
                <a:lnTo>
                  <a:pt x="1243558" y="945423"/>
                </a:lnTo>
                <a:lnTo>
                  <a:pt x="1310513" y="928865"/>
                </a:lnTo>
                <a:lnTo>
                  <a:pt x="1347761" y="924001"/>
                </a:lnTo>
                <a:lnTo>
                  <a:pt x="1382078" y="924225"/>
                </a:lnTo>
                <a:lnTo>
                  <a:pt x="1442982" y="938267"/>
                </a:lnTo>
                <a:lnTo>
                  <a:pt x="1495352" y="967652"/>
                </a:lnTo>
                <a:lnTo>
                  <a:pt x="1541318" y="1009038"/>
                </a:lnTo>
                <a:lnTo>
                  <a:pt x="1583009" y="1059087"/>
                </a:lnTo>
                <a:lnTo>
                  <a:pt x="1622555" y="1114459"/>
                </a:lnTo>
                <a:lnTo>
                  <a:pt x="1642189" y="1143098"/>
                </a:lnTo>
                <a:lnTo>
                  <a:pt x="1662085" y="1171815"/>
                </a:lnTo>
                <a:lnTo>
                  <a:pt x="1703727" y="1227813"/>
                </a:lnTo>
                <a:lnTo>
                  <a:pt x="1749612" y="1279116"/>
                </a:lnTo>
                <a:lnTo>
                  <a:pt x="1801868" y="1322383"/>
                </a:lnTo>
                <a:lnTo>
                  <a:pt x="1862624" y="1354274"/>
                </a:lnTo>
                <a:lnTo>
                  <a:pt x="1934011" y="1371450"/>
                </a:lnTo>
                <a:lnTo>
                  <a:pt x="1974356" y="1373476"/>
                </a:lnTo>
                <a:lnTo>
                  <a:pt x="2018157" y="1370571"/>
                </a:lnTo>
                <a:lnTo>
                  <a:pt x="2086435" y="1357964"/>
                </a:lnTo>
                <a:lnTo>
                  <a:pt x="2123535" y="1348217"/>
                </a:lnTo>
                <a:lnTo>
                  <a:pt x="2162451" y="1336354"/>
                </a:lnTo>
                <a:lnTo>
                  <a:pt x="2203061" y="1322510"/>
                </a:lnTo>
                <a:lnTo>
                  <a:pt x="2245248" y="1306820"/>
                </a:lnTo>
                <a:lnTo>
                  <a:pt x="2288891" y="1289420"/>
                </a:lnTo>
                <a:lnTo>
                  <a:pt x="2333870" y="1270444"/>
                </a:lnTo>
                <a:lnTo>
                  <a:pt x="2380067" y="1250029"/>
                </a:lnTo>
                <a:lnTo>
                  <a:pt x="2427361" y="1228308"/>
                </a:lnTo>
                <a:lnTo>
                  <a:pt x="2475634" y="1205418"/>
                </a:lnTo>
                <a:lnTo>
                  <a:pt x="2524765" y="1181493"/>
                </a:lnTo>
                <a:lnTo>
                  <a:pt x="2574635" y="1156669"/>
                </a:lnTo>
                <a:lnTo>
                  <a:pt x="2625124" y="1131080"/>
                </a:lnTo>
                <a:lnTo>
                  <a:pt x="2676113" y="1104862"/>
                </a:lnTo>
                <a:lnTo>
                  <a:pt x="2727482" y="1078150"/>
                </a:lnTo>
                <a:lnTo>
                  <a:pt x="2779113" y="1051080"/>
                </a:lnTo>
                <a:lnTo>
                  <a:pt x="2830884" y="1023786"/>
                </a:lnTo>
                <a:lnTo>
                  <a:pt x="2882677" y="996403"/>
                </a:lnTo>
                <a:lnTo>
                  <a:pt x="2934372" y="969067"/>
                </a:lnTo>
                <a:lnTo>
                  <a:pt x="2985850" y="941913"/>
                </a:lnTo>
                <a:lnTo>
                  <a:pt x="3036990" y="915076"/>
                </a:lnTo>
                <a:lnTo>
                  <a:pt x="3087674" y="888691"/>
                </a:lnTo>
                <a:lnTo>
                  <a:pt x="3137782" y="862894"/>
                </a:lnTo>
                <a:lnTo>
                  <a:pt x="3187195" y="837819"/>
                </a:lnTo>
                <a:lnTo>
                  <a:pt x="3235792" y="813602"/>
                </a:lnTo>
                <a:lnTo>
                  <a:pt x="3283454" y="790378"/>
                </a:lnTo>
                <a:lnTo>
                  <a:pt x="3330062" y="768282"/>
                </a:lnTo>
                <a:lnTo>
                  <a:pt x="3375496" y="747449"/>
                </a:lnTo>
                <a:lnTo>
                  <a:pt x="3419637" y="728014"/>
                </a:lnTo>
                <a:lnTo>
                  <a:pt x="3462365" y="710113"/>
                </a:lnTo>
                <a:lnTo>
                  <a:pt x="3503560" y="693880"/>
                </a:lnTo>
                <a:lnTo>
                  <a:pt x="3543103" y="679452"/>
                </a:lnTo>
                <a:lnTo>
                  <a:pt x="3580875" y="666962"/>
                </a:lnTo>
                <a:lnTo>
                  <a:pt x="3650625" y="648341"/>
                </a:lnTo>
                <a:lnTo>
                  <a:pt x="3713626" y="638931"/>
                </a:lnTo>
                <a:lnTo>
                  <a:pt x="3740930" y="638247"/>
                </a:lnTo>
                <a:lnTo>
                  <a:pt x="3764571" y="640245"/>
                </a:lnTo>
                <a:lnTo>
                  <a:pt x="3802041" y="651546"/>
                </a:lnTo>
                <a:lnTo>
                  <a:pt x="3838128" y="684000"/>
                </a:lnTo>
                <a:lnTo>
                  <a:pt x="3857131" y="730637"/>
                </a:lnTo>
                <a:lnTo>
                  <a:pt x="3866989" y="786484"/>
                </a:lnTo>
                <a:lnTo>
                  <a:pt x="3869615" y="806287"/>
                </a:lnTo>
                <a:lnTo>
                  <a:pt x="3872402" y="826377"/>
                </a:lnTo>
                <a:lnTo>
                  <a:pt x="3879632" y="866679"/>
                </a:lnTo>
                <a:lnTo>
                  <a:pt x="3891033" y="905917"/>
                </a:lnTo>
                <a:lnTo>
                  <a:pt x="3908957" y="942619"/>
                </a:lnTo>
                <a:lnTo>
                  <a:pt x="3935756" y="975310"/>
                </a:lnTo>
                <a:lnTo>
                  <a:pt x="3973784" y="1002517"/>
                </a:lnTo>
                <a:lnTo>
                  <a:pt x="4025393" y="1022766"/>
                </a:lnTo>
                <a:lnTo>
                  <a:pt x="4092936" y="1034585"/>
                </a:lnTo>
                <a:lnTo>
                  <a:pt x="4133418" y="1036872"/>
                </a:lnTo>
                <a:lnTo>
                  <a:pt x="4178765" y="1036499"/>
                </a:lnTo>
                <a:lnTo>
                  <a:pt x="4229272" y="1033282"/>
                </a:lnTo>
                <a:lnTo>
                  <a:pt x="4285233" y="1027036"/>
                </a:lnTo>
                <a:lnTo>
                  <a:pt x="4346697" y="1017920"/>
                </a:lnTo>
                <a:lnTo>
                  <a:pt x="4414960" y="1006093"/>
                </a:lnTo>
                <a:lnTo>
                  <a:pt x="4489596" y="991709"/>
                </a:lnTo>
                <a:lnTo>
                  <a:pt x="4529173" y="983607"/>
                </a:lnTo>
                <a:lnTo>
                  <a:pt x="4570184" y="974922"/>
                </a:lnTo>
                <a:lnTo>
                  <a:pt x="4612576" y="965676"/>
                </a:lnTo>
                <a:lnTo>
                  <a:pt x="4656297" y="955886"/>
                </a:lnTo>
                <a:lnTo>
                  <a:pt x="4701294" y="945573"/>
                </a:lnTo>
                <a:lnTo>
                  <a:pt x="4747513" y="934756"/>
                </a:lnTo>
                <a:lnTo>
                  <a:pt x="4794901" y="923453"/>
                </a:lnTo>
                <a:lnTo>
                  <a:pt x="4843406" y="911685"/>
                </a:lnTo>
                <a:lnTo>
                  <a:pt x="4892975" y="899470"/>
                </a:lnTo>
                <a:lnTo>
                  <a:pt x="4943554" y="886827"/>
                </a:lnTo>
                <a:lnTo>
                  <a:pt x="4995090" y="873777"/>
                </a:lnTo>
                <a:lnTo>
                  <a:pt x="5047531" y="860337"/>
                </a:lnTo>
                <a:lnTo>
                  <a:pt x="5100823" y="846529"/>
                </a:lnTo>
                <a:lnTo>
                  <a:pt x="5154914" y="832370"/>
                </a:lnTo>
                <a:lnTo>
                  <a:pt x="5209749" y="817880"/>
                </a:lnTo>
                <a:lnTo>
                  <a:pt x="5265278" y="803078"/>
                </a:lnTo>
                <a:lnTo>
                  <a:pt x="5321445" y="787984"/>
                </a:lnTo>
                <a:lnTo>
                  <a:pt x="5378199" y="772617"/>
                </a:lnTo>
                <a:lnTo>
                  <a:pt x="5435486" y="756996"/>
                </a:lnTo>
                <a:lnTo>
                  <a:pt x="5493254" y="741140"/>
                </a:lnTo>
                <a:lnTo>
                  <a:pt x="5551449" y="725069"/>
                </a:lnTo>
                <a:lnTo>
                  <a:pt x="5610018" y="708802"/>
                </a:lnTo>
                <a:lnTo>
                  <a:pt x="5668908" y="692358"/>
                </a:lnTo>
                <a:lnTo>
                  <a:pt x="5728067" y="675756"/>
                </a:lnTo>
                <a:lnTo>
                  <a:pt x="5787440" y="659017"/>
                </a:lnTo>
                <a:lnTo>
                  <a:pt x="5846976" y="642158"/>
                </a:lnTo>
                <a:lnTo>
                  <a:pt x="5906621" y="625200"/>
                </a:lnTo>
                <a:lnTo>
                  <a:pt x="5966322" y="608161"/>
                </a:lnTo>
                <a:lnTo>
                  <a:pt x="6026027" y="591061"/>
                </a:lnTo>
                <a:lnTo>
                  <a:pt x="6085681" y="573919"/>
                </a:lnTo>
                <a:lnTo>
                  <a:pt x="6145233" y="556754"/>
                </a:lnTo>
                <a:lnTo>
                  <a:pt x="6204629" y="539586"/>
                </a:lnTo>
                <a:lnTo>
                  <a:pt x="6263815" y="522434"/>
                </a:lnTo>
                <a:lnTo>
                  <a:pt x="6322740" y="505317"/>
                </a:lnTo>
                <a:lnTo>
                  <a:pt x="6381350" y="488255"/>
                </a:lnTo>
                <a:lnTo>
                  <a:pt x="6439592" y="471266"/>
                </a:lnTo>
                <a:lnTo>
                  <a:pt x="6497413" y="454371"/>
                </a:lnTo>
                <a:lnTo>
                  <a:pt x="6554760" y="437587"/>
                </a:lnTo>
                <a:lnTo>
                  <a:pt x="6611580" y="420936"/>
                </a:lnTo>
                <a:lnTo>
                  <a:pt x="6667819" y="404435"/>
                </a:lnTo>
                <a:lnTo>
                  <a:pt x="6723426" y="388104"/>
                </a:lnTo>
                <a:lnTo>
                  <a:pt x="6778347" y="371962"/>
                </a:lnTo>
                <a:lnTo>
                  <a:pt x="6832528" y="356029"/>
                </a:lnTo>
                <a:lnTo>
                  <a:pt x="6885918" y="340324"/>
                </a:lnTo>
                <a:lnTo>
                  <a:pt x="6938462" y="324866"/>
                </a:lnTo>
                <a:lnTo>
                  <a:pt x="6990109" y="309675"/>
                </a:lnTo>
                <a:lnTo>
                  <a:pt x="7040804" y="294769"/>
                </a:lnTo>
                <a:lnTo>
                  <a:pt x="7090495" y="280168"/>
                </a:lnTo>
                <a:lnTo>
                  <a:pt x="7139129" y="265891"/>
                </a:lnTo>
                <a:lnTo>
                  <a:pt x="7186652" y="251958"/>
                </a:lnTo>
                <a:lnTo>
                  <a:pt x="7233013" y="238388"/>
                </a:lnTo>
                <a:lnTo>
                  <a:pt x="7278157" y="225200"/>
                </a:lnTo>
                <a:lnTo>
                  <a:pt x="7322032" y="212413"/>
                </a:lnTo>
                <a:lnTo>
                  <a:pt x="7364584" y="200047"/>
                </a:lnTo>
                <a:lnTo>
                  <a:pt x="7405762" y="188121"/>
                </a:lnTo>
                <a:lnTo>
                  <a:pt x="7445511" y="176653"/>
                </a:lnTo>
                <a:lnTo>
                  <a:pt x="7483778" y="165665"/>
                </a:lnTo>
                <a:lnTo>
                  <a:pt x="7520512" y="155173"/>
                </a:lnTo>
                <a:lnTo>
                  <a:pt x="7589164" y="135761"/>
                </a:lnTo>
                <a:lnTo>
                  <a:pt x="7651042" y="118571"/>
                </a:lnTo>
                <a:lnTo>
                  <a:pt x="7759090" y="89147"/>
                </a:lnTo>
                <a:lnTo>
                  <a:pt x="7827428" y="70365"/>
                </a:lnTo>
                <a:lnTo>
                  <a:pt x="7885148" y="54313"/>
                </a:lnTo>
                <a:lnTo>
                  <a:pt x="7933071" y="40793"/>
                </a:lnTo>
                <a:lnTo>
                  <a:pt x="7972023" y="29607"/>
                </a:lnTo>
                <a:lnTo>
                  <a:pt x="8026301" y="13443"/>
                </a:lnTo>
                <a:lnTo>
                  <a:pt x="8063420" y="399"/>
                </a:lnTo>
                <a:lnTo>
                  <a:pt x="8062620" y="0"/>
                </a:lnTo>
                <a:lnTo>
                  <a:pt x="8059293" y="4432"/>
                </a:lnTo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19237" y="2919793"/>
            <a:ext cx="477520" cy="2567305"/>
            <a:chOff x="1519237" y="2919793"/>
            <a:chExt cx="477520" cy="2567305"/>
          </a:xfrm>
        </p:grpSpPr>
        <p:sp>
          <p:nvSpPr>
            <p:cNvPr id="3" name="object 3"/>
            <p:cNvSpPr/>
            <p:nvPr/>
          </p:nvSpPr>
          <p:spPr>
            <a:xfrm>
              <a:off x="1524000" y="2924555"/>
              <a:ext cx="180340" cy="2557780"/>
            </a:xfrm>
            <a:custGeom>
              <a:avLst/>
              <a:gdLst/>
              <a:ahLst/>
              <a:cxnLst/>
              <a:rect l="l" t="t" r="r" b="b"/>
              <a:pathLst>
                <a:path w="180339" h="2557779">
                  <a:moveTo>
                    <a:pt x="134874" y="0"/>
                  </a:moveTo>
                  <a:lnTo>
                    <a:pt x="44958" y="0"/>
                  </a:lnTo>
                  <a:lnTo>
                    <a:pt x="44958" y="2467356"/>
                  </a:lnTo>
                  <a:lnTo>
                    <a:pt x="0" y="2467356"/>
                  </a:lnTo>
                  <a:lnTo>
                    <a:pt x="89915" y="2557272"/>
                  </a:lnTo>
                  <a:lnTo>
                    <a:pt x="179831" y="2467356"/>
                  </a:lnTo>
                  <a:lnTo>
                    <a:pt x="134874" y="2467356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4000" y="2924555"/>
              <a:ext cx="180340" cy="2557780"/>
            </a:xfrm>
            <a:custGeom>
              <a:avLst/>
              <a:gdLst/>
              <a:ahLst/>
              <a:cxnLst/>
              <a:rect l="l" t="t" r="r" b="b"/>
              <a:pathLst>
                <a:path w="180339" h="2557779">
                  <a:moveTo>
                    <a:pt x="0" y="2467356"/>
                  </a:moveTo>
                  <a:lnTo>
                    <a:pt x="44958" y="2467356"/>
                  </a:lnTo>
                  <a:lnTo>
                    <a:pt x="44958" y="0"/>
                  </a:lnTo>
                  <a:lnTo>
                    <a:pt x="134874" y="0"/>
                  </a:lnTo>
                  <a:lnTo>
                    <a:pt x="134874" y="2467356"/>
                  </a:lnTo>
                  <a:lnTo>
                    <a:pt x="179831" y="2467356"/>
                  </a:lnTo>
                  <a:lnTo>
                    <a:pt x="89915" y="2557272"/>
                  </a:lnTo>
                  <a:lnTo>
                    <a:pt x="0" y="246735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2036" y="2924555"/>
              <a:ext cx="180340" cy="2557780"/>
            </a:xfrm>
            <a:custGeom>
              <a:avLst/>
              <a:gdLst/>
              <a:ahLst/>
              <a:cxnLst/>
              <a:rect l="l" t="t" r="r" b="b"/>
              <a:pathLst>
                <a:path w="180339" h="2557779">
                  <a:moveTo>
                    <a:pt x="89915" y="0"/>
                  </a:moveTo>
                  <a:lnTo>
                    <a:pt x="0" y="89916"/>
                  </a:lnTo>
                  <a:lnTo>
                    <a:pt x="44957" y="89916"/>
                  </a:lnTo>
                  <a:lnTo>
                    <a:pt x="44957" y="2557272"/>
                  </a:lnTo>
                  <a:lnTo>
                    <a:pt x="134874" y="2557272"/>
                  </a:lnTo>
                  <a:lnTo>
                    <a:pt x="134874" y="89916"/>
                  </a:lnTo>
                  <a:lnTo>
                    <a:pt x="179831" y="89916"/>
                  </a:lnTo>
                  <a:lnTo>
                    <a:pt x="89915" y="0"/>
                  </a:lnTo>
                  <a:close/>
                </a:path>
              </a:pathLst>
            </a:custGeom>
            <a:solidFill>
              <a:srgbClr val="BDE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12036" y="2924555"/>
              <a:ext cx="180340" cy="2557780"/>
            </a:xfrm>
            <a:custGeom>
              <a:avLst/>
              <a:gdLst/>
              <a:ahLst/>
              <a:cxnLst/>
              <a:rect l="l" t="t" r="r" b="b"/>
              <a:pathLst>
                <a:path w="180339" h="2557779">
                  <a:moveTo>
                    <a:pt x="0" y="89916"/>
                  </a:moveTo>
                  <a:lnTo>
                    <a:pt x="44957" y="89916"/>
                  </a:lnTo>
                  <a:lnTo>
                    <a:pt x="44957" y="2557272"/>
                  </a:lnTo>
                  <a:lnTo>
                    <a:pt x="134874" y="2557272"/>
                  </a:lnTo>
                  <a:lnTo>
                    <a:pt x="134874" y="89916"/>
                  </a:lnTo>
                  <a:lnTo>
                    <a:pt x="179831" y="89916"/>
                  </a:lnTo>
                  <a:lnTo>
                    <a:pt x="89915" y="0"/>
                  </a:lnTo>
                  <a:lnTo>
                    <a:pt x="0" y="8991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3022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Overview </a:t>
            </a:r>
            <a:r>
              <a:rPr spc="145" dirty="0"/>
              <a:t>of </a:t>
            </a:r>
            <a:r>
              <a:rPr spc="-10" dirty="0"/>
              <a:t>AI</a:t>
            </a:r>
            <a:r>
              <a:rPr spc="75" dirty="0"/>
              <a:t> </a:t>
            </a:r>
            <a:r>
              <a:rPr spc="-5" dirty="0"/>
              <a:t>Technologies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9287" y="1290574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1039" y="1076604"/>
            <a:ext cx="10289540" cy="96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  <a:tabLst>
                <a:tab pos="564515" algn="l"/>
                <a:tab pos="2451100" algn="l"/>
                <a:tab pos="3148965" algn="l"/>
                <a:tab pos="5211445" algn="l"/>
                <a:tab pos="6572250" algn="l"/>
                <a:tab pos="7276465" algn="l"/>
                <a:tab pos="9032240" algn="l"/>
              </a:tabLst>
            </a:pPr>
            <a:r>
              <a:rPr sz="2200" spc="-10" dirty="0">
                <a:latin typeface="Arial"/>
                <a:cs typeface="Arial"/>
              </a:rPr>
              <a:t>AI	</a:t>
            </a:r>
            <a:r>
              <a:rPr sz="2200" spc="40" dirty="0">
                <a:latin typeface="Arial"/>
                <a:cs typeface="Arial"/>
              </a:rPr>
              <a:t>techno</a:t>
            </a:r>
            <a:r>
              <a:rPr sz="2200" spc="25" dirty="0">
                <a:latin typeface="Arial"/>
                <a:cs typeface="Arial"/>
              </a:rPr>
              <a:t>l</a:t>
            </a:r>
            <a:r>
              <a:rPr sz="2200" spc="35" dirty="0">
                <a:latin typeface="Arial"/>
                <a:cs typeface="Arial"/>
              </a:rPr>
              <a:t>o</a:t>
            </a:r>
            <a:r>
              <a:rPr sz="2200" spc="30" dirty="0">
                <a:latin typeface="Arial"/>
                <a:cs typeface="Arial"/>
              </a:rPr>
              <a:t>g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5" dirty="0">
                <a:latin typeface="Arial"/>
                <a:cs typeface="Arial"/>
              </a:rPr>
              <a:t>e</a:t>
            </a:r>
            <a:r>
              <a:rPr sz="2200" spc="-17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spc="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50" dirty="0">
                <a:latin typeface="Arial"/>
                <a:cs typeface="Arial"/>
              </a:rPr>
              <a:t>m</a:t>
            </a:r>
            <a:r>
              <a:rPr sz="2200" spc="130" dirty="0">
                <a:latin typeface="Arial"/>
                <a:cs typeface="Arial"/>
              </a:rPr>
              <a:t>ul</a:t>
            </a:r>
            <a:r>
              <a:rPr sz="2200" spc="80" dirty="0">
                <a:latin typeface="Arial"/>
                <a:cs typeface="Arial"/>
              </a:rPr>
              <a:t>t</a:t>
            </a:r>
            <a:r>
              <a:rPr sz="2200" spc="75" dirty="0">
                <a:latin typeface="Arial"/>
                <a:cs typeface="Arial"/>
              </a:rPr>
              <a:t>i</a:t>
            </a:r>
            <a:r>
              <a:rPr sz="2200" spc="130" dirty="0">
                <a:latin typeface="Arial"/>
                <a:cs typeface="Arial"/>
              </a:rPr>
              <a:t>-</a:t>
            </a:r>
            <a:r>
              <a:rPr sz="2200" spc="25" dirty="0">
                <a:latin typeface="Arial"/>
                <a:cs typeface="Arial"/>
              </a:rPr>
              <a:t>l</a:t>
            </a:r>
            <a:r>
              <a:rPr sz="2200" spc="75" dirty="0">
                <a:latin typeface="Arial"/>
                <a:cs typeface="Arial"/>
              </a:rPr>
              <a:t>a</a:t>
            </a:r>
            <a:r>
              <a:rPr sz="2200" spc="-15" dirty="0">
                <a:latin typeface="Arial"/>
                <a:cs typeface="Arial"/>
              </a:rPr>
              <a:t>y</a:t>
            </a:r>
            <a:r>
              <a:rPr sz="2200" spc="-70" dirty="0">
                <a:latin typeface="Arial"/>
                <a:cs typeface="Arial"/>
              </a:rPr>
              <a:t>e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spc="20" dirty="0">
                <a:latin typeface="Arial"/>
                <a:cs typeface="Arial"/>
              </a:rPr>
              <a:t>e</a:t>
            </a:r>
            <a:r>
              <a:rPr sz="2200" spc="-25" dirty="0">
                <a:latin typeface="Arial"/>
                <a:cs typeface="Arial"/>
              </a:rPr>
              <a:t>d,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5" dirty="0">
                <a:latin typeface="Arial"/>
                <a:cs typeface="Arial"/>
              </a:rPr>
              <a:t>covering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8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h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35" dirty="0">
                <a:latin typeface="Arial"/>
                <a:cs typeface="Arial"/>
              </a:rPr>
              <a:t>applicati</a:t>
            </a:r>
            <a:r>
              <a:rPr sz="2200" spc="45" dirty="0">
                <a:latin typeface="Arial"/>
                <a:cs typeface="Arial"/>
              </a:rPr>
              <a:t>o</a:t>
            </a:r>
            <a:r>
              <a:rPr sz="2200" spc="-25" dirty="0">
                <a:latin typeface="Arial"/>
                <a:cs typeface="Arial"/>
              </a:rPr>
              <a:t>n</a:t>
            </a:r>
            <a:r>
              <a:rPr sz="2200" spc="-10" dirty="0">
                <a:latin typeface="Arial"/>
                <a:cs typeface="Arial"/>
              </a:rPr>
              <a:t>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35" dirty="0">
                <a:latin typeface="Arial"/>
                <a:cs typeface="Arial"/>
              </a:rPr>
              <a:t>al</a:t>
            </a:r>
            <a:r>
              <a:rPr sz="2200" spc="45" dirty="0">
                <a:latin typeface="Arial"/>
                <a:cs typeface="Arial"/>
              </a:rPr>
              <a:t>g</a:t>
            </a:r>
            <a:r>
              <a:rPr sz="2200" spc="95" dirty="0">
                <a:latin typeface="Arial"/>
                <a:cs typeface="Arial"/>
              </a:rPr>
              <a:t>ori</a:t>
            </a:r>
            <a:r>
              <a:rPr sz="2200" spc="80" dirty="0">
                <a:latin typeface="Arial"/>
                <a:cs typeface="Arial"/>
              </a:rPr>
              <a:t>t</a:t>
            </a:r>
            <a:r>
              <a:rPr sz="2200" spc="70" dirty="0">
                <a:latin typeface="Arial"/>
                <a:cs typeface="Arial"/>
              </a:rPr>
              <a:t>hm  </a:t>
            </a:r>
            <a:r>
              <a:rPr sz="2200" dirty="0">
                <a:latin typeface="Arial"/>
                <a:cs typeface="Arial"/>
              </a:rPr>
              <a:t>mechanism, </a:t>
            </a:r>
            <a:r>
              <a:rPr sz="2200" spc="30" dirty="0">
                <a:latin typeface="Arial"/>
                <a:cs typeface="Arial"/>
              </a:rPr>
              <a:t>toolchain, </a:t>
            </a:r>
            <a:r>
              <a:rPr sz="2200" spc="-35" dirty="0">
                <a:latin typeface="Arial"/>
                <a:cs typeface="Arial"/>
              </a:rPr>
              <a:t>device, </a:t>
            </a:r>
            <a:r>
              <a:rPr sz="2200" spc="-5" dirty="0">
                <a:latin typeface="Arial"/>
                <a:cs typeface="Arial"/>
              </a:rPr>
              <a:t>chip, </a:t>
            </a:r>
            <a:r>
              <a:rPr sz="2200" spc="-55" dirty="0">
                <a:latin typeface="Arial"/>
                <a:cs typeface="Arial"/>
              </a:rPr>
              <a:t>process, </a:t>
            </a:r>
            <a:r>
              <a:rPr sz="2200" spc="25" dirty="0">
                <a:latin typeface="Arial"/>
                <a:cs typeface="Arial"/>
              </a:rPr>
              <a:t>and </a:t>
            </a:r>
            <a:r>
              <a:rPr sz="2200" spc="60" dirty="0">
                <a:latin typeface="Arial"/>
                <a:cs typeface="Arial"/>
              </a:rPr>
              <a:t>material</a:t>
            </a:r>
            <a:r>
              <a:rPr sz="2200" spc="605" dirty="0">
                <a:latin typeface="Arial"/>
                <a:cs typeface="Arial"/>
              </a:rPr>
              <a:t> </a:t>
            </a:r>
            <a:r>
              <a:rPr sz="2200" spc="-30" dirty="0">
                <a:latin typeface="Arial"/>
                <a:cs typeface="Arial"/>
              </a:rPr>
              <a:t>layers.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496" y="2601467"/>
            <a:ext cx="948055" cy="323215"/>
          </a:xfrm>
          <a:prstGeom prst="rect">
            <a:avLst/>
          </a:prstGeom>
          <a:ln w="12191">
            <a:solidFill>
              <a:srgbClr val="FFC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45"/>
              </a:spcBef>
            </a:pPr>
            <a:r>
              <a:rPr sz="1200" spc="20" dirty="0">
                <a:latin typeface="Arial"/>
                <a:cs typeface="Arial"/>
              </a:rPr>
              <a:t>Application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01496" y="3320796"/>
            <a:ext cx="948055" cy="325120"/>
          </a:xfrm>
          <a:custGeom>
            <a:avLst/>
            <a:gdLst/>
            <a:ahLst/>
            <a:cxnLst/>
            <a:rect l="l" t="t" r="r" b="b"/>
            <a:pathLst>
              <a:path w="948055" h="325120">
                <a:moveTo>
                  <a:pt x="947928" y="0"/>
                </a:moveTo>
                <a:lnTo>
                  <a:pt x="0" y="0"/>
                </a:lnTo>
                <a:lnTo>
                  <a:pt x="0" y="324611"/>
                </a:lnTo>
                <a:lnTo>
                  <a:pt x="947928" y="324611"/>
                </a:lnTo>
                <a:lnTo>
                  <a:pt x="9479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01496" y="3320796"/>
            <a:ext cx="948055" cy="325120"/>
          </a:xfrm>
          <a:prstGeom prst="rect">
            <a:avLst/>
          </a:prstGeom>
          <a:ln w="12191">
            <a:solidFill>
              <a:srgbClr val="FFC0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550"/>
              </a:spcBef>
            </a:pPr>
            <a:r>
              <a:rPr sz="1200" spc="40" dirty="0">
                <a:latin typeface="Arial"/>
                <a:cs typeface="Arial"/>
              </a:rPr>
              <a:t>Algorithm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1496" y="4041647"/>
            <a:ext cx="948055" cy="323215"/>
          </a:xfrm>
          <a:custGeom>
            <a:avLst/>
            <a:gdLst/>
            <a:ahLst/>
            <a:cxnLst/>
            <a:rect l="l" t="t" r="r" b="b"/>
            <a:pathLst>
              <a:path w="948055" h="323214">
                <a:moveTo>
                  <a:pt x="947928" y="0"/>
                </a:moveTo>
                <a:lnTo>
                  <a:pt x="0" y="0"/>
                </a:lnTo>
                <a:lnTo>
                  <a:pt x="0" y="323088"/>
                </a:lnTo>
                <a:lnTo>
                  <a:pt x="947928" y="323088"/>
                </a:lnTo>
                <a:lnTo>
                  <a:pt x="9479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01496" y="4041647"/>
            <a:ext cx="948055" cy="323215"/>
          </a:xfrm>
          <a:prstGeom prst="rect">
            <a:avLst/>
          </a:prstGeom>
          <a:ln w="12191">
            <a:solidFill>
              <a:srgbClr val="FFC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545"/>
              </a:spcBef>
            </a:pPr>
            <a:r>
              <a:rPr sz="1200" spc="-20" dirty="0">
                <a:latin typeface="Arial"/>
                <a:cs typeface="Arial"/>
              </a:rPr>
              <a:t>Device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01496" y="4760976"/>
            <a:ext cx="948055" cy="325120"/>
          </a:xfrm>
          <a:custGeom>
            <a:avLst/>
            <a:gdLst/>
            <a:ahLst/>
            <a:cxnLst/>
            <a:rect l="l" t="t" r="r" b="b"/>
            <a:pathLst>
              <a:path w="948055" h="325120">
                <a:moveTo>
                  <a:pt x="947928" y="0"/>
                </a:moveTo>
                <a:lnTo>
                  <a:pt x="0" y="0"/>
                </a:lnTo>
                <a:lnTo>
                  <a:pt x="0" y="324612"/>
                </a:lnTo>
                <a:lnTo>
                  <a:pt x="947928" y="324612"/>
                </a:lnTo>
                <a:lnTo>
                  <a:pt x="9479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01496" y="4760976"/>
            <a:ext cx="948055" cy="325120"/>
          </a:xfrm>
          <a:prstGeom prst="rect">
            <a:avLst/>
          </a:prstGeom>
          <a:ln w="12191">
            <a:solidFill>
              <a:srgbClr val="FFC0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50"/>
              </a:spcBef>
            </a:pPr>
            <a:r>
              <a:rPr sz="1200" spc="-15" dirty="0">
                <a:latin typeface="Arial"/>
                <a:cs typeface="Arial"/>
              </a:rPr>
              <a:t>Chip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496" y="5481828"/>
            <a:ext cx="948055" cy="323215"/>
          </a:xfrm>
          <a:prstGeom prst="rect">
            <a:avLst/>
          </a:prstGeom>
          <a:ln w="12191">
            <a:solidFill>
              <a:srgbClr val="FFC0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550"/>
              </a:spcBef>
            </a:pPr>
            <a:r>
              <a:rPr sz="1200" spc="-50" dirty="0"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49423" y="2881883"/>
            <a:ext cx="9140952" cy="25999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20872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Types </a:t>
            </a:r>
            <a:r>
              <a:rPr spc="145" dirty="0"/>
              <a:t>of</a:t>
            </a:r>
            <a:r>
              <a:rPr spc="229" dirty="0"/>
              <a:t> </a:t>
            </a:r>
            <a:r>
              <a:rPr spc="-10" dirty="0"/>
              <a:t>AI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90574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211325"/>
            <a:ext cx="12153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5" dirty="0">
                <a:latin typeface="Arial"/>
                <a:cs typeface="Arial"/>
              </a:rPr>
              <a:t>Strong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3147" y="1828545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4911" y="1635226"/>
            <a:ext cx="990282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40" dirty="0">
                <a:latin typeface="Arial"/>
                <a:cs typeface="Arial"/>
              </a:rPr>
              <a:t>strong </a:t>
            </a: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25" dirty="0">
                <a:latin typeface="Arial"/>
                <a:cs typeface="Arial"/>
              </a:rPr>
              <a:t>view </a:t>
            </a:r>
            <a:r>
              <a:rPr sz="2000" spc="10" dirty="0">
                <a:latin typeface="Arial"/>
                <a:cs typeface="Arial"/>
              </a:rPr>
              <a:t>holds </a:t>
            </a:r>
            <a:r>
              <a:rPr sz="2000" spc="95" dirty="0">
                <a:latin typeface="Arial"/>
                <a:cs typeface="Arial"/>
              </a:rPr>
              <a:t>that </a:t>
            </a:r>
            <a:r>
              <a:rPr sz="2000" spc="114" dirty="0">
                <a:latin typeface="Arial"/>
                <a:cs typeface="Arial"/>
              </a:rPr>
              <a:t>it </a:t>
            </a:r>
            <a:r>
              <a:rPr sz="2000" spc="-45" dirty="0">
                <a:latin typeface="Arial"/>
                <a:cs typeface="Arial"/>
              </a:rPr>
              <a:t>is </a:t>
            </a:r>
            <a:r>
              <a:rPr sz="2000" spc="-10" dirty="0">
                <a:latin typeface="Arial"/>
                <a:cs typeface="Arial"/>
              </a:rPr>
              <a:t>possible </a:t>
            </a:r>
            <a:r>
              <a:rPr sz="2000" spc="100" dirty="0">
                <a:latin typeface="Arial"/>
                <a:cs typeface="Arial"/>
              </a:rPr>
              <a:t>to </a:t>
            </a:r>
            <a:r>
              <a:rPr sz="2000" spc="5" dirty="0">
                <a:latin typeface="Arial"/>
                <a:cs typeface="Arial"/>
              </a:rPr>
              <a:t>create </a:t>
            </a:r>
            <a:r>
              <a:rPr sz="2000" spc="60" dirty="0">
                <a:latin typeface="Arial"/>
                <a:cs typeface="Arial"/>
              </a:rPr>
              <a:t>intelligent </a:t>
            </a:r>
            <a:r>
              <a:rPr sz="2000" dirty="0">
                <a:latin typeface="Arial"/>
                <a:cs typeface="Arial"/>
              </a:rPr>
              <a:t>machines </a:t>
            </a:r>
            <a:r>
              <a:rPr sz="2000" spc="95" dirty="0">
                <a:latin typeface="Arial"/>
                <a:cs typeface="Arial"/>
              </a:rPr>
              <a:t>that </a:t>
            </a:r>
            <a:r>
              <a:rPr sz="2000" spc="-15" dirty="0">
                <a:latin typeface="Arial"/>
                <a:cs typeface="Arial"/>
              </a:rPr>
              <a:t>can  </a:t>
            </a:r>
            <a:r>
              <a:rPr sz="2000" spc="35" dirty="0">
                <a:latin typeface="Arial"/>
                <a:cs typeface="Arial"/>
              </a:rPr>
              <a:t>really </a:t>
            </a:r>
            <a:r>
              <a:rPr sz="2000" spc="-5" dirty="0">
                <a:latin typeface="Arial"/>
                <a:cs typeface="Arial"/>
              </a:rPr>
              <a:t>reason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-20" dirty="0">
                <a:latin typeface="Arial"/>
                <a:cs typeface="Arial"/>
              </a:rPr>
              <a:t>solve </a:t>
            </a:r>
            <a:r>
              <a:rPr sz="2000" spc="10" dirty="0">
                <a:latin typeface="Arial"/>
                <a:cs typeface="Arial"/>
              </a:rPr>
              <a:t>problems. </a:t>
            </a:r>
            <a:r>
              <a:rPr sz="2000" spc="-65" dirty="0">
                <a:latin typeface="Arial"/>
                <a:cs typeface="Arial"/>
              </a:rPr>
              <a:t>Such </a:t>
            </a:r>
            <a:r>
              <a:rPr sz="2000" dirty="0">
                <a:latin typeface="Arial"/>
                <a:cs typeface="Arial"/>
              </a:rPr>
              <a:t>machines </a:t>
            </a:r>
            <a:r>
              <a:rPr sz="2000" spc="5" dirty="0">
                <a:latin typeface="Arial"/>
                <a:cs typeface="Arial"/>
              </a:rPr>
              <a:t>are </a:t>
            </a:r>
            <a:r>
              <a:rPr sz="2000" spc="-5" dirty="0">
                <a:latin typeface="Arial"/>
                <a:cs typeface="Arial"/>
              </a:rPr>
              <a:t>considered </a:t>
            </a:r>
            <a:r>
              <a:rPr sz="2000" spc="100" dirty="0">
                <a:latin typeface="Arial"/>
                <a:cs typeface="Arial"/>
              </a:rPr>
              <a:t>to </a:t>
            </a:r>
            <a:r>
              <a:rPr sz="2000" spc="-10" dirty="0">
                <a:latin typeface="Arial"/>
                <a:cs typeface="Arial"/>
              </a:rPr>
              <a:t>be </a:t>
            </a:r>
            <a:r>
              <a:rPr sz="2000" spc="-25" dirty="0">
                <a:latin typeface="Arial"/>
                <a:cs typeface="Arial"/>
              </a:rPr>
              <a:t>conscious </a:t>
            </a:r>
            <a:r>
              <a:rPr sz="2000" spc="25" dirty="0">
                <a:latin typeface="Arial"/>
                <a:cs typeface="Arial"/>
              </a:rPr>
              <a:t>and  </a:t>
            </a:r>
            <a:r>
              <a:rPr sz="2000" spc="15" dirty="0">
                <a:latin typeface="Arial"/>
                <a:cs typeface="Arial"/>
              </a:rPr>
              <a:t>self-aware, </a:t>
            </a:r>
            <a:r>
              <a:rPr sz="2000" spc="-15" dirty="0">
                <a:latin typeface="Arial"/>
                <a:cs typeface="Arial"/>
              </a:rPr>
              <a:t>can </a:t>
            </a:r>
            <a:r>
              <a:rPr sz="2000" spc="30" dirty="0">
                <a:latin typeface="Arial"/>
                <a:cs typeface="Arial"/>
              </a:rPr>
              <a:t>independently </a:t>
            </a:r>
            <a:r>
              <a:rPr sz="2000" spc="80" dirty="0">
                <a:latin typeface="Arial"/>
                <a:cs typeface="Arial"/>
              </a:rPr>
              <a:t>think </a:t>
            </a:r>
            <a:r>
              <a:rPr sz="2000" spc="55" dirty="0">
                <a:latin typeface="Arial"/>
                <a:cs typeface="Arial"/>
              </a:rPr>
              <a:t>about </a:t>
            </a:r>
            <a:r>
              <a:rPr sz="2000" spc="25" dirty="0">
                <a:latin typeface="Arial"/>
                <a:cs typeface="Arial"/>
              </a:rPr>
              <a:t>problems and </a:t>
            </a:r>
            <a:r>
              <a:rPr sz="2000" spc="75" dirty="0">
                <a:latin typeface="Arial"/>
                <a:cs typeface="Arial"/>
              </a:rPr>
              <a:t>work </a:t>
            </a:r>
            <a:r>
              <a:rPr sz="2000" spc="85" dirty="0">
                <a:latin typeface="Arial"/>
                <a:cs typeface="Arial"/>
              </a:rPr>
              <a:t>out </a:t>
            </a:r>
            <a:r>
              <a:rPr sz="2000" spc="80" dirty="0">
                <a:latin typeface="Arial"/>
                <a:cs typeface="Arial"/>
              </a:rPr>
              <a:t>optimal </a:t>
            </a:r>
            <a:r>
              <a:rPr sz="2000" spc="25" dirty="0">
                <a:latin typeface="Arial"/>
                <a:cs typeface="Arial"/>
              </a:rPr>
              <a:t>solutions  </a:t>
            </a:r>
            <a:r>
              <a:rPr sz="2000" spc="100" dirty="0">
                <a:latin typeface="Arial"/>
                <a:cs typeface="Arial"/>
              </a:rPr>
              <a:t>to </a:t>
            </a:r>
            <a:r>
              <a:rPr sz="2000" spc="15" dirty="0">
                <a:latin typeface="Arial"/>
                <a:cs typeface="Arial"/>
              </a:rPr>
              <a:t>problems, </a:t>
            </a:r>
            <a:r>
              <a:rPr sz="2000" spc="-10" dirty="0">
                <a:latin typeface="Arial"/>
                <a:cs typeface="Arial"/>
              </a:rPr>
              <a:t>have </a:t>
            </a:r>
            <a:r>
              <a:rPr sz="2000" spc="60" dirty="0">
                <a:latin typeface="Arial"/>
                <a:cs typeface="Arial"/>
              </a:rPr>
              <a:t>their </a:t>
            </a:r>
            <a:r>
              <a:rPr sz="2000" spc="70" dirty="0">
                <a:latin typeface="Arial"/>
                <a:cs typeface="Arial"/>
              </a:rPr>
              <a:t>own </a:t>
            </a:r>
            <a:r>
              <a:rPr sz="2000" spc="-10" dirty="0">
                <a:latin typeface="Arial"/>
                <a:cs typeface="Arial"/>
              </a:rPr>
              <a:t>system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-15" dirty="0">
                <a:latin typeface="Arial"/>
                <a:cs typeface="Arial"/>
              </a:rPr>
              <a:t>values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80" dirty="0">
                <a:latin typeface="Arial"/>
                <a:cs typeface="Arial"/>
              </a:rPr>
              <a:t>world </a:t>
            </a:r>
            <a:r>
              <a:rPr sz="2000" spc="-25" dirty="0">
                <a:latin typeface="Arial"/>
                <a:cs typeface="Arial"/>
              </a:rPr>
              <a:t>views,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-10" dirty="0">
                <a:latin typeface="Arial"/>
                <a:cs typeface="Arial"/>
              </a:rPr>
              <a:t>have </a:t>
            </a:r>
            <a:r>
              <a:rPr sz="2000" spc="65" dirty="0">
                <a:latin typeface="Arial"/>
                <a:cs typeface="Arial"/>
              </a:rPr>
              <a:t>all </a:t>
            </a:r>
            <a:r>
              <a:rPr sz="2000" spc="55" dirty="0">
                <a:latin typeface="Arial"/>
                <a:cs typeface="Arial"/>
              </a:rPr>
              <a:t>the  </a:t>
            </a:r>
            <a:r>
              <a:rPr sz="2000" spc="-20" dirty="0">
                <a:latin typeface="Arial"/>
                <a:cs typeface="Arial"/>
              </a:rPr>
              <a:t>same </a:t>
            </a:r>
            <a:r>
              <a:rPr sz="2000" spc="20" dirty="0">
                <a:latin typeface="Arial"/>
                <a:cs typeface="Arial"/>
              </a:rPr>
              <a:t>instincts </a:t>
            </a:r>
            <a:r>
              <a:rPr sz="2000" spc="-85" dirty="0">
                <a:latin typeface="Arial"/>
                <a:cs typeface="Arial"/>
              </a:rPr>
              <a:t>as </a:t>
            </a:r>
            <a:r>
              <a:rPr sz="2000" spc="50" dirty="0">
                <a:latin typeface="Arial"/>
                <a:cs typeface="Arial"/>
              </a:rPr>
              <a:t>living </a:t>
            </a:r>
            <a:r>
              <a:rPr sz="2000" spc="20" dirty="0">
                <a:latin typeface="Arial"/>
                <a:cs typeface="Arial"/>
              </a:rPr>
              <a:t>things, </a:t>
            </a:r>
            <a:r>
              <a:rPr sz="2000" spc="-30" dirty="0">
                <a:latin typeface="Arial"/>
                <a:cs typeface="Arial"/>
              </a:rPr>
              <a:t>such </a:t>
            </a:r>
            <a:r>
              <a:rPr sz="2000" spc="-85" dirty="0">
                <a:latin typeface="Arial"/>
                <a:cs typeface="Arial"/>
              </a:rPr>
              <a:t>as </a:t>
            </a:r>
            <a:r>
              <a:rPr sz="2000" spc="15" dirty="0">
                <a:latin typeface="Arial"/>
                <a:cs typeface="Arial"/>
              </a:rPr>
              <a:t>survival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10" dirty="0">
                <a:latin typeface="Arial"/>
                <a:cs typeface="Arial"/>
              </a:rPr>
              <a:t>security </a:t>
            </a:r>
            <a:r>
              <a:rPr sz="2000" spc="-50" dirty="0">
                <a:latin typeface="Arial"/>
                <a:cs typeface="Arial"/>
              </a:rPr>
              <a:t>needs. </a:t>
            </a:r>
            <a:r>
              <a:rPr sz="2000" spc="90" dirty="0">
                <a:latin typeface="Arial"/>
                <a:cs typeface="Arial"/>
              </a:rPr>
              <a:t>It </a:t>
            </a:r>
            <a:r>
              <a:rPr sz="2000" spc="-15" dirty="0">
                <a:latin typeface="Arial"/>
                <a:cs typeface="Arial"/>
              </a:rPr>
              <a:t>can </a:t>
            </a:r>
            <a:r>
              <a:rPr sz="2000" spc="-10" dirty="0">
                <a:latin typeface="Arial"/>
                <a:cs typeface="Arial"/>
              </a:rPr>
              <a:t>be </a:t>
            </a:r>
            <a:r>
              <a:rPr sz="2000" spc="20" dirty="0">
                <a:latin typeface="Arial"/>
                <a:cs typeface="Arial"/>
              </a:rPr>
              <a:t>regarded  </a:t>
            </a:r>
            <a:r>
              <a:rPr sz="2000" spc="-85" dirty="0">
                <a:latin typeface="Arial"/>
                <a:cs typeface="Arial"/>
              </a:rPr>
              <a:t>as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40" dirty="0">
                <a:latin typeface="Arial"/>
                <a:cs typeface="Arial"/>
              </a:rPr>
              <a:t>new civilization </a:t>
            </a:r>
            <a:r>
              <a:rPr sz="2000" spc="60" dirty="0">
                <a:latin typeface="Arial"/>
                <a:cs typeface="Arial"/>
              </a:rPr>
              <a:t>in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30" dirty="0">
                <a:latin typeface="Arial"/>
                <a:cs typeface="Arial"/>
              </a:rPr>
              <a:t>certain</a:t>
            </a:r>
            <a:r>
              <a:rPr sz="2000" spc="30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sense.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287" y="4509592"/>
            <a:ext cx="13081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1039" y="4430344"/>
            <a:ext cx="10960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5" dirty="0">
                <a:latin typeface="Arial"/>
                <a:cs typeface="Arial"/>
              </a:rPr>
              <a:t>Weak </a:t>
            </a:r>
            <a:r>
              <a:rPr sz="2200" spc="-10" dirty="0"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3147" y="5048250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4911" y="4855362"/>
            <a:ext cx="9683750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5"/>
              </a:spcBef>
            </a:pP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30" dirty="0">
                <a:latin typeface="Arial"/>
                <a:cs typeface="Arial"/>
              </a:rPr>
              <a:t>weak </a:t>
            </a:r>
            <a:r>
              <a:rPr sz="2000" spc="-10" dirty="0">
                <a:latin typeface="Arial"/>
                <a:cs typeface="Arial"/>
              </a:rPr>
              <a:t>AI </a:t>
            </a:r>
            <a:r>
              <a:rPr sz="2000" spc="25" dirty="0">
                <a:latin typeface="Arial"/>
                <a:cs typeface="Arial"/>
              </a:rPr>
              <a:t>view </a:t>
            </a:r>
            <a:r>
              <a:rPr sz="2000" spc="10" dirty="0">
                <a:latin typeface="Arial"/>
                <a:cs typeface="Arial"/>
              </a:rPr>
              <a:t>holds </a:t>
            </a:r>
            <a:r>
              <a:rPr sz="2000" spc="95" dirty="0">
                <a:latin typeface="Arial"/>
                <a:cs typeface="Arial"/>
              </a:rPr>
              <a:t>that </a:t>
            </a:r>
            <a:r>
              <a:rPr sz="2000" spc="60" dirty="0">
                <a:latin typeface="Arial"/>
                <a:cs typeface="Arial"/>
              </a:rPr>
              <a:t>intelligent </a:t>
            </a:r>
            <a:r>
              <a:rPr sz="2000" dirty="0">
                <a:latin typeface="Arial"/>
                <a:cs typeface="Arial"/>
              </a:rPr>
              <a:t>machines </a:t>
            </a:r>
            <a:r>
              <a:rPr sz="2000" spc="35" dirty="0">
                <a:latin typeface="Arial"/>
                <a:cs typeface="Arial"/>
              </a:rPr>
              <a:t>cannot really </a:t>
            </a:r>
            <a:r>
              <a:rPr sz="2000" spc="-5" dirty="0">
                <a:latin typeface="Arial"/>
                <a:cs typeface="Arial"/>
              </a:rPr>
              <a:t>reason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-20" dirty="0">
                <a:latin typeface="Arial"/>
                <a:cs typeface="Arial"/>
              </a:rPr>
              <a:t>solve  </a:t>
            </a:r>
            <a:r>
              <a:rPr sz="2000" spc="10" dirty="0">
                <a:latin typeface="Arial"/>
                <a:cs typeface="Arial"/>
              </a:rPr>
              <a:t>problems. </a:t>
            </a:r>
            <a:r>
              <a:rPr sz="2000" spc="-65" dirty="0">
                <a:latin typeface="Arial"/>
                <a:cs typeface="Arial"/>
              </a:rPr>
              <a:t>These </a:t>
            </a:r>
            <a:r>
              <a:rPr sz="2000" dirty="0">
                <a:latin typeface="Arial"/>
                <a:cs typeface="Arial"/>
              </a:rPr>
              <a:t>machines </a:t>
            </a:r>
            <a:r>
              <a:rPr sz="2000" spc="45" dirty="0">
                <a:latin typeface="Arial"/>
                <a:cs typeface="Arial"/>
              </a:rPr>
              <a:t>only </a:t>
            </a:r>
            <a:r>
              <a:rPr sz="2000" spc="60" dirty="0">
                <a:latin typeface="Arial"/>
                <a:cs typeface="Arial"/>
              </a:rPr>
              <a:t>look </a:t>
            </a:r>
            <a:r>
              <a:rPr sz="2000" spc="50" dirty="0">
                <a:latin typeface="Arial"/>
                <a:cs typeface="Arial"/>
              </a:rPr>
              <a:t>intelligent, </a:t>
            </a:r>
            <a:r>
              <a:rPr sz="2000" spc="90" dirty="0">
                <a:latin typeface="Arial"/>
                <a:cs typeface="Arial"/>
              </a:rPr>
              <a:t>but </a:t>
            </a:r>
            <a:r>
              <a:rPr sz="2000" spc="40" dirty="0">
                <a:latin typeface="Arial"/>
                <a:cs typeface="Arial"/>
              </a:rPr>
              <a:t>do </a:t>
            </a:r>
            <a:r>
              <a:rPr sz="2000" spc="85" dirty="0">
                <a:latin typeface="Arial"/>
                <a:cs typeface="Arial"/>
              </a:rPr>
              <a:t>not </a:t>
            </a:r>
            <a:r>
              <a:rPr sz="2000" spc="-10" dirty="0">
                <a:latin typeface="Arial"/>
                <a:cs typeface="Arial"/>
              </a:rPr>
              <a:t>have </a:t>
            </a:r>
            <a:r>
              <a:rPr sz="2000" spc="30" dirty="0">
                <a:latin typeface="Arial"/>
                <a:cs typeface="Arial"/>
              </a:rPr>
              <a:t>real intelligence </a:t>
            </a:r>
            <a:r>
              <a:rPr sz="2000" spc="55" dirty="0">
                <a:latin typeface="Arial"/>
                <a:cs typeface="Arial"/>
              </a:rPr>
              <a:t>or  </a:t>
            </a:r>
            <a:r>
              <a:rPr sz="2000" spc="-10" dirty="0">
                <a:latin typeface="Arial"/>
                <a:cs typeface="Arial"/>
              </a:rPr>
              <a:t>self-awareness.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63366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Classification </a:t>
            </a:r>
            <a:r>
              <a:rPr spc="145" dirty="0"/>
              <a:t>of </a:t>
            </a:r>
            <a:r>
              <a:rPr spc="95" dirty="0"/>
              <a:t>Intelligent</a:t>
            </a:r>
            <a:r>
              <a:rPr spc="110" dirty="0"/>
              <a:t> </a:t>
            </a:r>
            <a:r>
              <a:rPr spc="-30" dirty="0"/>
              <a:t>Robots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16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90574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6604"/>
            <a:ext cx="10291445" cy="96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  <a:tabLst>
                <a:tab pos="1395095" algn="l"/>
                <a:tab pos="2207260" algn="l"/>
                <a:tab pos="2542540" algn="l"/>
                <a:tab pos="3013710" algn="l"/>
                <a:tab pos="4034790" algn="l"/>
                <a:tab pos="5392420" algn="l"/>
                <a:tab pos="5796915" algn="l"/>
                <a:tab pos="6206490" algn="l"/>
                <a:tab pos="7485380" algn="l"/>
                <a:tab pos="8919845" algn="l"/>
                <a:tab pos="9872345" algn="l"/>
              </a:tabLst>
            </a:pPr>
            <a:r>
              <a:rPr sz="2200" spc="-45" dirty="0">
                <a:latin typeface="Arial"/>
                <a:cs typeface="Arial"/>
              </a:rPr>
              <a:t>Cu</a:t>
            </a:r>
            <a:r>
              <a:rPr sz="2200" spc="-20" dirty="0">
                <a:latin typeface="Arial"/>
                <a:cs typeface="Arial"/>
              </a:rPr>
              <a:t>r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spc="20" dirty="0">
                <a:latin typeface="Arial"/>
                <a:cs typeface="Arial"/>
              </a:rPr>
              <a:t>e</a:t>
            </a:r>
            <a:r>
              <a:rPr sz="2200" spc="70" dirty="0">
                <a:latin typeface="Arial"/>
                <a:cs typeface="Arial"/>
              </a:rPr>
              <a:t>ntl</a:t>
            </a:r>
            <a:r>
              <a:rPr sz="2200" spc="95" dirty="0">
                <a:latin typeface="Arial"/>
                <a:cs typeface="Arial"/>
              </a:rPr>
              <a:t>y</a:t>
            </a:r>
            <a:r>
              <a:rPr sz="2200" spc="-90" dirty="0">
                <a:latin typeface="Arial"/>
                <a:cs typeface="Arial"/>
              </a:rPr>
              <a:t>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85" dirty="0">
                <a:latin typeface="Arial"/>
                <a:cs typeface="Arial"/>
              </a:rPr>
              <a:t>t</a:t>
            </a:r>
            <a:r>
              <a:rPr sz="2200" spc="25" dirty="0">
                <a:latin typeface="Arial"/>
                <a:cs typeface="Arial"/>
              </a:rPr>
              <a:t>he</a:t>
            </a:r>
            <a:r>
              <a:rPr sz="2200" spc="20" dirty="0">
                <a:latin typeface="Arial"/>
                <a:cs typeface="Arial"/>
              </a:rPr>
              <a:t>r</a:t>
            </a:r>
            <a:r>
              <a:rPr sz="2200" spc="-7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5" dirty="0">
                <a:latin typeface="Arial"/>
                <a:cs typeface="Arial"/>
              </a:rPr>
              <a:t>is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0" dirty="0">
                <a:latin typeface="Arial"/>
                <a:cs typeface="Arial"/>
              </a:rPr>
              <a:t>no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90" dirty="0">
                <a:latin typeface="Arial"/>
                <a:cs typeface="Arial"/>
              </a:rPr>
              <a:t>unif</a:t>
            </a:r>
            <a:r>
              <a:rPr sz="2200" spc="55" dirty="0">
                <a:latin typeface="Arial"/>
                <a:cs typeface="Arial"/>
              </a:rPr>
              <a:t>i</a:t>
            </a:r>
            <a:r>
              <a:rPr sz="2200" spc="-70" dirty="0">
                <a:latin typeface="Arial"/>
                <a:cs typeface="Arial"/>
              </a:rPr>
              <a:t>e</a:t>
            </a:r>
            <a:r>
              <a:rPr sz="2200" spc="3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5" dirty="0">
                <a:latin typeface="Arial"/>
                <a:cs typeface="Arial"/>
              </a:rPr>
              <a:t>d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120" dirty="0">
                <a:latin typeface="Arial"/>
                <a:cs typeface="Arial"/>
              </a:rPr>
              <a:t>f</a:t>
            </a:r>
            <a:r>
              <a:rPr sz="2200" spc="110" dirty="0">
                <a:latin typeface="Arial"/>
                <a:cs typeface="Arial"/>
              </a:rPr>
              <a:t>i</a:t>
            </a:r>
            <a:r>
              <a:rPr sz="2200" spc="70" dirty="0">
                <a:latin typeface="Arial"/>
                <a:cs typeface="Arial"/>
              </a:rPr>
              <a:t>nitio</a:t>
            </a:r>
            <a:r>
              <a:rPr sz="2200" spc="110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25" dirty="0">
                <a:latin typeface="Arial"/>
                <a:cs typeface="Arial"/>
              </a:rPr>
              <a:t>o</a:t>
            </a:r>
            <a:r>
              <a:rPr sz="2200" spc="65" dirty="0">
                <a:latin typeface="Arial"/>
                <a:cs typeface="Arial"/>
              </a:rPr>
              <a:t>f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" dirty="0">
                <a:latin typeface="Arial"/>
                <a:cs typeface="Arial"/>
              </a:rPr>
              <a:t>AI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spc="20" dirty="0">
                <a:latin typeface="Arial"/>
                <a:cs typeface="Arial"/>
              </a:rPr>
              <a:t>e</a:t>
            </a:r>
            <a:r>
              <a:rPr sz="2200" spc="-35" dirty="0">
                <a:latin typeface="Arial"/>
                <a:cs typeface="Arial"/>
              </a:rPr>
              <a:t>search</a:t>
            </a:r>
            <a:r>
              <a:rPr sz="2200" spc="-110" dirty="0">
                <a:latin typeface="Arial"/>
                <a:cs typeface="Arial"/>
              </a:rPr>
              <a:t>.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0" dirty="0">
                <a:latin typeface="Arial"/>
                <a:cs typeface="Arial"/>
              </a:rPr>
              <a:t>Intellige</a:t>
            </a:r>
            <a:r>
              <a:rPr sz="2200" spc="85" dirty="0">
                <a:latin typeface="Arial"/>
                <a:cs typeface="Arial"/>
              </a:rPr>
              <a:t>n</a:t>
            </a:r>
            <a:r>
              <a:rPr sz="2200" spc="185" dirty="0">
                <a:latin typeface="Arial"/>
                <a:cs typeface="Arial"/>
              </a:rPr>
              <a:t>t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00" dirty="0">
                <a:latin typeface="Arial"/>
                <a:cs typeface="Arial"/>
              </a:rPr>
              <a:t>r</a:t>
            </a:r>
            <a:r>
              <a:rPr sz="2200" spc="35" dirty="0">
                <a:latin typeface="Arial"/>
                <a:cs typeface="Arial"/>
              </a:rPr>
              <a:t>o</a:t>
            </a:r>
            <a:r>
              <a:rPr sz="2200" spc="30" dirty="0">
                <a:latin typeface="Arial"/>
                <a:cs typeface="Arial"/>
              </a:rPr>
              <a:t>b</a:t>
            </a:r>
            <a:r>
              <a:rPr sz="2200" spc="145" dirty="0">
                <a:latin typeface="Arial"/>
                <a:cs typeface="Arial"/>
              </a:rPr>
              <a:t>o</a:t>
            </a:r>
            <a:r>
              <a:rPr sz="2200" spc="60" dirty="0">
                <a:latin typeface="Arial"/>
                <a:cs typeface="Arial"/>
              </a:rPr>
              <a:t>t</a:t>
            </a:r>
            <a:r>
              <a:rPr sz="2200" spc="-17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are  </a:t>
            </a:r>
            <a:r>
              <a:rPr sz="2200" spc="25" dirty="0">
                <a:latin typeface="Arial"/>
                <a:cs typeface="Arial"/>
              </a:rPr>
              <a:t>generally </a:t>
            </a:r>
            <a:r>
              <a:rPr sz="2200" spc="-10" dirty="0">
                <a:latin typeface="Arial"/>
                <a:cs typeface="Arial"/>
              </a:rPr>
              <a:t>classified </a:t>
            </a:r>
            <a:r>
              <a:rPr sz="2200" spc="85" dirty="0">
                <a:latin typeface="Arial"/>
                <a:cs typeface="Arial"/>
              </a:rPr>
              <a:t>into </a:t>
            </a:r>
            <a:r>
              <a:rPr sz="2200" spc="55" dirty="0">
                <a:latin typeface="Arial"/>
                <a:cs typeface="Arial"/>
              </a:rPr>
              <a:t>the </a:t>
            </a:r>
            <a:r>
              <a:rPr sz="2200" spc="80" dirty="0">
                <a:latin typeface="Arial"/>
                <a:cs typeface="Arial"/>
              </a:rPr>
              <a:t>following four</a:t>
            </a:r>
            <a:r>
              <a:rPr sz="2200" spc="250" dirty="0">
                <a:latin typeface="Arial"/>
                <a:cs typeface="Arial"/>
              </a:rPr>
              <a:t> </a:t>
            </a:r>
            <a:r>
              <a:rPr sz="2200" spc="-30" dirty="0">
                <a:latin typeface="Arial"/>
                <a:cs typeface="Arial"/>
              </a:rPr>
              <a:t>types: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3147" y="2298318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4911" y="2226691"/>
            <a:ext cx="9631680" cy="2730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0" dirty="0">
                <a:latin typeface="Arial"/>
                <a:cs typeface="Arial"/>
              </a:rPr>
              <a:t>"Thinking </a:t>
            </a:r>
            <a:r>
              <a:rPr sz="2000" spc="45" dirty="0">
                <a:latin typeface="Arial"/>
                <a:cs typeface="Arial"/>
              </a:rPr>
              <a:t>like </a:t>
            </a:r>
            <a:r>
              <a:rPr sz="2000" spc="60" dirty="0">
                <a:latin typeface="Arial"/>
                <a:cs typeface="Arial"/>
              </a:rPr>
              <a:t>human </a:t>
            </a:r>
            <a:r>
              <a:rPr sz="2000" spc="5" dirty="0">
                <a:latin typeface="Arial"/>
                <a:cs typeface="Arial"/>
              </a:rPr>
              <a:t>beings": </a:t>
            </a:r>
            <a:r>
              <a:rPr sz="2000" spc="30" dirty="0">
                <a:latin typeface="Arial"/>
                <a:cs typeface="Arial"/>
              </a:rPr>
              <a:t>weak </a:t>
            </a:r>
            <a:r>
              <a:rPr sz="2000" spc="-35" dirty="0">
                <a:latin typeface="Arial"/>
                <a:cs typeface="Arial"/>
              </a:rPr>
              <a:t>AI, </a:t>
            </a:r>
            <a:r>
              <a:rPr sz="2000" spc="-30" dirty="0">
                <a:latin typeface="Arial"/>
                <a:cs typeface="Arial"/>
              </a:rPr>
              <a:t>such </a:t>
            </a:r>
            <a:r>
              <a:rPr sz="2000" spc="-85" dirty="0">
                <a:latin typeface="Arial"/>
                <a:cs typeface="Arial"/>
              </a:rPr>
              <a:t>as </a:t>
            </a:r>
            <a:r>
              <a:rPr sz="2000" spc="20" dirty="0">
                <a:latin typeface="Arial"/>
                <a:cs typeface="Arial"/>
              </a:rPr>
              <a:t>Watson </a:t>
            </a:r>
            <a:r>
              <a:rPr sz="2000" spc="25" dirty="0">
                <a:latin typeface="Arial"/>
                <a:cs typeface="Arial"/>
              </a:rPr>
              <a:t>and</a:t>
            </a:r>
            <a:r>
              <a:rPr sz="2000" spc="50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AlphaGo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spc="55" dirty="0">
                <a:latin typeface="Arial"/>
                <a:cs typeface="Arial"/>
              </a:rPr>
              <a:t>"Acting </a:t>
            </a:r>
            <a:r>
              <a:rPr sz="2000" spc="45" dirty="0">
                <a:latin typeface="Arial"/>
                <a:cs typeface="Arial"/>
              </a:rPr>
              <a:t>like </a:t>
            </a:r>
            <a:r>
              <a:rPr sz="2000" spc="60" dirty="0">
                <a:latin typeface="Arial"/>
                <a:cs typeface="Arial"/>
              </a:rPr>
              <a:t>human </a:t>
            </a:r>
            <a:r>
              <a:rPr sz="2000" spc="5" dirty="0">
                <a:latin typeface="Arial"/>
                <a:cs typeface="Arial"/>
              </a:rPr>
              <a:t>beings": </a:t>
            </a:r>
            <a:r>
              <a:rPr sz="2000" spc="30" dirty="0">
                <a:latin typeface="Arial"/>
                <a:cs typeface="Arial"/>
              </a:rPr>
              <a:t>weak </a:t>
            </a:r>
            <a:r>
              <a:rPr sz="2000" spc="-35" dirty="0">
                <a:latin typeface="Arial"/>
                <a:cs typeface="Arial"/>
              </a:rPr>
              <a:t>AI, </a:t>
            </a:r>
            <a:r>
              <a:rPr sz="2000" spc="-30" dirty="0">
                <a:latin typeface="Arial"/>
                <a:cs typeface="Arial"/>
              </a:rPr>
              <a:t>such </a:t>
            </a:r>
            <a:r>
              <a:rPr sz="2000" spc="-85" dirty="0">
                <a:latin typeface="Arial"/>
                <a:cs typeface="Arial"/>
              </a:rPr>
              <a:t>as </a:t>
            </a:r>
            <a:r>
              <a:rPr sz="2000" spc="55" dirty="0">
                <a:latin typeface="Arial"/>
                <a:cs typeface="Arial"/>
              </a:rPr>
              <a:t>humanoid </a:t>
            </a:r>
            <a:r>
              <a:rPr sz="2000" spc="50" dirty="0">
                <a:latin typeface="Arial"/>
                <a:cs typeface="Arial"/>
              </a:rPr>
              <a:t>robot, </a:t>
            </a:r>
            <a:r>
              <a:rPr sz="2000" spc="5" dirty="0">
                <a:latin typeface="Arial"/>
                <a:cs typeface="Arial"/>
              </a:rPr>
              <a:t>iRobot,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15" dirty="0">
                <a:latin typeface="Arial"/>
                <a:cs typeface="Arial"/>
              </a:rPr>
              <a:t>Atlas</a:t>
            </a:r>
            <a:r>
              <a:rPr sz="2000" spc="565" dirty="0">
                <a:latin typeface="Arial"/>
                <a:cs typeface="Arial"/>
              </a:rPr>
              <a:t> </a:t>
            </a:r>
            <a:r>
              <a:rPr sz="2000" spc="85" dirty="0">
                <a:latin typeface="Arial"/>
                <a:cs typeface="Arial"/>
              </a:rPr>
              <a:t>of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latin typeface="Arial"/>
                <a:cs typeface="Arial"/>
              </a:rPr>
              <a:t>Boston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Dynamics</a:t>
            </a:r>
            <a:endParaRPr sz="2000">
              <a:latin typeface="Arial"/>
              <a:cs typeface="Arial"/>
            </a:endParaRPr>
          </a:p>
          <a:p>
            <a:pPr marL="12700" marR="280035">
              <a:lnSpc>
                <a:spcPct val="140000"/>
              </a:lnSpc>
              <a:spcBef>
                <a:spcPts val="695"/>
              </a:spcBef>
            </a:pPr>
            <a:r>
              <a:rPr sz="2000" spc="50" dirty="0">
                <a:latin typeface="Arial"/>
                <a:cs typeface="Arial"/>
              </a:rPr>
              <a:t>"Thinking </a:t>
            </a:r>
            <a:r>
              <a:rPr sz="2000" spc="55" dirty="0">
                <a:latin typeface="Arial"/>
                <a:cs typeface="Arial"/>
              </a:rPr>
              <a:t>rationally": </a:t>
            </a:r>
            <a:r>
              <a:rPr sz="2000" spc="40" dirty="0">
                <a:latin typeface="Arial"/>
                <a:cs typeface="Arial"/>
              </a:rPr>
              <a:t>strong </a:t>
            </a: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30" dirty="0">
                <a:latin typeface="Arial"/>
                <a:cs typeface="Arial"/>
              </a:rPr>
              <a:t>(Currently, </a:t>
            </a:r>
            <a:r>
              <a:rPr sz="2000" spc="45" dirty="0">
                <a:latin typeface="Arial"/>
                <a:cs typeface="Arial"/>
              </a:rPr>
              <a:t>no </a:t>
            </a:r>
            <a:r>
              <a:rPr sz="2000" spc="60" dirty="0">
                <a:latin typeface="Arial"/>
                <a:cs typeface="Arial"/>
              </a:rPr>
              <a:t>intelligent </a:t>
            </a:r>
            <a:r>
              <a:rPr sz="2000" spc="35" dirty="0">
                <a:latin typeface="Arial"/>
                <a:cs typeface="Arial"/>
              </a:rPr>
              <a:t>robots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35" dirty="0">
                <a:latin typeface="Arial"/>
                <a:cs typeface="Arial"/>
              </a:rPr>
              <a:t>this </a:t>
            </a:r>
            <a:r>
              <a:rPr sz="2000" spc="30" dirty="0">
                <a:latin typeface="Arial"/>
                <a:cs typeface="Arial"/>
              </a:rPr>
              <a:t>type </a:t>
            </a:r>
            <a:r>
              <a:rPr sz="2000" spc="-10" dirty="0">
                <a:latin typeface="Arial"/>
                <a:cs typeface="Arial"/>
              </a:rPr>
              <a:t>have  </a:t>
            </a:r>
            <a:r>
              <a:rPr sz="2000" spc="-5" dirty="0">
                <a:latin typeface="Arial"/>
                <a:cs typeface="Arial"/>
              </a:rPr>
              <a:t>been </a:t>
            </a:r>
            <a:r>
              <a:rPr sz="2000" spc="10" dirty="0">
                <a:latin typeface="Arial"/>
                <a:cs typeface="Arial"/>
              </a:rPr>
              <a:t>created due </a:t>
            </a:r>
            <a:r>
              <a:rPr sz="2000" spc="105" dirty="0">
                <a:latin typeface="Arial"/>
                <a:cs typeface="Arial"/>
              </a:rPr>
              <a:t>to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40" dirty="0">
                <a:latin typeface="Arial"/>
                <a:cs typeface="Arial"/>
              </a:rPr>
              <a:t>bottleneck </a:t>
            </a:r>
            <a:r>
              <a:rPr sz="2000" spc="60" dirty="0">
                <a:latin typeface="Arial"/>
                <a:cs typeface="Arial"/>
              </a:rPr>
              <a:t>in </a:t>
            </a:r>
            <a:r>
              <a:rPr sz="2000" spc="45" dirty="0">
                <a:latin typeface="Arial"/>
                <a:cs typeface="Arial"/>
              </a:rPr>
              <a:t>brain</a:t>
            </a:r>
            <a:r>
              <a:rPr sz="2000" spc="114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science.)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000" spc="55" dirty="0">
                <a:latin typeface="Arial"/>
                <a:cs typeface="Arial"/>
              </a:rPr>
              <a:t>"Acting rationally": </a:t>
            </a:r>
            <a:r>
              <a:rPr sz="2000" spc="40" dirty="0">
                <a:latin typeface="Arial"/>
                <a:cs typeface="Arial"/>
              </a:rPr>
              <a:t>strong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AI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3147" y="2813430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3147" y="3755516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3147" y="4697729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40767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Arial"/>
                <a:cs typeface="Arial"/>
              </a:rPr>
              <a:t>AI </a:t>
            </a:r>
            <a:r>
              <a:rPr sz="3200" spc="50" dirty="0">
                <a:latin typeface="Arial"/>
                <a:cs typeface="Arial"/>
              </a:rPr>
              <a:t>Industry</a:t>
            </a:r>
            <a:r>
              <a:rPr sz="3200" spc="185" dirty="0">
                <a:latin typeface="Arial"/>
                <a:cs typeface="Arial"/>
              </a:rPr>
              <a:t> </a:t>
            </a:r>
            <a:r>
              <a:rPr sz="3200" spc="-70" dirty="0">
                <a:latin typeface="Arial"/>
                <a:cs typeface="Arial"/>
              </a:rPr>
              <a:t>Ecosystem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61617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87881"/>
            <a:ext cx="10294620" cy="1177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The </a:t>
            </a:r>
            <a:r>
              <a:rPr sz="1800" spc="70" dirty="0">
                <a:latin typeface="Arial"/>
                <a:cs typeface="Arial"/>
              </a:rPr>
              <a:t>four </a:t>
            </a:r>
            <a:r>
              <a:rPr sz="1800" spc="10" dirty="0">
                <a:latin typeface="Arial"/>
                <a:cs typeface="Arial"/>
              </a:rPr>
              <a:t>elements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AI </a:t>
            </a:r>
            <a:r>
              <a:rPr sz="1800" dirty="0">
                <a:latin typeface="Arial"/>
                <a:cs typeface="Arial"/>
              </a:rPr>
              <a:t>are </a:t>
            </a:r>
            <a:r>
              <a:rPr sz="1800" spc="20" dirty="0">
                <a:latin typeface="Arial"/>
                <a:cs typeface="Arial"/>
              </a:rPr>
              <a:t>data, </a:t>
            </a:r>
            <a:r>
              <a:rPr sz="1800" spc="50" dirty="0">
                <a:latin typeface="Arial"/>
                <a:cs typeface="Arial"/>
              </a:rPr>
              <a:t>algorithm, computing </a:t>
            </a:r>
            <a:r>
              <a:rPr sz="1800" spc="20" dirty="0">
                <a:latin typeface="Arial"/>
                <a:cs typeface="Arial"/>
              </a:rPr>
              <a:t>power, and </a:t>
            </a:r>
            <a:r>
              <a:rPr sz="1800" spc="-20" dirty="0">
                <a:latin typeface="Arial"/>
                <a:cs typeface="Arial"/>
              </a:rPr>
              <a:t>scenario. </a:t>
            </a:r>
            <a:r>
              <a:rPr sz="1800" spc="-25" dirty="0">
                <a:latin typeface="Arial"/>
                <a:cs typeface="Arial"/>
              </a:rPr>
              <a:t>To </a:t>
            </a:r>
            <a:r>
              <a:rPr sz="1800" spc="35" dirty="0">
                <a:latin typeface="Arial"/>
                <a:cs typeface="Arial"/>
              </a:rPr>
              <a:t>meet  </a:t>
            </a:r>
            <a:r>
              <a:rPr sz="1800" spc="25" dirty="0">
                <a:latin typeface="Arial"/>
                <a:cs typeface="Arial"/>
              </a:rPr>
              <a:t>requirements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-15" dirty="0">
                <a:latin typeface="Arial"/>
                <a:cs typeface="Arial"/>
              </a:rPr>
              <a:t>these </a:t>
            </a:r>
            <a:r>
              <a:rPr sz="1800" spc="70" dirty="0">
                <a:latin typeface="Arial"/>
                <a:cs typeface="Arial"/>
              </a:rPr>
              <a:t>four </a:t>
            </a:r>
            <a:r>
              <a:rPr sz="1800" spc="5" dirty="0">
                <a:latin typeface="Arial"/>
                <a:cs typeface="Arial"/>
              </a:rPr>
              <a:t>elements, </a:t>
            </a:r>
            <a:r>
              <a:rPr sz="1800" spc="30" dirty="0">
                <a:latin typeface="Arial"/>
                <a:cs typeface="Arial"/>
              </a:rPr>
              <a:t>we </a:t>
            </a:r>
            <a:r>
              <a:rPr sz="1800" spc="-10" dirty="0">
                <a:latin typeface="Arial"/>
                <a:cs typeface="Arial"/>
              </a:rPr>
              <a:t>need </a:t>
            </a:r>
            <a:r>
              <a:rPr sz="1800" spc="95" dirty="0">
                <a:latin typeface="Arial"/>
                <a:cs typeface="Arial"/>
              </a:rPr>
              <a:t>to </a:t>
            </a:r>
            <a:r>
              <a:rPr sz="1800" spc="25" dirty="0">
                <a:latin typeface="Arial"/>
                <a:cs typeface="Arial"/>
              </a:rPr>
              <a:t>combine </a:t>
            </a:r>
            <a:r>
              <a:rPr sz="1800" spc="-10" dirty="0">
                <a:latin typeface="Arial"/>
                <a:cs typeface="Arial"/>
              </a:rPr>
              <a:t>AI </a:t>
            </a:r>
            <a:r>
              <a:rPr sz="1800" spc="90" dirty="0">
                <a:latin typeface="Arial"/>
                <a:cs typeface="Arial"/>
              </a:rPr>
              <a:t>with </a:t>
            </a:r>
            <a:r>
              <a:rPr sz="1800" spc="25" dirty="0">
                <a:latin typeface="Arial"/>
                <a:cs typeface="Arial"/>
              </a:rPr>
              <a:t>cloud </a:t>
            </a:r>
            <a:r>
              <a:rPr sz="1800" spc="35" dirty="0">
                <a:latin typeface="Arial"/>
                <a:cs typeface="Arial"/>
              </a:rPr>
              <a:t>computing, big </a:t>
            </a:r>
            <a:r>
              <a:rPr sz="1800" spc="15" dirty="0">
                <a:latin typeface="Arial"/>
                <a:cs typeface="Arial"/>
              </a:rPr>
              <a:t>data, </a:t>
            </a:r>
            <a:r>
              <a:rPr sz="1800" spc="20" dirty="0">
                <a:latin typeface="Arial"/>
                <a:cs typeface="Arial"/>
              </a:rPr>
              <a:t>and  </a:t>
            </a:r>
            <a:r>
              <a:rPr sz="1800" spc="-15" dirty="0">
                <a:latin typeface="Arial"/>
                <a:cs typeface="Arial"/>
              </a:rPr>
              <a:t>IoT </a:t>
            </a:r>
            <a:r>
              <a:rPr sz="1800" spc="85" dirty="0">
                <a:latin typeface="Arial"/>
                <a:cs typeface="Arial"/>
              </a:rPr>
              <a:t>to </a:t>
            </a:r>
            <a:r>
              <a:rPr sz="1800" spc="50" dirty="0">
                <a:latin typeface="Arial"/>
                <a:cs typeface="Arial"/>
              </a:rPr>
              <a:t>build </a:t>
            </a:r>
            <a:r>
              <a:rPr sz="1800" spc="20" dirty="0">
                <a:latin typeface="Arial"/>
                <a:cs typeface="Arial"/>
              </a:rPr>
              <a:t>an </a:t>
            </a:r>
            <a:r>
              <a:rPr sz="1800" spc="55" dirty="0">
                <a:latin typeface="Arial"/>
                <a:cs typeface="Arial"/>
              </a:rPr>
              <a:t>intelligent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society.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25916" y="2342006"/>
            <a:ext cx="6891982" cy="37909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17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28663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/>
              <a:t>Sub-fields </a:t>
            </a:r>
            <a:r>
              <a:rPr spc="145" dirty="0"/>
              <a:t>of</a:t>
            </a:r>
            <a:r>
              <a:rPr spc="150" dirty="0"/>
              <a:t> </a:t>
            </a:r>
            <a:r>
              <a:rPr spc="-10" dirty="0"/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5414" y="5749848"/>
            <a:ext cx="23723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AI </a:t>
            </a:r>
            <a:r>
              <a:rPr sz="1400" spc="20" dirty="0">
                <a:latin typeface="Arial"/>
                <a:cs typeface="Arial"/>
              </a:rPr>
              <a:t>Development </a:t>
            </a:r>
            <a:r>
              <a:rPr sz="1400" dirty="0">
                <a:latin typeface="Arial"/>
                <a:cs typeface="Arial"/>
              </a:rPr>
              <a:t>Report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80248" y="1675533"/>
            <a:ext cx="7895022" cy="3597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18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>
                <a:moveTo>
                  <a:pt x="2015997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20726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" dirty="0">
                <a:solidFill>
                  <a:srgbClr val="404040"/>
                </a:solidFill>
              </a:rPr>
              <a:t>Conte</a:t>
            </a:r>
            <a:r>
              <a:rPr sz="4000" spc="15" dirty="0">
                <a:solidFill>
                  <a:srgbClr val="404040"/>
                </a:solidFill>
              </a:rPr>
              <a:t>n</a:t>
            </a:r>
            <a:r>
              <a:rPr sz="4000" spc="10" dirty="0">
                <a:solidFill>
                  <a:srgbClr val="404040"/>
                </a:solidFill>
              </a:rPr>
              <a:t>ts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19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09393"/>
            <a:ext cx="6417310" cy="2639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r>
              <a:rPr sz="2200" spc="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Arial"/>
                <a:cs typeface="Arial"/>
              </a:rPr>
              <a:t>Overview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b="1" spc="-20" dirty="0">
                <a:latin typeface="Arial"/>
                <a:cs typeface="Arial"/>
              </a:rPr>
              <a:t>Technical </a:t>
            </a:r>
            <a:r>
              <a:rPr sz="2200" b="1" spc="-55" dirty="0">
                <a:latin typeface="Arial"/>
                <a:cs typeface="Arial"/>
              </a:rPr>
              <a:t>Fields </a:t>
            </a:r>
            <a:r>
              <a:rPr sz="2200" b="1" spc="15" dirty="0">
                <a:latin typeface="Arial"/>
                <a:cs typeface="Arial"/>
              </a:rPr>
              <a:t>and </a:t>
            </a:r>
            <a:r>
              <a:rPr sz="2200" b="1" spc="5" dirty="0">
                <a:latin typeface="Arial"/>
                <a:cs typeface="Arial"/>
              </a:rPr>
              <a:t>Application </a:t>
            </a:r>
            <a:r>
              <a:rPr sz="2200" b="1" spc="-55" dirty="0">
                <a:latin typeface="Arial"/>
                <a:cs typeface="Arial"/>
              </a:rPr>
              <a:t>Fields </a:t>
            </a:r>
            <a:r>
              <a:rPr sz="2200" b="1" spc="40" dirty="0">
                <a:latin typeface="Arial"/>
                <a:cs typeface="Arial"/>
              </a:rPr>
              <a:t>of</a:t>
            </a:r>
            <a:r>
              <a:rPr sz="2200" b="1" spc="630" dirty="0">
                <a:latin typeface="Arial"/>
                <a:cs typeface="Arial"/>
              </a:rPr>
              <a:t> </a:t>
            </a:r>
            <a:r>
              <a:rPr sz="2200" b="1" spc="5" dirty="0"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4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15" dirty="0">
                <a:solidFill>
                  <a:srgbClr val="7E7E7E"/>
                </a:solidFill>
                <a:latin typeface="Arial"/>
                <a:cs typeface="Arial"/>
              </a:rPr>
              <a:t>Huawei's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 </a:t>
            </a:r>
            <a:r>
              <a:rPr sz="2200" spc="30" dirty="0">
                <a:solidFill>
                  <a:srgbClr val="7E7E7E"/>
                </a:solidFill>
                <a:latin typeface="Arial"/>
                <a:cs typeface="Arial"/>
              </a:rPr>
              <a:t>Development</a:t>
            </a:r>
            <a:r>
              <a:rPr sz="2200" spc="2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srgbClr val="7E7E7E"/>
                </a:solidFill>
                <a:latin typeface="Arial"/>
                <a:cs typeface="Arial"/>
              </a:rPr>
              <a:t>Strategy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39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r>
              <a:rPr sz="2200" spc="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7E7E7E"/>
                </a:solidFill>
                <a:latin typeface="Arial"/>
                <a:cs typeface="Arial"/>
              </a:rPr>
              <a:t>Disputes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20" dirty="0">
                <a:solidFill>
                  <a:srgbClr val="7E7E7E"/>
                </a:solidFill>
                <a:latin typeface="Arial"/>
                <a:cs typeface="Arial"/>
              </a:rPr>
              <a:t>Future </a:t>
            </a:r>
            <a:r>
              <a:rPr sz="2200" spc="-50" dirty="0">
                <a:solidFill>
                  <a:srgbClr val="7E7E7E"/>
                </a:solidFill>
                <a:latin typeface="Arial"/>
                <a:cs typeface="Arial"/>
              </a:rPr>
              <a:t>Prospects </a:t>
            </a:r>
            <a:r>
              <a:rPr sz="2200" spc="90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2200" spc="2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65932" y="1121663"/>
            <a:ext cx="5169251" cy="5168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81476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Technical </a:t>
            </a:r>
            <a:r>
              <a:rPr spc="-50" dirty="0"/>
              <a:t>Fields </a:t>
            </a:r>
            <a:r>
              <a:rPr spc="45" dirty="0"/>
              <a:t>and </a:t>
            </a:r>
            <a:r>
              <a:rPr spc="65" dirty="0"/>
              <a:t>Application </a:t>
            </a:r>
            <a:r>
              <a:rPr spc="-50" dirty="0"/>
              <a:t>Fields </a:t>
            </a:r>
            <a:r>
              <a:rPr spc="145" dirty="0"/>
              <a:t>of</a:t>
            </a:r>
            <a:r>
              <a:rPr spc="555" dirty="0"/>
              <a:t> </a:t>
            </a:r>
            <a:r>
              <a:rPr spc="-10" dirty="0"/>
              <a:t>AI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20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6413" y="5790996"/>
            <a:ext cx="19145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 marR="5080" indent="-218440">
              <a:lnSpc>
                <a:spcPct val="100000"/>
              </a:lnSpc>
              <a:spcBef>
                <a:spcPts val="100"/>
              </a:spcBef>
            </a:pPr>
            <a:r>
              <a:rPr sz="1400" spc="15" dirty="0">
                <a:latin typeface="Arial"/>
                <a:cs typeface="Arial"/>
              </a:rPr>
              <a:t>Global </a:t>
            </a:r>
            <a:r>
              <a:rPr sz="1400" spc="-5" dirty="0">
                <a:latin typeface="Arial"/>
                <a:cs typeface="Arial"/>
              </a:rPr>
              <a:t>AI </a:t>
            </a:r>
            <a:r>
              <a:rPr sz="1400" spc="20" dirty="0">
                <a:latin typeface="Arial"/>
                <a:cs typeface="Arial"/>
              </a:rPr>
              <a:t>Development  </a:t>
            </a:r>
            <a:r>
              <a:rPr sz="1400" spc="40" dirty="0">
                <a:latin typeface="Arial"/>
                <a:cs typeface="Arial"/>
              </a:rPr>
              <a:t>White </a:t>
            </a:r>
            <a:r>
              <a:rPr sz="1400" spc="-25" dirty="0">
                <a:latin typeface="Arial"/>
                <a:cs typeface="Arial"/>
              </a:rPr>
              <a:t>Paper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2020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85" dirty="0"/>
              <a:t>Distribution </a:t>
            </a:r>
            <a:r>
              <a:rPr spc="145" dirty="0"/>
              <a:t>of </a:t>
            </a:r>
            <a:r>
              <a:rPr spc="-10" dirty="0"/>
              <a:t>AI </a:t>
            </a:r>
            <a:r>
              <a:rPr spc="65" dirty="0"/>
              <a:t>Application </a:t>
            </a:r>
            <a:r>
              <a:rPr spc="-10" dirty="0"/>
              <a:t>Technologies </a:t>
            </a:r>
            <a:r>
              <a:rPr spc="95" dirty="0"/>
              <a:t>in </a:t>
            </a:r>
            <a:r>
              <a:rPr spc="-25" dirty="0"/>
              <a:t>Enterprises  </a:t>
            </a:r>
            <a:r>
              <a:rPr spc="-10" dirty="0"/>
              <a:t>Inside </a:t>
            </a:r>
            <a:r>
              <a:rPr spc="45" dirty="0"/>
              <a:t>and </a:t>
            </a:r>
            <a:r>
              <a:rPr spc="25" dirty="0"/>
              <a:t>Outside</a:t>
            </a:r>
            <a:r>
              <a:rPr spc="254" dirty="0"/>
              <a:t> </a:t>
            </a:r>
            <a:r>
              <a:rPr spc="-20" dirty="0"/>
              <a:t>China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682877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509141"/>
            <a:ext cx="539750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800" spc="65" dirty="0">
                <a:latin typeface="Arial"/>
                <a:cs typeface="Arial"/>
              </a:rPr>
              <a:t>At </a:t>
            </a:r>
            <a:r>
              <a:rPr sz="1800" spc="-5" dirty="0">
                <a:latin typeface="Arial"/>
                <a:cs typeface="Arial"/>
              </a:rPr>
              <a:t>present, </a:t>
            </a:r>
            <a:r>
              <a:rPr sz="1800" spc="30" dirty="0">
                <a:latin typeface="Arial"/>
                <a:cs typeface="Arial"/>
              </a:rPr>
              <a:t>application </a:t>
            </a:r>
            <a:r>
              <a:rPr sz="1800" spc="15" dirty="0">
                <a:latin typeface="Arial"/>
                <a:cs typeface="Arial"/>
              </a:rPr>
              <a:t>directions </a:t>
            </a:r>
            <a:r>
              <a:rPr sz="1800" spc="8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AI </a:t>
            </a:r>
            <a:r>
              <a:rPr sz="1800" spc="10" dirty="0">
                <a:latin typeface="Arial"/>
                <a:cs typeface="Arial"/>
              </a:rPr>
              <a:t>technologies  </a:t>
            </a:r>
            <a:r>
              <a:rPr sz="1800" spc="50" dirty="0">
                <a:latin typeface="Arial"/>
                <a:cs typeface="Arial"/>
              </a:rPr>
              <a:t>mainly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include: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4755" y="2521076"/>
            <a:ext cx="11683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3388" y="2364246"/>
            <a:ext cx="5147945" cy="70993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600" b="1" spc="5" dirty="0">
                <a:latin typeface="Arial"/>
                <a:cs typeface="Arial"/>
              </a:rPr>
              <a:t>Computer </a:t>
            </a:r>
            <a:r>
              <a:rPr sz="1600" b="1" spc="-40" dirty="0">
                <a:latin typeface="Arial"/>
                <a:cs typeface="Arial"/>
              </a:rPr>
              <a:t>vision</a:t>
            </a:r>
            <a:r>
              <a:rPr sz="1600" spc="-40" dirty="0">
                <a:latin typeface="Arial"/>
                <a:cs typeface="Arial"/>
              </a:rPr>
              <a:t>: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40" dirty="0">
                <a:latin typeface="Arial"/>
                <a:cs typeface="Arial"/>
              </a:rPr>
              <a:t>science </a:t>
            </a:r>
            <a:r>
              <a:rPr sz="1600" spc="70" dirty="0">
                <a:latin typeface="Arial"/>
                <a:cs typeface="Arial"/>
              </a:rPr>
              <a:t>of </a:t>
            </a:r>
            <a:r>
              <a:rPr sz="1600" spc="55" dirty="0">
                <a:latin typeface="Arial"/>
                <a:cs typeface="Arial"/>
              </a:rPr>
              <a:t>how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spc="20" dirty="0">
                <a:latin typeface="Arial"/>
                <a:cs typeface="Arial"/>
              </a:rPr>
              <a:t>make</a:t>
            </a:r>
            <a:r>
              <a:rPr sz="1600" spc="395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computers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600" spc="10" dirty="0">
                <a:latin typeface="Arial"/>
                <a:cs typeface="Arial"/>
              </a:rPr>
              <a:t>"see"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4755" y="3294126"/>
            <a:ext cx="11683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3388" y="3138520"/>
            <a:ext cx="533209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5"/>
              </a:spcBef>
            </a:pPr>
            <a:r>
              <a:rPr sz="1600" b="1" spc="-55" dirty="0">
                <a:latin typeface="Arial"/>
                <a:cs typeface="Arial"/>
              </a:rPr>
              <a:t>Speech processing</a:t>
            </a:r>
            <a:r>
              <a:rPr sz="1600" spc="-55" dirty="0">
                <a:latin typeface="Arial"/>
                <a:cs typeface="Arial"/>
              </a:rPr>
              <a:t>: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10" dirty="0">
                <a:latin typeface="Arial"/>
                <a:cs typeface="Arial"/>
              </a:rPr>
              <a:t>general </a:t>
            </a:r>
            <a:r>
              <a:rPr sz="1600" spc="60" dirty="0">
                <a:latin typeface="Arial"/>
                <a:cs typeface="Arial"/>
              </a:rPr>
              <a:t>term </a:t>
            </a:r>
            <a:r>
              <a:rPr sz="1600" spc="65" dirty="0">
                <a:latin typeface="Arial"/>
                <a:cs typeface="Arial"/>
              </a:rPr>
              <a:t>for </a:t>
            </a:r>
            <a:r>
              <a:rPr sz="1600" dirty="0">
                <a:latin typeface="Arial"/>
                <a:cs typeface="Arial"/>
              </a:rPr>
              <a:t>various  </a:t>
            </a:r>
            <a:r>
              <a:rPr sz="1600" spc="-15" dirty="0">
                <a:latin typeface="Arial"/>
                <a:cs typeface="Arial"/>
              </a:rPr>
              <a:t>processing </a:t>
            </a:r>
            <a:r>
              <a:rPr sz="1600" spc="10" dirty="0">
                <a:latin typeface="Arial"/>
                <a:cs typeface="Arial"/>
              </a:rPr>
              <a:t>technologies </a:t>
            </a:r>
            <a:r>
              <a:rPr sz="1600" spc="-30" dirty="0">
                <a:latin typeface="Arial"/>
                <a:cs typeface="Arial"/>
              </a:rPr>
              <a:t>used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spc="-20" dirty="0">
                <a:latin typeface="Arial"/>
                <a:cs typeface="Arial"/>
              </a:rPr>
              <a:t>research </a:t>
            </a:r>
            <a:r>
              <a:rPr sz="1600" spc="40" dirty="0">
                <a:latin typeface="Arial"/>
                <a:cs typeface="Arial"/>
              </a:rPr>
              <a:t>the </a:t>
            </a:r>
            <a:r>
              <a:rPr sz="1600" spc="10" dirty="0">
                <a:latin typeface="Arial"/>
                <a:cs typeface="Arial"/>
              </a:rPr>
              <a:t>voicing  </a:t>
            </a:r>
            <a:r>
              <a:rPr sz="1600" spc="-40" dirty="0">
                <a:latin typeface="Arial"/>
                <a:cs typeface="Arial"/>
              </a:rPr>
              <a:t>process, </a:t>
            </a:r>
            <a:r>
              <a:rPr sz="1600" spc="15" dirty="0">
                <a:latin typeface="Arial"/>
                <a:cs typeface="Arial"/>
              </a:rPr>
              <a:t>statistical </a:t>
            </a:r>
            <a:r>
              <a:rPr sz="1600" spc="10" dirty="0">
                <a:latin typeface="Arial"/>
                <a:cs typeface="Arial"/>
              </a:rPr>
              <a:t>features </a:t>
            </a:r>
            <a:r>
              <a:rPr sz="1600" spc="65" dirty="0">
                <a:latin typeface="Arial"/>
                <a:cs typeface="Arial"/>
              </a:rPr>
              <a:t>of </a:t>
            </a:r>
            <a:r>
              <a:rPr sz="1600" spc="-45" dirty="0">
                <a:latin typeface="Arial"/>
                <a:cs typeface="Arial"/>
              </a:rPr>
              <a:t>speech </a:t>
            </a:r>
            <a:r>
              <a:rPr sz="1600" spc="-15" dirty="0">
                <a:latin typeface="Arial"/>
                <a:cs typeface="Arial"/>
              </a:rPr>
              <a:t>signals, </a:t>
            </a:r>
            <a:r>
              <a:rPr sz="1600" spc="-45" dirty="0">
                <a:latin typeface="Arial"/>
                <a:cs typeface="Arial"/>
              </a:rPr>
              <a:t>speech  </a:t>
            </a:r>
            <a:r>
              <a:rPr sz="1600" spc="20" dirty="0">
                <a:latin typeface="Arial"/>
                <a:cs typeface="Arial"/>
              </a:rPr>
              <a:t>recognition, </a:t>
            </a:r>
            <a:r>
              <a:rPr sz="1600" spc="5" dirty="0">
                <a:latin typeface="Arial"/>
                <a:cs typeface="Arial"/>
              </a:rPr>
              <a:t>machine-based </a:t>
            </a:r>
            <a:r>
              <a:rPr sz="1600" spc="-45" dirty="0">
                <a:latin typeface="Arial"/>
                <a:cs typeface="Arial"/>
              </a:rPr>
              <a:t>speech </a:t>
            </a:r>
            <a:r>
              <a:rPr sz="1600" spc="-25" dirty="0">
                <a:latin typeface="Arial"/>
                <a:cs typeface="Arial"/>
              </a:rPr>
              <a:t>synthesis, </a:t>
            </a:r>
            <a:r>
              <a:rPr sz="1600" spc="15" dirty="0">
                <a:latin typeface="Arial"/>
                <a:cs typeface="Arial"/>
              </a:rPr>
              <a:t>and </a:t>
            </a:r>
            <a:r>
              <a:rPr sz="1600" spc="-45" dirty="0">
                <a:latin typeface="Arial"/>
                <a:cs typeface="Arial"/>
              </a:rPr>
              <a:t>speech  </a:t>
            </a:r>
            <a:r>
              <a:rPr sz="1600" spc="20" dirty="0">
                <a:latin typeface="Arial"/>
                <a:cs typeface="Arial"/>
              </a:rPr>
              <a:t>perception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4755" y="5089347"/>
            <a:ext cx="116839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5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3388" y="4933797"/>
            <a:ext cx="5247005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600" b="1" spc="55" dirty="0">
                <a:latin typeface="Arial"/>
                <a:cs typeface="Arial"/>
              </a:rPr>
              <a:t>Natural </a:t>
            </a:r>
            <a:r>
              <a:rPr sz="1600" b="1" spc="15" dirty="0">
                <a:latin typeface="Arial"/>
                <a:cs typeface="Arial"/>
              </a:rPr>
              <a:t>language </a:t>
            </a:r>
            <a:r>
              <a:rPr sz="1600" b="1" spc="-50" dirty="0">
                <a:latin typeface="Arial"/>
                <a:cs typeface="Arial"/>
              </a:rPr>
              <a:t>processing </a:t>
            </a:r>
            <a:r>
              <a:rPr sz="1600" b="1" spc="30" dirty="0">
                <a:latin typeface="Arial"/>
                <a:cs typeface="Arial"/>
              </a:rPr>
              <a:t>(NLP)</a:t>
            </a:r>
            <a:r>
              <a:rPr sz="1600" spc="30" dirty="0">
                <a:latin typeface="Arial"/>
                <a:cs typeface="Arial"/>
              </a:rPr>
              <a:t>: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5" dirty="0">
                <a:latin typeface="Arial"/>
                <a:cs typeface="Arial"/>
              </a:rPr>
              <a:t>subject </a:t>
            </a:r>
            <a:r>
              <a:rPr sz="1600" spc="70" dirty="0">
                <a:latin typeface="Arial"/>
                <a:cs typeface="Arial"/>
              </a:rPr>
              <a:t>that </a:t>
            </a:r>
            <a:r>
              <a:rPr sz="1600" spc="-45" dirty="0">
                <a:latin typeface="Arial"/>
                <a:cs typeface="Arial"/>
              </a:rPr>
              <a:t>use  </a:t>
            </a:r>
            <a:r>
              <a:rPr sz="1600" spc="35" dirty="0">
                <a:latin typeface="Arial"/>
                <a:cs typeface="Arial"/>
              </a:rPr>
              <a:t>computer </a:t>
            </a:r>
            <a:r>
              <a:rPr sz="1600" spc="10" dirty="0">
                <a:latin typeface="Arial"/>
                <a:cs typeface="Arial"/>
              </a:rPr>
              <a:t>technologies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spc="15" dirty="0">
                <a:latin typeface="Arial"/>
                <a:cs typeface="Arial"/>
              </a:rPr>
              <a:t>understand and </a:t>
            </a:r>
            <a:r>
              <a:rPr sz="1600" spc="-45" dirty="0">
                <a:latin typeface="Arial"/>
                <a:cs typeface="Arial"/>
              </a:rPr>
              <a:t>use </a:t>
            </a:r>
            <a:r>
              <a:rPr sz="1600" spc="45" dirty="0">
                <a:latin typeface="Arial"/>
                <a:cs typeface="Arial"/>
              </a:rPr>
              <a:t>natural  </a:t>
            </a:r>
            <a:r>
              <a:rPr sz="1600" spc="20" dirty="0">
                <a:latin typeface="Arial"/>
                <a:cs typeface="Arial"/>
              </a:rPr>
              <a:t>language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3026" y="4650104"/>
            <a:ext cx="41706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1480" marR="5080" indent="-399415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latin typeface="Arial"/>
                <a:cs typeface="Arial"/>
              </a:rPr>
              <a:t>Distribution </a:t>
            </a:r>
            <a:r>
              <a:rPr sz="1600" spc="65" dirty="0">
                <a:latin typeface="Arial"/>
                <a:cs typeface="Arial"/>
              </a:rPr>
              <a:t>of </a:t>
            </a: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30" dirty="0">
                <a:latin typeface="Arial"/>
                <a:cs typeface="Arial"/>
              </a:rPr>
              <a:t>application </a:t>
            </a:r>
            <a:r>
              <a:rPr sz="1600" spc="10" dirty="0">
                <a:latin typeface="Arial"/>
                <a:cs typeface="Arial"/>
              </a:rPr>
              <a:t>technologies </a:t>
            </a:r>
            <a:r>
              <a:rPr sz="1600" spc="45" dirty="0">
                <a:latin typeface="Arial"/>
                <a:cs typeface="Arial"/>
              </a:rPr>
              <a:t>in  </a:t>
            </a:r>
            <a:r>
              <a:rPr sz="1600" spc="-10" dirty="0">
                <a:latin typeface="Arial"/>
                <a:cs typeface="Arial"/>
              </a:rPr>
              <a:t>enterprises </a:t>
            </a:r>
            <a:r>
              <a:rPr sz="1600" spc="-5" dirty="0">
                <a:latin typeface="Arial"/>
                <a:cs typeface="Arial"/>
              </a:rPr>
              <a:t>inside </a:t>
            </a:r>
            <a:r>
              <a:rPr sz="1600" spc="15" dirty="0">
                <a:latin typeface="Arial"/>
                <a:cs typeface="Arial"/>
              </a:rPr>
              <a:t>and </a:t>
            </a:r>
            <a:r>
              <a:rPr sz="1600" spc="10" dirty="0">
                <a:latin typeface="Arial"/>
                <a:cs typeface="Arial"/>
              </a:rPr>
              <a:t>outside</a:t>
            </a:r>
            <a:r>
              <a:rPr sz="1600" spc="345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China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34630" y="5351526"/>
            <a:ext cx="28892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China </a:t>
            </a:r>
            <a:r>
              <a:rPr sz="1400" spc="-5" dirty="0">
                <a:latin typeface="Arial"/>
                <a:cs typeface="Arial"/>
              </a:rPr>
              <a:t>AI </a:t>
            </a:r>
            <a:r>
              <a:rPr sz="1400" spc="20" dirty="0">
                <a:latin typeface="Arial"/>
                <a:cs typeface="Arial"/>
              </a:rPr>
              <a:t>Development </a:t>
            </a:r>
            <a:r>
              <a:rPr sz="1400" dirty="0">
                <a:latin typeface="Arial"/>
                <a:cs typeface="Arial"/>
              </a:rPr>
              <a:t>Report</a:t>
            </a:r>
            <a:r>
              <a:rPr sz="1400" spc="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41783" y="1143113"/>
            <a:ext cx="3767919" cy="2862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6923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45" dirty="0"/>
              <a:t>Computer </a:t>
            </a:r>
            <a:r>
              <a:rPr spc="-5" dirty="0"/>
              <a:t>Vision </a:t>
            </a:r>
            <a:r>
              <a:rPr spc="65" dirty="0"/>
              <a:t>Application </a:t>
            </a:r>
            <a:r>
              <a:rPr spc="-35" dirty="0"/>
              <a:t>Scenario</a:t>
            </a:r>
            <a:r>
              <a:rPr spc="260" dirty="0"/>
              <a:t> </a:t>
            </a:r>
            <a:r>
              <a:rPr spc="170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183894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6604"/>
            <a:ext cx="1028954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600" spc="20" dirty="0">
                <a:latin typeface="Arial"/>
                <a:cs typeface="Arial"/>
              </a:rPr>
              <a:t>Computer </a:t>
            </a:r>
            <a:r>
              <a:rPr sz="1600" spc="5" dirty="0">
                <a:latin typeface="Arial"/>
                <a:cs typeface="Arial"/>
              </a:rPr>
              <a:t>vision </a:t>
            </a:r>
            <a:r>
              <a:rPr sz="1600" spc="-40" dirty="0">
                <a:latin typeface="Arial"/>
                <a:cs typeface="Arial"/>
              </a:rPr>
              <a:t>is </a:t>
            </a:r>
            <a:r>
              <a:rPr sz="1600" spc="40" dirty="0">
                <a:latin typeface="Arial"/>
                <a:cs typeface="Arial"/>
              </a:rPr>
              <a:t>the </a:t>
            </a:r>
            <a:r>
              <a:rPr sz="1600" spc="35" dirty="0">
                <a:latin typeface="Arial"/>
                <a:cs typeface="Arial"/>
              </a:rPr>
              <a:t>most </a:t>
            </a:r>
            <a:r>
              <a:rPr sz="1600" spc="50" dirty="0">
                <a:latin typeface="Arial"/>
                <a:cs typeface="Arial"/>
              </a:rPr>
              <a:t>mature </a:t>
            </a:r>
            <a:r>
              <a:rPr sz="1600" spc="25" dirty="0">
                <a:latin typeface="Arial"/>
                <a:cs typeface="Arial"/>
              </a:rPr>
              <a:t>technology </a:t>
            </a:r>
            <a:r>
              <a:rPr sz="1600" spc="35" dirty="0">
                <a:latin typeface="Arial"/>
                <a:cs typeface="Arial"/>
              </a:rPr>
              <a:t>among </a:t>
            </a:r>
            <a:r>
              <a:rPr sz="1600" spc="40" dirty="0">
                <a:latin typeface="Arial"/>
                <a:cs typeface="Arial"/>
              </a:rPr>
              <a:t>the </a:t>
            </a:r>
            <a:r>
              <a:rPr sz="1600" spc="30" dirty="0">
                <a:latin typeface="Arial"/>
                <a:cs typeface="Arial"/>
              </a:rPr>
              <a:t>three </a:t>
            </a: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5" dirty="0">
                <a:latin typeface="Arial"/>
                <a:cs typeface="Arial"/>
              </a:rPr>
              <a:t>technologies. </a:t>
            </a:r>
            <a:r>
              <a:rPr sz="1600" spc="-30" dirty="0">
                <a:latin typeface="Arial"/>
                <a:cs typeface="Arial"/>
              </a:rPr>
              <a:t>The </a:t>
            </a:r>
            <a:r>
              <a:rPr sz="1600" spc="50" dirty="0">
                <a:latin typeface="Arial"/>
                <a:cs typeface="Arial"/>
              </a:rPr>
              <a:t>main </a:t>
            </a:r>
            <a:r>
              <a:rPr sz="1600" spc="5" dirty="0">
                <a:latin typeface="Arial"/>
                <a:cs typeface="Arial"/>
              </a:rPr>
              <a:t>topics </a:t>
            </a:r>
            <a:r>
              <a:rPr sz="1600" spc="70" dirty="0">
                <a:latin typeface="Arial"/>
                <a:cs typeface="Arial"/>
              </a:rPr>
              <a:t>of  </a:t>
            </a:r>
            <a:r>
              <a:rPr sz="1600" spc="35" dirty="0">
                <a:latin typeface="Arial"/>
                <a:cs typeface="Arial"/>
              </a:rPr>
              <a:t>computer </a:t>
            </a:r>
            <a:r>
              <a:rPr sz="1600" spc="5" dirty="0">
                <a:latin typeface="Arial"/>
                <a:cs typeface="Arial"/>
              </a:rPr>
              <a:t>vision </a:t>
            </a:r>
            <a:r>
              <a:rPr sz="1600" spc="-15" dirty="0">
                <a:latin typeface="Arial"/>
                <a:cs typeface="Arial"/>
              </a:rPr>
              <a:t>research </a:t>
            </a:r>
            <a:r>
              <a:rPr sz="1600" spc="20" dirty="0">
                <a:latin typeface="Arial"/>
                <a:cs typeface="Arial"/>
              </a:rPr>
              <a:t>include </a:t>
            </a:r>
            <a:r>
              <a:rPr sz="1600" spc="30" dirty="0">
                <a:latin typeface="Arial"/>
                <a:cs typeface="Arial"/>
              </a:rPr>
              <a:t>image </a:t>
            </a:r>
            <a:r>
              <a:rPr sz="1600" spc="5" dirty="0">
                <a:latin typeface="Arial"/>
                <a:cs typeface="Arial"/>
              </a:rPr>
              <a:t>classification, </a:t>
            </a:r>
            <a:r>
              <a:rPr sz="1600" spc="50" dirty="0">
                <a:latin typeface="Arial"/>
                <a:cs typeface="Arial"/>
              </a:rPr>
              <a:t>target </a:t>
            </a:r>
            <a:r>
              <a:rPr sz="1600" spc="20" dirty="0">
                <a:latin typeface="Arial"/>
                <a:cs typeface="Arial"/>
              </a:rPr>
              <a:t>detection, </a:t>
            </a:r>
            <a:r>
              <a:rPr sz="1600" spc="25" dirty="0">
                <a:latin typeface="Arial"/>
                <a:cs typeface="Arial"/>
              </a:rPr>
              <a:t>image </a:t>
            </a:r>
            <a:r>
              <a:rPr sz="1600" spc="20" dirty="0">
                <a:latin typeface="Arial"/>
                <a:cs typeface="Arial"/>
              </a:rPr>
              <a:t>segmentation, </a:t>
            </a:r>
            <a:r>
              <a:rPr sz="1600" spc="50" dirty="0">
                <a:latin typeface="Arial"/>
                <a:cs typeface="Arial"/>
              </a:rPr>
              <a:t>target </a:t>
            </a:r>
            <a:r>
              <a:rPr sz="1600" spc="25" dirty="0">
                <a:latin typeface="Arial"/>
                <a:cs typeface="Arial"/>
              </a:rPr>
              <a:t>tracking,  </a:t>
            </a:r>
            <a:r>
              <a:rPr sz="1600" spc="30" dirty="0">
                <a:latin typeface="Arial"/>
                <a:cs typeface="Arial"/>
              </a:rPr>
              <a:t>optical </a:t>
            </a:r>
            <a:r>
              <a:rPr sz="1600" spc="10" dirty="0">
                <a:latin typeface="Arial"/>
                <a:cs typeface="Arial"/>
              </a:rPr>
              <a:t>character </a:t>
            </a:r>
            <a:r>
              <a:rPr sz="1600" spc="30" dirty="0">
                <a:latin typeface="Arial"/>
                <a:cs typeface="Arial"/>
              </a:rPr>
              <a:t>recognition </a:t>
            </a:r>
            <a:r>
              <a:rPr sz="1600" spc="-30" dirty="0">
                <a:latin typeface="Arial"/>
                <a:cs typeface="Arial"/>
              </a:rPr>
              <a:t>(OCR), </a:t>
            </a:r>
            <a:r>
              <a:rPr sz="1600" spc="15" dirty="0">
                <a:latin typeface="Arial"/>
                <a:cs typeface="Arial"/>
              </a:rPr>
              <a:t>and </a:t>
            </a:r>
            <a:r>
              <a:rPr sz="1600" spc="25" dirty="0">
                <a:latin typeface="Arial"/>
                <a:cs typeface="Arial"/>
              </a:rPr>
              <a:t>facial</a:t>
            </a:r>
            <a:r>
              <a:rPr sz="1600" spc="409" dirty="0">
                <a:latin typeface="Arial"/>
                <a:cs typeface="Arial"/>
              </a:rPr>
              <a:t> </a:t>
            </a:r>
            <a:r>
              <a:rPr sz="1600" spc="20" dirty="0">
                <a:latin typeface="Arial"/>
                <a:cs typeface="Arial"/>
              </a:rPr>
              <a:t>recognition.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163521"/>
            <a:ext cx="10223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056917"/>
            <a:ext cx="1029081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600" spc="25" dirty="0">
                <a:latin typeface="Arial"/>
                <a:cs typeface="Arial"/>
              </a:rPr>
              <a:t>In </a:t>
            </a:r>
            <a:r>
              <a:rPr sz="1600" spc="40" dirty="0">
                <a:latin typeface="Arial"/>
                <a:cs typeface="Arial"/>
              </a:rPr>
              <a:t>the future, </a:t>
            </a:r>
            <a:r>
              <a:rPr sz="1600" spc="35" dirty="0">
                <a:latin typeface="Arial"/>
                <a:cs typeface="Arial"/>
              </a:rPr>
              <a:t>computer </a:t>
            </a:r>
            <a:r>
              <a:rPr sz="1600" dirty="0">
                <a:latin typeface="Arial"/>
                <a:cs typeface="Arial"/>
              </a:rPr>
              <a:t>vision </a:t>
            </a:r>
            <a:r>
              <a:rPr sz="1600" spc="-40" dirty="0">
                <a:latin typeface="Arial"/>
                <a:cs typeface="Arial"/>
              </a:rPr>
              <a:t>is </a:t>
            </a:r>
            <a:r>
              <a:rPr sz="1600" spc="-5" dirty="0">
                <a:latin typeface="Arial"/>
                <a:cs typeface="Arial"/>
              </a:rPr>
              <a:t>expected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spc="30" dirty="0">
                <a:latin typeface="Arial"/>
                <a:cs typeface="Arial"/>
              </a:rPr>
              <a:t>enter </a:t>
            </a:r>
            <a:r>
              <a:rPr sz="1600" spc="4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advanced stage </a:t>
            </a:r>
            <a:r>
              <a:rPr sz="1600" spc="70" dirty="0">
                <a:latin typeface="Arial"/>
                <a:cs typeface="Arial"/>
              </a:rPr>
              <a:t>of </a:t>
            </a:r>
            <a:r>
              <a:rPr sz="1600" spc="35" dirty="0">
                <a:latin typeface="Arial"/>
                <a:cs typeface="Arial"/>
              </a:rPr>
              <a:t>autonomous </a:t>
            </a:r>
            <a:r>
              <a:rPr sz="1600" spc="15" dirty="0">
                <a:latin typeface="Arial"/>
                <a:cs typeface="Arial"/>
              </a:rPr>
              <a:t>understanding,  </a:t>
            </a:r>
            <a:r>
              <a:rPr sz="1600" spc="-20" dirty="0">
                <a:latin typeface="Arial"/>
                <a:cs typeface="Arial"/>
              </a:rPr>
              <a:t>analysis,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spc="15" dirty="0">
                <a:latin typeface="Arial"/>
                <a:cs typeface="Arial"/>
              </a:rPr>
              <a:t>decision-making, </a:t>
            </a:r>
            <a:r>
              <a:rPr sz="1600" spc="25" dirty="0">
                <a:latin typeface="Arial"/>
                <a:cs typeface="Arial"/>
              </a:rPr>
              <a:t>enabling </a:t>
            </a:r>
            <a:r>
              <a:rPr sz="1600" dirty="0">
                <a:latin typeface="Arial"/>
                <a:cs typeface="Arial"/>
              </a:rPr>
              <a:t>machines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spc="10" dirty="0">
                <a:latin typeface="Arial"/>
                <a:cs typeface="Arial"/>
              </a:rPr>
              <a:t>"see"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spc="40" dirty="0">
                <a:latin typeface="Arial"/>
                <a:cs typeface="Arial"/>
              </a:rPr>
              <a:t>bringing </a:t>
            </a:r>
            <a:r>
              <a:rPr sz="1600" spc="25" dirty="0">
                <a:latin typeface="Arial"/>
                <a:cs typeface="Arial"/>
              </a:rPr>
              <a:t>greater </a:t>
            </a:r>
            <a:r>
              <a:rPr sz="1600" spc="10" dirty="0">
                <a:latin typeface="Arial"/>
                <a:cs typeface="Arial"/>
              </a:rPr>
              <a:t>value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spc="-20" dirty="0">
                <a:latin typeface="Arial"/>
                <a:cs typeface="Arial"/>
              </a:rPr>
              <a:t>scenarios </a:t>
            </a:r>
            <a:r>
              <a:rPr sz="1600" spc="-30" dirty="0">
                <a:latin typeface="Arial"/>
                <a:cs typeface="Arial"/>
              </a:rPr>
              <a:t>such </a:t>
            </a:r>
            <a:r>
              <a:rPr sz="1600" spc="-65" dirty="0">
                <a:latin typeface="Arial"/>
                <a:cs typeface="Arial"/>
              </a:rPr>
              <a:t>as  </a:t>
            </a:r>
            <a:r>
              <a:rPr sz="1600" spc="25" dirty="0">
                <a:latin typeface="Arial"/>
                <a:cs typeface="Arial"/>
              </a:rPr>
              <a:t>unmanned </a:t>
            </a:r>
            <a:r>
              <a:rPr sz="1600" spc="-25" dirty="0">
                <a:latin typeface="Arial"/>
                <a:cs typeface="Arial"/>
              </a:rPr>
              <a:t>vehicles </a:t>
            </a:r>
            <a:r>
              <a:rPr sz="1600" spc="15" dirty="0">
                <a:latin typeface="Arial"/>
                <a:cs typeface="Arial"/>
              </a:rPr>
              <a:t>and </a:t>
            </a:r>
            <a:r>
              <a:rPr sz="1600" spc="30" dirty="0">
                <a:latin typeface="Arial"/>
                <a:cs typeface="Arial"/>
              </a:rPr>
              <a:t>smart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homes.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287" y="3142614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1039" y="3084702"/>
            <a:ext cx="2026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latin typeface="Arial"/>
                <a:cs typeface="Arial"/>
              </a:rPr>
              <a:t>Application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spc="-30" dirty="0">
                <a:latin typeface="Arial"/>
                <a:cs typeface="Arial"/>
              </a:rPr>
              <a:t>scenarios: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63306" y="5895543"/>
            <a:ext cx="1402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latin typeface="Arial"/>
                <a:cs typeface="Arial"/>
              </a:rPr>
              <a:t>Traffic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1185" y="5895543"/>
            <a:ext cx="2022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Electronic</a:t>
            </a:r>
            <a:r>
              <a:rPr sz="1600" spc="70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attendance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13804" y="3497579"/>
            <a:ext cx="3957954" cy="2357755"/>
            <a:chOff x="6813804" y="3497579"/>
            <a:chExt cx="3957954" cy="2357755"/>
          </a:xfrm>
        </p:grpSpPr>
        <p:sp>
          <p:nvSpPr>
            <p:cNvPr id="12" name="object 12"/>
            <p:cNvSpPr/>
            <p:nvPr/>
          </p:nvSpPr>
          <p:spPr>
            <a:xfrm>
              <a:off x="6813804" y="3497579"/>
              <a:ext cx="3957828" cy="235762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41108" y="3729227"/>
              <a:ext cx="989330" cy="357505"/>
            </a:xfrm>
            <a:custGeom>
              <a:avLst/>
              <a:gdLst/>
              <a:ahLst/>
              <a:cxnLst/>
              <a:rect l="l" t="t" r="r" b="b"/>
              <a:pathLst>
                <a:path w="989329" h="357504">
                  <a:moveTo>
                    <a:pt x="989076" y="0"/>
                  </a:moveTo>
                  <a:lnTo>
                    <a:pt x="0" y="0"/>
                  </a:lnTo>
                  <a:lnTo>
                    <a:pt x="0" y="275844"/>
                  </a:lnTo>
                  <a:lnTo>
                    <a:pt x="164846" y="275844"/>
                  </a:lnTo>
                  <a:lnTo>
                    <a:pt x="354457" y="357251"/>
                  </a:lnTo>
                  <a:lnTo>
                    <a:pt x="412115" y="275844"/>
                  </a:lnTo>
                  <a:lnTo>
                    <a:pt x="989076" y="275844"/>
                  </a:lnTo>
                  <a:lnTo>
                    <a:pt x="9890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41108" y="3729227"/>
              <a:ext cx="989330" cy="357505"/>
            </a:xfrm>
            <a:custGeom>
              <a:avLst/>
              <a:gdLst/>
              <a:ahLst/>
              <a:cxnLst/>
              <a:rect l="l" t="t" r="r" b="b"/>
              <a:pathLst>
                <a:path w="989329" h="357504">
                  <a:moveTo>
                    <a:pt x="0" y="0"/>
                  </a:moveTo>
                  <a:lnTo>
                    <a:pt x="164846" y="0"/>
                  </a:lnTo>
                  <a:lnTo>
                    <a:pt x="412115" y="0"/>
                  </a:lnTo>
                  <a:lnTo>
                    <a:pt x="989076" y="0"/>
                  </a:lnTo>
                  <a:lnTo>
                    <a:pt x="989076" y="160909"/>
                  </a:lnTo>
                  <a:lnTo>
                    <a:pt x="989076" y="229870"/>
                  </a:lnTo>
                  <a:lnTo>
                    <a:pt x="989076" y="275844"/>
                  </a:lnTo>
                  <a:lnTo>
                    <a:pt x="412115" y="275844"/>
                  </a:lnTo>
                  <a:lnTo>
                    <a:pt x="354457" y="357251"/>
                  </a:lnTo>
                  <a:lnTo>
                    <a:pt x="164846" y="275844"/>
                  </a:lnTo>
                  <a:lnTo>
                    <a:pt x="0" y="275844"/>
                  </a:lnTo>
                  <a:lnTo>
                    <a:pt x="0" y="229870"/>
                  </a:lnTo>
                  <a:lnTo>
                    <a:pt x="0" y="16090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069860" y="3653028"/>
            <a:ext cx="4553317" cy="19800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448804" y="3774694"/>
            <a:ext cx="741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Female, 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23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years 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old  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regular</a:t>
            </a:r>
            <a:r>
              <a:rPr sz="6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143745" y="3568953"/>
            <a:ext cx="1003300" cy="370205"/>
            <a:chOff x="9143745" y="3568953"/>
            <a:chExt cx="1003300" cy="370205"/>
          </a:xfrm>
        </p:grpSpPr>
        <p:sp>
          <p:nvSpPr>
            <p:cNvPr id="18" name="object 18"/>
            <p:cNvSpPr/>
            <p:nvPr/>
          </p:nvSpPr>
          <p:spPr>
            <a:xfrm>
              <a:off x="9150095" y="3575303"/>
              <a:ext cx="990600" cy="357505"/>
            </a:xfrm>
            <a:custGeom>
              <a:avLst/>
              <a:gdLst/>
              <a:ahLst/>
              <a:cxnLst/>
              <a:rect l="l" t="t" r="r" b="b"/>
              <a:pathLst>
                <a:path w="990600" h="357504">
                  <a:moveTo>
                    <a:pt x="990600" y="0"/>
                  </a:moveTo>
                  <a:lnTo>
                    <a:pt x="0" y="0"/>
                  </a:lnTo>
                  <a:lnTo>
                    <a:pt x="0" y="275844"/>
                  </a:lnTo>
                  <a:lnTo>
                    <a:pt x="165100" y="275844"/>
                  </a:lnTo>
                  <a:lnTo>
                    <a:pt x="354964" y="357251"/>
                  </a:lnTo>
                  <a:lnTo>
                    <a:pt x="412750" y="275844"/>
                  </a:lnTo>
                  <a:lnTo>
                    <a:pt x="990600" y="275844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50095" y="3575303"/>
              <a:ext cx="990600" cy="357505"/>
            </a:xfrm>
            <a:custGeom>
              <a:avLst/>
              <a:gdLst/>
              <a:ahLst/>
              <a:cxnLst/>
              <a:rect l="l" t="t" r="r" b="b"/>
              <a:pathLst>
                <a:path w="990600" h="357504">
                  <a:moveTo>
                    <a:pt x="0" y="0"/>
                  </a:moveTo>
                  <a:lnTo>
                    <a:pt x="165100" y="0"/>
                  </a:lnTo>
                  <a:lnTo>
                    <a:pt x="412750" y="0"/>
                  </a:lnTo>
                  <a:lnTo>
                    <a:pt x="990600" y="0"/>
                  </a:lnTo>
                  <a:lnTo>
                    <a:pt x="990600" y="160909"/>
                  </a:lnTo>
                  <a:lnTo>
                    <a:pt x="990600" y="229870"/>
                  </a:lnTo>
                  <a:lnTo>
                    <a:pt x="990600" y="275844"/>
                  </a:lnTo>
                  <a:lnTo>
                    <a:pt x="412750" y="275844"/>
                  </a:lnTo>
                  <a:lnTo>
                    <a:pt x="354964" y="357251"/>
                  </a:lnTo>
                  <a:lnTo>
                    <a:pt x="165100" y="275844"/>
                  </a:lnTo>
                  <a:lnTo>
                    <a:pt x="0" y="275844"/>
                  </a:lnTo>
                  <a:lnTo>
                    <a:pt x="0" y="229870"/>
                  </a:lnTo>
                  <a:lnTo>
                    <a:pt x="0" y="16090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259061" y="3620770"/>
            <a:ext cx="741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Female, 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22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years 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old  </a:t>
            </a:r>
            <a:r>
              <a:rPr sz="600" spc="5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211057" y="4227829"/>
            <a:ext cx="1003300" cy="350520"/>
            <a:chOff x="8211057" y="4227829"/>
            <a:chExt cx="1003300" cy="350520"/>
          </a:xfrm>
        </p:grpSpPr>
        <p:sp>
          <p:nvSpPr>
            <p:cNvPr id="22" name="object 22"/>
            <p:cNvSpPr/>
            <p:nvPr/>
          </p:nvSpPr>
          <p:spPr>
            <a:xfrm>
              <a:off x="8217407" y="4234179"/>
              <a:ext cx="990600" cy="337820"/>
            </a:xfrm>
            <a:custGeom>
              <a:avLst/>
              <a:gdLst/>
              <a:ahLst/>
              <a:cxnLst/>
              <a:rect l="l" t="t" r="r" b="b"/>
              <a:pathLst>
                <a:path w="990600" h="337820">
                  <a:moveTo>
                    <a:pt x="713359" y="0"/>
                  </a:moveTo>
                  <a:lnTo>
                    <a:pt x="577850" y="60452"/>
                  </a:lnTo>
                  <a:lnTo>
                    <a:pt x="0" y="60452"/>
                  </a:lnTo>
                  <a:lnTo>
                    <a:pt x="0" y="337820"/>
                  </a:lnTo>
                  <a:lnTo>
                    <a:pt x="990600" y="337820"/>
                  </a:lnTo>
                  <a:lnTo>
                    <a:pt x="990600" y="60452"/>
                  </a:lnTo>
                  <a:lnTo>
                    <a:pt x="825500" y="60452"/>
                  </a:lnTo>
                  <a:lnTo>
                    <a:pt x="7133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17407" y="4234179"/>
              <a:ext cx="990600" cy="337820"/>
            </a:xfrm>
            <a:custGeom>
              <a:avLst/>
              <a:gdLst/>
              <a:ahLst/>
              <a:cxnLst/>
              <a:rect l="l" t="t" r="r" b="b"/>
              <a:pathLst>
                <a:path w="990600" h="337820">
                  <a:moveTo>
                    <a:pt x="0" y="60452"/>
                  </a:moveTo>
                  <a:lnTo>
                    <a:pt x="577850" y="60452"/>
                  </a:lnTo>
                  <a:lnTo>
                    <a:pt x="713359" y="0"/>
                  </a:lnTo>
                  <a:lnTo>
                    <a:pt x="825500" y="60452"/>
                  </a:lnTo>
                  <a:lnTo>
                    <a:pt x="990600" y="60452"/>
                  </a:lnTo>
                  <a:lnTo>
                    <a:pt x="990600" y="106680"/>
                  </a:lnTo>
                  <a:lnTo>
                    <a:pt x="990600" y="176022"/>
                  </a:lnTo>
                  <a:lnTo>
                    <a:pt x="990600" y="337820"/>
                  </a:lnTo>
                  <a:lnTo>
                    <a:pt x="825500" y="337820"/>
                  </a:lnTo>
                  <a:lnTo>
                    <a:pt x="577850" y="337820"/>
                  </a:lnTo>
                  <a:lnTo>
                    <a:pt x="0" y="337820"/>
                  </a:lnTo>
                  <a:lnTo>
                    <a:pt x="0" y="176022"/>
                  </a:lnTo>
                  <a:lnTo>
                    <a:pt x="0" y="106680"/>
                  </a:lnTo>
                  <a:lnTo>
                    <a:pt x="0" y="60452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325739" y="4340732"/>
            <a:ext cx="664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spc="5" dirty="0">
                <a:solidFill>
                  <a:srgbClr val="FFFFFF"/>
                </a:solidFill>
                <a:latin typeface="Arial"/>
                <a:cs typeface="Arial"/>
              </a:rPr>
              <a:t>Male, 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25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years 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old  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regular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64268" y="4183888"/>
            <a:ext cx="1001394" cy="381000"/>
            <a:chOff x="9764268" y="4183888"/>
            <a:chExt cx="1001394" cy="381000"/>
          </a:xfrm>
        </p:grpSpPr>
        <p:sp>
          <p:nvSpPr>
            <p:cNvPr id="26" name="object 26"/>
            <p:cNvSpPr/>
            <p:nvPr/>
          </p:nvSpPr>
          <p:spPr>
            <a:xfrm>
              <a:off x="9770364" y="4189984"/>
              <a:ext cx="989330" cy="368300"/>
            </a:xfrm>
            <a:custGeom>
              <a:avLst/>
              <a:gdLst/>
              <a:ahLst/>
              <a:cxnLst/>
              <a:rect l="l" t="t" r="r" b="b"/>
              <a:pathLst>
                <a:path w="989329" h="368300">
                  <a:moveTo>
                    <a:pt x="666622" y="0"/>
                  </a:moveTo>
                  <a:lnTo>
                    <a:pt x="576960" y="90932"/>
                  </a:lnTo>
                  <a:lnTo>
                    <a:pt x="0" y="90932"/>
                  </a:lnTo>
                  <a:lnTo>
                    <a:pt x="0" y="368300"/>
                  </a:lnTo>
                  <a:lnTo>
                    <a:pt x="989076" y="368300"/>
                  </a:lnTo>
                  <a:lnTo>
                    <a:pt x="989076" y="90932"/>
                  </a:lnTo>
                  <a:lnTo>
                    <a:pt x="824229" y="90932"/>
                  </a:lnTo>
                  <a:lnTo>
                    <a:pt x="666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70364" y="4189984"/>
              <a:ext cx="989330" cy="368300"/>
            </a:xfrm>
            <a:custGeom>
              <a:avLst/>
              <a:gdLst/>
              <a:ahLst/>
              <a:cxnLst/>
              <a:rect l="l" t="t" r="r" b="b"/>
              <a:pathLst>
                <a:path w="989329" h="368300">
                  <a:moveTo>
                    <a:pt x="0" y="90932"/>
                  </a:moveTo>
                  <a:lnTo>
                    <a:pt x="576960" y="90932"/>
                  </a:lnTo>
                  <a:lnTo>
                    <a:pt x="666622" y="0"/>
                  </a:lnTo>
                  <a:lnTo>
                    <a:pt x="824229" y="90932"/>
                  </a:lnTo>
                  <a:lnTo>
                    <a:pt x="989076" y="90932"/>
                  </a:lnTo>
                  <a:lnTo>
                    <a:pt x="989076" y="137160"/>
                  </a:lnTo>
                  <a:lnTo>
                    <a:pt x="989076" y="206502"/>
                  </a:lnTo>
                  <a:lnTo>
                    <a:pt x="989076" y="368300"/>
                  </a:lnTo>
                  <a:lnTo>
                    <a:pt x="824229" y="368300"/>
                  </a:lnTo>
                  <a:lnTo>
                    <a:pt x="576960" y="368300"/>
                  </a:lnTo>
                  <a:lnTo>
                    <a:pt x="0" y="368300"/>
                  </a:lnTo>
                  <a:lnTo>
                    <a:pt x="0" y="206502"/>
                  </a:lnTo>
                  <a:lnTo>
                    <a:pt x="0" y="137160"/>
                  </a:lnTo>
                  <a:lnTo>
                    <a:pt x="0" y="90932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878059" y="4327017"/>
            <a:ext cx="664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spc="5" dirty="0">
                <a:solidFill>
                  <a:srgbClr val="FFFFFF"/>
                </a:solidFill>
                <a:latin typeface="Arial"/>
                <a:cs typeface="Arial"/>
              </a:rPr>
              <a:t>Male, 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21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years 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old  </a:t>
            </a:r>
            <a:r>
              <a:rPr sz="600" spc="5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6923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45" dirty="0"/>
              <a:t>Computer </a:t>
            </a:r>
            <a:r>
              <a:rPr spc="-5" dirty="0"/>
              <a:t>Vision </a:t>
            </a:r>
            <a:r>
              <a:rPr spc="65" dirty="0"/>
              <a:t>Application </a:t>
            </a:r>
            <a:r>
              <a:rPr spc="-35" dirty="0"/>
              <a:t>Scenario</a:t>
            </a:r>
            <a:r>
              <a:rPr spc="260" dirty="0"/>
              <a:t> </a:t>
            </a:r>
            <a:r>
              <a:rPr spc="170" dirty="0"/>
              <a:t>(2)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20521" y="1101661"/>
            <a:ext cx="4190365" cy="2187575"/>
            <a:chOff x="7220521" y="1101661"/>
            <a:chExt cx="4190365" cy="2187575"/>
          </a:xfrm>
        </p:grpSpPr>
        <p:sp>
          <p:nvSpPr>
            <p:cNvPr id="4" name="object 4"/>
            <p:cNvSpPr/>
            <p:nvPr/>
          </p:nvSpPr>
          <p:spPr>
            <a:xfrm>
              <a:off x="7264385" y="1162023"/>
              <a:ext cx="4136658" cy="21176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25283" y="1106424"/>
              <a:ext cx="4180840" cy="2178050"/>
            </a:xfrm>
            <a:custGeom>
              <a:avLst/>
              <a:gdLst/>
              <a:ahLst/>
              <a:cxnLst/>
              <a:rect l="l" t="t" r="r" b="b"/>
              <a:pathLst>
                <a:path w="4180840" h="2178050">
                  <a:moveTo>
                    <a:pt x="0" y="2177796"/>
                  </a:moveTo>
                  <a:lnTo>
                    <a:pt x="4180331" y="2177796"/>
                  </a:lnTo>
                  <a:lnTo>
                    <a:pt x="4180331" y="0"/>
                  </a:lnTo>
                  <a:lnTo>
                    <a:pt x="0" y="0"/>
                  </a:lnTo>
                  <a:lnTo>
                    <a:pt x="0" y="2177796"/>
                  </a:lnTo>
                  <a:close/>
                </a:path>
              </a:pathLst>
            </a:custGeom>
            <a:ln w="914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5303" y="1117092"/>
              <a:ext cx="1973580" cy="365760"/>
            </a:xfrm>
            <a:custGeom>
              <a:avLst/>
              <a:gdLst/>
              <a:ahLst/>
              <a:cxnLst/>
              <a:rect l="l" t="t" r="r" b="b"/>
              <a:pathLst>
                <a:path w="1973579" h="365759">
                  <a:moveTo>
                    <a:pt x="197357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973579" y="365760"/>
                  </a:lnTo>
                  <a:lnTo>
                    <a:pt x="19735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42568" y="1711579"/>
            <a:ext cx="1402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latin typeface="Arial"/>
                <a:cs typeface="Arial"/>
              </a:rPr>
              <a:t>Action </a:t>
            </a:r>
            <a:r>
              <a:rPr sz="1600" spc="-15" dirty="0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53639" y="1290827"/>
            <a:ext cx="3331845" cy="2368550"/>
            <a:chOff x="2453639" y="1290827"/>
            <a:chExt cx="3331845" cy="2368550"/>
          </a:xfrm>
        </p:grpSpPr>
        <p:sp>
          <p:nvSpPr>
            <p:cNvPr id="9" name="object 9"/>
            <p:cNvSpPr/>
            <p:nvPr/>
          </p:nvSpPr>
          <p:spPr>
            <a:xfrm>
              <a:off x="2462783" y="1299971"/>
              <a:ext cx="3313176" cy="23500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58211" y="1295399"/>
              <a:ext cx="3322320" cy="2359660"/>
            </a:xfrm>
            <a:custGeom>
              <a:avLst/>
              <a:gdLst/>
              <a:ahLst/>
              <a:cxnLst/>
              <a:rect l="l" t="t" r="r" b="b"/>
              <a:pathLst>
                <a:path w="3322320" h="2359660">
                  <a:moveTo>
                    <a:pt x="0" y="2359152"/>
                  </a:moveTo>
                  <a:lnTo>
                    <a:pt x="3322320" y="2359152"/>
                  </a:lnTo>
                  <a:lnTo>
                    <a:pt x="3322320" y="0"/>
                  </a:lnTo>
                  <a:lnTo>
                    <a:pt x="0" y="0"/>
                  </a:lnTo>
                  <a:lnTo>
                    <a:pt x="0" y="2359152"/>
                  </a:lnTo>
                  <a:close/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828538" y="1703069"/>
            <a:ext cx="1388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30" dirty="0">
                <a:latin typeface="Arial"/>
                <a:cs typeface="Arial"/>
              </a:rPr>
              <a:t>Authentic</a:t>
            </a:r>
            <a:r>
              <a:rPr sz="1600" spc="40" dirty="0">
                <a:latin typeface="Arial"/>
                <a:cs typeface="Arial"/>
              </a:rPr>
              <a:t>a</a:t>
            </a:r>
            <a:r>
              <a:rPr sz="1600" spc="140" dirty="0">
                <a:latin typeface="Arial"/>
                <a:cs typeface="Arial"/>
              </a:rPr>
              <a:t>t</a:t>
            </a:r>
            <a:r>
              <a:rPr sz="1600" spc="20" dirty="0">
                <a:latin typeface="Arial"/>
                <a:cs typeface="Arial"/>
              </a:rPr>
              <a:t>i</a:t>
            </a:r>
            <a:r>
              <a:rPr sz="1600" spc="60" dirty="0">
                <a:latin typeface="Arial"/>
                <a:cs typeface="Arial"/>
              </a:rPr>
              <a:t>o</a:t>
            </a:r>
            <a:r>
              <a:rPr sz="1600" spc="4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8865" y="4648580"/>
            <a:ext cx="1229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10" dirty="0">
                <a:latin typeface="Arial"/>
                <a:cs typeface="Arial"/>
              </a:rPr>
              <a:t>Smart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45" dirty="0">
                <a:latin typeface="Arial"/>
                <a:cs typeface="Arial"/>
              </a:rPr>
              <a:t>album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60145" y="3626929"/>
            <a:ext cx="4154804" cy="2518410"/>
            <a:chOff x="7260145" y="3626929"/>
            <a:chExt cx="4154804" cy="2518410"/>
          </a:xfrm>
        </p:grpSpPr>
        <p:sp>
          <p:nvSpPr>
            <p:cNvPr id="14" name="object 14"/>
            <p:cNvSpPr/>
            <p:nvPr/>
          </p:nvSpPr>
          <p:spPr>
            <a:xfrm>
              <a:off x="7269479" y="3636263"/>
              <a:ext cx="4103309" cy="24993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64907" y="3631691"/>
              <a:ext cx="4145279" cy="2508885"/>
            </a:xfrm>
            <a:custGeom>
              <a:avLst/>
              <a:gdLst/>
              <a:ahLst/>
              <a:cxnLst/>
              <a:rect l="l" t="t" r="r" b="b"/>
              <a:pathLst>
                <a:path w="4145279" h="2508885">
                  <a:moveTo>
                    <a:pt x="0" y="2508504"/>
                  </a:moveTo>
                  <a:lnTo>
                    <a:pt x="4145279" y="2508504"/>
                  </a:lnTo>
                  <a:lnTo>
                    <a:pt x="4145279" y="0"/>
                  </a:lnTo>
                  <a:lnTo>
                    <a:pt x="0" y="0"/>
                  </a:lnTo>
                  <a:lnTo>
                    <a:pt x="0" y="2508504"/>
                  </a:lnTo>
                  <a:close/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86315" y="3857243"/>
              <a:ext cx="8077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59907" y="4831460"/>
            <a:ext cx="1261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15" dirty="0">
                <a:latin typeface="Arial"/>
                <a:cs typeface="Arial"/>
              </a:rPr>
              <a:t>Image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search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19300" y="3810000"/>
            <a:ext cx="3756660" cy="2369820"/>
            <a:chOff x="2019300" y="3810000"/>
            <a:chExt cx="3756660" cy="2369820"/>
          </a:xfrm>
        </p:grpSpPr>
        <p:sp>
          <p:nvSpPr>
            <p:cNvPr id="19" name="object 19"/>
            <p:cNvSpPr/>
            <p:nvPr/>
          </p:nvSpPr>
          <p:spPr>
            <a:xfrm>
              <a:off x="2019300" y="3915252"/>
              <a:ext cx="3756660" cy="226456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86784" y="3809999"/>
              <a:ext cx="1717675" cy="1617345"/>
            </a:xfrm>
            <a:custGeom>
              <a:avLst/>
              <a:gdLst/>
              <a:ahLst/>
              <a:cxnLst/>
              <a:rect l="l" t="t" r="r" b="b"/>
              <a:pathLst>
                <a:path w="1717675" h="1617345">
                  <a:moveTo>
                    <a:pt x="679704" y="1251204"/>
                  </a:moveTo>
                  <a:lnTo>
                    <a:pt x="0" y="1251204"/>
                  </a:lnTo>
                  <a:lnTo>
                    <a:pt x="0" y="1616964"/>
                  </a:lnTo>
                  <a:lnTo>
                    <a:pt x="679704" y="1616964"/>
                  </a:lnTo>
                  <a:lnTo>
                    <a:pt x="679704" y="1251204"/>
                  </a:lnTo>
                  <a:close/>
                </a:path>
                <a:path w="1717675" h="1617345">
                  <a:moveTo>
                    <a:pt x="679704" y="0"/>
                  </a:moveTo>
                  <a:lnTo>
                    <a:pt x="77724" y="0"/>
                  </a:lnTo>
                  <a:lnTo>
                    <a:pt x="77724" y="365760"/>
                  </a:lnTo>
                  <a:lnTo>
                    <a:pt x="679704" y="365760"/>
                  </a:lnTo>
                  <a:lnTo>
                    <a:pt x="679704" y="0"/>
                  </a:lnTo>
                  <a:close/>
                </a:path>
                <a:path w="1717675" h="1617345">
                  <a:moveTo>
                    <a:pt x="1717535" y="12192"/>
                  </a:moveTo>
                  <a:lnTo>
                    <a:pt x="1117092" y="12192"/>
                  </a:lnTo>
                  <a:lnTo>
                    <a:pt x="1117092" y="377952"/>
                  </a:lnTo>
                  <a:lnTo>
                    <a:pt x="1717535" y="377952"/>
                  </a:lnTo>
                  <a:lnTo>
                    <a:pt x="1717535" y="121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010155" y="3810000"/>
          <a:ext cx="3779520" cy="2379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2595"/>
                <a:gridCol w="783590"/>
              </a:tblGrid>
              <a:tr h="1239011">
                <a:tc gridSpan="2">
                  <a:txBody>
                    <a:bodyPr/>
                    <a:lstStyle/>
                    <a:p>
                      <a:pPr marL="2138045">
                        <a:lnSpc>
                          <a:spcPct val="100000"/>
                        </a:lnSpc>
                        <a:spcBef>
                          <a:spcPts val="830"/>
                        </a:spcBef>
                        <a:tabLst>
                          <a:tab pos="3176270" algn="l"/>
                        </a:tabLst>
                      </a:pPr>
                      <a:r>
                        <a:rPr sz="1650" spc="15" baseline="5050" dirty="0">
                          <a:latin typeface="Arial"/>
                          <a:cs typeface="Arial"/>
                        </a:rPr>
                        <a:t>Plant	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Food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65760">
                <a:tc>
                  <a:txBody>
                    <a:bodyPr/>
                    <a:lstStyle/>
                    <a:p>
                      <a:pPr marR="485775" algn="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100" spc="-5" dirty="0">
                          <a:latin typeface="Arial"/>
                          <a:cs typeface="Arial"/>
                        </a:rPr>
                        <a:t>Peo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ple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15" dirty="0">
                          <a:latin typeface="Arial"/>
                          <a:cs typeface="Arial"/>
                        </a:rPr>
                        <a:t>Building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7790" marB="0">
                    <a:lnR w="9525">
                      <a:solidFill>
                        <a:srgbClr val="D9D9D9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76504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7460742" y="1201293"/>
            <a:ext cx="161036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5" dirty="0">
                <a:latin typeface="Arial"/>
                <a:cs typeface="Arial"/>
              </a:rPr>
              <a:t>Facial </a:t>
            </a:r>
            <a:r>
              <a:rPr sz="1100" spc="20" dirty="0">
                <a:latin typeface="Arial"/>
                <a:cs typeface="Arial"/>
              </a:rPr>
              <a:t>verification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passed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585959" y="1117091"/>
            <a:ext cx="1877695" cy="365760"/>
          </a:xfrm>
          <a:custGeom>
            <a:avLst/>
            <a:gdLst/>
            <a:ahLst/>
            <a:cxnLst/>
            <a:rect l="l" t="t" r="r" b="b"/>
            <a:pathLst>
              <a:path w="1877695" h="365759">
                <a:moveTo>
                  <a:pt x="1877568" y="0"/>
                </a:moveTo>
                <a:lnTo>
                  <a:pt x="0" y="0"/>
                </a:lnTo>
                <a:lnTo>
                  <a:pt x="0" y="365760"/>
                </a:lnTo>
                <a:lnTo>
                  <a:pt x="1877568" y="365760"/>
                </a:lnTo>
                <a:lnTo>
                  <a:pt x="18775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662541" y="1200657"/>
            <a:ext cx="153225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5" dirty="0">
                <a:latin typeface="Arial"/>
                <a:cs typeface="Arial"/>
              </a:rPr>
              <a:t>Facial </a:t>
            </a:r>
            <a:r>
              <a:rPr sz="1100" spc="20" dirty="0">
                <a:latin typeface="Arial"/>
                <a:cs typeface="Arial"/>
              </a:rPr>
              <a:t>verification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20" dirty="0">
                <a:latin typeface="Arial"/>
                <a:cs typeface="Arial"/>
              </a:rPr>
              <a:t>failed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35414" y="3871340"/>
            <a:ext cx="6153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20" dirty="0">
                <a:solidFill>
                  <a:srgbClr val="FFFFFF"/>
                </a:solidFill>
                <a:latin typeface="Arial"/>
                <a:cs typeface="Arial"/>
              </a:rPr>
              <a:t>Infringement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407395" y="3857244"/>
            <a:ext cx="806196" cy="1828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555478" y="3871340"/>
            <a:ext cx="6153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20" dirty="0">
                <a:solidFill>
                  <a:srgbClr val="FFFFFF"/>
                </a:solidFill>
                <a:latin typeface="Arial"/>
                <a:cs typeface="Arial"/>
              </a:rPr>
              <a:t>Infringement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381743" y="4917947"/>
            <a:ext cx="807720" cy="1828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530842" y="4932045"/>
            <a:ext cx="6153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20" dirty="0">
                <a:solidFill>
                  <a:srgbClr val="FFFFFF"/>
                </a:solidFill>
                <a:latin typeface="Arial"/>
                <a:cs typeface="Arial"/>
              </a:rPr>
              <a:t>Infringement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395204" y="4930140"/>
            <a:ext cx="807720" cy="1828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544556" y="4944871"/>
            <a:ext cx="6153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20" dirty="0">
                <a:solidFill>
                  <a:srgbClr val="FFFFFF"/>
                </a:solidFill>
                <a:latin typeface="Arial"/>
                <a:cs typeface="Arial"/>
              </a:rPr>
              <a:t>Infringement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6790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Voice </a:t>
            </a:r>
            <a:r>
              <a:rPr spc="-65" dirty="0"/>
              <a:t>Processing </a:t>
            </a:r>
            <a:r>
              <a:rPr spc="65" dirty="0"/>
              <a:t>Application </a:t>
            </a:r>
            <a:r>
              <a:rPr spc="-35" dirty="0"/>
              <a:t>Scenario</a:t>
            </a:r>
            <a:r>
              <a:rPr spc="375" dirty="0"/>
              <a:t> </a:t>
            </a:r>
            <a:r>
              <a:rPr spc="170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50950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213"/>
            <a:ext cx="10291445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The </a:t>
            </a:r>
            <a:r>
              <a:rPr sz="1800" spc="55" dirty="0">
                <a:latin typeface="Arial"/>
                <a:cs typeface="Arial"/>
              </a:rPr>
              <a:t>main </a:t>
            </a:r>
            <a:r>
              <a:rPr sz="1800" spc="5" dirty="0">
                <a:latin typeface="Arial"/>
                <a:cs typeface="Arial"/>
              </a:rPr>
              <a:t>topics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-15" dirty="0">
                <a:latin typeface="Arial"/>
                <a:cs typeface="Arial"/>
              </a:rPr>
              <a:t>voice processing </a:t>
            </a:r>
            <a:r>
              <a:rPr sz="1800" spc="-20" dirty="0">
                <a:latin typeface="Arial"/>
                <a:cs typeface="Arial"/>
              </a:rPr>
              <a:t>research </a:t>
            </a:r>
            <a:r>
              <a:rPr sz="1800" spc="20" dirty="0">
                <a:latin typeface="Arial"/>
                <a:cs typeface="Arial"/>
              </a:rPr>
              <a:t>include </a:t>
            </a:r>
            <a:r>
              <a:rPr sz="1800" spc="-15" dirty="0">
                <a:latin typeface="Arial"/>
                <a:cs typeface="Arial"/>
              </a:rPr>
              <a:t>voice </a:t>
            </a:r>
            <a:r>
              <a:rPr sz="1800" spc="25" dirty="0">
                <a:latin typeface="Arial"/>
                <a:cs typeface="Arial"/>
              </a:rPr>
              <a:t>recognition, </a:t>
            </a:r>
            <a:r>
              <a:rPr sz="1800" spc="-15" dirty="0">
                <a:latin typeface="Arial"/>
                <a:cs typeface="Arial"/>
              </a:rPr>
              <a:t>voice </a:t>
            </a:r>
            <a:r>
              <a:rPr sz="1800" spc="-30" dirty="0">
                <a:latin typeface="Arial"/>
                <a:cs typeface="Arial"/>
              </a:rPr>
              <a:t>synthesis, </a:t>
            </a:r>
            <a:r>
              <a:rPr sz="1800" spc="-10" dirty="0">
                <a:latin typeface="Arial"/>
                <a:cs typeface="Arial"/>
              </a:rPr>
              <a:t>voice  </a:t>
            </a:r>
            <a:r>
              <a:rPr sz="1800" spc="15" dirty="0">
                <a:latin typeface="Arial"/>
                <a:cs typeface="Arial"/>
              </a:rPr>
              <a:t>wakeup, </a:t>
            </a:r>
            <a:r>
              <a:rPr sz="1800" spc="25" dirty="0">
                <a:latin typeface="Arial"/>
                <a:cs typeface="Arial"/>
              </a:rPr>
              <a:t>voiceprint recognition,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10" dirty="0">
                <a:latin typeface="Arial"/>
                <a:cs typeface="Arial"/>
              </a:rPr>
              <a:t>audio-based </a:t>
            </a:r>
            <a:r>
              <a:rPr sz="1800" spc="30" dirty="0">
                <a:latin typeface="Arial"/>
                <a:cs typeface="Arial"/>
              </a:rPr>
              <a:t>incident </a:t>
            </a:r>
            <a:r>
              <a:rPr sz="1800" spc="15" dirty="0">
                <a:latin typeface="Arial"/>
                <a:cs typeface="Arial"/>
              </a:rPr>
              <a:t>detection. </a:t>
            </a:r>
            <a:r>
              <a:rPr sz="1800" spc="45" dirty="0">
                <a:latin typeface="Arial"/>
                <a:cs typeface="Arial"/>
              </a:rPr>
              <a:t>Among </a:t>
            </a:r>
            <a:r>
              <a:rPr sz="1800" spc="35" dirty="0">
                <a:latin typeface="Arial"/>
                <a:cs typeface="Arial"/>
              </a:rPr>
              <a:t>them, </a:t>
            </a:r>
            <a:r>
              <a:rPr sz="1800" spc="40" dirty="0">
                <a:latin typeface="Arial"/>
                <a:cs typeface="Arial"/>
              </a:rPr>
              <a:t>the </a:t>
            </a:r>
            <a:r>
              <a:rPr sz="1800" spc="35" dirty="0">
                <a:latin typeface="Arial"/>
                <a:cs typeface="Arial"/>
              </a:rPr>
              <a:t>most  </a:t>
            </a:r>
            <a:r>
              <a:rPr sz="1800" spc="50" dirty="0">
                <a:latin typeface="Arial"/>
                <a:cs typeface="Arial"/>
              </a:rPr>
              <a:t>mature </a:t>
            </a:r>
            <a:r>
              <a:rPr sz="1800" spc="25" dirty="0">
                <a:latin typeface="Arial"/>
                <a:cs typeface="Arial"/>
              </a:rPr>
              <a:t>technology </a:t>
            </a:r>
            <a:r>
              <a:rPr sz="1800" spc="-45" dirty="0">
                <a:latin typeface="Arial"/>
                <a:cs typeface="Arial"/>
              </a:rPr>
              <a:t>is </a:t>
            </a:r>
            <a:r>
              <a:rPr sz="1800" spc="-10" dirty="0">
                <a:latin typeface="Arial"/>
                <a:cs typeface="Arial"/>
              </a:rPr>
              <a:t>voice </a:t>
            </a:r>
            <a:r>
              <a:rPr sz="1800" spc="25" dirty="0">
                <a:latin typeface="Arial"/>
                <a:cs typeface="Arial"/>
              </a:rPr>
              <a:t>recognition. </a:t>
            </a:r>
            <a:r>
              <a:rPr sz="1800" spc="-85" dirty="0">
                <a:latin typeface="Arial"/>
                <a:cs typeface="Arial"/>
              </a:rPr>
              <a:t>As </a:t>
            </a:r>
            <a:r>
              <a:rPr sz="1800" spc="75" dirty="0">
                <a:latin typeface="Arial"/>
                <a:cs typeface="Arial"/>
              </a:rPr>
              <a:t>for </a:t>
            </a:r>
            <a:r>
              <a:rPr sz="1800" spc="10" dirty="0">
                <a:latin typeface="Arial"/>
                <a:cs typeface="Arial"/>
              </a:rPr>
              <a:t>near </a:t>
            </a:r>
            <a:r>
              <a:rPr sz="1800" spc="45" dirty="0">
                <a:latin typeface="Arial"/>
                <a:cs typeface="Arial"/>
              </a:rPr>
              <a:t>field </a:t>
            </a:r>
            <a:r>
              <a:rPr sz="1800" spc="35" dirty="0">
                <a:latin typeface="Arial"/>
                <a:cs typeface="Arial"/>
              </a:rPr>
              <a:t>recognition </a:t>
            </a:r>
            <a:r>
              <a:rPr sz="1800" spc="50" dirty="0">
                <a:latin typeface="Arial"/>
                <a:cs typeface="Arial"/>
              </a:rPr>
              <a:t>in </a:t>
            </a:r>
            <a:r>
              <a:rPr sz="1800" spc="-5" dirty="0">
                <a:latin typeface="Arial"/>
                <a:cs typeface="Arial"/>
              </a:rPr>
              <a:t>a </a:t>
            </a:r>
            <a:r>
              <a:rPr sz="1800" spc="45" dirty="0">
                <a:latin typeface="Arial"/>
                <a:cs typeface="Arial"/>
              </a:rPr>
              <a:t>quite </a:t>
            </a:r>
            <a:r>
              <a:rPr sz="1800" spc="50" dirty="0">
                <a:latin typeface="Arial"/>
                <a:cs typeface="Arial"/>
              </a:rPr>
              <a:t>indoor  </a:t>
            </a:r>
            <a:r>
              <a:rPr sz="1800" spc="30" dirty="0">
                <a:latin typeface="Arial"/>
                <a:cs typeface="Arial"/>
              </a:rPr>
              <a:t>environment,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35" dirty="0">
                <a:latin typeface="Arial"/>
                <a:cs typeface="Arial"/>
              </a:rPr>
              <a:t>recognition </a:t>
            </a:r>
            <a:r>
              <a:rPr sz="1800" spc="-20" dirty="0">
                <a:latin typeface="Arial"/>
                <a:cs typeface="Arial"/>
              </a:rPr>
              <a:t>accuracy </a:t>
            </a:r>
            <a:r>
              <a:rPr sz="1800" spc="-15" dirty="0">
                <a:latin typeface="Arial"/>
                <a:cs typeface="Arial"/>
              </a:rPr>
              <a:t>can </a:t>
            </a:r>
            <a:r>
              <a:rPr sz="1800" spc="-5" dirty="0">
                <a:latin typeface="Arial"/>
                <a:cs typeface="Arial"/>
              </a:rPr>
              <a:t>reach</a:t>
            </a:r>
            <a:r>
              <a:rPr sz="1800" spc="3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96%.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889630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792895"/>
            <a:ext cx="3643629" cy="57213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800" spc="35" dirty="0">
                <a:latin typeface="Arial"/>
                <a:cs typeface="Arial"/>
              </a:rPr>
              <a:t>Application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scenarios:</a:t>
            </a:r>
            <a:endParaRPr sz="1800">
              <a:latin typeface="Arial"/>
              <a:cs typeface="Arial"/>
            </a:endParaRPr>
          </a:p>
          <a:p>
            <a:pPr marL="934719">
              <a:lnSpc>
                <a:spcPct val="100000"/>
              </a:lnSpc>
              <a:spcBef>
                <a:spcPts val="204"/>
              </a:spcBef>
            </a:pPr>
            <a:r>
              <a:rPr sz="1400" spc="15" dirty="0">
                <a:latin typeface="Arial"/>
                <a:cs typeface="Arial"/>
              </a:rPr>
              <a:t>Question </a:t>
            </a:r>
            <a:r>
              <a:rPr sz="1400" spc="10" dirty="0">
                <a:latin typeface="Arial"/>
                <a:cs typeface="Arial"/>
              </a:rPr>
              <a:t>Answering </a:t>
            </a:r>
            <a:r>
              <a:rPr sz="1400" spc="15" dirty="0">
                <a:latin typeface="Arial"/>
                <a:cs typeface="Arial"/>
              </a:rPr>
              <a:t>Bot</a:t>
            </a:r>
            <a:r>
              <a:rPr sz="1400" spc="60" dirty="0">
                <a:latin typeface="Arial"/>
                <a:cs typeface="Arial"/>
              </a:rPr>
              <a:t> </a:t>
            </a:r>
            <a:r>
              <a:rPr sz="1400" spc="35" dirty="0">
                <a:latin typeface="Arial"/>
                <a:cs typeface="Arial"/>
              </a:rPr>
              <a:t>(QABot)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50834" y="3088005"/>
            <a:ext cx="13716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latin typeface="Arial"/>
                <a:cs typeface="Arial"/>
              </a:rPr>
              <a:t>Voice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30" dirty="0">
                <a:latin typeface="Arial"/>
                <a:cs typeface="Arial"/>
              </a:rPr>
              <a:t>navigation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46860" y="3354323"/>
            <a:ext cx="9343644" cy="2953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6790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Voice </a:t>
            </a:r>
            <a:r>
              <a:rPr spc="-65" dirty="0"/>
              <a:t>Processing </a:t>
            </a:r>
            <a:r>
              <a:rPr spc="65" dirty="0"/>
              <a:t>Application </a:t>
            </a:r>
            <a:r>
              <a:rPr spc="-35" dirty="0"/>
              <a:t>Scenario</a:t>
            </a:r>
            <a:r>
              <a:rPr spc="375" dirty="0"/>
              <a:t> </a:t>
            </a:r>
            <a:r>
              <a:rPr spc="170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907" y="1777060"/>
            <a:ext cx="850265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40" dirty="0">
                <a:latin typeface="Arial"/>
                <a:cs typeface="Arial"/>
              </a:rPr>
              <a:t>Intelligent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25" dirty="0">
                <a:latin typeface="Arial"/>
                <a:cs typeface="Arial"/>
              </a:rPr>
              <a:t>education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829" y="1996820"/>
            <a:ext cx="15557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20" dirty="0">
                <a:latin typeface="Arial"/>
                <a:cs typeface="Arial"/>
              </a:rPr>
              <a:t>Real-time  </a:t>
            </a:r>
            <a:r>
              <a:rPr sz="1400" dirty="0">
                <a:latin typeface="Arial"/>
                <a:cs typeface="Arial"/>
              </a:rPr>
              <a:t>conference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records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70292" y="1338072"/>
            <a:ext cx="3583304" cy="2316480"/>
            <a:chOff x="7670292" y="1338072"/>
            <a:chExt cx="3583304" cy="2316480"/>
          </a:xfrm>
        </p:grpSpPr>
        <p:sp>
          <p:nvSpPr>
            <p:cNvPr id="6" name="object 6"/>
            <p:cNvSpPr/>
            <p:nvPr/>
          </p:nvSpPr>
          <p:spPr>
            <a:xfrm>
              <a:off x="7679436" y="1347216"/>
              <a:ext cx="3564635" cy="22981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74864" y="1342644"/>
              <a:ext cx="3573779" cy="2307590"/>
            </a:xfrm>
            <a:custGeom>
              <a:avLst/>
              <a:gdLst/>
              <a:ahLst/>
              <a:cxnLst/>
              <a:rect l="l" t="t" r="r" b="b"/>
              <a:pathLst>
                <a:path w="3573779" h="2307590">
                  <a:moveTo>
                    <a:pt x="0" y="2307335"/>
                  </a:moveTo>
                  <a:lnTo>
                    <a:pt x="3573779" y="2307335"/>
                  </a:lnTo>
                  <a:lnTo>
                    <a:pt x="3573779" y="0"/>
                  </a:lnTo>
                  <a:lnTo>
                    <a:pt x="0" y="0"/>
                  </a:lnTo>
                  <a:lnTo>
                    <a:pt x="0" y="2307335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22375" y="3836034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4177" y="3771722"/>
            <a:ext cx="1994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Arial"/>
                <a:cs typeface="Arial"/>
              </a:rPr>
              <a:t>Other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10" dirty="0">
                <a:latin typeface="Arial"/>
                <a:cs typeface="Arial"/>
              </a:rPr>
              <a:t>applications: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7038" y="4275201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6222" y="4217289"/>
            <a:ext cx="2654935" cy="1927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Arial"/>
                <a:cs typeface="Arial"/>
              </a:rPr>
              <a:t>Spoken </a:t>
            </a:r>
            <a:r>
              <a:rPr sz="1600" spc="20" dirty="0">
                <a:latin typeface="Arial"/>
                <a:cs typeface="Arial"/>
              </a:rPr>
              <a:t>language</a:t>
            </a:r>
            <a:r>
              <a:rPr sz="1600" spc="130" dirty="0">
                <a:latin typeface="Arial"/>
                <a:cs typeface="Arial"/>
              </a:rPr>
              <a:t> </a:t>
            </a:r>
            <a:r>
              <a:rPr sz="1600" spc="25" dirty="0">
                <a:latin typeface="Arial"/>
                <a:cs typeface="Arial"/>
              </a:rPr>
              <a:t>evaluation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600" spc="10" dirty="0">
                <a:latin typeface="Arial"/>
                <a:cs typeface="Arial"/>
              </a:rPr>
              <a:t>Diagnostic</a:t>
            </a:r>
            <a:r>
              <a:rPr sz="1600" spc="90" dirty="0">
                <a:latin typeface="Arial"/>
                <a:cs typeface="Arial"/>
              </a:rPr>
              <a:t> </a:t>
            </a:r>
            <a:r>
              <a:rPr sz="1600" spc="50" dirty="0">
                <a:latin typeface="Arial"/>
                <a:cs typeface="Arial"/>
              </a:rPr>
              <a:t>robot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600" spc="15" dirty="0">
                <a:latin typeface="Arial"/>
                <a:cs typeface="Arial"/>
              </a:rPr>
              <a:t>Voiceprint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spc="30" dirty="0">
                <a:latin typeface="Arial"/>
                <a:cs typeface="Arial"/>
              </a:rPr>
              <a:t>recognition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600" spc="10" dirty="0">
                <a:latin typeface="Arial"/>
                <a:cs typeface="Arial"/>
              </a:rPr>
              <a:t>Smart </a:t>
            </a:r>
            <a:r>
              <a:rPr sz="1600" dirty="0">
                <a:latin typeface="Arial"/>
                <a:cs typeface="Arial"/>
              </a:rPr>
              <a:t>sound</a:t>
            </a:r>
            <a:r>
              <a:rPr sz="1600" spc="1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box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600" spc="-80" dirty="0">
                <a:latin typeface="Arial"/>
                <a:cs typeface="Arial"/>
              </a:rPr>
              <a:t>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7038" y="4689728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7038" y="5104257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7038" y="5519115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47038" y="5933643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05000" y="1170432"/>
            <a:ext cx="3741184" cy="246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3746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NLP </a:t>
            </a:r>
            <a:r>
              <a:rPr spc="65" dirty="0"/>
              <a:t>Application </a:t>
            </a:r>
            <a:r>
              <a:rPr spc="-35" dirty="0"/>
              <a:t>Scenario</a:t>
            </a:r>
            <a:r>
              <a:rPr spc="290" dirty="0"/>
              <a:t> </a:t>
            </a:r>
            <a:r>
              <a:rPr spc="170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23517"/>
            <a:ext cx="9715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Wingdings"/>
                <a:cs typeface="Wingdings"/>
              </a:rPr>
              <a:t></a:t>
            </a:r>
            <a:endParaRPr sz="7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213"/>
            <a:ext cx="1029398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1500" spc="-25" dirty="0">
                <a:latin typeface="Arial"/>
                <a:cs typeface="Arial"/>
              </a:rPr>
              <a:t>The </a:t>
            </a:r>
            <a:r>
              <a:rPr sz="1500" spc="40" dirty="0">
                <a:latin typeface="Arial"/>
                <a:cs typeface="Arial"/>
              </a:rPr>
              <a:t>main </a:t>
            </a:r>
            <a:r>
              <a:rPr sz="1500" spc="5" dirty="0">
                <a:latin typeface="Arial"/>
                <a:cs typeface="Arial"/>
              </a:rPr>
              <a:t>topics </a:t>
            </a:r>
            <a:r>
              <a:rPr sz="1500" spc="65" dirty="0">
                <a:latin typeface="Arial"/>
                <a:cs typeface="Arial"/>
              </a:rPr>
              <a:t>of </a:t>
            </a:r>
            <a:r>
              <a:rPr sz="1500" spc="-60" dirty="0">
                <a:latin typeface="Arial"/>
                <a:cs typeface="Arial"/>
              </a:rPr>
              <a:t>NLP </a:t>
            </a:r>
            <a:r>
              <a:rPr sz="1500" spc="-20" dirty="0">
                <a:latin typeface="Arial"/>
                <a:cs typeface="Arial"/>
              </a:rPr>
              <a:t>research </a:t>
            </a:r>
            <a:r>
              <a:rPr sz="1500" spc="10" dirty="0">
                <a:latin typeface="Arial"/>
                <a:cs typeface="Arial"/>
              </a:rPr>
              <a:t>include machine </a:t>
            </a:r>
            <a:r>
              <a:rPr sz="1500" spc="25" dirty="0">
                <a:latin typeface="Arial"/>
                <a:cs typeface="Arial"/>
              </a:rPr>
              <a:t>translation, </a:t>
            </a:r>
            <a:r>
              <a:rPr sz="1500" spc="40" dirty="0">
                <a:latin typeface="Arial"/>
                <a:cs typeface="Arial"/>
              </a:rPr>
              <a:t>text </a:t>
            </a:r>
            <a:r>
              <a:rPr sz="1500" spc="35" dirty="0">
                <a:latin typeface="Arial"/>
                <a:cs typeface="Arial"/>
              </a:rPr>
              <a:t>mining, </a:t>
            </a:r>
            <a:r>
              <a:rPr sz="1500" spc="15" dirty="0">
                <a:latin typeface="Arial"/>
                <a:cs typeface="Arial"/>
              </a:rPr>
              <a:t>and </a:t>
            </a:r>
            <a:r>
              <a:rPr sz="1500" spc="25" dirty="0">
                <a:latin typeface="Arial"/>
                <a:cs typeface="Arial"/>
              </a:rPr>
              <a:t>sentiment </a:t>
            </a:r>
            <a:r>
              <a:rPr sz="1500" spc="-20" dirty="0">
                <a:latin typeface="Arial"/>
                <a:cs typeface="Arial"/>
              </a:rPr>
              <a:t>analysis. </a:t>
            </a:r>
            <a:r>
              <a:rPr sz="1500" spc="-60" dirty="0">
                <a:latin typeface="Arial"/>
                <a:cs typeface="Arial"/>
              </a:rPr>
              <a:t>NLP </a:t>
            </a:r>
            <a:r>
              <a:rPr sz="1500" spc="-15" dirty="0">
                <a:latin typeface="Arial"/>
                <a:cs typeface="Arial"/>
              </a:rPr>
              <a:t>imposes </a:t>
            </a:r>
            <a:r>
              <a:rPr sz="1500" spc="35" dirty="0">
                <a:latin typeface="Arial"/>
                <a:cs typeface="Arial"/>
              </a:rPr>
              <a:t>high  </a:t>
            </a:r>
            <a:r>
              <a:rPr sz="1500" spc="20" dirty="0">
                <a:latin typeface="Arial"/>
                <a:cs typeface="Arial"/>
              </a:rPr>
              <a:t>requirements </a:t>
            </a:r>
            <a:r>
              <a:rPr sz="1500" spc="30" dirty="0">
                <a:latin typeface="Arial"/>
                <a:cs typeface="Arial"/>
              </a:rPr>
              <a:t>on </a:t>
            </a:r>
            <a:r>
              <a:rPr sz="1500" spc="5" dirty="0">
                <a:latin typeface="Arial"/>
                <a:cs typeface="Arial"/>
              </a:rPr>
              <a:t>technologies </a:t>
            </a:r>
            <a:r>
              <a:rPr sz="1500" spc="65" dirty="0">
                <a:latin typeface="Arial"/>
                <a:cs typeface="Arial"/>
              </a:rPr>
              <a:t>but </a:t>
            </a:r>
            <a:r>
              <a:rPr sz="1500" spc="25" dirty="0">
                <a:latin typeface="Arial"/>
                <a:cs typeface="Arial"/>
              </a:rPr>
              <a:t>confronts </a:t>
            </a:r>
            <a:r>
              <a:rPr sz="1500" spc="65" dirty="0">
                <a:latin typeface="Arial"/>
                <a:cs typeface="Arial"/>
              </a:rPr>
              <a:t>low </a:t>
            </a:r>
            <a:r>
              <a:rPr sz="1500" spc="20" dirty="0">
                <a:latin typeface="Arial"/>
                <a:cs typeface="Arial"/>
              </a:rPr>
              <a:t>technology </a:t>
            </a:r>
            <a:r>
              <a:rPr sz="1500" spc="40" dirty="0">
                <a:latin typeface="Arial"/>
                <a:cs typeface="Arial"/>
              </a:rPr>
              <a:t>maturity. </a:t>
            </a:r>
            <a:r>
              <a:rPr sz="1500" spc="-5" dirty="0">
                <a:latin typeface="Arial"/>
                <a:cs typeface="Arial"/>
              </a:rPr>
              <a:t>Due </a:t>
            </a:r>
            <a:r>
              <a:rPr sz="1500" spc="75" dirty="0">
                <a:latin typeface="Arial"/>
                <a:cs typeface="Arial"/>
              </a:rPr>
              <a:t>to </a:t>
            </a:r>
            <a:r>
              <a:rPr sz="1500" spc="35" dirty="0">
                <a:latin typeface="Arial"/>
                <a:cs typeface="Arial"/>
              </a:rPr>
              <a:t>high </a:t>
            </a:r>
            <a:r>
              <a:rPr sz="1500" spc="25" dirty="0">
                <a:latin typeface="Arial"/>
                <a:cs typeface="Arial"/>
              </a:rPr>
              <a:t>complexity </a:t>
            </a:r>
            <a:r>
              <a:rPr sz="1500" spc="65" dirty="0">
                <a:latin typeface="Arial"/>
                <a:cs typeface="Arial"/>
              </a:rPr>
              <a:t>of </a:t>
            </a:r>
            <a:r>
              <a:rPr sz="1500" spc="-10" dirty="0">
                <a:latin typeface="Arial"/>
                <a:cs typeface="Arial"/>
              </a:rPr>
              <a:t>semantics, </a:t>
            </a:r>
            <a:r>
              <a:rPr sz="1500" spc="85" dirty="0">
                <a:latin typeface="Arial"/>
                <a:cs typeface="Arial"/>
              </a:rPr>
              <a:t>it </a:t>
            </a:r>
            <a:r>
              <a:rPr sz="1500" spc="-35" dirty="0">
                <a:latin typeface="Arial"/>
                <a:cs typeface="Arial"/>
              </a:rPr>
              <a:t>is </a:t>
            </a:r>
            <a:r>
              <a:rPr sz="1500" spc="25" dirty="0">
                <a:latin typeface="Arial"/>
                <a:cs typeface="Arial"/>
              </a:rPr>
              <a:t>hard  </a:t>
            </a:r>
            <a:r>
              <a:rPr sz="1500" spc="75" dirty="0">
                <a:latin typeface="Arial"/>
                <a:cs typeface="Arial"/>
              </a:rPr>
              <a:t>to </a:t>
            </a:r>
            <a:r>
              <a:rPr sz="1500" spc="-5" dirty="0">
                <a:latin typeface="Arial"/>
                <a:cs typeface="Arial"/>
              </a:rPr>
              <a:t>reach </a:t>
            </a:r>
            <a:r>
              <a:rPr sz="1500" spc="35" dirty="0">
                <a:latin typeface="Arial"/>
                <a:cs typeface="Arial"/>
              </a:rPr>
              <a:t>the </a:t>
            </a:r>
            <a:r>
              <a:rPr sz="1500" spc="40" dirty="0">
                <a:latin typeface="Arial"/>
                <a:cs typeface="Arial"/>
              </a:rPr>
              <a:t>human </a:t>
            </a:r>
            <a:r>
              <a:rPr sz="1500" spc="25" dirty="0">
                <a:latin typeface="Arial"/>
                <a:cs typeface="Arial"/>
              </a:rPr>
              <a:t>understanding </a:t>
            </a:r>
            <a:r>
              <a:rPr sz="1500" spc="5" dirty="0">
                <a:latin typeface="Arial"/>
                <a:cs typeface="Arial"/>
              </a:rPr>
              <a:t>level using </a:t>
            </a:r>
            <a:r>
              <a:rPr sz="1500" spc="30" dirty="0">
                <a:latin typeface="Arial"/>
                <a:cs typeface="Arial"/>
              </a:rPr>
              <a:t>parallel </a:t>
            </a:r>
            <a:r>
              <a:rPr sz="1500" spc="40" dirty="0">
                <a:latin typeface="Arial"/>
                <a:cs typeface="Arial"/>
              </a:rPr>
              <a:t>computing </a:t>
            </a:r>
            <a:r>
              <a:rPr sz="1500" spc="-25" dirty="0">
                <a:latin typeface="Arial"/>
                <a:cs typeface="Arial"/>
              </a:rPr>
              <a:t>based </a:t>
            </a:r>
            <a:r>
              <a:rPr sz="1500" spc="30" dirty="0">
                <a:latin typeface="Arial"/>
                <a:cs typeface="Arial"/>
              </a:rPr>
              <a:t>on </a:t>
            </a:r>
            <a:r>
              <a:rPr sz="1500" spc="35" dirty="0">
                <a:latin typeface="Arial"/>
                <a:cs typeface="Arial"/>
              </a:rPr>
              <a:t>big data </a:t>
            </a:r>
            <a:r>
              <a:rPr sz="1500" spc="15" dirty="0">
                <a:latin typeface="Arial"/>
                <a:cs typeface="Arial"/>
              </a:rPr>
              <a:t>and </a:t>
            </a:r>
            <a:r>
              <a:rPr sz="1500" spc="30" dirty="0">
                <a:latin typeface="Arial"/>
                <a:cs typeface="Arial"/>
              </a:rPr>
              <a:t>parallel </a:t>
            </a:r>
            <a:r>
              <a:rPr sz="1500" spc="40" dirty="0">
                <a:latin typeface="Arial"/>
                <a:cs typeface="Arial"/>
              </a:rPr>
              <a:t>computing</a:t>
            </a:r>
            <a:r>
              <a:rPr sz="1500" spc="415" dirty="0">
                <a:latin typeface="Arial"/>
                <a:cs typeface="Arial"/>
              </a:rPr>
              <a:t> </a:t>
            </a:r>
            <a:r>
              <a:rPr sz="1500" spc="10" dirty="0">
                <a:latin typeface="Arial"/>
                <a:cs typeface="Arial"/>
              </a:rPr>
              <a:t>only.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286127"/>
            <a:ext cx="9715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Wingdings"/>
                <a:cs typeface="Wingdings"/>
              </a:rPr>
              <a:t></a:t>
            </a:r>
            <a:endParaRPr sz="75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139822"/>
            <a:ext cx="102920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500" spc="25" dirty="0">
                <a:latin typeface="Arial"/>
                <a:cs typeface="Arial"/>
              </a:rPr>
              <a:t>In </a:t>
            </a:r>
            <a:r>
              <a:rPr sz="1500" spc="35" dirty="0">
                <a:latin typeface="Arial"/>
                <a:cs typeface="Arial"/>
              </a:rPr>
              <a:t>future, </a:t>
            </a:r>
            <a:r>
              <a:rPr sz="1500" spc="-60" dirty="0">
                <a:latin typeface="Arial"/>
                <a:cs typeface="Arial"/>
              </a:rPr>
              <a:t>NLP </a:t>
            </a:r>
            <a:r>
              <a:rPr sz="1500" spc="70" dirty="0">
                <a:latin typeface="Arial"/>
                <a:cs typeface="Arial"/>
              </a:rPr>
              <a:t>will </a:t>
            </a:r>
            <a:r>
              <a:rPr sz="1500" spc="-15" dirty="0">
                <a:latin typeface="Arial"/>
                <a:cs typeface="Arial"/>
              </a:rPr>
              <a:t>achieve </a:t>
            </a:r>
            <a:r>
              <a:rPr sz="1500" spc="35" dirty="0">
                <a:latin typeface="Arial"/>
                <a:cs typeface="Arial"/>
              </a:rPr>
              <a:t>more growth: </a:t>
            </a:r>
            <a:r>
              <a:rPr sz="1500" spc="25" dirty="0">
                <a:latin typeface="Arial"/>
                <a:cs typeface="Arial"/>
              </a:rPr>
              <a:t>understanding </a:t>
            </a:r>
            <a:r>
              <a:rPr sz="1500" spc="65" dirty="0">
                <a:latin typeface="Arial"/>
                <a:cs typeface="Arial"/>
              </a:rPr>
              <a:t>of </a:t>
            </a:r>
            <a:r>
              <a:rPr sz="1500" spc="25" dirty="0">
                <a:latin typeface="Arial"/>
                <a:cs typeface="Arial"/>
              </a:rPr>
              <a:t>shallow </a:t>
            </a:r>
            <a:r>
              <a:rPr sz="1500" spc="-5" dirty="0">
                <a:latin typeface="Arial"/>
                <a:cs typeface="Arial"/>
              </a:rPr>
              <a:t>semantics </a:t>
            </a:r>
            <a:r>
              <a:rPr sz="1500" dirty="0">
                <a:latin typeface="Arial"/>
                <a:cs typeface="Arial"/>
              </a:rPr>
              <a:t>→ </a:t>
            </a:r>
            <a:r>
              <a:rPr sz="1500" spc="40" dirty="0">
                <a:latin typeface="Arial"/>
                <a:cs typeface="Arial"/>
              </a:rPr>
              <a:t>automatic </a:t>
            </a:r>
            <a:r>
              <a:rPr sz="1500" spc="25" dirty="0">
                <a:latin typeface="Arial"/>
                <a:cs typeface="Arial"/>
              </a:rPr>
              <a:t>extraction </a:t>
            </a:r>
            <a:r>
              <a:rPr sz="1500" spc="65" dirty="0">
                <a:latin typeface="Arial"/>
                <a:cs typeface="Arial"/>
              </a:rPr>
              <a:t>of </a:t>
            </a:r>
            <a:r>
              <a:rPr sz="1500" spc="10" dirty="0">
                <a:latin typeface="Arial"/>
                <a:cs typeface="Arial"/>
              </a:rPr>
              <a:t>features and  </a:t>
            </a:r>
            <a:r>
              <a:rPr sz="1500" spc="25" dirty="0">
                <a:latin typeface="Arial"/>
                <a:cs typeface="Arial"/>
              </a:rPr>
              <a:t>understanding </a:t>
            </a:r>
            <a:r>
              <a:rPr sz="1500" spc="65" dirty="0">
                <a:latin typeface="Arial"/>
                <a:cs typeface="Arial"/>
              </a:rPr>
              <a:t>of </a:t>
            </a:r>
            <a:r>
              <a:rPr sz="1500" spc="-10" dirty="0">
                <a:latin typeface="Arial"/>
                <a:cs typeface="Arial"/>
              </a:rPr>
              <a:t>deep semantics; </a:t>
            </a:r>
            <a:r>
              <a:rPr sz="1500" spc="5" dirty="0">
                <a:latin typeface="Arial"/>
                <a:cs typeface="Arial"/>
              </a:rPr>
              <a:t>single-purpose </a:t>
            </a:r>
            <a:r>
              <a:rPr sz="1500" spc="20" dirty="0">
                <a:latin typeface="Arial"/>
                <a:cs typeface="Arial"/>
              </a:rPr>
              <a:t>intelligence </a:t>
            </a:r>
            <a:r>
              <a:rPr sz="1500" spc="75" dirty="0">
                <a:latin typeface="Arial"/>
                <a:cs typeface="Arial"/>
              </a:rPr>
              <a:t>(ML) </a:t>
            </a:r>
            <a:r>
              <a:rPr sz="1500" dirty="0">
                <a:latin typeface="Arial"/>
                <a:cs typeface="Arial"/>
              </a:rPr>
              <a:t>→ </a:t>
            </a:r>
            <a:r>
              <a:rPr sz="1500" spc="30" dirty="0">
                <a:latin typeface="Arial"/>
                <a:cs typeface="Arial"/>
              </a:rPr>
              <a:t>hybrid </a:t>
            </a:r>
            <a:r>
              <a:rPr sz="1500" spc="20" dirty="0">
                <a:latin typeface="Arial"/>
                <a:cs typeface="Arial"/>
              </a:rPr>
              <a:t>intelligence </a:t>
            </a:r>
            <a:r>
              <a:rPr sz="1500" spc="30" dirty="0">
                <a:latin typeface="Arial"/>
                <a:cs typeface="Arial"/>
              </a:rPr>
              <a:t>(ML, </a:t>
            </a:r>
            <a:r>
              <a:rPr sz="1500" spc="-45" dirty="0">
                <a:latin typeface="Arial"/>
                <a:cs typeface="Arial"/>
              </a:rPr>
              <a:t>DL, </a:t>
            </a:r>
            <a:r>
              <a:rPr sz="1500" spc="15" dirty="0">
                <a:latin typeface="Arial"/>
                <a:cs typeface="Arial"/>
              </a:rPr>
              <a:t>and</a:t>
            </a:r>
            <a:r>
              <a:rPr sz="1500" spc="43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RL)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287" y="3026791"/>
            <a:ext cx="9715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Wingdings"/>
                <a:cs typeface="Wingdings"/>
              </a:rPr>
              <a:t></a:t>
            </a:r>
            <a:endParaRPr sz="75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1039" y="2971927"/>
            <a:ext cx="19018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30" dirty="0">
                <a:latin typeface="Arial"/>
                <a:cs typeface="Arial"/>
              </a:rPr>
              <a:t>Application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scenarios: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7348" y="3661409"/>
            <a:ext cx="11709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Public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35" dirty="0">
                <a:latin typeface="Arial"/>
                <a:cs typeface="Arial"/>
              </a:rPr>
              <a:t>opinion  </a:t>
            </a:r>
            <a:r>
              <a:rPr sz="1400" spc="-15" dirty="0">
                <a:latin typeface="Arial"/>
                <a:cs typeface="Arial"/>
              </a:rPr>
              <a:t>analysis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8082" y="3661409"/>
            <a:ext cx="8782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10" dirty="0">
                <a:latin typeface="Arial"/>
                <a:cs typeface="Arial"/>
              </a:rPr>
              <a:t>E</a:t>
            </a:r>
            <a:r>
              <a:rPr sz="1400" spc="-90" dirty="0">
                <a:latin typeface="Arial"/>
                <a:cs typeface="Arial"/>
              </a:rPr>
              <a:t>v</a:t>
            </a:r>
            <a:r>
              <a:rPr sz="1400" spc="45" dirty="0">
                <a:latin typeface="Arial"/>
                <a:cs typeface="Arial"/>
              </a:rPr>
              <a:t>alua</a:t>
            </a:r>
            <a:r>
              <a:rPr sz="1400" spc="30" dirty="0">
                <a:latin typeface="Arial"/>
                <a:cs typeface="Arial"/>
              </a:rPr>
              <a:t>tion  </a:t>
            </a:r>
            <a:r>
              <a:rPr sz="1400" spc="-15" dirty="0">
                <a:latin typeface="Arial"/>
                <a:cs typeface="Arial"/>
              </a:rPr>
              <a:t>analysis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82761" y="3501961"/>
            <a:ext cx="4083685" cy="2466340"/>
            <a:chOff x="2282761" y="3501961"/>
            <a:chExt cx="4083685" cy="2466340"/>
          </a:xfrm>
        </p:grpSpPr>
        <p:sp>
          <p:nvSpPr>
            <p:cNvPr id="12" name="object 12"/>
            <p:cNvSpPr/>
            <p:nvPr/>
          </p:nvSpPr>
          <p:spPr>
            <a:xfrm>
              <a:off x="2391533" y="3552779"/>
              <a:ext cx="3772410" cy="24060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87523" y="3506723"/>
              <a:ext cx="4074160" cy="2456815"/>
            </a:xfrm>
            <a:custGeom>
              <a:avLst/>
              <a:gdLst/>
              <a:ahLst/>
              <a:cxnLst/>
              <a:rect l="l" t="t" r="r" b="b"/>
              <a:pathLst>
                <a:path w="4074160" h="2456815">
                  <a:moveTo>
                    <a:pt x="0" y="2456688"/>
                  </a:moveTo>
                  <a:lnTo>
                    <a:pt x="4073652" y="2456688"/>
                  </a:lnTo>
                  <a:lnTo>
                    <a:pt x="4073652" y="0"/>
                  </a:lnTo>
                  <a:lnTo>
                    <a:pt x="0" y="0"/>
                  </a:lnTo>
                  <a:lnTo>
                    <a:pt x="0" y="2456688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27147" y="3546347"/>
              <a:ext cx="890269" cy="302260"/>
            </a:xfrm>
            <a:custGeom>
              <a:avLst/>
              <a:gdLst/>
              <a:ahLst/>
              <a:cxnLst/>
              <a:rect l="l" t="t" r="r" b="b"/>
              <a:pathLst>
                <a:path w="890269" h="302260">
                  <a:moveTo>
                    <a:pt x="890015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890015" y="301751"/>
                  </a:lnTo>
                  <a:lnTo>
                    <a:pt x="890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15794" y="3500704"/>
            <a:ext cx="49085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Theme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30" dirty="0">
                <a:latin typeface="Arial"/>
                <a:cs typeface="Arial"/>
              </a:rPr>
              <a:t>mining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01239" y="5515355"/>
            <a:ext cx="978535" cy="273050"/>
          </a:xfrm>
          <a:custGeom>
            <a:avLst/>
            <a:gdLst/>
            <a:ahLst/>
            <a:cxnLst/>
            <a:rect l="l" t="t" r="r" b="b"/>
            <a:pathLst>
              <a:path w="978535" h="273050">
                <a:moveTo>
                  <a:pt x="978408" y="0"/>
                </a:moveTo>
                <a:lnTo>
                  <a:pt x="0" y="0"/>
                </a:lnTo>
                <a:lnTo>
                  <a:pt x="0" y="272796"/>
                </a:lnTo>
                <a:lnTo>
                  <a:pt x="978408" y="272796"/>
                </a:lnTo>
                <a:lnTo>
                  <a:pt x="978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388997" y="5456021"/>
            <a:ext cx="566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Arial"/>
                <a:cs typeface="Arial"/>
              </a:rPr>
              <a:t>H</a:t>
            </a:r>
            <a:r>
              <a:rPr sz="1200" spc="20" dirty="0">
                <a:latin typeface="Arial"/>
                <a:cs typeface="Arial"/>
              </a:rPr>
              <a:t>o</a:t>
            </a:r>
            <a:r>
              <a:rPr sz="1200" spc="95" dirty="0">
                <a:latin typeface="Arial"/>
                <a:cs typeface="Arial"/>
              </a:rPr>
              <a:t>t</a:t>
            </a:r>
            <a:r>
              <a:rPr sz="1200" spc="-100" dirty="0">
                <a:latin typeface="Arial"/>
                <a:cs typeface="Arial"/>
              </a:rPr>
              <a:t>s</a:t>
            </a:r>
            <a:r>
              <a:rPr sz="1200" spc="15" dirty="0">
                <a:latin typeface="Arial"/>
                <a:cs typeface="Arial"/>
              </a:rPr>
              <a:t>p</a:t>
            </a:r>
            <a:r>
              <a:rPr sz="1200" spc="20" dirty="0">
                <a:latin typeface="Arial"/>
                <a:cs typeface="Arial"/>
              </a:rPr>
              <a:t>o</a:t>
            </a:r>
            <a:r>
              <a:rPr sz="1200" spc="100" dirty="0">
                <a:latin typeface="Arial"/>
                <a:cs typeface="Arial"/>
              </a:rPr>
              <a:t>t  </a:t>
            </a:r>
            <a:r>
              <a:rPr sz="1200" spc="5" dirty="0">
                <a:latin typeface="Arial"/>
                <a:cs typeface="Arial"/>
              </a:rPr>
              <a:t>event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77255" y="3543300"/>
            <a:ext cx="822960" cy="273050"/>
          </a:xfrm>
          <a:custGeom>
            <a:avLst/>
            <a:gdLst/>
            <a:ahLst/>
            <a:cxnLst/>
            <a:rect l="l" t="t" r="r" b="b"/>
            <a:pathLst>
              <a:path w="822960" h="273050">
                <a:moveTo>
                  <a:pt x="822960" y="0"/>
                </a:moveTo>
                <a:lnTo>
                  <a:pt x="0" y="0"/>
                </a:lnTo>
                <a:lnTo>
                  <a:pt x="0" y="272795"/>
                </a:lnTo>
                <a:lnTo>
                  <a:pt x="822960" y="272795"/>
                </a:lnTo>
                <a:lnTo>
                  <a:pt x="8229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65902" y="3483609"/>
            <a:ext cx="552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Trend  </a:t>
            </a:r>
            <a:r>
              <a:rPr sz="1200" dirty="0">
                <a:latin typeface="Arial"/>
                <a:cs typeface="Arial"/>
              </a:rPr>
              <a:t>an</a:t>
            </a:r>
            <a:r>
              <a:rPr sz="1200" spc="-5" dirty="0">
                <a:latin typeface="Arial"/>
                <a:cs typeface="Arial"/>
              </a:rPr>
              <a:t>a</a:t>
            </a:r>
            <a:r>
              <a:rPr sz="1200" spc="55" dirty="0">
                <a:latin typeface="Arial"/>
                <a:cs typeface="Arial"/>
              </a:rPr>
              <a:t>l</a:t>
            </a:r>
            <a:r>
              <a:rPr sz="1200" spc="-15" dirty="0">
                <a:latin typeface="Arial"/>
                <a:cs typeface="Arial"/>
              </a:rPr>
              <a:t>y</a:t>
            </a:r>
            <a:r>
              <a:rPr sz="1200" spc="-100" dirty="0">
                <a:latin typeface="Arial"/>
                <a:cs typeface="Arial"/>
              </a:rPr>
              <a:t>s</a:t>
            </a:r>
            <a:r>
              <a:rPr sz="1200" spc="25" dirty="0">
                <a:latin typeface="Arial"/>
                <a:cs typeface="Arial"/>
              </a:rPr>
              <a:t>i</a:t>
            </a:r>
            <a:r>
              <a:rPr sz="1200" spc="-95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66588" y="4585715"/>
            <a:ext cx="807720" cy="302260"/>
          </a:xfrm>
          <a:custGeom>
            <a:avLst/>
            <a:gdLst/>
            <a:ahLst/>
            <a:cxnLst/>
            <a:rect l="l" t="t" r="r" b="b"/>
            <a:pathLst>
              <a:path w="807720" h="302260">
                <a:moveTo>
                  <a:pt x="807720" y="0"/>
                </a:moveTo>
                <a:lnTo>
                  <a:pt x="0" y="0"/>
                </a:lnTo>
                <a:lnTo>
                  <a:pt x="0" y="301751"/>
                </a:lnTo>
                <a:lnTo>
                  <a:pt x="807720" y="301751"/>
                </a:lnTo>
                <a:lnTo>
                  <a:pt x="8077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467858" y="4540757"/>
            <a:ext cx="717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-145" dirty="0">
                <a:latin typeface="Arial"/>
                <a:cs typeface="Arial"/>
              </a:rPr>
              <a:t>E</a:t>
            </a:r>
            <a:r>
              <a:rPr sz="1200" spc="75" dirty="0">
                <a:latin typeface="Arial"/>
                <a:cs typeface="Arial"/>
              </a:rPr>
              <a:t>m</a:t>
            </a:r>
            <a:r>
              <a:rPr sz="1200" spc="20" dirty="0">
                <a:latin typeface="Arial"/>
                <a:cs typeface="Arial"/>
              </a:rPr>
              <a:t>o</a:t>
            </a:r>
            <a:r>
              <a:rPr sz="1200" spc="95" dirty="0">
                <a:latin typeface="Arial"/>
                <a:cs typeface="Arial"/>
              </a:rPr>
              <a:t>t</a:t>
            </a:r>
            <a:r>
              <a:rPr sz="1200" spc="25" dirty="0">
                <a:latin typeface="Arial"/>
                <a:cs typeface="Arial"/>
              </a:rPr>
              <a:t>i</a:t>
            </a:r>
            <a:r>
              <a:rPr sz="1200" spc="20" dirty="0">
                <a:latin typeface="Arial"/>
                <a:cs typeface="Arial"/>
              </a:rPr>
              <a:t>onal  </a:t>
            </a:r>
            <a:r>
              <a:rPr sz="1200" spc="-15" dirty="0"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77611" y="5622035"/>
            <a:ext cx="1054735" cy="330835"/>
          </a:xfrm>
          <a:custGeom>
            <a:avLst/>
            <a:gdLst/>
            <a:ahLst/>
            <a:cxnLst/>
            <a:rect l="l" t="t" r="r" b="b"/>
            <a:pathLst>
              <a:path w="1054735" h="330835">
                <a:moveTo>
                  <a:pt x="1054608" y="0"/>
                </a:moveTo>
                <a:lnTo>
                  <a:pt x="0" y="0"/>
                </a:lnTo>
                <a:lnTo>
                  <a:pt x="0" y="330707"/>
                </a:lnTo>
                <a:lnTo>
                  <a:pt x="1054608" y="330707"/>
                </a:lnTo>
                <a:lnTo>
                  <a:pt x="10546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66639" y="5591962"/>
            <a:ext cx="8331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I</a:t>
            </a:r>
            <a:r>
              <a:rPr sz="1200" spc="20" dirty="0">
                <a:latin typeface="Arial"/>
                <a:cs typeface="Arial"/>
              </a:rPr>
              <a:t>n</a:t>
            </a:r>
            <a:r>
              <a:rPr sz="1200" spc="30" dirty="0">
                <a:latin typeface="Arial"/>
                <a:cs typeface="Arial"/>
              </a:rPr>
              <a:t>f</a:t>
            </a:r>
            <a:r>
              <a:rPr sz="1200" spc="70" dirty="0">
                <a:latin typeface="Arial"/>
                <a:cs typeface="Arial"/>
              </a:rPr>
              <a:t>o</a:t>
            </a:r>
            <a:r>
              <a:rPr sz="1200" spc="35" dirty="0">
                <a:latin typeface="Arial"/>
                <a:cs typeface="Arial"/>
              </a:rPr>
              <a:t>r</a:t>
            </a:r>
            <a:r>
              <a:rPr sz="1200" spc="75" dirty="0">
                <a:latin typeface="Arial"/>
                <a:cs typeface="Arial"/>
              </a:rPr>
              <a:t>m</a:t>
            </a:r>
            <a:r>
              <a:rPr sz="1200" spc="60" dirty="0">
                <a:latin typeface="Arial"/>
                <a:cs typeface="Arial"/>
              </a:rPr>
              <a:t>a</a:t>
            </a:r>
            <a:r>
              <a:rPr sz="1200" spc="20" dirty="0">
                <a:latin typeface="Arial"/>
                <a:cs typeface="Arial"/>
              </a:rPr>
              <a:t>t</a:t>
            </a:r>
            <a:r>
              <a:rPr sz="1200" spc="25" dirty="0">
                <a:latin typeface="Arial"/>
                <a:cs typeface="Arial"/>
              </a:rPr>
              <a:t>i</a:t>
            </a:r>
            <a:r>
              <a:rPr sz="1200" spc="20" dirty="0">
                <a:latin typeface="Arial"/>
                <a:cs typeface="Arial"/>
              </a:rPr>
              <a:t>on  </a:t>
            </a:r>
            <a:r>
              <a:rPr sz="1200" spc="25" dirty="0">
                <a:latin typeface="Arial"/>
                <a:cs typeface="Arial"/>
              </a:rPr>
              <a:t>distribution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01719" y="4617211"/>
            <a:ext cx="324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90" dirty="0">
                <a:latin typeface="Arial"/>
                <a:cs typeface="Arial"/>
              </a:rPr>
              <a:t>P</a:t>
            </a:r>
            <a:r>
              <a:rPr sz="900" spc="25" dirty="0">
                <a:latin typeface="Arial"/>
                <a:cs typeface="Arial"/>
              </a:rPr>
              <a:t>ubl</a:t>
            </a:r>
            <a:r>
              <a:rPr sz="900" spc="-5" dirty="0">
                <a:latin typeface="Arial"/>
                <a:cs typeface="Arial"/>
              </a:rPr>
              <a:t>ic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56303" y="4757928"/>
            <a:ext cx="546100" cy="1346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890" rIns="0" bIns="0" rtlCol="0">
            <a:spAutoFit/>
          </a:bodyPr>
          <a:lstStyle/>
          <a:p>
            <a:pPr marL="107314">
              <a:lnSpc>
                <a:spcPts val="985"/>
              </a:lnSpc>
              <a:spcBef>
                <a:spcPts val="70"/>
              </a:spcBef>
            </a:pPr>
            <a:r>
              <a:rPr sz="900" spc="20" dirty="0">
                <a:latin typeface="Arial"/>
                <a:cs typeface="Arial"/>
              </a:rPr>
              <a:t>opinion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54475" y="4891785"/>
            <a:ext cx="4197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15" dirty="0">
                <a:latin typeface="Arial"/>
                <a:cs typeface="Arial"/>
              </a:rPr>
              <a:t>a</a:t>
            </a:r>
            <a:r>
              <a:rPr sz="900" spc="5" dirty="0">
                <a:latin typeface="Arial"/>
                <a:cs typeface="Arial"/>
              </a:rPr>
              <a:t>na</a:t>
            </a:r>
            <a:r>
              <a:rPr sz="900" spc="45" dirty="0">
                <a:latin typeface="Arial"/>
                <a:cs typeface="Arial"/>
              </a:rPr>
              <a:t>l</a:t>
            </a:r>
            <a:r>
              <a:rPr sz="900" spc="-40" dirty="0">
                <a:latin typeface="Arial"/>
                <a:cs typeface="Arial"/>
              </a:rPr>
              <a:t>ys</a:t>
            </a:r>
            <a:r>
              <a:rPr sz="900" spc="-20" dirty="0">
                <a:latin typeface="Arial"/>
                <a:cs typeface="Arial"/>
              </a:rPr>
              <a:t>is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612380" y="3607308"/>
            <a:ext cx="3655893" cy="24675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26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3746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NLP </a:t>
            </a:r>
            <a:r>
              <a:rPr spc="65" dirty="0"/>
              <a:t>Application </a:t>
            </a:r>
            <a:r>
              <a:rPr spc="-35" dirty="0"/>
              <a:t>Scenario</a:t>
            </a:r>
            <a:r>
              <a:rPr spc="290" dirty="0"/>
              <a:t> </a:t>
            </a:r>
            <a:r>
              <a:rPr spc="170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907" y="2173300"/>
            <a:ext cx="1020444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0" dirty="0">
                <a:latin typeface="Arial"/>
                <a:cs typeface="Arial"/>
              </a:rPr>
              <a:t>Machine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35" dirty="0">
                <a:latin typeface="Arial"/>
                <a:cs typeface="Arial"/>
              </a:rPr>
              <a:t>translation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7113" y="2071497"/>
            <a:ext cx="11982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Text  </a:t>
            </a:r>
            <a:r>
              <a:rPr sz="1600" spc="-50" dirty="0">
                <a:latin typeface="Arial"/>
                <a:cs typeface="Arial"/>
              </a:rPr>
              <a:t>clas</a:t>
            </a:r>
            <a:r>
              <a:rPr sz="1600" spc="-60" dirty="0">
                <a:latin typeface="Arial"/>
                <a:cs typeface="Arial"/>
              </a:rPr>
              <a:t>s</a:t>
            </a:r>
            <a:r>
              <a:rPr sz="1600" spc="70" dirty="0">
                <a:latin typeface="Arial"/>
                <a:cs typeface="Arial"/>
              </a:rPr>
              <a:t>i</a:t>
            </a:r>
            <a:r>
              <a:rPr sz="1600" spc="95" dirty="0">
                <a:latin typeface="Arial"/>
                <a:cs typeface="Arial"/>
              </a:rPr>
              <a:t>f</a:t>
            </a:r>
            <a:r>
              <a:rPr sz="1600" spc="-10" dirty="0">
                <a:latin typeface="Arial"/>
                <a:cs typeface="Arial"/>
              </a:rPr>
              <a:t>ica</a:t>
            </a:r>
            <a:r>
              <a:rPr sz="1600" spc="55" dirty="0">
                <a:latin typeface="Arial"/>
                <a:cs typeface="Arial"/>
              </a:rPr>
              <a:t>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1181" y="4355668"/>
            <a:ext cx="1111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958" y="4291660"/>
            <a:ext cx="1994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Arial"/>
                <a:cs typeface="Arial"/>
              </a:rPr>
              <a:t>Other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10" dirty="0">
                <a:latin typeface="Arial"/>
                <a:cs typeface="Arial"/>
              </a:rPr>
              <a:t>applications: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6675" y="4795265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5002" y="4737353"/>
            <a:ext cx="2103120" cy="1512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" dirty="0">
                <a:latin typeface="Arial"/>
                <a:cs typeface="Arial"/>
              </a:rPr>
              <a:t>Knowledge</a:t>
            </a:r>
            <a:r>
              <a:rPr sz="1600" spc="105" dirty="0">
                <a:latin typeface="Arial"/>
                <a:cs typeface="Arial"/>
              </a:rPr>
              <a:t> </a:t>
            </a:r>
            <a:r>
              <a:rPr sz="1600" spc="30" dirty="0">
                <a:latin typeface="Arial"/>
                <a:cs typeface="Arial"/>
              </a:rPr>
              <a:t>graph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ts val="3270"/>
              </a:lnSpc>
              <a:spcBef>
                <a:spcPts val="330"/>
              </a:spcBef>
            </a:pPr>
            <a:r>
              <a:rPr sz="1600" spc="40" dirty="0">
                <a:latin typeface="Arial"/>
                <a:cs typeface="Arial"/>
              </a:rPr>
              <a:t>Intelligent copywriting  </a:t>
            </a:r>
            <a:r>
              <a:rPr sz="1600" spc="-5" dirty="0">
                <a:latin typeface="Arial"/>
                <a:cs typeface="Arial"/>
              </a:rPr>
              <a:t>Video</a:t>
            </a:r>
            <a:r>
              <a:rPr sz="1600" spc="70" dirty="0">
                <a:latin typeface="Arial"/>
                <a:cs typeface="Arial"/>
              </a:rPr>
              <a:t> </a:t>
            </a:r>
            <a:r>
              <a:rPr sz="1600" spc="30" dirty="0">
                <a:latin typeface="Arial"/>
                <a:cs typeface="Arial"/>
              </a:rPr>
              <a:t>subtitle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600" spc="-80" dirty="0">
                <a:latin typeface="Arial"/>
                <a:cs typeface="Arial"/>
              </a:rPr>
              <a:t>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6675" y="5209794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6675" y="5623966"/>
            <a:ext cx="116839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5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6675" y="6039103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42988" y="1165860"/>
            <a:ext cx="3904488" cy="262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96083" y="1237488"/>
            <a:ext cx="3450336" cy="2621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27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806195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 </a:t>
            </a:r>
            <a:r>
              <a:rPr spc="65" dirty="0"/>
              <a:t>Application </a:t>
            </a:r>
            <a:r>
              <a:rPr spc="-10" dirty="0"/>
              <a:t>Field </a:t>
            </a:r>
            <a:r>
              <a:rPr spc="190" dirty="0"/>
              <a:t>- </a:t>
            </a:r>
            <a:r>
              <a:rPr spc="95" dirty="0"/>
              <a:t>Intelligent</a:t>
            </a:r>
            <a:r>
              <a:rPr spc="280" dirty="0"/>
              <a:t> </a:t>
            </a:r>
            <a:r>
              <a:rPr spc="40" dirty="0"/>
              <a:t>Healthcare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78052" y="1373124"/>
            <a:ext cx="10010140" cy="490855"/>
            <a:chOff x="1178052" y="1373124"/>
            <a:chExt cx="10010140" cy="490855"/>
          </a:xfrm>
        </p:grpSpPr>
        <p:sp>
          <p:nvSpPr>
            <p:cNvPr id="4" name="object 4"/>
            <p:cNvSpPr/>
            <p:nvPr/>
          </p:nvSpPr>
          <p:spPr>
            <a:xfrm>
              <a:off x="1184148" y="1556004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9997440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9997440" y="301751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4148" y="1556004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0" y="301751"/>
                  </a:moveTo>
                  <a:lnTo>
                    <a:pt x="9997440" y="301751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84020" y="1379220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4">
                  <a:moveTo>
                    <a:pt x="7919211" y="0"/>
                  </a:moveTo>
                  <a:lnTo>
                    <a:pt x="58928" y="0"/>
                  </a:lnTo>
                  <a:lnTo>
                    <a:pt x="36004" y="4635"/>
                  </a:lnTo>
                  <a:lnTo>
                    <a:pt x="17272" y="17271"/>
                  </a:lnTo>
                  <a:lnTo>
                    <a:pt x="4635" y="36004"/>
                  </a:lnTo>
                  <a:lnTo>
                    <a:pt x="0" y="58927"/>
                  </a:lnTo>
                  <a:lnTo>
                    <a:pt x="0" y="294639"/>
                  </a:lnTo>
                  <a:lnTo>
                    <a:pt x="4635" y="317563"/>
                  </a:lnTo>
                  <a:lnTo>
                    <a:pt x="17272" y="336295"/>
                  </a:lnTo>
                  <a:lnTo>
                    <a:pt x="36004" y="348932"/>
                  </a:lnTo>
                  <a:lnTo>
                    <a:pt x="58928" y="353567"/>
                  </a:lnTo>
                  <a:lnTo>
                    <a:pt x="7919211" y="353567"/>
                  </a:lnTo>
                  <a:lnTo>
                    <a:pt x="7942135" y="348932"/>
                  </a:lnTo>
                  <a:lnTo>
                    <a:pt x="7960867" y="336296"/>
                  </a:lnTo>
                  <a:lnTo>
                    <a:pt x="7973504" y="317563"/>
                  </a:lnTo>
                  <a:lnTo>
                    <a:pt x="7978139" y="294639"/>
                  </a:lnTo>
                  <a:lnTo>
                    <a:pt x="7978139" y="58927"/>
                  </a:lnTo>
                  <a:lnTo>
                    <a:pt x="7973504" y="36004"/>
                  </a:lnTo>
                  <a:lnTo>
                    <a:pt x="7960868" y="17272"/>
                  </a:lnTo>
                  <a:lnTo>
                    <a:pt x="7942135" y="4635"/>
                  </a:lnTo>
                  <a:lnTo>
                    <a:pt x="791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84020" y="1379220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4">
                  <a:moveTo>
                    <a:pt x="0" y="58927"/>
                  </a:moveTo>
                  <a:lnTo>
                    <a:pt x="4635" y="36004"/>
                  </a:lnTo>
                  <a:lnTo>
                    <a:pt x="17272" y="17271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7919211" y="0"/>
                  </a:lnTo>
                  <a:lnTo>
                    <a:pt x="7942135" y="4635"/>
                  </a:lnTo>
                  <a:lnTo>
                    <a:pt x="7960868" y="17272"/>
                  </a:lnTo>
                  <a:lnTo>
                    <a:pt x="7973504" y="36004"/>
                  </a:lnTo>
                  <a:lnTo>
                    <a:pt x="7978139" y="58927"/>
                  </a:lnTo>
                  <a:lnTo>
                    <a:pt x="7978139" y="294639"/>
                  </a:lnTo>
                  <a:lnTo>
                    <a:pt x="7973504" y="317563"/>
                  </a:lnTo>
                  <a:lnTo>
                    <a:pt x="7960867" y="336296"/>
                  </a:lnTo>
                  <a:lnTo>
                    <a:pt x="7942135" y="348932"/>
                  </a:lnTo>
                  <a:lnTo>
                    <a:pt x="7919211" y="353567"/>
                  </a:lnTo>
                  <a:lnTo>
                    <a:pt x="58928" y="353567"/>
                  </a:lnTo>
                  <a:lnTo>
                    <a:pt x="36004" y="348932"/>
                  </a:lnTo>
                  <a:lnTo>
                    <a:pt x="17272" y="336295"/>
                  </a:lnTo>
                  <a:lnTo>
                    <a:pt x="4635" y="317563"/>
                  </a:lnTo>
                  <a:lnTo>
                    <a:pt x="0" y="294639"/>
                  </a:lnTo>
                  <a:lnTo>
                    <a:pt x="0" y="58927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78052" y="1917192"/>
            <a:ext cx="10010140" cy="492759"/>
            <a:chOff x="1178052" y="1917192"/>
            <a:chExt cx="10010140" cy="492759"/>
          </a:xfrm>
        </p:grpSpPr>
        <p:sp>
          <p:nvSpPr>
            <p:cNvPr id="9" name="object 9"/>
            <p:cNvSpPr/>
            <p:nvPr/>
          </p:nvSpPr>
          <p:spPr>
            <a:xfrm>
              <a:off x="1184148" y="2100072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30">
                  <a:moveTo>
                    <a:pt x="9997440" y="0"/>
                  </a:moveTo>
                  <a:lnTo>
                    <a:pt x="0" y="0"/>
                  </a:lnTo>
                  <a:lnTo>
                    <a:pt x="0" y="303275"/>
                  </a:lnTo>
                  <a:lnTo>
                    <a:pt x="9997440" y="303275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4148" y="2100072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30">
                  <a:moveTo>
                    <a:pt x="0" y="303275"/>
                  </a:moveTo>
                  <a:lnTo>
                    <a:pt x="9997440" y="303275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84020" y="1923288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4">
                  <a:moveTo>
                    <a:pt x="7919211" y="0"/>
                  </a:moveTo>
                  <a:lnTo>
                    <a:pt x="58928" y="0"/>
                  </a:lnTo>
                  <a:lnTo>
                    <a:pt x="36004" y="4635"/>
                  </a:lnTo>
                  <a:lnTo>
                    <a:pt x="17272" y="17271"/>
                  </a:lnTo>
                  <a:lnTo>
                    <a:pt x="4635" y="36004"/>
                  </a:lnTo>
                  <a:lnTo>
                    <a:pt x="0" y="58927"/>
                  </a:lnTo>
                  <a:lnTo>
                    <a:pt x="0" y="294639"/>
                  </a:lnTo>
                  <a:lnTo>
                    <a:pt x="4635" y="317563"/>
                  </a:lnTo>
                  <a:lnTo>
                    <a:pt x="17272" y="336295"/>
                  </a:lnTo>
                  <a:lnTo>
                    <a:pt x="36004" y="348932"/>
                  </a:lnTo>
                  <a:lnTo>
                    <a:pt x="58928" y="353567"/>
                  </a:lnTo>
                  <a:lnTo>
                    <a:pt x="7919211" y="353567"/>
                  </a:lnTo>
                  <a:lnTo>
                    <a:pt x="7942135" y="348932"/>
                  </a:lnTo>
                  <a:lnTo>
                    <a:pt x="7960867" y="336296"/>
                  </a:lnTo>
                  <a:lnTo>
                    <a:pt x="7973504" y="317563"/>
                  </a:lnTo>
                  <a:lnTo>
                    <a:pt x="7978139" y="294639"/>
                  </a:lnTo>
                  <a:lnTo>
                    <a:pt x="7978139" y="58927"/>
                  </a:lnTo>
                  <a:lnTo>
                    <a:pt x="7973504" y="36004"/>
                  </a:lnTo>
                  <a:lnTo>
                    <a:pt x="7960868" y="17272"/>
                  </a:lnTo>
                  <a:lnTo>
                    <a:pt x="7942135" y="4635"/>
                  </a:lnTo>
                  <a:lnTo>
                    <a:pt x="791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84020" y="1923288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4">
                  <a:moveTo>
                    <a:pt x="0" y="58927"/>
                  </a:moveTo>
                  <a:lnTo>
                    <a:pt x="4635" y="36004"/>
                  </a:lnTo>
                  <a:lnTo>
                    <a:pt x="17272" y="17271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7919211" y="0"/>
                  </a:lnTo>
                  <a:lnTo>
                    <a:pt x="7942135" y="4635"/>
                  </a:lnTo>
                  <a:lnTo>
                    <a:pt x="7960868" y="17272"/>
                  </a:lnTo>
                  <a:lnTo>
                    <a:pt x="7973504" y="36004"/>
                  </a:lnTo>
                  <a:lnTo>
                    <a:pt x="7978139" y="58927"/>
                  </a:lnTo>
                  <a:lnTo>
                    <a:pt x="7978139" y="294639"/>
                  </a:lnTo>
                  <a:lnTo>
                    <a:pt x="7973504" y="317563"/>
                  </a:lnTo>
                  <a:lnTo>
                    <a:pt x="7960867" y="336296"/>
                  </a:lnTo>
                  <a:lnTo>
                    <a:pt x="7942135" y="348932"/>
                  </a:lnTo>
                  <a:lnTo>
                    <a:pt x="7919211" y="353567"/>
                  </a:lnTo>
                  <a:lnTo>
                    <a:pt x="58928" y="353567"/>
                  </a:lnTo>
                  <a:lnTo>
                    <a:pt x="36004" y="348932"/>
                  </a:lnTo>
                  <a:lnTo>
                    <a:pt x="17272" y="336295"/>
                  </a:lnTo>
                  <a:lnTo>
                    <a:pt x="4635" y="317563"/>
                  </a:lnTo>
                  <a:lnTo>
                    <a:pt x="0" y="294639"/>
                  </a:lnTo>
                  <a:lnTo>
                    <a:pt x="0" y="58927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178052" y="2461260"/>
            <a:ext cx="10010140" cy="492759"/>
            <a:chOff x="1178052" y="2461260"/>
            <a:chExt cx="10010140" cy="492759"/>
          </a:xfrm>
        </p:grpSpPr>
        <p:sp>
          <p:nvSpPr>
            <p:cNvPr id="14" name="object 14"/>
            <p:cNvSpPr/>
            <p:nvPr/>
          </p:nvSpPr>
          <p:spPr>
            <a:xfrm>
              <a:off x="1184148" y="2644140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30">
                  <a:moveTo>
                    <a:pt x="9997440" y="0"/>
                  </a:moveTo>
                  <a:lnTo>
                    <a:pt x="0" y="0"/>
                  </a:lnTo>
                  <a:lnTo>
                    <a:pt x="0" y="303275"/>
                  </a:lnTo>
                  <a:lnTo>
                    <a:pt x="9997440" y="303275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84148" y="2644140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30">
                  <a:moveTo>
                    <a:pt x="0" y="303275"/>
                  </a:moveTo>
                  <a:lnTo>
                    <a:pt x="9997440" y="303275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84020" y="2467356"/>
              <a:ext cx="7978140" cy="355600"/>
            </a:xfrm>
            <a:custGeom>
              <a:avLst/>
              <a:gdLst/>
              <a:ahLst/>
              <a:cxnLst/>
              <a:rect l="l" t="t" r="r" b="b"/>
              <a:pathLst>
                <a:path w="7978140" h="355600">
                  <a:moveTo>
                    <a:pt x="7918958" y="0"/>
                  </a:moveTo>
                  <a:lnTo>
                    <a:pt x="59181" y="0"/>
                  </a:lnTo>
                  <a:lnTo>
                    <a:pt x="36165" y="4657"/>
                  </a:lnTo>
                  <a:lnTo>
                    <a:pt x="17351" y="17351"/>
                  </a:lnTo>
                  <a:lnTo>
                    <a:pt x="4657" y="36165"/>
                  </a:lnTo>
                  <a:lnTo>
                    <a:pt x="0" y="59182"/>
                  </a:lnTo>
                  <a:lnTo>
                    <a:pt x="0" y="295910"/>
                  </a:lnTo>
                  <a:lnTo>
                    <a:pt x="4657" y="318926"/>
                  </a:lnTo>
                  <a:lnTo>
                    <a:pt x="17351" y="337740"/>
                  </a:lnTo>
                  <a:lnTo>
                    <a:pt x="36165" y="350434"/>
                  </a:lnTo>
                  <a:lnTo>
                    <a:pt x="59181" y="355092"/>
                  </a:lnTo>
                  <a:lnTo>
                    <a:pt x="7918958" y="355092"/>
                  </a:lnTo>
                  <a:lnTo>
                    <a:pt x="7941974" y="350434"/>
                  </a:lnTo>
                  <a:lnTo>
                    <a:pt x="7960788" y="337740"/>
                  </a:lnTo>
                  <a:lnTo>
                    <a:pt x="7973482" y="318926"/>
                  </a:lnTo>
                  <a:lnTo>
                    <a:pt x="7978139" y="295910"/>
                  </a:lnTo>
                  <a:lnTo>
                    <a:pt x="7978139" y="59182"/>
                  </a:lnTo>
                  <a:lnTo>
                    <a:pt x="7973482" y="36165"/>
                  </a:lnTo>
                  <a:lnTo>
                    <a:pt x="7960788" y="17351"/>
                  </a:lnTo>
                  <a:lnTo>
                    <a:pt x="7941974" y="4657"/>
                  </a:lnTo>
                  <a:lnTo>
                    <a:pt x="7918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84020" y="2467356"/>
              <a:ext cx="7978140" cy="355600"/>
            </a:xfrm>
            <a:custGeom>
              <a:avLst/>
              <a:gdLst/>
              <a:ahLst/>
              <a:cxnLst/>
              <a:rect l="l" t="t" r="r" b="b"/>
              <a:pathLst>
                <a:path w="7978140" h="355600">
                  <a:moveTo>
                    <a:pt x="0" y="59182"/>
                  </a:moveTo>
                  <a:lnTo>
                    <a:pt x="4657" y="36165"/>
                  </a:lnTo>
                  <a:lnTo>
                    <a:pt x="17351" y="17351"/>
                  </a:lnTo>
                  <a:lnTo>
                    <a:pt x="36165" y="4657"/>
                  </a:lnTo>
                  <a:lnTo>
                    <a:pt x="59181" y="0"/>
                  </a:lnTo>
                  <a:lnTo>
                    <a:pt x="7918958" y="0"/>
                  </a:lnTo>
                  <a:lnTo>
                    <a:pt x="7941974" y="4657"/>
                  </a:lnTo>
                  <a:lnTo>
                    <a:pt x="7960788" y="17351"/>
                  </a:lnTo>
                  <a:lnTo>
                    <a:pt x="7973482" y="36165"/>
                  </a:lnTo>
                  <a:lnTo>
                    <a:pt x="7978139" y="59182"/>
                  </a:lnTo>
                  <a:lnTo>
                    <a:pt x="7978139" y="295910"/>
                  </a:lnTo>
                  <a:lnTo>
                    <a:pt x="7973482" y="318926"/>
                  </a:lnTo>
                  <a:lnTo>
                    <a:pt x="7960788" y="337740"/>
                  </a:lnTo>
                  <a:lnTo>
                    <a:pt x="7941974" y="350434"/>
                  </a:lnTo>
                  <a:lnTo>
                    <a:pt x="7918958" y="355092"/>
                  </a:lnTo>
                  <a:lnTo>
                    <a:pt x="59181" y="355092"/>
                  </a:lnTo>
                  <a:lnTo>
                    <a:pt x="36165" y="350434"/>
                  </a:lnTo>
                  <a:lnTo>
                    <a:pt x="17351" y="337740"/>
                  </a:lnTo>
                  <a:lnTo>
                    <a:pt x="4657" y="318926"/>
                  </a:lnTo>
                  <a:lnTo>
                    <a:pt x="0" y="295910"/>
                  </a:lnTo>
                  <a:lnTo>
                    <a:pt x="0" y="59182"/>
                  </a:lnTo>
                  <a:close/>
                </a:path>
              </a:pathLst>
            </a:custGeom>
            <a:ln w="12191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178052" y="3005327"/>
            <a:ext cx="10010140" cy="492759"/>
            <a:chOff x="1178052" y="3005327"/>
            <a:chExt cx="10010140" cy="492759"/>
          </a:xfrm>
        </p:grpSpPr>
        <p:sp>
          <p:nvSpPr>
            <p:cNvPr id="19" name="object 19"/>
            <p:cNvSpPr/>
            <p:nvPr/>
          </p:nvSpPr>
          <p:spPr>
            <a:xfrm>
              <a:off x="1184148" y="3189731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9997440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9997440" y="301751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84148" y="3189731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0" y="301751"/>
                  </a:moveTo>
                  <a:lnTo>
                    <a:pt x="9997440" y="301751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84020" y="3011423"/>
              <a:ext cx="7978140" cy="355600"/>
            </a:xfrm>
            <a:custGeom>
              <a:avLst/>
              <a:gdLst/>
              <a:ahLst/>
              <a:cxnLst/>
              <a:rect l="l" t="t" r="r" b="b"/>
              <a:pathLst>
                <a:path w="7978140" h="355600">
                  <a:moveTo>
                    <a:pt x="7918958" y="0"/>
                  </a:moveTo>
                  <a:lnTo>
                    <a:pt x="59181" y="0"/>
                  </a:lnTo>
                  <a:lnTo>
                    <a:pt x="36165" y="4657"/>
                  </a:lnTo>
                  <a:lnTo>
                    <a:pt x="17351" y="17351"/>
                  </a:lnTo>
                  <a:lnTo>
                    <a:pt x="4657" y="36165"/>
                  </a:lnTo>
                  <a:lnTo>
                    <a:pt x="0" y="59181"/>
                  </a:lnTo>
                  <a:lnTo>
                    <a:pt x="0" y="295910"/>
                  </a:lnTo>
                  <a:lnTo>
                    <a:pt x="4657" y="318926"/>
                  </a:lnTo>
                  <a:lnTo>
                    <a:pt x="17351" y="337740"/>
                  </a:lnTo>
                  <a:lnTo>
                    <a:pt x="36165" y="350434"/>
                  </a:lnTo>
                  <a:lnTo>
                    <a:pt x="59181" y="355091"/>
                  </a:lnTo>
                  <a:lnTo>
                    <a:pt x="7918958" y="355091"/>
                  </a:lnTo>
                  <a:lnTo>
                    <a:pt x="7941974" y="350434"/>
                  </a:lnTo>
                  <a:lnTo>
                    <a:pt x="7960788" y="337740"/>
                  </a:lnTo>
                  <a:lnTo>
                    <a:pt x="7973482" y="318926"/>
                  </a:lnTo>
                  <a:lnTo>
                    <a:pt x="7978139" y="295910"/>
                  </a:lnTo>
                  <a:lnTo>
                    <a:pt x="7978139" y="59181"/>
                  </a:lnTo>
                  <a:lnTo>
                    <a:pt x="7973482" y="36165"/>
                  </a:lnTo>
                  <a:lnTo>
                    <a:pt x="7960788" y="17351"/>
                  </a:lnTo>
                  <a:lnTo>
                    <a:pt x="7941974" y="4657"/>
                  </a:lnTo>
                  <a:lnTo>
                    <a:pt x="7918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84020" y="3011423"/>
              <a:ext cx="7978140" cy="355600"/>
            </a:xfrm>
            <a:custGeom>
              <a:avLst/>
              <a:gdLst/>
              <a:ahLst/>
              <a:cxnLst/>
              <a:rect l="l" t="t" r="r" b="b"/>
              <a:pathLst>
                <a:path w="7978140" h="355600">
                  <a:moveTo>
                    <a:pt x="0" y="59181"/>
                  </a:moveTo>
                  <a:lnTo>
                    <a:pt x="4657" y="36165"/>
                  </a:lnTo>
                  <a:lnTo>
                    <a:pt x="17351" y="17351"/>
                  </a:lnTo>
                  <a:lnTo>
                    <a:pt x="36165" y="4657"/>
                  </a:lnTo>
                  <a:lnTo>
                    <a:pt x="59181" y="0"/>
                  </a:lnTo>
                  <a:lnTo>
                    <a:pt x="7918958" y="0"/>
                  </a:lnTo>
                  <a:lnTo>
                    <a:pt x="7941974" y="4657"/>
                  </a:lnTo>
                  <a:lnTo>
                    <a:pt x="7960788" y="17351"/>
                  </a:lnTo>
                  <a:lnTo>
                    <a:pt x="7973482" y="36165"/>
                  </a:lnTo>
                  <a:lnTo>
                    <a:pt x="7978139" y="59181"/>
                  </a:lnTo>
                  <a:lnTo>
                    <a:pt x="7978139" y="295910"/>
                  </a:lnTo>
                  <a:lnTo>
                    <a:pt x="7973482" y="318926"/>
                  </a:lnTo>
                  <a:lnTo>
                    <a:pt x="7960788" y="337740"/>
                  </a:lnTo>
                  <a:lnTo>
                    <a:pt x="7941974" y="350434"/>
                  </a:lnTo>
                  <a:lnTo>
                    <a:pt x="7918958" y="355091"/>
                  </a:lnTo>
                  <a:lnTo>
                    <a:pt x="59181" y="355091"/>
                  </a:lnTo>
                  <a:lnTo>
                    <a:pt x="36165" y="350434"/>
                  </a:lnTo>
                  <a:lnTo>
                    <a:pt x="17351" y="337740"/>
                  </a:lnTo>
                  <a:lnTo>
                    <a:pt x="4657" y="318926"/>
                  </a:lnTo>
                  <a:lnTo>
                    <a:pt x="0" y="295910"/>
                  </a:lnTo>
                  <a:lnTo>
                    <a:pt x="0" y="59181"/>
                  </a:lnTo>
                  <a:close/>
                </a:path>
              </a:pathLst>
            </a:custGeom>
            <a:ln w="12191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178052" y="3549396"/>
            <a:ext cx="10010140" cy="609600"/>
            <a:chOff x="1178052" y="3549396"/>
            <a:chExt cx="10010140" cy="609600"/>
          </a:xfrm>
        </p:grpSpPr>
        <p:sp>
          <p:nvSpPr>
            <p:cNvPr id="24" name="object 24"/>
            <p:cNvSpPr/>
            <p:nvPr/>
          </p:nvSpPr>
          <p:spPr>
            <a:xfrm>
              <a:off x="1184148" y="3851148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9997440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9997440" y="301751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84148" y="3851148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0" y="301751"/>
                  </a:moveTo>
                  <a:lnTo>
                    <a:pt x="9997440" y="301751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84020" y="3555492"/>
              <a:ext cx="7978140" cy="472440"/>
            </a:xfrm>
            <a:custGeom>
              <a:avLst/>
              <a:gdLst/>
              <a:ahLst/>
              <a:cxnLst/>
              <a:rect l="l" t="t" r="r" b="b"/>
              <a:pathLst>
                <a:path w="7978140" h="472439">
                  <a:moveTo>
                    <a:pt x="7899400" y="0"/>
                  </a:moveTo>
                  <a:lnTo>
                    <a:pt x="78740" y="0"/>
                  </a:lnTo>
                  <a:lnTo>
                    <a:pt x="48113" y="6195"/>
                  </a:lnTo>
                  <a:lnTo>
                    <a:pt x="23082" y="23082"/>
                  </a:lnTo>
                  <a:lnTo>
                    <a:pt x="6195" y="48113"/>
                  </a:lnTo>
                  <a:lnTo>
                    <a:pt x="0" y="78740"/>
                  </a:lnTo>
                  <a:lnTo>
                    <a:pt x="0" y="393700"/>
                  </a:lnTo>
                  <a:lnTo>
                    <a:pt x="6195" y="424326"/>
                  </a:lnTo>
                  <a:lnTo>
                    <a:pt x="23082" y="449357"/>
                  </a:lnTo>
                  <a:lnTo>
                    <a:pt x="48113" y="466244"/>
                  </a:lnTo>
                  <a:lnTo>
                    <a:pt x="78740" y="472440"/>
                  </a:lnTo>
                  <a:lnTo>
                    <a:pt x="7899400" y="472440"/>
                  </a:lnTo>
                  <a:lnTo>
                    <a:pt x="7930026" y="466244"/>
                  </a:lnTo>
                  <a:lnTo>
                    <a:pt x="7955057" y="449357"/>
                  </a:lnTo>
                  <a:lnTo>
                    <a:pt x="7971944" y="424326"/>
                  </a:lnTo>
                  <a:lnTo>
                    <a:pt x="7978139" y="393700"/>
                  </a:lnTo>
                  <a:lnTo>
                    <a:pt x="7978139" y="78740"/>
                  </a:lnTo>
                  <a:lnTo>
                    <a:pt x="7971944" y="48113"/>
                  </a:lnTo>
                  <a:lnTo>
                    <a:pt x="7955057" y="23082"/>
                  </a:lnTo>
                  <a:lnTo>
                    <a:pt x="7930026" y="6195"/>
                  </a:lnTo>
                  <a:lnTo>
                    <a:pt x="789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84020" y="3555492"/>
              <a:ext cx="7978140" cy="472440"/>
            </a:xfrm>
            <a:custGeom>
              <a:avLst/>
              <a:gdLst/>
              <a:ahLst/>
              <a:cxnLst/>
              <a:rect l="l" t="t" r="r" b="b"/>
              <a:pathLst>
                <a:path w="7978140" h="472439">
                  <a:moveTo>
                    <a:pt x="0" y="78740"/>
                  </a:moveTo>
                  <a:lnTo>
                    <a:pt x="6195" y="48113"/>
                  </a:lnTo>
                  <a:lnTo>
                    <a:pt x="23082" y="23082"/>
                  </a:lnTo>
                  <a:lnTo>
                    <a:pt x="48113" y="6195"/>
                  </a:lnTo>
                  <a:lnTo>
                    <a:pt x="78740" y="0"/>
                  </a:lnTo>
                  <a:lnTo>
                    <a:pt x="7899400" y="0"/>
                  </a:lnTo>
                  <a:lnTo>
                    <a:pt x="7930026" y="6195"/>
                  </a:lnTo>
                  <a:lnTo>
                    <a:pt x="7955057" y="23082"/>
                  </a:lnTo>
                  <a:lnTo>
                    <a:pt x="7971944" y="48113"/>
                  </a:lnTo>
                  <a:lnTo>
                    <a:pt x="7978139" y="78740"/>
                  </a:lnTo>
                  <a:lnTo>
                    <a:pt x="7978139" y="393700"/>
                  </a:lnTo>
                  <a:lnTo>
                    <a:pt x="7971944" y="424326"/>
                  </a:lnTo>
                  <a:lnTo>
                    <a:pt x="7955057" y="449357"/>
                  </a:lnTo>
                  <a:lnTo>
                    <a:pt x="7930026" y="466244"/>
                  </a:lnTo>
                  <a:lnTo>
                    <a:pt x="7899400" y="472440"/>
                  </a:lnTo>
                  <a:lnTo>
                    <a:pt x="78740" y="472440"/>
                  </a:lnTo>
                  <a:lnTo>
                    <a:pt x="48113" y="466244"/>
                  </a:lnTo>
                  <a:lnTo>
                    <a:pt x="23082" y="449357"/>
                  </a:lnTo>
                  <a:lnTo>
                    <a:pt x="6195" y="424326"/>
                  </a:lnTo>
                  <a:lnTo>
                    <a:pt x="0" y="393700"/>
                  </a:lnTo>
                  <a:lnTo>
                    <a:pt x="0" y="78740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178052" y="4212335"/>
            <a:ext cx="10010140" cy="490855"/>
            <a:chOff x="1178052" y="4212335"/>
            <a:chExt cx="10010140" cy="490855"/>
          </a:xfrm>
        </p:grpSpPr>
        <p:sp>
          <p:nvSpPr>
            <p:cNvPr id="29" name="object 29"/>
            <p:cNvSpPr/>
            <p:nvPr/>
          </p:nvSpPr>
          <p:spPr>
            <a:xfrm>
              <a:off x="1184148" y="4395215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9997440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9997440" y="301751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84148" y="4395215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0" y="301751"/>
                  </a:moveTo>
                  <a:lnTo>
                    <a:pt x="9997440" y="301751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84020" y="4218431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7919211" y="0"/>
                  </a:moveTo>
                  <a:lnTo>
                    <a:pt x="58928" y="0"/>
                  </a:lnTo>
                  <a:lnTo>
                    <a:pt x="36004" y="4635"/>
                  </a:lnTo>
                  <a:lnTo>
                    <a:pt x="17272" y="17272"/>
                  </a:lnTo>
                  <a:lnTo>
                    <a:pt x="4635" y="36004"/>
                  </a:lnTo>
                  <a:lnTo>
                    <a:pt x="0" y="58928"/>
                  </a:lnTo>
                  <a:lnTo>
                    <a:pt x="0" y="294640"/>
                  </a:lnTo>
                  <a:lnTo>
                    <a:pt x="4635" y="317563"/>
                  </a:lnTo>
                  <a:lnTo>
                    <a:pt x="17272" y="336296"/>
                  </a:lnTo>
                  <a:lnTo>
                    <a:pt x="36004" y="348932"/>
                  </a:lnTo>
                  <a:lnTo>
                    <a:pt x="58928" y="353568"/>
                  </a:lnTo>
                  <a:lnTo>
                    <a:pt x="7919211" y="353568"/>
                  </a:lnTo>
                  <a:lnTo>
                    <a:pt x="7942135" y="348932"/>
                  </a:lnTo>
                  <a:lnTo>
                    <a:pt x="7960867" y="336296"/>
                  </a:lnTo>
                  <a:lnTo>
                    <a:pt x="7973504" y="317563"/>
                  </a:lnTo>
                  <a:lnTo>
                    <a:pt x="7978139" y="294640"/>
                  </a:lnTo>
                  <a:lnTo>
                    <a:pt x="7978139" y="58928"/>
                  </a:lnTo>
                  <a:lnTo>
                    <a:pt x="7973504" y="36004"/>
                  </a:lnTo>
                  <a:lnTo>
                    <a:pt x="7960868" y="17272"/>
                  </a:lnTo>
                  <a:lnTo>
                    <a:pt x="7942135" y="4635"/>
                  </a:lnTo>
                  <a:lnTo>
                    <a:pt x="791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84020" y="4218431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0" y="58928"/>
                  </a:moveTo>
                  <a:lnTo>
                    <a:pt x="4635" y="36004"/>
                  </a:lnTo>
                  <a:lnTo>
                    <a:pt x="17272" y="17272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7919211" y="0"/>
                  </a:lnTo>
                  <a:lnTo>
                    <a:pt x="7942135" y="4635"/>
                  </a:lnTo>
                  <a:lnTo>
                    <a:pt x="7960868" y="17272"/>
                  </a:lnTo>
                  <a:lnTo>
                    <a:pt x="7973504" y="36004"/>
                  </a:lnTo>
                  <a:lnTo>
                    <a:pt x="7978139" y="58928"/>
                  </a:lnTo>
                  <a:lnTo>
                    <a:pt x="7978139" y="294640"/>
                  </a:lnTo>
                  <a:lnTo>
                    <a:pt x="7973504" y="317563"/>
                  </a:lnTo>
                  <a:lnTo>
                    <a:pt x="7960867" y="336296"/>
                  </a:lnTo>
                  <a:lnTo>
                    <a:pt x="7942135" y="348932"/>
                  </a:lnTo>
                  <a:lnTo>
                    <a:pt x="7919211" y="353568"/>
                  </a:lnTo>
                  <a:lnTo>
                    <a:pt x="58928" y="353568"/>
                  </a:lnTo>
                  <a:lnTo>
                    <a:pt x="36004" y="348932"/>
                  </a:lnTo>
                  <a:lnTo>
                    <a:pt x="17272" y="336296"/>
                  </a:lnTo>
                  <a:lnTo>
                    <a:pt x="4635" y="317563"/>
                  </a:lnTo>
                  <a:lnTo>
                    <a:pt x="0" y="294640"/>
                  </a:lnTo>
                  <a:lnTo>
                    <a:pt x="0" y="58928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178052" y="4756403"/>
            <a:ext cx="10010140" cy="490855"/>
            <a:chOff x="1178052" y="4756403"/>
            <a:chExt cx="10010140" cy="490855"/>
          </a:xfrm>
        </p:grpSpPr>
        <p:sp>
          <p:nvSpPr>
            <p:cNvPr id="34" name="object 34"/>
            <p:cNvSpPr/>
            <p:nvPr/>
          </p:nvSpPr>
          <p:spPr>
            <a:xfrm>
              <a:off x="1184148" y="4939283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9997440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9997440" y="301751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84148" y="4939283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0" y="301751"/>
                  </a:moveTo>
                  <a:lnTo>
                    <a:pt x="9997440" y="301751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684020" y="4762499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7919211" y="0"/>
                  </a:moveTo>
                  <a:lnTo>
                    <a:pt x="58928" y="0"/>
                  </a:lnTo>
                  <a:lnTo>
                    <a:pt x="36004" y="4635"/>
                  </a:lnTo>
                  <a:lnTo>
                    <a:pt x="17272" y="17272"/>
                  </a:lnTo>
                  <a:lnTo>
                    <a:pt x="4635" y="36004"/>
                  </a:lnTo>
                  <a:lnTo>
                    <a:pt x="0" y="58927"/>
                  </a:lnTo>
                  <a:lnTo>
                    <a:pt x="0" y="294639"/>
                  </a:lnTo>
                  <a:lnTo>
                    <a:pt x="4635" y="317563"/>
                  </a:lnTo>
                  <a:lnTo>
                    <a:pt x="17272" y="336295"/>
                  </a:lnTo>
                  <a:lnTo>
                    <a:pt x="36004" y="348932"/>
                  </a:lnTo>
                  <a:lnTo>
                    <a:pt x="58928" y="353568"/>
                  </a:lnTo>
                  <a:lnTo>
                    <a:pt x="7919211" y="353568"/>
                  </a:lnTo>
                  <a:lnTo>
                    <a:pt x="7942135" y="348932"/>
                  </a:lnTo>
                  <a:lnTo>
                    <a:pt x="7960867" y="336295"/>
                  </a:lnTo>
                  <a:lnTo>
                    <a:pt x="7973504" y="317563"/>
                  </a:lnTo>
                  <a:lnTo>
                    <a:pt x="7978139" y="294639"/>
                  </a:lnTo>
                  <a:lnTo>
                    <a:pt x="7978139" y="58927"/>
                  </a:lnTo>
                  <a:lnTo>
                    <a:pt x="7973504" y="36004"/>
                  </a:lnTo>
                  <a:lnTo>
                    <a:pt x="7960868" y="17272"/>
                  </a:lnTo>
                  <a:lnTo>
                    <a:pt x="7942135" y="4635"/>
                  </a:lnTo>
                  <a:lnTo>
                    <a:pt x="791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84020" y="4762499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0" y="58927"/>
                  </a:moveTo>
                  <a:lnTo>
                    <a:pt x="4635" y="36004"/>
                  </a:lnTo>
                  <a:lnTo>
                    <a:pt x="17272" y="17272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7919211" y="0"/>
                  </a:lnTo>
                  <a:lnTo>
                    <a:pt x="7942135" y="4635"/>
                  </a:lnTo>
                  <a:lnTo>
                    <a:pt x="7960868" y="17272"/>
                  </a:lnTo>
                  <a:lnTo>
                    <a:pt x="7973504" y="36004"/>
                  </a:lnTo>
                  <a:lnTo>
                    <a:pt x="7978139" y="58927"/>
                  </a:lnTo>
                  <a:lnTo>
                    <a:pt x="7978139" y="294639"/>
                  </a:lnTo>
                  <a:lnTo>
                    <a:pt x="7973504" y="317563"/>
                  </a:lnTo>
                  <a:lnTo>
                    <a:pt x="7960867" y="336295"/>
                  </a:lnTo>
                  <a:lnTo>
                    <a:pt x="7942135" y="348932"/>
                  </a:lnTo>
                  <a:lnTo>
                    <a:pt x="7919211" y="353568"/>
                  </a:lnTo>
                  <a:lnTo>
                    <a:pt x="58928" y="353568"/>
                  </a:lnTo>
                  <a:lnTo>
                    <a:pt x="36004" y="348932"/>
                  </a:lnTo>
                  <a:lnTo>
                    <a:pt x="17272" y="336295"/>
                  </a:lnTo>
                  <a:lnTo>
                    <a:pt x="4635" y="317563"/>
                  </a:lnTo>
                  <a:lnTo>
                    <a:pt x="0" y="294639"/>
                  </a:lnTo>
                  <a:lnTo>
                    <a:pt x="0" y="58927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178052" y="5300471"/>
            <a:ext cx="10010140" cy="492759"/>
            <a:chOff x="1178052" y="5300471"/>
            <a:chExt cx="10010140" cy="492759"/>
          </a:xfrm>
        </p:grpSpPr>
        <p:sp>
          <p:nvSpPr>
            <p:cNvPr id="39" name="object 39"/>
            <p:cNvSpPr/>
            <p:nvPr/>
          </p:nvSpPr>
          <p:spPr>
            <a:xfrm>
              <a:off x="1184148" y="5483351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29">
                  <a:moveTo>
                    <a:pt x="9997440" y="0"/>
                  </a:moveTo>
                  <a:lnTo>
                    <a:pt x="0" y="0"/>
                  </a:lnTo>
                  <a:lnTo>
                    <a:pt x="0" y="303276"/>
                  </a:lnTo>
                  <a:lnTo>
                    <a:pt x="9997440" y="303276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84148" y="5483351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29">
                  <a:moveTo>
                    <a:pt x="0" y="303276"/>
                  </a:moveTo>
                  <a:lnTo>
                    <a:pt x="9997440" y="303276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3276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84020" y="5306567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7919211" y="0"/>
                  </a:moveTo>
                  <a:lnTo>
                    <a:pt x="58928" y="0"/>
                  </a:lnTo>
                  <a:lnTo>
                    <a:pt x="36004" y="4635"/>
                  </a:lnTo>
                  <a:lnTo>
                    <a:pt x="17272" y="17271"/>
                  </a:lnTo>
                  <a:lnTo>
                    <a:pt x="4635" y="36004"/>
                  </a:lnTo>
                  <a:lnTo>
                    <a:pt x="0" y="58927"/>
                  </a:lnTo>
                  <a:lnTo>
                    <a:pt x="0" y="294639"/>
                  </a:lnTo>
                  <a:lnTo>
                    <a:pt x="4635" y="317579"/>
                  </a:lnTo>
                  <a:lnTo>
                    <a:pt x="17272" y="336310"/>
                  </a:lnTo>
                  <a:lnTo>
                    <a:pt x="36004" y="348937"/>
                  </a:lnTo>
                  <a:lnTo>
                    <a:pt x="58928" y="353567"/>
                  </a:lnTo>
                  <a:lnTo>
                    <a:pt x="7919211" y="353567"/>
                  </a:lnTo>
                  <a:lnTo>
                    <a:pt x="7942135" y="348937"/>
                  </a:lnTo>
                  <a:lnTo>
                    <a:pt x="7960867" y="336310"/>
                  </a:lnTo>
                  <a:lnTo>
                    <a:pt x="7973504" y="317579"/>
                  </a:lnTo>
                  <a:lnTo>
                    <a:pt x="7978139" y="294639"/>
                  </a:lnTo>
                  <a:lnTo>
                    <a:pt x="7978139" y="58927"/>
                  </a:lnTo>
                  <a:lnTo>
                    <a:pt x="7973504" y="36004"/>
                  </a:lnTo>
                  <a:lnTo>
                    <a:pt x="7960868" y="17271"/>
                  </a:lnTo>
                  <a:lnTo>
                    <a:pt x="7942135" y="4635"/>
                  </a:lnTo>
                  <a:lnTo>
                    <a:pt x="791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84020" y="5306567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0" y="58927"/>
                  </a:moveTo>
                  <a:lnTo>
                    <a:pt x="4635" y="36004"/>
                  </a:lnTo>
                  <a:lnTo>
                    <a:pt x="17272" y="17271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7919211" y="0"/>
                  </a:lnTo>
                  <a:lnTo>
                    <a:pt x="7942135" y="4635"/>
                  </a:lnTo>
                  <a:lnTo>
                    <a:pt x="7960868" y="17271"/>
                  </a:lnTo>
                  <a:lnTo>
                    <a:pt x="7973504" y="36004"/>
                  </a:lnTo>
                  <a:lnTo>
                    <a:pt x="7978139" y="58927"/>
                  </a:lnTo>
                  <a:lnTo>
                    <a:pt x="7978139" y="294639"/>
                  </a:lnTo>
                  <a:lnTo>
                    <a:pt x="7973504" y="317579"/>
                  </a:lnTo>
                  <a:lnTo>
                    <a:pt x="7960867" y="336310"/>
                  </a:lnTo>
                  <a:lnTo>
                    <a:pt x="7942135" y="348937"/>
                  </a:lnTo>
                  <a:lnTo>
                    <a:pt x="7919211" y="353567"/>
                  </a:lnTo>
                  <a:lnTo>
                    <a:pt x="58928" y="353567"/>
                  </a:lnTo>
                  <a:lnTo>
                    <a:pt x="36004" y="348937"/>
                  </a:lnTo>
                  <a:lnTo>
                    <a:pt x="17272" y="336310"/>
                  </a:lnTo>
                  <a:lnTo>
                    <a:pt x="4635" y="317579"/>
                  </a:lnTo>
                  <a:lnTo>
                    <a:pt x="0" y="294639"/>
                  </a:lnTo>
                  <a:lnTo>
                    <a:pt x="0" y="58927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953895" y="1422907"/>
            <a:ext cx="7322184" cy="4168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15" dirty="0">
                <a:latin typeface="Arial"/>
                <a:cs typeface="Arial"/>
              </a:rPr>
              <a:t>Medicine </a:t>
            </a:r>
            <a:r>
              <a:rPr sz="1400" b="1" spc="5" dirty="0">
                <a:latin typeface="Arial"/>
                <a:cs typeface="Arial"/>
              </a:rPr>
              <a:t>mining: </a:t>
            </a:r>
            <a:r>
              <a:rPr sz="1400" spc="15" dirty="0">
                <a:latin typeface="Arial"/>
                <a:cs typeface="Arial"/>
              </a:rPr>
              <a:t>quick </a:t>
            </a:r>
            <a:r>
              <a:rPr sz="1400" spc="20" dirty="0">
                <a:latin typeface="Arial"/>
                <a:cs typeface="Arial"/>
              </a:rPr>
              <a:t>development </a:t>
            </a:r>
            <a:r>
              <a:rPr sz="1400" spc="60" dirty="0">
                <a:latin typeface="Arial"/>
                <a:cs typeface="Arial"/>
              </a:rPr>
              <a:t>of </a:t>
            </a:r>
            <a:r>
              <a:rPr sz="1400" dirty="0">
                <a:latin typeface="Arial"/>
                <a:cs typeface="Arial"/>
              </a:rPr>
              <a:t>personalized medicines </a:t>
            </a:r>
            <a:r>
              <a:rPr sz="1400" spc="10" dirty="0">
                <a:latin typeface="Arial"/>
                <a:cs typeface="Arial"/>
              </a:rPr>
              <a:t>by </a:t>
            </a:r>
            <a:r>
              <a:rPr sz="1400" spc="-5" dirty="0">
                <a:latin typeface="Arial"/>
                <a:cs typeface="Arial"/>
              </a:rPr>
              <a:t>AI</a:t>
            </a:r>
            <a:r>
              <a:rPr sz="1400" spc="175" dirty="0">
                <a:latin typeface="Arial"/>
                <a:cs typeface="Arial"/>
              </a:rPr>
              <a:t> </a:t>
            </a:r>
            <a:r>
              <a:rPr sz="1400" spc="-15" dirty="0">
                <a:latin typeface="Arial"/>
                <a:cs typeface="Arial"/>
              </a:rPr>
              <a:t>assistants</a:t>
            </a:r>
            <a:endParaRPr sz="1400">
              <a:latin typeface="Arial"/>
              <a:cs typeface="Arial"/>
            </a:endParaRPr>
          </a:p>
          <a:p>
            <a:pPr marL="12700" marR="554990">
              <a:lnSpc>
                <a:spcPct val="255100"/>
              </a:lnSpc>
            </a:pPr>
            <a:r>
              <a:rPr sz="1400" b="1" spc="45" dirty="0">
                <a:latin typeface="Arial"/>
                <a:cs typeface="Arial"/>
              </a:rPr>
              <a:t>Health </a:t>
            </a:r>
            <a:r>
              <a:rPr sz="1400" b="1" spc="20" dirty="0">
                <a:latin typeface="Arial"/>
                <a:cs typeface="Arial"/>
              </a:rPr>
              <a:t>management: </a:t>
            </a:r>
            <a:r>
              <a:rPr sz="1400" spc="45" dirty="0">
                <a:latin typeface="Arial"/>
                <a:cs typeface="Arial"/>
              </a:rPr>
              <a:t>nutrition, </a:t>
            </a:r>
            <a:r>
              <a:rPr sz="1400" spc="15" dirty="0">
                <a:latin typeface="Arial"/>
                <a:cs typeface="Arial"/>
              </a:rPr>
              <a:t>and </a:t>
            </a:r>
            <a:r>
              <a:rPr sz="1400" spc="25" dirty="0">
                <a:latin typeface="Arial"/>
                <a:cs typeface="Arial"/>
              </a:rPr>
              <a:t>physical/mental </a:t>
            </a:r>
            <a:r>
              <a:rPr sz="1400" spc="35" dirty="0">
                <a:latin typeface="Arial"/>
                <a:cs typeface="Arial"/>
              </a:rPr>
              <a:t>health </a:t>
            </a:r>
            <a:r>
              <a:rPr sz="1400" spc="30" dirty="0">
                <a:latin typeface="Arial"/>
                <a:cs typeface="Arial"/>
              </a:rPr>
              <a:t>management  </a:t>
            </a:r>
            <a:r>
              <a:rPr sz="1400" b="1" spc="10" dirty="0">
                <a:latin typeface="Arial"/>
                <a:cs typeface="Arial"/>
              </a:rPr>
              <a:t>Hospital </a:t>
            </a:r>
            <a:r>
              <a:rPr sz="1400" b="1" spc="20" dirty="0">
                <a:latin typeface="Arial"/>
                <a:cs typeface="Arial"/>
              </a:rPr>
              <a:t>management: </a:t>
            </a:r>
            <a:r>
              <a:rPr sz="1400" spc="25" dirty="0">
                <a:latin typeface="Arial"/>
                <a:cs typeface="Arial"/>
              </a:rPr>
              <a:t>structured </a:t>
            </a:r>
            <a:r>
              <a:rPr sz="1400" spc="-35" dirty="0">
                <a:latin typeface="Arial"/>
                <a:cs typeface="Arial"/>
              </a:rPr>
              <a:t>services </a:t>
            </a:r>
            <a:r>
              <a:rPr sz="1400" spc="10" dirty="0">
                <a:latin typeface="Arial"/>
                <a:cs typeface="Arial"/>
              </a:rPr>
              <a:t>concerning </a:t>
            </a:r>
            <a:r>
              <a:rPr sz="1400" spc="20" dirty="0">
                <a:latin typeface="Arial"/>
                <a:cs typeface="Arial"/>
              </a:rPr>
              <a:t>medical </a:t>
            </a:r>
            <a:r>
              <a:rPr sz="1400" spc="-5" dirty="0">
                <a:latin typeface="Arial"/>
                <a:cs typeface="Arial"/>
              </a:rPr>
              <a:t>records </a:t>
            </a:r>
            <a:r>
              <a:rPr sz="1400" spc="25" dirty="0">
                <a:latin typeface="Arial"/>
                <a:cs typeface="Arial"/>
              </a:rPr>
              <a:t>(focus)  </a:t>
            </a:r>
            <a:r>
              <a:rPr sz="1400" b="1" spc="-45" dirty="0">
                <a:latin typeface="Arial"/>
                <a:cs typeface="Arial"/>
              </a:rPr>
              <a:t>Assistance </a:t>
            </a:r>
            <a:r>
              <a:rPr sz="1400" b="1" spc="30" dirty="0">
                <a:latin typeface="Arial"/>
                <a:cs typeface="Arial"/>
              </a:rPr>
              <a:t>for </a:t>
            </a:r>
            <a:r>
              <a:rPr sz="1400" b="1" spc="5" dirty="0">
                <a:latin typeface="Arial"/>
                <a:cs typeface="Arial"/>
              </a:rPr>
              <a:t>medical </a:t>
            </a:r>
            <a:r>
              <a:rPr sz="1400" b="1" spc="-30" dirty="0">
                <a:latin typeface="Arial"/>
                <a:cs typeface="Arial"/>
              </a:rPr>
              <a:t>research: </a:t>
            </a:r>
            <a:r>
              <a:rPr sz="1400" spc="-25" dirty="0">
                <a:latin typeface="Arial"/>
                <a:cs typeface="Arial"/>
              </a:rPr>
              <a:t>assistance </a:t>
            </a:r>
            <a:r>
              <a:rPr sz="1400" spc="60" dirty="0">
                <a:latin typeface="Arial"/>
                <a:cs typeface="Arial"/>
              </a:rPr>
              <a:t>for </a:t>
            </a:r>
            <a:r>
              <a:rPr sz="1400" spc="25" dirty="0">
                <a:latin typeface="Arial"/>
                <a:cs typeface="Arial"/>
              </a:rPr>
              <a:t>biomedical </a:t>
            </a:r>
            <a:r>
              <a:rPr sz="1400" spc="-20" dirty="0">
                <a:latin typeface="Arial"/>
                <a:cs typeface="Arial"/>
              </a:rPr>
              <a:t>researchers </a:t>
            </a:r>
            <a:r>
              <a:rPr sz="1400" spc="40" dirty="0">
                <a:latin typeface="Arial"/>
                <a:cs typeface="Arial"/>
              </a:rPr>
              <a:t>in</a:t>
            </a:r>
            <a:r>
              <a:rPr sz="1400" spc="3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research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Arial"/>
              <a:cs typeface="Arial"/>
            </a:endParaRPr>
          </a:p>
          <a:p>
            <a:pPr marL="18415">
              <a:lnSpc>
                <a:spcPts val="1670"/>
              </a:lnSpc>
            </a:pPr>
            <a:r>
              <a:rPr sz="1400" b="1" spc="40" dirty="0">
                <a:latin typeface="Arial"/>
                <a:cs typeface="Arial"/>
              </a:rPr>
              <a:t>Virtual </a:t>
            </a:r>
            <a:r>
              <a:rPr sz="1400" b="1" spc="-30" dirty="0">
                <a:latin typeface="Arial"/>
                <a:cs typeface="Arial"/>
              </a:rPr>
              <a:t>assistant: </a:t>
            </a:r>
            <a:r>
              <a:rPr sz="1400" spc="15" dirty="0">
                <a:latin typeface="Arial"/>
                <a:cs typeface="Arial"/>
              </a:rPr>
              <a:t>electronic </a:t>
            </a:r>
            <a:r>
              <a:rPr sz="1400" spc="-10" dirty="0">
                <a:latin typeface="Arial"/>
                <a:cs typeface="Arial"/>
              </a:rPr>
              <a:t>voice </a:t>
            </a:r>
            <a:r>
              <a:rPr sz="1400" spc="15" dirty="0">
                <a:latin typeface="Arial"/>
                <a:cs typeface="Arial"/>
              </a:rPr>
              <a:t>medical </a:t>
            </a:r>
            <a:r>
              <a:rPr sz="1400" spc="-15" dirty="0">
                <a:latin typeface="Arial"/>
                <a:cs typeface="Arial"/>
              </a:rPr>
              <a:t>records, </a:t>
            </a:r>
            <a:r>
              <a:rPr sz="1400" spc="45" dirty="0">
                <a:latin typeface="Arial"/>
                <a:cs typeface="Arial"/>
              </a:rPr>
              <a:t>intelligent </a:t>
            </a:r>
            <a:r>
              <a:rPr sz="1400" dirty="0">
                <a:latin typeface="Arial"/>
                <a:cs typeface="Arial"/>
              </a:rPr>
              <a:t>guidance,</a:t>
            </a:r>
            <a:r>
              <a:rPr sz="1400" spc="175" dirty="0">
                <a:latin typeface="Arial"/>
                <a:cs typeface="Arial"/>
              </a:rPr>
              <a:t> </a:t>
            </a:r>
            <a:r>
              <a:rPr sz="1400" spc="45" dirty="0">
                <a:latin typeface="Arial"/>
                <a:cs typeface="Arial"/>
              </a:rPr>
              <a:t>intelligent</a:t>
            </a:r>
            <a:endParaRPr sz="1400">
              <a:latin typeface="Arial"/>
              <a:cs typeface="Arial"/>
            </a:endParaRPr>
          </a:p>
          <a:p>
            <a:pPr marL="18415">
              <a:lnSpc>
                <a:spcPts val="1670"/>
              </a:lnSpc>
            </a:pPr>
            <a:r>
              <a:rPr sz="1400" spc="-10" dirty="0">
                <a:latin typeface="Arial"/>
                <a:cs typeface="Arial"/>
              </a:rPr>
              <a:t>diagnosis, </a:t>
            </a:r>
            <a:r>
              <a:rPr sz="1400" spc="15" dirty="0">
                <a:latin typeface="Arial"/>
                <a:cs typeface="Arial"/>
              </a:rPr>
              <a:t>and medicine</a:t>
            </a:r>
            <a:r>
              <a:rPr sz="1400" spc="95" dirty="0">
                <a:latin typeface="Arial"/>
                <a:cs typeface="Arial"/>
              </a:rPr>
              <a:t> </a:t>
            </a:r>
            <a:r>
              <a:rPr sz="1400" spc="30" dirty="0">
                <a:latin typeface="Arial"/>
                <a:cs typeface="Arial"/>
              </a:rPr>
              <a:t>recommendation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25" dirty="0">
                <a:latin typeface="Arial"/>
                <a:cs typeface="Arial"/>
              </a:rPr>
              <a:t>Medical </a:t>
            </a:r>
            <a:r>
              <a:rPr sz="1400" b="1" spc="5" dirty="0">
                <a:latin typeface="Arial"/>
                <a:cs typeface="Arial"/>
              </a:rPr>
              <a:t>image: </a:t>
            </a:r>
            <a:r>
              <a:rPr sz="1400" spc="15" dirty="0">
                <a:latin typeface="Arial"/>
                <a:cs typeface="Arial"/>
              </a:rPr>
              <a:t>medical </a:t>
            </a:r>
            <a:r>
              <a:rPr sz="1400" spc="25" dirty="0">
                <a:latin typeface="Arial"/>
                <a:cs typeface="Arial"/>
              </a:rPr>
              <a:t>image </a:t>
            </a:r>
            <a:r>
              <a:rPr sz="1400" spc="20" dirty="0">
                <a:latin typeface="Arial"/>
                <a:cs typeface="Arial"/>
              </a:rPr>
              <a:t>recognition, </a:t>
            </a:r>
            <a:r>
              <a:rPr sz="1400" spc="25" dirty="0">
                <a:latin typeface="Arial"/>
                <a:cs typeface="Arial"/>
              </a:rPr>
              <a:t>image </a:t>
            </a:r>
            <a:r>
              <a:rPr sz="1400" spc="30" dirty="0">
                <a:latin typeface="Arial"/>
                <a:cs typeface="Arial"/>
              </a:rPr>
              <a:t>marking, </a:t>
            </a:r>
            <a:r>
              <a:rPr sz="1400" spc="20" dirty="0">
                <a:latin typeface="Arial"/>
                <a:cs typeface="Arial"/>
              </a:rPr>
              <a:t>and </a:t>
            </a:r>
            <a:r>
              <a:rPr sz="1400" dirty="0">
                <a:latin typeface="Arial"/>
                <a:cs typeface="Arial"/>
              </a:rPr>
              <a:t>3D </a:t>
            </a:r>
            <a:r>
              <a:rPr sz="1400" spc="25" dirty="0">
                <a:latin typeface="Arial"/>
                <a:cs typeface="Arial"/>
              </a:rPr>
              <a:t>image</a:t>
            </a:r>
            <a:r>
              <a:rPr sz="1400" spc="175" dirty="0">
                <a:latin typeface="Arial"/>
                <a:cs typeface="Arial"/>
              </a:rPr>
              <a:t> </a:t>
            </a:r>
            <a:r>
              <a:rPr sz="1400" spc="20" dirty="0">
                <a:latin typeface="Arial"/>
                <a:cs typeface="Arial"/>
              </a:rPr>
              <a:t>reconstruction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45" dirty="0">
                <a:latin typeface="Arial"/>
                <a:cs typeface="Arial"/>
              </a:rPr>
              <a:t>Assistance </a:t>
            </a:r>
            <a:r>
              <a:rPr sz="1400" b="1" spc="30" dirty="0">
                <a:latin typeface="Arial"/>
                <a:cs typeface="Arial"/>
              </a:rPr>
              <a:t>for </a:t>
            </a:r>
            <a:r>
              <a:rPr sz="1400" b="1" spc="-35" dirty="0">
                <a:latin typeface="Arial"/>
                <a:cs typeface="Arial"/>
              </a:rPr>
              <a:t>diagnosis </a:t>
            </a:r>
            <a:r>
              <a:rPr sz="1400" b="1" spc="15" dirty="0">
                <a:latin typeface="Arial"/>
                <a:cs typeface="Arial"/>
              </a:rPr>
              <a:t>and </a:t>
            </a:r>
            <a:r>
              <a:rPr sz="1400" b="1" spc="40" dirty="0">
                <a:latin typeface="Arial"/>
                <a:cs typeface="Arial"/>
              </a:rPr>
              <a:t>treatment: </a:t>
            </a:r>
            <a:r>
              <a:rPr sz="1400" spc="15" dirty="0">
                <a:latin typeface="Arial"/>
                <a:cs typeface="Arial"/>
              </a:rPr>
              <a:t>diagnostic</a:t>
            </a:r>
            <a:r>
              <a:rPr sz="1400" spc="150" dirty="0">
                <a:latin typeface="Arial"/>
                <a:cs typeface="Arial"/>
              </a:rPr>
              <a:t> </a:t>
            </a:r>
            <a:r>
              <a:rPr sz="1400" spc="50" dirty="0">
                <a:latin typeface="Arial"/>
                <a:cs typeface="Arial"/>
              </a:rPr>
              <a:t>robot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35" dirty="0">
                <a:latin typeface="Arial"/>
                <a:cs typeface="Arial"/>
              </a:rPr>
              <a:t>Disease </a:t>
            </a:r>
            <a:r>
              <a:rPr sz="1400" b="1" spc="-15" dirty="0">
                <a:latin typeface="Arial"/>
                <a:cs typeface="Arial"/>
              </a:rPr>
              <a:t>risk forecast: </a:t>
            </a:r>
            <a:r>
              <a:rPr sz="1400" spc="-35" dirty="0">
                <a:latin typeface="Arial"/>
                <a:cs typeface="Arial"/>
              </a:rPr>
              <a:t>disease </a:t>
            </a:r>
            <a:r>
              <a:rPr sz="1400" spc="5" dirty="0">
                <a:latin typeface="Arial"/>
                <a:cs typeface="Arial"/>
              </a:rPr>
              <a:t>risk </a:t>
            </a:r>
            <a:r>
              <a:rPr sz="1400" spc="10" dirty="0">
                <a:latin typeface="Arial"/>
                <a:cs typeface="Arial"/>
              </a:rPr>
              <a:t>forecast </a:t>
            </a:r>
            <a:r>
              <a:rPr sz="1400" spc="-25" dirty="0">
                <a:latin typeface="Arial"/>
                <a:cs typeface="Arial"/>
              </a:rPr>
              <a:t>based </a:t>
            </a:r>
            <a:r>
              <a:rPr sz="1400" spc="30" dirty="0">
                <a:latin typeface="Arial"/>
                <a:cs typeface="Arial"/>
              </a:rPr>
              <a:t>on </a:t>
            </a:r>
            <a:r>
              <a:rPr sz="1400" spc="-10" dirty="0">
                <a:latin typeface="Arial"/>
                <a:cs typeface="Arial"/>
              </a:rPr>
              <a:t>gene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sequencing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28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4999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 </a:t>
            </a:r>
            <a:r>
              <a:rPr spc="65" dirty="0"/>
              <a:t>Application </a:t>
            </a:r>
            <a:r>
              <a:rPr spc="-10" dirty="0"/>
              <a:t>Field </a:t>
            </a:r>
            <a:r>
              <a:rPr spc="190" dirty="0"/>
              <a:t>- </a:t>
            </a:r>
            <a:r>
              <a:rPr spc="95" dirty="0"/>
              <a:t>Intelligent</a:t>
            </a:r>
            <a:r>
              <a:rPr spc="295" dirty="0"/>
              <a:t> </a:t>
            </a:r>
            <a:r>
              <a:rPr spc="-15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08277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6604"/>
            <a:ext cx="10291445" cy="129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sz="1600" spc="-10" dirty="0">
                <a:latin typeface="Arial"/>
                <a:cs typeface="Arial"/>
              </a:rPr>
              <a:t>Security </a:t>
            </a:r>
            <a:r>
              <a:rPr sz="1600" spc="40" dirty="0">
                <a:latin typeface="Arial"/>
                <a:cs typeface="Arial"/>
              </a:rPr>
              <a:t>protection </a:t>
            </a:r>
            <a:r>
              <a:rPr sz="1600" spc="-40" dirty="0">
                <a:latin typeface="Arial"/>
                <a:cs typeface="Arial"/>
              </a:rPr>
              <a:t>is </a:t>
            </a:r>
            <a:r>
              <a:rPr sz="1600" spc="-5" dirty="0">
                <a:latin typeface="Arial"/>
                <a:cs typeface="Arial"/>
              </a:rPr>
              <a:t>considered </a:t>
            </a:r>
            <a:r>
              <a:rPr sz="1600" spc="40" dirty="0">
                <a:latin typeface="Arial"/>
                <a:cs typeface="Arial"/>
              </a:rPr>
              <a:t>the </a:t>
            </a:r>
            <a:r>
              <a:rPr sz="1600" spc="-25" dirty="0">
                <a:latin typeface="Arial"/>
                <a:cs typeface="Arial"/>
              </a:rPr>
              <a:t>easiest </a:t>
            </a:r>
            <a:r>
              <a:rPr sz="1600" spc="45" dirty="0">
                <a:latin typeface="Arial"/>
                <a:cs typeface="Arial"/>
              </a:rPr>
              <a:t>field </a:t>
            </a:r>
            <a:r>
              <a:rPr sz="1600" spc="70" dirty="0">
                <a:latin typeface="Arial"/>
                <a:cs typeface="Arial"/>
              </a:rPr>
              <a:t>for </a:t>
            </a: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40" dirty="0">
                <a:latin typeface="Arial"/>
                <a:cs typeface="Arial"/>
              </a:rPr>
              <a:t>implementation. </a:t>
            </a: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10" dirty="0">
                <a:latin typeface="Arial"/>
                <a:cs typeface="Arial"/>
              </a:rPr>
              <a:t>technologies </a:t>
            </a:r>
            <a:r>
              <a:rPr sz="1600" spc="20" dirty="0">
                <a:latin typeface="Arial"/>
                <a:cs typeface="Arial"/>
              </a:rPr>
              <a:t>applied </a:t>
            </a:r>
            <a:r>
              <a:rPr sz="1600" spc="45" dirty="0">
                <a:latin typeface="Arial"/>
                <a:cs typeface="Arial"/>
              </a:rPr>
              <a:t>in </a:t>
            </a:r>
            <a:r>
              <a:rPr sz="1600" spc="25" dirty="0">
                <a:latin typeface="Arial"/>
                <a:cs typeface="Arial"/>
              </a:rPr>
              <a:t>this </a:t>
            </a:r>
            <a:r>
              <a:rPr sz="1600" spc="45" dirty="0">
                <a:latin typeface="Arial"/>
                <a:cs typeface="Arial"/>
              </a:rPr>
              <a:t>field  </a:t>
            </a:r>
            <a:r>
              <a:rPr sz="1600" dirty="0">
                <a:latin typeface="Arial"/>
                <a:cs typeface="Arial"/>
              </a:rPr>
              <a:t>are </a:t>
            </a:r>
            <a:r>
              <a:rPr sz="1600" spc="30" dirty="0">
                <a:latin typeface="Arial"/>
                <a:cs typeface="Arial"/>
              </a:rPr>
              <a:t>relatively mature. </a:t>
            </a:r>
            <a:r>
              <a:rPr sz="1600" spc="-30" dirty="0">
                <a:latin typeface="Arial"/>
                <a:cs typeface="Arial"/>
              </a:rPr>
              <a:t>The </a:t>
            </a:r>
            <a:r>
              <a:rPr sz="1600" spc="45" dirty="0">
                <a:latin typeface="Arial"/>
                <a:cs typeface="Arial"/>
              </a:rPr>
              <a:t>field </a:t>
            </a:r>
            <a:r>
              <a:rPr sz="1600" dirty="0">
                <a:latin typeface="Arial"/>
                <a:cs typeface="Arial"/>
              </a:rPr>
              <a:t>involves </a:t>
            </a:r>
            <a:r>
              <a:rPr sz="1600" spc="-25" dirty="0">
                <a:latin typeface="Arial"/>
                <a:cs typeface="Arial"/>
              </a:rPr>
              <a:t>massive </a:t>
            </a:r>
            <a:r>
              <a:rPr sz="1600" spc="35" dirty="0">
                <a:latin typeface="Arial"/>
                <a:cs typeface="Arial"/>
              </a:rPr>
              <a:t>data </a:t>
            </a:r>
            <a:r>
              <a:rPr sz="1600" spc="70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images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spc="-20" dirty="0">
                <a:latin typeface="Arial"/>
                <a:cs typeface="Arial"/>
              </a:rPr>
              <a:t>videos, </a:t>
            </a:r>
            <a:r>
              <a:rPr sz="1600" spc="30" dirty="0">
                <a:latin typeface="Arial"/>
                <a:cs typeface="Arial"/>
              </a:rPr>
              <a:t>laying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5" dirty="0">
                <a:latin typeface="Arial"/>
                <a:cs typeface="Arial"/>
              </a:rPr>
              <a:t>sound </a:t>
            </a:r>
            <a:r>
              <a:rPr sz="1600" spc="50" dirty="0">
                <a:latin typeface="Arial"/>
                <a:cs typeface="Arial"/>
              </a:rPr>
              <a:t>foundation </a:t>
            </a:r>
            <a:r>
              <a:rPr sz="1600" spc="70" dirty="0">
                <a:latin typeface="Arial"/>
                <a:cs typeface="Arial"/>
              </a:rPr>
              <a:t>for  </a:t>
            </a:r>
            <a:r>
              <a:rPr sz="1600" spc="50" dirty="0">
                <a:latin typeface="Arial"/>
                <a:cs typeface="Arial"/>
              </a:rPr>
              <a:t>training </a:t>
            </a:r>
            <a:r>
              <a:rPr sz="1600" spc="70" dirty="0">
                <a:latin typeface="Arial"/>
                <a:cs typeface="Arial"/>
              </a:rPr>
              <a:t>of </a:t>
            </a: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40" dirty="0">
                <a:latin typeface="Arial"/>
                <a:cs typeface="Arial"/>
              </a:rPr>
              <a:t>algorithms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spc="-5" dirty="0">
                <a:latin typeface="Arial"/>
                <a:cs typeface="Arial"/>
              </a:rPr>
              <a:t>models. </a:t>
            </a:r>
            <a:r>
              <a:rPr sz="1600" spc="10" dirty="0">
                <a:latin typeface="Arial"/>
                <a:cs typeface="Arial"/>
              </a:rPr>
              <a:t>Currently, </a:t>
            </a: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10" dirty="0">
                <a:latin typeface="Arial"/>
                <a:cs typeface="Arial"/>
              </a:rPr>
              <a:t>technologies </a:t>
            </a:r>
            <a:r>
              <a:rPr sz="1600" spc="5" dirty="0">
                <a:latin typeface="Arial"/>
                <a:cs typeface="Arial"/>
              </a:rPr>
              <a:t>are </a:t>
            </a:r>
            <a:r>
              <a:rPr sz="1600" spc="20" dirty="0">
                <a:latin typeface="Arial"/>
                <a:cs typeface="Arial"/>
              </a:rPr>
              <a:t>applied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spc="85" dirty="0">
                <a:latin typeface="Arial"/>
                <a:cs typeface="Arial"/>
              </a:rPr>
              <a:t>two </a:t>
            </a:r>
            <a:r>
              <a:rPr sz="1600" spc="15" dirty="0">
                <a:latin typeface="Arial"/>
                <a:cs typeface="Arial"/>
              </a:rPr>
              <a:t>directions </a:t>
            </a:r>
            <a:r>
              <a:rPr sz="1600" spc="45" dirty="0">
                <a:latin typeface="Arial"/>
                <a:cs typeface="Arial"/>
              </a:rPr>
              <a:t>in </a:t>
            </a:r>
            <a:r>
              <a:rPr sz="1600" spc="40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security  </a:t>
            </a:r>
            <a:r>
              <a:rPr sz="1600" spc="35" dirty="0">
                <a:latin typeface="Arial"/>
                <a:cs typeface="Arial"/>
              </a:rPr>
              <a:t>protection </a:t>
            </a:r>
            <a:r>
              <a:rPr sz="1600" spc="20" dirty="0">
                <a:latin typeface="Arial"/>
                <a:cs typeface="Arial"/>
              </a:rPr>
              <a:t>field, </a:t>
            </a:r>
            <a:r>
              <a:rPr sz="1600" spc="10" dirty="0">
                <a:latin typeface="Arial"/>
                <a:cs typeface="Arial"/>
              </a:rPr>
              <a:t>namely, </a:t>
            </a:r>
            <a:r>
              <a:rPr sz="1600" spc="20" dirty="0">
                <a:latin typeface="Arial"/>
                <a:cs typeface="Arial"/>
              </a:rPr>
              <a:t>civil </a:t>
            </a:r>
            <a:r>
              <a:rPr sz="1600" spc="-45" dirty="0">
                <a:latin typeface="Arial"/>
                <a:cs typeface="Arial"/>
              </a:rPr>
              <a:t>use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spc="5" dirty="0">
                <a:latin typeface="Arial"/>
                <a:cs typeface="Arial"/>
              </a:rPr>
              <a:t>police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use.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578735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520823"/>
            <a:ext cx="2026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latin typeface="Arial"/>
                <a:cs typeface="Arial"/>
              </a:rPr>
              <a:t>Application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spc="-30" dirty="0">
                <a:latin typeface="Arial"/>
                <a:cs typeface="Arial"/>
              </a:rPr>
              <a:t>scenarios: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7135" y="2961258"/>
            <a:ext cx="99060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spc="-5" dirty="0">
                <a:latin typeface="Wingdings"/>
                <a:cs typeface="Wingdings"/>
              </a:rPr>
              <a:t></a:t>
            </a:r>
            <a:endParaRPr sz="65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8524" y="2853969"/>
            <a:ext cx="9483090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300" b="1" spc="-30" dirty="0">
                <a:latin typeface="Arial"/>
                <a:cs typeface="Arial"/>
              </a:rPr>
              <a:t>Police </a:t>
            </a:r>
            <a:r>
              <a:rPr sz="1300" b="1" spc="-65" dirty="0">
                <a:latin typeface="Arial"/>
                <a:cs typeface="Arial"/>
              </a:rPr>
              <a:t>use: </a:t>
            </a:r>
            <a:r>
              <a:rPr sz="1300" spc="-20" dirty="0">
                <a:latin typeface="Arial"/>
                <a:cs typeface="Arial"/>
              </a:rPr>
              <a:t>suspect </a:t>
            </a:r>
            <a:r>
              <a:rPr sz="1300" spc="25" dirty="0">
                <a:latin typeface="Arial"/>
                <a:cs typeface="Arial"/>
              </a:rPr>
              <a:t>identification, </a:t>
            </a:r>
            <a:r>
              <a:rPr sz="1300" spc="-5" dirty="0">
                <a:latin typeface="Arial"/>
                <a:cs typeface="Arial"/>
              </a:rPr>
              <a:t>vehicle </a:t>
            </a:r>
            <a:r>
              <a:rPr sz="1300" spc="-20" dirty="0">
                <a:latin typeface="Arial"/>
                <a:cs typeface="Arial"/>
              </a:rPr>
              <a:t>analysis, suspect </a:t>
            </a:r>
            <a:r>
              <a:rPr sz="1300" spc="15" dirty="0">
                <a:latin typeface="Arial"/>
                <a:cs typeface="Arial"/>
              </a:rPr>
              <a:t>tracking, </a:t>
            </a:r>
            <a:r>
              <a:rPr sz="1300" spc="-20" dirty="0">
                <a:latin typeface="Arial"/>
                <a:cs typeface="Arial"/>
              </a:rPr>
              <a:t>suspect </a:t>
            </a:r>
            <a:r>
              <a:rPr sz="1300" spc="-25" dirty="0">
                <a:latin typeface="Arial"/>
                <a:cs typeface="Arial"/>
              </a:rPr>
              <a:t>search </a:t>
            </a:r>
            <a:r>
              <a:rPr sz="1300" spc="10" dirty="0">
                <a:latin typeface="Arial"/>
                <a:cs typeface="Arial"/>
              </a:rPr>
              <a:t>and </a:t>
            </a:r>
            <a:r>
              <a:rPr sz="1300" dirty="0">
                <a:latin typeface="Arial"/>
                <a:cs typeface="Arial"/>
              </a:rPr>
              <a:t>comparison, </a:t>
            </a:r>
            <a:r>
              <a:rPr sz="1300" spc="10" dirty="0">
                <a:latin typeface="Arial"/>
                <a:cs typeface="Arial"/>
              </a:rPr>
              <a:t>and </a:t>
            </a:r>
            <a:r>
              <a:rPr sz="1300" spc="-65" dirty="0">
                <a:latin typeface="Arial"/>
                <a:cs typeface="Arial"/>
              </a:rPr>
              <a:t>access </a:t>
            </a:r>
            <a:r>
              <a:rPr sz="1300" spc="30" dirty="0">
                <a:latin typeface="Arial"/>
                <a:cs typeface="Arial"/>
              </a:rPr>
              <a:t>control </a:t>
            </a:r>
            <a:r>
              <a:rPr sz="1300" spc="45" dirty="0">
                <a:latin typeface="Arial"/>
                <a:cs typeface="Arial"/>
              </a:rPr>
              <a:t>at </a:t>
            </a:r>
            <a:r>
              <a:rPr sz="1300" spc="-10" dirty="0">
                <a:latin typeface="Arial"/>
                <a:cs typeface="Arial"/>
              </a:rPr>
              <a:t>key  </a:t>
            </a:r>
            <a:r>
              <a:rPr sz="1300" spc="-25" dirty="0">
                <a:latin typeface="Arial"/>
                <a:cs typeface="Arial"/>
              </a:rPr>
              <a:t>places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7135" y="3565016"/>
            <a:ext cx="99060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spc="-5" dirty="0">
                <a:latin typeface="Wingdings"/>
                <a:cs typeface="Wingdings"/>
              </a:rPr>
              <a:t></a:t>
            </a:r>
            <a:endParaRPr sz="65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8524" y="3517772"/>
            <a:ext cx="79787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0" dirty="0">
                <a:latin typeface="Arial"/>
                <a:cs typeface="Arial"/>
              </a:rPr>
              <a:t>Civil </a:t>
            </a:r>
            <a:r>
              <a:rPr sz="1300" b="1" spc="-65" dirty="0">
                <a:latin typeface="Arial"/>
                <a:cs typeface="Arial"/>
              </a:rPr>
              <a:t>use: </a:t>
            </a:r>
            <a:r>
              <a:rPr sz="1300" spc="15" dirty="0">
                <a:latin typeface="Arial"/>
                <a:cs typeface="Arial"/>
              </a:rPr>
              <a:t>facial recognition, </a:t>
            </a:r>
            <a:r>
              <a:rPr sz="1300" spc="30" dirty="0">
                <a:latin typeface="Arial"/>
                <a:cs typeface="Arial"/>
              </a:rPr>
              <a:t>warning </a:t>
            </a:r>
            <a:r>
              <a:rPr sz="1300" spc="10" dirty="0">
                <a:latin typeface="Arial"/>
                <a:cs typeface="Arial"/>
              </a:rPr>
              <a:t>against </a:t>
            </a:r>
            <a:r>
              <a:rPr sz="1300" spc="35" dirty="0">
                <a:latin typeface="Arial"/>
                <a:cs typeface="Arial"/>
              </a:rPr>
              <a:t>potential </a:t>
            </a:r>
            <a:r>
              <a:rPr sz="1300" dirty="0">
                <a:latin typeface="Arial"/>
                <a:cs typeface="Arial"/>
              </a:rPr>
              <a:t>danger, </a:t>
            </a:r>
            <a:r>
              <a:rPr sz="1300" spc="10" dirty="0">
                <a:latin typeface="Arial"/>
                <a:cs typeface="Arial"/>
              </a:rPr>
              <a:t>and </a:t>
            </a:r>
            <a:r>
              <a:rPr sz="1300" spc="20" dirty="0">
                <a:latin typeface="Arial"/>
                <a:cs typeface="Arial"/>
              </a:rPr>
              <a:t>home </a:t>
            </a:r>
            <a:r>
              <a:rPr sz="1300" spc="15" dirty="0">
                <a:latin typeface="Arial"/>
                <a:cs typeface="Arial"/>
              </a:rPr>
              <a:t>protective</a:t>
            </a:r>
            <a:r>
              <a:rPr sz="1300" spc="165" dirty="0">
                <a:latin typeface="Arial"/>
                <a:cs typeface="Arial"/>
              </a:rPr>
              <a:t> </a:t>
            </a:r>
            <a:r>
              <a:rPr sz="1300" spc="-5" dirty="0">
                <a:latin typeface="Arial"/>
                <a:cs typeface="Arial"/>
              </a:rPr>
              <a:t>measure </a:t>
            </a:r>
            <a:r>
              <a:rPr sz="1300" spc="20" dirty="0">
                <a:latin typeface="Arial"/>
                <a:cs typeface="Arial"/>
              </a:rPr>
              <a:t>deployment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69208" y="3489959"/>
            <a:ext cx="5053584" cy="2651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29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63982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 </a:t>
            </a:r>
            <a:r>
              <a:rPr spc="65" dirty="0"/>
              <a:t>Application </a:t>
            </a:r>
            <a:r>
              <a:rPr spc="-10" dirty="0"/>
              <a:t>Field </a:t>
            </a:r>
            <a:r>
              <a:rPr spc="190" dirty="0"/>
              <a:t>- </a:t>
            </a:r>
            <a:r>
              <a:rPr spc="35" dirty="0"/>
              <a:t>Smart</a:t>
            </a:r>
            <a:r>
              <a:rPr spc="270" dirty="0"/>
              <a:t> </a:t>
            </a:r>
            <a:r>
              <a:rPr spc="75" dirty="0"/>
              <a:t>Home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294620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0100"/>
              </a:lnSpc>
              <a:spcBef>
                <a:spcPts val="95"/>
              </a:spcBef>
            </a:pPr>
            <a:r>
              <a:rPr sz="2000" spc="-65" dirty="0">
                <a:latin typeface="Arial"/>
                <a:cs typeface="Arial"/>
              </a:rPr>
              <a:t>Based </a:t>
            </a:r>
            <a:r>
              <a:rPr sz="2000" spc="45" dirty="0">
                <a:latin typeface="Arial"/>
                <a:cs typeface="Arial"/>
              </a:rPr>
              <a:t>on </a:t>
            </a:r>
            <a:r>
              <a:rPr sz="2000" spc="-15" dirty="0">
                <a:latin typeface="Arial"/>
                <a:cs typeface="Arial"/>
              </a:rPr>
              <a:t>IoT </a:t>
            </a:r>
            <a:r>
              <a:rPr sz="2000" spc="5" dirty="0">
                <a:latin typeface="Arial"/>
                <a:cs typeface="Arial"/>
              </a:rPr>
              <a:t>technologies,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45" dirty="0">
                <a:latin typeface="Arial"/>
                <a:cs typeface="Arial"/>
              </a:rPr>
              <a:t>smart </a:t>
            </a:r>
            <a:r>
              <a:rPr sz="2000" spc="40" dirty="0">
                <a:latin typeface="Arial"/>
                <a:cs typeface="Arial"/>
              </a:rPr>
              <a:t>home </a:t>
            </a:r>
            <a:r>
              <a:rPr sz="2000" spc="-25" dirty="0">
                <a:latin typeface="Arial"/>
                <a:cs typeface="Arial"/>
              </a:rPr>
              <a:t>ecosystem </a:t>
            </a:r>
            <a:r>
              <a:rPr sz="2000" spc="-45" dirty="0">
                <a:latin typeface="Arial"/>
                <a:cs typeface="Arial"/>
              </a:rPr>
              <a:t>is </a:t>
            </a:r>
            <a:r>
              <a:rPr sz="2000" spc="60" dirty="0">
                <a:latin typeface="Arial"/>
                <a:cs typeface="Arial"/>
              </a:rPr>
              <a:t>formed </a:t>
            </a:r>
            <a:r>
              <a:rPr sz="2000" spc="105" dirty="0">
                <a:latin typeface="Arial"/>
                <a:cs typeface="Arial"/>
              </a:rPr>
              <a:t>with </a:t>
            </a:r>
            <a:r>
              <a:rPr sz="2000" spc="25" dirty="0">
                <a:latin typeface="Arial"/>
                <a:cs typeface="Arial"/>
              </a:rPr>
              <a:t>hardware, software,  and </a:t>
            </a:r>
            <a:r>
              <a:rPr sz="2000" spc="30" dirty="0">
                <a:latin typeface="Arial"/>
                <a:cs typeface="Arial"/>
              </a:rPr>
              <a:t>cloud </a:t>
            </a:r>
            <a:r>
              <a:rPr sz="2000" spc="45" dirty="0">
                <a:latin typeface="Arial"/>
                <a:cs typeface="Arial"/>
              </a:rPr>
              <a:t>platforms, </a:t>
            </a:r>
            <a:r>
              <a:rPr sz="2000" spc="40" dirty="0">
                <a:latin typeface="Arial"/>
                <a:cs typeface="Arial"/>
              </a:rPr>
              <a:t>providing </a:t>
            </a:r>
            <a:r>
              <a:rPr sz="2000" spc="-50" dirty="0">
                <a:latin typeface="Arial"/>
                <a:cs typeface="Arial"/>
              </a:rPr>
              <a:t>users </a:t>
            </a:r>
            <a:r>
              <a:rPr sz="2000" spc="5" dirty="0">
                <a:latin typeface="Arial"/>
                <a:cs typeface="Arial"/>
              </a:rPr>
              <a:t>personalized </a:t>
            </a:r>
            <a:r>
              <a:rPr sz="2000" spc="65" dirty="0">
                <a:latin typeface="Arial"/>
                <a:cs typeface="Arial"/>
              </a:rPr>
              <a:t>life </a:t>
            </a:r>
            <a:r>
              <a:rPr sz="2000" spc="-50" dirty="0">
                <a:latin typeface="Arial"/>
                <a:cs typeface="Arial"/>
              </a:rPr>
              <a:t>services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60" dirty="0">
                <a:latin typeface="Arial"/>
                <a:cs typeface="Arial"/>
              </a:rPr>
              <a:t>making </a:t>
            </a:r>
            <a:r>
              <a:rPr sz="2000" spc="40" dirty="0">
                <a:latin typeface="Arial"/>
                <a:cs typeface="Arial"/>
              </a:rPr>
              <a:t>home </a:t>
            </a:r>
            <a:r>
              <a:rPr sz="2000" spc="60" dirty="0">
                <a:latin typeface="Arial"/>
                <a:cs typeface="Arial"/>
              </a:rPr>
              <a:t>life  </a:t>
            </a:r>
            <a:r>
              <a:rPr sz="2000" spc="50" dirty="0">
                <a:latin typeface="Arial"/>
                <a:cs typeface="Arial"/>
              </a:rPr>
              <a:t>more </a:t>
            </a:r>
            <a:r>
              <a:rPr sz="2000" spc="10" dirty="0">
                <a:latin typeface="Arial"/>
                <a:cs typeface="Arial"/>
              </a:rPr>
              <a:t>convenient, </a:t>
            </a:r>
            <a:r>
              <a:rPr sz="2000" spc="40" dirty="0">
                <a:latin typeface="Arial"/>
                <a:cs typeface="Arial"/>
              </a:rPr>
              <a:t>comfortable, </a:t>
            </a:r>
            <a:r>
              <a:rPr sz="2000" spc="25" dirty="0">
                <a:latin typeface="Arial"/>
                <a:cs typeface="Arial"/>
              </a:rPr>
              <a:t>and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safe.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0683" y="3342882"/>
            <a:ext cx="2452116" cy="726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1862" y="2764916"/>
            <a:ext cx="2290445" cy="1112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1270" algn="ctr">
              <a:lnSpc>
                <a:spcPct val="98900"/>
              </a:lnSpc>
              <a:spcBef>
                <a:spcPts val="114"/>
              </a:spcBef>
            </a:pPr>
            <a:r>
              <a:rPr sz="1200" b="1" dirty="0">
                <a:latin typeface="Arial"/>
                <a:cs typeface="Arial"/>
              </a:rPr>
              <a:t>Control </a:t>
            </a:r>
            <a:r>
              <a:rPr sz="1200" b="1" spc="10" dirty="0">
                <a:latin typeface="Arial"/>
                <a:cs typeface="Arial"/>
              </a:rPr>
              <a:t>smart home </a:t>
            </a:r>
            <a:r>
              <a:rPr sz="1200" b="1" spc="-20" dirty="0">
                <a:latin typeface="Arial"/>
                <a:cs typeface="Arial"/>
              </a:rPr>
              <a:t>products  </a:t>
            </a:r>
            <a:r>
              <a:rPr sz="1200" b="1" spc="50" dirty="0">
                <a:latin typeface="Arial"/>
                <a:cs typeface="Arial"/>
              </a:rPr>
              <a:t>with </a:t>
            </a:r>
            <a:r>
              <a:rPr sz="1200" b="1" spc="-30" dirty="0">
                <a:latin typeface="Arial"/>
                <a:cs typeface="Arial"/>
              </a:rPr>
              <a:t>voice </a:t>
            </a:r>
            <a:r>
              <a:rPr sz="1200" b="1" spc="-40" dirty="0">
                <a:latin typeface="Arial"/>
                <a:cs typeface="Arial"/>
              </a:rPr>
              <a:t>processing </a:t>
            </a:r>
            <a:r>
              <a:rPr sz="1200" spc="-25" dirty="0">
                <a:latin typeface="Arial"/>
                <a:cs typeface="Arial"/>
              </a:rPr>
              <a:t>such </a:t>
            </a:r>
            <a:r>
              <a:rPr sz="1200" spc="-55" dirty="0">
                <a:latin typeface="Arial"/>
                <a:cs typeface="Arial"/>
              </a:rPr>
              <a:t>as  </a:t>
            </a:r>
            <a:r>
              <a:rPr sz="1200" spc="20" dirty="0">
                <a:latin typeface="Arial"/>
                <a:cs typeface="Arial"/>
              </a:rPr>
              <a:t>air conditioning temperature  </a:t>
            </a:r>
            <a:r>
              <a:rPr sz="1200" spc="15" dirty="0">
                <a:latin typeface="Arial"/>
                <a:cs typeface="Arial"/>
              </a:rPr>
              <a:t>adjustment, </a:t>
            </a:r>
            <a:r>
              <a:rPr sz="1200" spc="20" dirty="0">
                <a:latin typeface="Arial"/>
                <a:cs typeface="Arial"/>
              </a:rPr>
              <a:t>curtain </a:t>
            </a:r>
            <a:r>
              <a:rPr sz="1200" spc="10" dirty="0">
                <a:latin typeface="Arial"/>
                <a:cs typeface="Arial"/>
              </a:rPr>
              <a:t>switch  </a:t>
            </a:r>
            <a:r>
              <a:rPr sz="1200" spc="20" dirty="0">
                <a:latin typeface="Arial"/>
                <a:cs typeface="Arial"/>
              </a:rPr>
              <a:t>control,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-10" dirty="0">
                <a:latin typeface="Arial"/>
                <a:cs typeface="Arial"/>
              </a:rPr>
              <a:t>voice </a:t>
            </a:r>
            <a:r>
              <a:rPr sz="1200" spc="30" dirty="0">
                <a:latin typeface="Arial"/>
                <a:cs typeface="Arial"/>
              </a:rPr>
              <a:t>control </a:t>
            </a:r>
            <a:r>
              <a:rPr sz="1200" spc="25" dirty="0">
                <a:latin typeface="Arial"/>
                <a:cs typeface="Arial"/>
              </a:rPr>
              <a:t>on </a:t>
            </a:r>
            <a:r>
              <a:rPr sz="1200" spc="30" dirty="0">
                <a:latin typeface="Arial"/>
                <a:cs typeface="Arial"/>
              </a:rPr>
              <a:t>the  </a:t>
            </a:r>
            <a:r>
              <a:rPr sz="1200" spc="35" dirty="0">
                <a:latin typeface="Arial"/>
                <a:cs typeface="Arial"/>
              </a:rPr>
              <a:t>lighting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system.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94759" y="3384030"/>
            <a:ext cx="2452116" cy="726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77436" y="2715514"/>
            <a:ext cx="2286635" cy="12941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2540" algn="ctr">
              <a:lnSpc>
                <a:spcPct val="98900"/>
              </a:lnSpc>
              <a:spcBef>
                <a:spcPts val="114"/>
              </a:spcBef>
            </a:pPr>
            <a:r>
              <a:rPr sz="1200" spc="30" dirty="0">
                <a:latin typeface="Arial"/>
                <a:cs typeface="Arial"/>
              </a:rPr>
              <a:t>Implement </a:t>
            </a:r>
            <a:r>
              <a:rPr sz="1200" b="1" spc="10" dirty="0">
                <a:latin typeface="Arial"/>
                <a:cs typeface="Arial"/>
              </a:rPr>
              <a:t>home </a:t>
            </a:r>
            <a:r>
              <a:rPr sz="1200" b="1" spc="-20" dirty="0">
                <a:latin typeface="Arial"/>
                <a:cs typeface="Arial"/>
              </a:rPr>
              <a:t>security  </a:t>
            </a:r>
            <a:r>
              <a:rPr sz="1200" b="1" spc="5" dirty="0">
                <a:latin typeface="Arial"/>
                <a:cs typeface="Arial"/>
              </a:rPr>
              <a:t>protection </a:t>
            </a:r>
            <a:r>
              <a:rPr sz="1200" spc="55" dirty="0">
                <a:latin typeface="Arial"/>
                <a:cs typeface="Arial"/>
              </a:rPr>
              <a:t>with </a:t>
            </a:r>
            <a:r>
              <a:rPr sz="1200" spc="25" dirty="0">
                <a:latin typeface="Arial"/>
                <a:cs typeface="Arial"/>
              </a:rPr>
              <a:t>computer </a:t>
            </a:r>
            <a:r>
              <a:rPr sz="1200" dirty="0">
                <a:latin typeface="Arial"/>
                <a:cs typeface="Arial"/>
              </a:rPr>
              <a:t>vision  technologies, </a:t>
            </a:r>
            <a:r>
              <a:rPr sz="1200" spc="50" dirty="0">
                <a:latin typeface="Arial"/>
                <a:cs typeface="Arial"/>
              </a:rPr>
              <a:t>for </a:t>
            </a:r>
            <a:r>
              <a:rPr sz="1200" spc="-5" dirty="0">
                <a:latin typeface="Arial"/>
                <a:cs typeface="Arial"/>
              </a:rPr>
              <a:t>example, </a:t>
            </a:r>
            <a:r>
              <a:rPr sz="1200" spc="15" dirty="0">
                <a:latin typeface="Arial"/>
                <a:cs typeface="Arial"/>
              </a:rPr>
              <a:t>facial  </a:t>
            </a:r>
            <a:r>
              <a:rPr sz="1200" spc="35" dirty="0">
                <a:latin typeface="Arial"/>
                <a:cs typeface="Arial"/>
              </a:rPr>
              <a:t>or </a:t>
            </a:r>
            <a:r>
              <a:rPr sz="1200" spc="30" dirty="0">
                <a:latin typeface="Arial"/>
                <a:cs typeface="Arial"/>
              </a:rPr>
              <a:t>fingerprint </a:t>
            </a:r>
            <a:r>
              <a:rPr sz="1200" spc="20" dirty="0">
                <a:latin typeface="Arial"/>
                <a:cs typeface="Arial"/>
              </a:rPr>
              <a:t>recognition </a:t>
            </a:r>
            <a:r>
              <a:rPr sz="1200" spc="50" dirty="0">
                <a:latin typeface="Arial"/>
                <a:cs typeface="Arial"/>
              </a:rPr>
              <a:t>for  </a:t>
            </a:r>
            <a:r>
              <a:rPr sz="1200" spc="10" dirty="0">
                <a:latin typeface="Arial"/>
                <a:cs typeface="Arial"/>
              </a:rPr>
              <a:t>unlocking, </a:t>
            </a:r>
            <a:r>
              <a:rPr sz="1200" spc="30" dirty="0">
                <a:latin typeface="Arial"/>
                <a:cs typeface="Arial"/>
              </a:rPr>
              <a:t>real-time intelligent  </a:t>
            </a:r>
            <a:r>
              <a:rPr sz="1200" dirty="0">
                <a:latin typeface="Arial"/>
                <a:cs typeface="Arial"/>
              </a:rPr>
              <a:t>camera </a:t>
            </a:r>
            <a:r>
              <a:rPr sz="1200" spc="30" dirty="0">
                <a:latin typeface="Arial"/>
                <a:cs typeface="Arial"/>
              </a:rPr>
              <a:t>monitoring,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25" dirty="0">
                <a:latin typeface="Arial"/>
                <a:cs typeface="Arial"/>
              </a:rPr>
              <a:t>illegal  </a:t>
            </a:r>
            <a:r>
              <a:rPr sz="1200" spc="20" dirty="0">
                <a:latin typeface="Arial"/>
                <a:cs typeface="Arial"/>
              </a:rPr>
              <a:t>intrusion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detection.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44851" y="5008614"/>
            <a:ext cx="2453640" cy="7261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05888" y="4340097"/>
            <a:ext cx="2134235" cy="12941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1905" algn="ctr">
              <a:lnSpc>
                <a:spcPct val="98900"/>
              </a:lnSpc>
              <a:spcBef>
                <a:spcPts val="114"/>
              </a:spcBef>
            </a:pPr>
            <a:r>
              <a:rPr sz="1200" b="1" dirty="0">
                <a:latin typeface="Arial"/>
                <a:cs typeface="Arial"/>
              </a:rPr>
              <a:t>Develop </a:t>
            </a:r>
            <a:r>
              <a:rPr sz="1200" b="1" spc="-30" dirty="0">
                <a:latin typeface="Arial"/>
                <a:cs typeface="Arial"/>
              </a:rPr>
              <a:t>user </a:t>
            </a:r>
            <a:r>
              <a:rPr sz="1200" b="1" spc="-5" dirty="0">
                <a:latin typeface="Arial"/>
                <a:cs typeface="Arial"/>
              </a:rPr>
              <a:t>profiles </a:t>
            </a:r>
            <a:r>
              <a:rPr sz="1200" b="1" spc="5" dirty="0">
                <a:latin typeface="Arial"/>
                <a:cs typeface="Arial"/>
              </a:rPr>
              <a:t>and  </a:t>
            </a:r>
            <a:r>
              <a:rPr sz="1200" b="1" dirty="0">
                <a:latin typeface="Arial"/>
                <a:cs typeface="Arial"/>
              </a:rPr>
              <a:t>recommend </a:t>
            </a:r>
            <a:r>
              <a:rPr sz="1200" b="1" spc="10" dirty="0">
                <a:latin typeface="Arial"/>
                <a:cs typeface="Arial"/>
              </a:rPr>
              <a:t>content </a:t>
            </a:r>
            <a:r>
              <a:rPr sz="1200" b="1" spc="35" dirty="0">
                <a:latin typeface="Arial"/>
                <a:cs typeface="Arial"/>
              </a:rPr>
              <a:t>to </a:t>
            </a:r>
            <a:r>
              <a:rPr sz="1200" b="1" spc="-50" dirty="0">
                <a:latin typeface="Arial"/>
                <a:cs typeface="Arial"/>
              </a:rPr>
              <a:t>users  </a:t>
            </a:r>
            <a:r>
              <a:rPr sz="1200" spc="60" dirty="0">
                <a:latin typeface="Arial"/>
                <a:cs typeface="Arial"/>
              </a:rPr>
              <a:t>with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15" dirty="0">
                <a:latin typeface="Arial"/>
                <a:cs typeface="Arial"/>
              </a:rPr>
              <a:t>help </a:t>
            </a:r>
            <a:r>
              <a:rPr sz="1200" spc="55" dirty="0">
                <a:latin typeface="Arial"/>
                <a:cs typeface="Arial"/>
              </a:rPr>
              <a:t>of </a:t>
            </a:r>
            <a:r>
              <a:rPr sz="1200" spc="10" dirty="0">
                <a:latin typeface="Arial"/>
                <a:cs typeface="Arial"/>
              </a:rPr>
              <a:t>machine  </a:t>
            </a:r>
            <a:r>
              <a:rPr sz="1200" spc="15" dirty="0">
                <a:latin typeface="Arial"/>
                <a:cs typeface="Arial"/>
              </a:rPr>
              <a:t>learning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-10" dirty="0">
                <a:latin typeface="Arial"/>
                <a:cs typeface="Arial"/>
              </a:rPr>
              <a:t>deep </a:t>
            </a:r>
            <a:r>
              <a:rPr sz="1200" spc="15" dirty="0">
                <a:latin typeface="Arial"/>
                <a:cs typeface="Arial"/>
              </a:rPr>
              <a:t>learning  </a:t>
            </a:r>
            <a:r>
              <a:rPr sz="1200" spc="5" dirty="0">
                <a:latin typeface="Arial"/>
                <a:cs typeface="Arial"/>
              </a:rPr>
              <a:t>technologies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-25" dirty="0">
                <a:latin typeface="Arial"/>
                <a:cs typeface="Arial"/>
              </a:rPr>
              <a:t>based </a:t>
            </a:r>
            <a:r>
              <a:rPr sz="1200" spc="25" dirty="0">
                <a:latin typeface="Arial"/>
                <a:cs typeface="Arial"/>
              </a:rPr>
              <a:t>on  </a:t>
            </a:r>
            <a:r>
              <a:rPr sz="1200" spc="15" dirty="0">
                <a:latin typeface="Arial"/>
                <a:cs typeface="Arial"/>
              </a:rPr>
              <a:t>historical </a:t>
            </a:r>
            <a:r>
              <a:rPr sz="1200" spc="-10" dirty="0">
                <a:latin typeface="Arial"/>
                <a:cs typeface="Arial"/>
              </a:rPr>
              <a:t>records </a:t>
            </a:r>
            <a:r>
              <a:rPr sz="1200" spc="55" dirty="0">
                <a:latin typeface="Arial"/>
                <a:cs typeface="Arial"/>
              </a:rPr>
              <a:t>of </a:t>
            </a:r>
            <a:r>
              <a:rPr sz="1200" spc="20" dirty="0">
                <a:latin typeface="Arial"/>
                <a:cs typeface="Arial"/>
              </a:rPr>
              <a:t>smart  </a:t>
            </a:r>
            <a:r>
              <a:rPr sz="1200" spc="-25" dirty="0">
                <a:latin typeface="Arial"/>
                <a:cs typeface="Arial"/>
              </a:rPr>
              <a:t>speakers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20" dirty="0">
                <a:latin typeface="Arial"/>
                <a:cs typeface="Arial"/>
              </a:rPr>
              <a:t>smart</a:t>
            </a:r>
            <a:r>
              <a:rPr sz="1200" spc="15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TVs.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36080" y="2432304"/>
            <a:ext cx="4639056" cy="3418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516618" y="2801239"/>
            <a:ext cx="111379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FFFFFF"/>
                </a:solidFill>
                <a:latin typeface="Arial"/>
                <a:cs typeface="Arial"/>
              </a:rPr>
              <a:t>Okay, </a:t>
            </a:r>
            <a:r>
              <a:rPr sz="1050" spc="3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050" spc="15" dirty="0">
                <a:solidFill>
                  <a:srgbClr val="FFFFFF"/>
                </a:solidFill>
                <a:latin typeface="Arial"/>
                <a:cs typeface="Arial"/>
              </a:rPr>
              <a:t>temperature's</a:t>
            </a:r>
            <a:r>
              <a:rPr sz="10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/>
                <a:cs typeface="Arial"/>
              </a:rPr>
              <a:t>set.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30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385431" y="3193160"/>
            <a:ext cx="125412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30" dirty="0">
                <a:solidFill>
                  <a:srgbClr val="FFFFFF"/>
                </a:solidFill>
                <a:latin typeface="Arial"/>
                <a:cs typeface="Arial"/>
              </a:rPr>
              <a:t>Set </a:t>
            </a:r>
            <a:r>
              <a:rPr sz="1050" spc="3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50" spc="25" dirty="0">
                <a:solidFill>
                  <a:srgbClr val="FFFFFF"/>
                </a:solidFill>
                <a:latin typeface="Arial"/>
                <a:cs typeface="Arial"/>
              </a:rPr>
              <a:t>temperature  </a:t>
            </a:r>
            <a:r>
              <a:rPr sz="1050" spc="5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r>
              <a:rPr sz="10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FFFFFF"/>
                </a:solidFill>
                <a:latin typeface="Arial"/>
                <a:cs typeface="Arial"/>
              </a:rPr>
              <a:t>degrees.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9740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 </a:t>
            </a:r>
            <a:r>
              <a:rPr spc="65" dirty="0"/>
              <a:t>Application </a:t>
            </a:r>
            <a:r>
              <a:rPr spc="-10" dirty="0"/>
              <a:t>Field </a:t>
            </a:r>
            <a:r>
              <a:rPr spc="190" dirty="0"/>
              <a:t>- </a:t>
            </a:r>
            <a:r>
              <a:rPr spc="35" dirty="0"/>
              <a:t>Smart</a:t>
            </a:r>
            <a:r>
              <a:rPr spc="270" dirty="0"/>
              <a:t> </a:t>
            </a:r>
            <a:r>
              <a:rPr spc="-5" dirty="0"/>
              <a:t>City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49361" y="1584769"/>
            <a:ext cx="8667750" cy="1228725"/>
            <a:chOff x="1749361" y="1584769"/>
            <a:chExt cx="8667750" cy="1228725"/>
          </a:xfrm>
        </p:grpSpPr>
        <p:sp>
          <p:nvSpPr>
            <p:cNvPr id="4" name="object 4"/>
            <p:cNvSpPr/>
            <p:nvPr/>
          </p:nvSpPr>
          <p:spPr>
            <a:xfrm>
              <a:off x="1754123" y="1603248"/>
              <a:ext cx="1789430" cy="1197610"/>
            </a:xfrm>
            <a:custGeom>
              <a:avLst/>
              <a:gdLst/>
              <a:ahLst/>
              <a:cxnLst/>
              <a:rect l="l" t="t" r="r" b="b"/>
              <a:pathLst>
                <a:path w="1789429" h="1197610">
                  <a:moveTo>
                    <a:pt x="1603755" y="0"/>
                  </a:moveTo>
                  <a:lnTo>
                    <a:pt x="185419" y="0"/>
                  </a:lnTo>
                  <a:lnTo>
                    <a:pt x="113283" y="15621"/>
                  </a:lnTo>
                  <a:lnTo>
                    <a:pt x="54356" y="58419"/>
                  </a:lnTo>
                  <a:lnTo>
                    <a:pt x="14605" y="121919"/>
                  </a:lnTo>
                  <a:lnTo>
                    <a:pt x="0" y="199516"/>
                  </a:lnTo>
                  <a:lnTo>
                    <a:pt x="0" y="997838"/>
                  </a:lnTo>
                  <a:lnTo>
                    <a:pt x="14605" y="1075563"/>
                  </a:lnTo>
                  <a:lnTo>
                    <a:pt x="54356" y="1138936"/>
                  </a:lnTo>
                  <a:lnTo>
                    <a:pt x="113283" y="1181735"/>
                  </a:lnTo>
                  <a:lnTo>
                    <a:pt x="185419" y="1197482"/>
                  </a:lnTo>
                  <a:lnTo>
                    <a:pt x="1603755" y="1197482"/>
                  </a:lnTo>
                  <a:lnTo>
                    <a:pt x="1675891" y="1181735"/>
                  </a:lnTo>
                  <a:lnTo>
                    <a:pt x="1734820" y="1138936"/>
                  </a:lnTo>
                  <a:lnTo>
                    <a:pt x="1774571" y="1075563"/>
                  </a:lnTo>
                  <a:lnTo>
                    <a:pt x="1789176" y="997838"/>
                  </a:lnTo>
                  <a:lnTo>
                    <a:pt x="1789176" y="199516"/>
                  </a:lnTo>
                  <a:lnTo>
                    <a:pt x="1774571" y="121919"/>
                  </a:lnTo>
                  <a:lnTo>
                    <a:pt x="1734820" y="58419"/>
                  </a:lnTo>
                  <a:lnTo>
                    <a:pt x="1675891" y="15621"/>
                  </a:lnTo>
                  <a:lnTo>
                    <a:pt x="1603755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4123" y="1603248"/>
              <a:ext cx="1789430" cy="1197610"/>
            </a:xfrm>
            <a:custGeom>
              <a:avLst/>
              <a:gdLst/>
              <a:ahLst/>
              <a:cxnLst/>
              <a:rect l="l" t="t" r="r" b="b"/>
              <a:pathLst>
                <a:path w="1789429" h="1197610">
                  <a:moveTo>
                    <a:pt x="1603755" y="0"/>
                  </a:moveTo>
                  <a:lnTo>
                    <a:pt x="185419" y="0"/>
                  </a:lnTo>
                  <a:lnTo>
                    <a:pt x="113283" y="15621"/>
                  </a:lnTo>
                  <a:lnTo>
                    <a:pt x="54356" y="58419"/>
                  </a:lnTo>
                  <a:lnTo>
                    <a:pt x="14605" y="121919"/>
                  </a:lnTo>
                  <a:lnTo>
                    <a:pt x="0" y="199516"/>
                  </a:lnTo>
                  <a:lnTo>
                    <a:pt x="0" y="997838"/>
                  </a:lnTo>
                  <a:lnTo>
                    <a:pt x="14605" y="1075563"/>
                  </a:lnTo>
                  <a:lnTo>
                    <a:pt x="54356" y="1138936"/>
                  </a:lnTo>
                  <a:lnTo>
                    <a:pt x="113283" y="1181735"/>
                  </a:lnTo>
                  <a:lnTo>
                    <a:pt x="185419" y="1197482"/>
                  </a:lnTo>
                  <a:lnTo>
                    <a:pt x="1603755" y="1197482"/>
                  </a:lnTo>
                  <a:lnTo>
                    <a:pt x="1675891" y="1181735"/>
                  </a:lnTo>
                  <a:lnTo>
                    <a:pt x="1734820" y="1138936"/>
                  </a:lnTo>
                  <a:lnTo>
                    <a:pt x="1774571" y="1075563"/>
                  </a:lnTo>
                  <a:lnTo>
                    <a:pt x="1789176" y="997838"/>
                  </a:lnTo>
                  <a:lnTo>
                    <a:pt x="1789176" y="199516"/>
                  </a:lnTo>
                  <a:lnTo>
                    <a:pt x="1774571" y="121919"/>
                  </a:lnTo>
                  <a:lnTo>
                    <a:pt x="1734820" y="58419"/>
                  </a:lnTo>
                  <a:lnTo>
                    <a:pt x="1675891" y="15621"/>
                  </a:lnTo>
                  <a:lnTo>
                    <a:pt x="1603755" y="0"/>
                  </a:lnTo>
                  <a:close/>
                </a:path>
              </a:pathLst>
            </a:custGeom>
            <a:ln w="914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55363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6" y="0"/>
                  </a:moveTo>
                  <a:lnTo>
                    <a:pt x="185420" y="0"/>
                  </a:lnTo>
                  <a:lnTo>
                    <a:pt x="113284" y="15621"/>
                  </a:lnTo>
                  <a:lnTo>
                    <a:pt x="54356" y="58420"/>
                  </a:lnTo>
                  <a:lnTo>
                    <a:pt x="14605" y="121793"/>
                  </a:lnTo>
                  <a:lnTo>
                    <a:pt x="0" y="199262"/>
                  </a:lnTo>
                  <a:lnTo>
                    <a:pt x="0" y="996569"/>
                  </a:lnTo>
                  <a:lnTo>
                    <a:pt x="14605" y="1074166"/>
                  </a:lnTo>
                  <a:lnTo>
                    <a:pt x="54356" y="1137539"/>
                  </a:lnTo>
                  <a:lnTo>
                    <a:pt x="113284" y="1180211"/>
                  </a:lnTo>
                  <a:lnTo>
                    <a:pt x="185420" y="1195959"/>
                  </a:lnTo>
                  <a:lnTo>
                    <a:pt x="1603756" y="1195959"/>
                  </a:lnTo>
                  <a:lnTo>
                    <a:pt x="1675891" y="1180211"/>
                  </a:lnTo>
                  <a:lnTo>
                    <a:pt x="1734820" y="1137539"/>
                  </a:lnTo>
                  <a:lnTo>
                    <a:pt x="1774571" y="1074166"/>
                  </a:lnTo>
                  <a:lnTo>
                    <a:pt x="1789176" y="996569"/>
                  </a:lnTo>
                  <a:lnTo>
                    <a:pt x="1789176" y="199262"/>
                  </a:lnTo>
                  <a:lnTo>
                    <a:pt x="1774571" y="121793"/>
                  </a:lnTo>
                  <a:lnTo>
                    <a:pt x="1734820" y="58420"/>
                  </a:lnTo>
                  <a:lnTo>
                    <a:pt x="1675891" y="15621"/>
                  </a:lnTo>
                  <a:lnTo>
                    <a:pt x="1603756" y="0"/>
                  </a:lnTo>
                  <a:close/>
                </a:path>
              </a:pathLst>
            </a:custGeom>
            <a:solidFill>
              <a:srgbClr val="9BCC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55363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6" y="0"/>
                  </a:moveTo>
                  <a:lnTo>
                    <a:pt x="185420" y="0"/>
                  </a:lnTo>
                  <a:lnTo>
                    <a:pt x="113284" y="15621"/>
                  </a:lnTo>
                  <a:lnTo>
                    <a:pt x="54356" y="58420"/>
                  </a:lnTo>
                  <a:lnTo>
                    <a:pt x="14605" y="121793"/>
                  </a:lnTo>
                  <a:lnTo>
                    <a:pt x="0" y="199262"/>
                  </a:lnTo>
                  <a:lnTo>
                    <a:pt x="0" y="996569"/>
                  </a:lnTo>
                  <a:lnTo>
                    <a:pt x="14605" y="1074166"/>
                  </a:lnTo>
                  <a:lnTo>
                    <a:pt x="54356" y="1137539"/>
                  </a:lnTo>
                  <a:lnTo>
                    <a:pt x="113284" y="1180211"/>
                  </a:lnTo>
                  <a:lnTo>
                    <a:pt x="185420" y="1195959"/>
                  </a:lnTo>
                  <a:lnTo>
                    <a:pt x="1603756" y="1195959"/>
                  </a:lnTo>
                  <a:lnTo>
                    <a:pt x="1675891" y="1180211"/>
                  </a:lnTo>
                  <a:lnTo>
                    <a:pt x="1734820" y="1137539"/>
                  </a:lnTo>
                  <a:lnTo>
                    <a:pt x="1774571" y="1074166"/>
                  </a:lnTo>
                  <a:lnTo>
                    <a:pt x="1789176" y="996569"/>
                  </a:lnTo>
                  <a:lnTo>
                    <a:pt x="1789176" y="199262"/>
                  </a:lnTo>
                  <a:lnTo>
                    <a:pt x="1774571" y="121793"/>
                  </a:lnTo>
                  <a:lnTo>
                    <a:pt x="1734820" y="58420"/>
                  </a:lnTo>
                  <a:lnTo>
                    <a:pt x="1675891" y="15621"/>
                  </a:lnTo>
                  <a:lnTo>
                    <a:pt x="160375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55363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0" y="199262"/>
                  </a:moveTo>
                  <a:lnTo>
                    <a:pt x="14605" y="121793"/>
                  </a:lnTo>
                  <a:lnTo>
                    <a:pt x="54356" y="58420"/>
                  </a:lnTo>
                  <a:lnTo>
                    <a:pt x="113284" y="15621"/>
                  </a:lnTo>
                  <a:lnTo>
                    <a:pt x="185420" y="0"/>
                  </a:lnTo>
                  <a:lnTo>
                    <a:pt x="1603756" y="0"/>
                  </a:lnTo>
                  <a:lnTo>
                    <a:pt x="1675891" y="15621"/>
                  </a:lnTo>
                  <a:lnTo>
                    <a:pt x="1734820" y="58420"/>
                  </a:lnTo>
                  <a:lnTo>
                    <a:pt x="1774571" y="121793"/>
                  </a:lnTo>
                  <a:lnTo>
                    <a:pt x="1789176" y="199262"/>
                  </a:lnTo>
                  <a:lnTo>
                    <a:pt x="1789176" y="996569"/>
                  </a:lnTo>
                  <a:lnTo>
                    <a:pt x="1774571" y="1074166"/>
                  </a:lnTo>
                  <a:lnTo>
                    <a:pt x="1734820" y="1137539"/>
                  </a:lnTo>
                  <a:lnTo>
                    <a:pt x="1675891" y="1180211"/>
                  </a:lnTo>
                  <a:lnTo>
                    <a:pt x="1603756" y="1195959"/>
                  </a:lnTo>
                  <a:lnTo>
                    <a:pt x="185420" y="1195959"/>
                  </a:lnTo>
                  <a:lnTo>
                    <a:pt x="113284" y="1180211"/>
                  </a:lnTo>
                  <a:lnTo>
                    <a:pt x="54356" y="1137539"/>
                  </a:lnTo>
                  <a:lnTo>
                    <a:pt x="14605" y="1074166"/>
                  </a:lnTo>
                  <a:lnTo>
                    <a:pt x="0" y="996569"/>
                  </a:lnTo>
                  <a:lnTo>
                    <a:pt x="0" y="199262"/>
                  </a:lnTo>
                  <a:close/>
                </a:path>
              </a:pathLst>
            </a:custGeom>
            <a:ln w="914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45935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6" y="0"/>
                  </a:moveTo>
                  <a:lnTo>
                    <a:pt x="185419" y="0"/>
                  </a:lnTo>
                  <a:lnTo>
                    <a:pt x="113284" y="15621"/>
                  </a:lnTo>
                  <a:lnTo>
                    <a:pt x="54355" y="58420"/>
                  </a:lnTo>
                  <a:lnTo>
                    <a:pt x="14604" y="121793"/>
                  </a:lnTo>
                  <a:lnTo>
                    <a:pt x="0" y="199262"/>
                  </a:lnTo>
                  <a:lnTo>
                    <a:pt x="0" y="996569"/>
                  </a:lnTo>
                  <a:lnTo>
                    <a:pt x="14604" y="1074166"/>
                  </a:lnTo>
                  <a:lnTo>
                    <a:pt x="54355" y="1137539"/>
                  </a:lnTo>
                  <a:lnTo>
                    <a:pt x="113284" y="1180211"/>
                  </a:lnTo>
                  <a:lnTo>
                    <a:pt x="185419" y="1195959"/>
                  </a:lnTo>
                  <a:lnTo>
                    <a:pt x="1603756" y="1195959"/>
                  </a:lnTo>
                  <a:lnTo>
                    <a:pt x="1675891" y="1180211"/>
                  </a:lnTo>
                  <a:lnTo>
                    <a:pt x="1734819" y="1137539"/>
                  </a:lnTo>
                  <a:lnTo>
                    <a:pt x="1774570" y="1074166"/>
                  </a:lnTo>
                  <a:lnTo>
                    <a:pt x="1789175" y="996569"/>
                  </a:lnTo>
                  <a:lnTo>
                    <a:pt x="1789175" y="199262"/>
                  </a:lnTo>
                  <a:lnTo>
                    <a:pt x="1774570" y="121793"/>
                  </a:lnTo>
                  <a:lnTo>
                    <a:pt x="1734819" y="58420"/>
                  </a:lnTo>
                  <a:lnTo>
                    <a:pt x="1675891" y="15621"/>
                  </a:lnTo>
                  <a:lnTo>
                    <a:pt x="1603756" y="0"/>
                  </a:lnTo>
                  <a:close/>
                </a:path>
              </a:pathLst>
            </a:custGeom>
            <a:solidFill>
              <a:srgbClr val="76B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45935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6" y="0"/>
                  </a:moveTo>
                  <a:lnTo>
                    <a:pt x="185419" y="0"/>
                  </a:lnTo>
                  <a:lnTo>
                    <a:pt x="113284" y="15621"/>
                  </a:lnTo>
                  <a:lnTo>
                    <a:pt x="54355" y="58420"/>
                  </a:lnTo>
                  <a:lnTo>
                    <a:pt x="14604" y="121793"/>
                  </a:lnTo>
                  <a:lnTo>
                    <a:pt x="0" y="199262"/>
                  </a:lnTo>
                  <a:lnTo>
                    <a:pt x="0" y="996569"/>
                  </a:lnTo>
                  <a:lnTo>
                    <a:pt x="14604" y="1074166"/>
                  </a:lnTo>
                  <a:lnTo>
                    <a:pt x="54355" y="1137539"/>
                  </a:lnTo>
                  <a:lnTo>
                    <a:pt x="113284" y="1180211"/>
                  </a:lnTo>
                  <a:lnTo>
                    <a:pt x="185419" y="1195959"/>
                  </a:lnTo>
                  <a:lnTo>
                    <a:pt x="1603756" y="1195959"/>
                  </a:lnTo>
                  <a:lnTo>
                    <a:pt x="1675891" y="1180211"/>
                  </a:lnTo>
                  <a:lnTo>
                    <a:pt x="1734819" y="1137539"/>
                  </a:lnTo>
                  <a:lnTo>
                    <a:pt x="1774570" y="1074166"/>
                  </a:lnTo>
                  <a:lnTo>
                    <a:pt x="1789175" y="996569"/>
                  </a:lnTo>
                  <a:lnTo>
                    <a:pt x="1789175" y="199262"/>
                  </a:lnTo>
                  <a:lnTo>
                    <a:pt x="1774570" y="121793"/>
                  </a:lnTo>
                  <a:lnTo>
                    <a:pt x="1734819" y="58420"/>
                  </a:lnTo>
                  <a:lnTo>
                    <a:pt x="1675891" y="15621"/>
                  </a:lnTo>
                  <a:lnTo>
                    <a:pt x="160375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45935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0" y="199262"/>
                  </a:moveTo>
                  <a:lnTo>
                    <a:pt x="14604" y="121793"/>
                  </a:lnTo>
                  <a:lnTo>
                    <a:pt x="54355" y="58420"/>
                  </a:lnTo>
                  <a:lnTo>
                    <a:pt x="113284" y="15621"/>
                  </a:lnTo>
                  <a:lnTo>
                    <a:pt x="185419" y="0"/>
                  </a:lnTo>
                  <a:lnTo>
                    <a:pt x="1603756" y="0"/>
                  </a:lnTo>
                  <a:lnTo>
                    <a:pt x="1675891" y="15621"/>
                  </a:lnTo>
                  <a:lnTo>
                    <a:pt x="1734819" y="58420"/>
                  </a:lnTo>
                  <a:lnTo>
                    <a:pt x="1774570" y="121793"/>
                  </a:lnTo>
                  <a:lnTo>
                    <a:pt x="1789175" y="199262"/>
                  </a:lnTo>
                  <a:lnTo>
                    <a:pt x="1789175" y="996569"/>
                  </a:lnTo>
                  <a:lnTo>
                    <a:pt x="1774570" y="1074166"/>
                  </a:lnTo>
                  <a:lnTo>
                    <a:pt x="1734819" y="1137539"/>
                  </a:lnTo>
                  <a:lnTo>
                    <a:pt x="1675891" y="1180211"/>
                  </a:lnTo>
                  <a:lnTo>
                    <a:pt x="1603756" y="1195959"/>
                  </a:lnTo>
                  <a:lnTo>
                    <a:pt x="185419" y="1195959"/>
                  </a:lnTo>
                  <a:lnTo>
                    <a:pt x="113284" y="1180211"/>
                  </a:lnTo>
                  <a:lnTo>
                    <a:pt x="54355" y="1137539"/>
                  </a:lnTo>
                  <a:lnTo>
                    <a:pt x="14604" y="1074166"/>
                  </a:lnTo>
                  <a:lnTo>
                    <a:pt x="0" y="996569"/>
                  </a:lnTo>
                  <a:lnTo>
                    <a:pt x="0" y="199262"/>
                  </a:lnTo>
                  <a:close/>
                </a:path>
              </a:pathLst>
            </a:custGeom>
            <a:ln w="914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22792" y="158953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5" y="0"/>
                  </a:moveTo>
                  <a:lnTo>
                    <a:pt x="185419" y="0"/>
                  </a:lnTo>
                  <a:lnTo>
                    <a:pt x="113283" y="15620"/>
                  </a:lnTo>
                  <a:lnTo>
                    <a:pt x="54355" y="58419"/>
                  </a:lnTo>
                  <a:lnTo>
                    <a:pt x="14604" y="121792"/>
                  </a:lnTo>
                  <a:lnTo>
                    <a:pt x="0" y="199262"/>
                  </a:lnTo>
                  <a:lnTo>
                    <a:pt x="0" y="996568"/>
                  </a:lnTo>
                  <a:lnTo>
                    <a:pt x="14604" y="1074165"/>
                  </a:lnTo>
                  <a:lnTo>
                    <a:pt x="54355" y="1137539"/>
                  </a:lnTo>
                  <a:lnTo>
                    <a:pt x="113283" y="1180210"/>
                  </a:lnTo>
                  <a:lnTo>
                    <a:pt x="185419" y="1195958"/>
                  </a:lnTo>
                  <a:lnTo>
                    <a:pt x="1603755" y="1195958"/>
                  </a:lnTo>
                  <a:lnTo>
                    <a:pt x="1675891" y="1180210"/>
                  </a:lnTo>
                  <a:lnTo>
                    <a:pt x="1734819" y="1137539"/>
                  </a:lnTo>
                  <a:lnTo>
                    <a:pt x="1774571" y="1074165"/>
                  </a:lnTo>
                  <a:lnTo>
                    <a:pt x="1789176" y="996568"/>
                  </a:lnTo>
                  <a:lnTo>
                    <a:pt x="1789176" y="199262"/>
                  </a:lnTo>
                  <a:lnTo>
                    <a:pt x="1774571" y="121792"/>
                  </a:lnTo>
                  <a:lnTo>
                    <a:pt x="1734819" y="58419"/>
                  </a:lnTo>
                  <a:lnTo>
                    <a:pt x="1675891" y="15620"/>
                  </a:lnTo>
                  <a:lnTo>
                    <a:pt x="1603755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22792" y="158953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5" y="0"/>
                  </a:moveTo>
                  <a:lnTo>
                    <a:pt x="185419" y="0"/>
                  </a:lnTo>
                  <a:lnTo>
                    <a:pt x="113283" y="15620"/>
                  </a:lnTo>
                  <a:lnTo>
                    <a:pt x="54355" y="58419"/>
                  </a:lnTo>
                  <a:lnTo>
                    <a:pt x="14604" y="121792"/>
                  </a:lnTo>
                  <a:lnTo>
                    <a:pt x="0" y="199262"/>
                  </a:lnTo>
                  <a:lnTo>
                    <a:pt x="0" y="996568"/>
                  </a:lnTo>
                  <a:lnTo>
                    <a:pt x="14604" y="1074165"/>
                  </a:lnTo>
                  <a:lnTo>
                    <a:pt x="54355" y="1137539"/>
                  </a:lnTo>
                  <a:lnTo>
                    <a:pt x="113283" y="1180210"/>
                  </a:lnTo>
                  <a:lnTo>
                    <a:pt x="185419" y="1195958"/>
                  </a:lnTo>
                  <a:lnTo>
                    <a:pt x="1603755" y="1195958"/>
                  </a:lnTo>
                  <a:lnTo>
                    <a:pt x="1675891" y="1180210"/>
                  </a:lnTo>
                  <a:lnTo>
                    <a:pt x="1734819" y="1137539"/>
                  </a:lnTo>
                  <a:lnTo>
                    <a:pt x="1774571" y="1074165"/>
                  </a:lnTo>
                  <a:lnTo>
                    <a:pt x="1789176" y="996568"/>
                  </a:lnTo>
                  <a:lnTo>
                    <a:pt x="1789176" y="199262"/>
                  </a:lnTo>
                  <a:lnTo>
                    <a:pt x="1774571" y="121792"/>
                  </a:lnTo>
                  <a:lnTo>
                    <a:pt x="1734819" y="58419"/>
                  </a:lnTo>
                  <a:lnTo>
                    <a:pt x="1675891" y="15620"/>
                  </a:lnTo>
                  <a:lnTo>
                    <a:pt x="1603755" y="0"/>
                  </a:lnTo>
                  <a:close/>
                </a:path>
              </a:pathLst>
            </a:custGeom>
            <a:ln w="914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22792" y="158953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0" y="199262"/>
                  </a:moveTo>
                  <a:lnTo>
                    <a:pt x="14604" y="121792"/>
                  </a:lnTo>
                  <a:lnTo>
                    <a:pt x="54355" y="58419"/>
                  </a:lnTo>
                  <a:lnTo>
                    <a:pt x="113283" y="15620"/>
                  </a:lnTo>
                  <a:lnTo>
                    <a:pt x="185419" y="0"/>
                  </a:lnTo>
                  <a:lnTo>
                    <a:pt x="1603755" y="0"/>
                  </a:lnTo>
                  <a:lnTo>
                    <a:pt x="1675891" y="15620"/>
                  </a:lnTo>
                  <a:lnTo>
                    <a:pt x="1734819" y="58419"/>
                  </a:lnTo>
                  <a:lnTo>
                    <a:pt x="1774571" y="121792"/>
                  </a:lnTo>
                  <a:lnTo>
                    <a:pt x="1789176" y="199262"/>
                  </a:lnTo>
                  <a:lnTo>
                    <a:pt x="1789176" y="996568"/>
                  </a:lnTo>
                  <a:lnTo>
                    <a:pt x="1774571" y="1074165"/>
                  </a:lnTo>
                  <a:lnTo>
                    <a:pt x="1734819" y="1137539"/>
                  </a:lnTo>
                  <a:lnTo>
                    <a:pt x="1675891" y="1180210"/>
                  </a:lnTo>
                  <a:lnTo>
                    <a:pt x="1603755" y="1195958"/>
                  </a:lnTo>
                  <a:lnTo>
                    <a:pt x="185419" y="1195958"/>
                  </a:lnTo>
                  <a:lnTo>
                    <a:pt x="113283" y="1180210"/>
                  </a:lnTo>
                  <a:lnTo>
                    <a:pt x="54355" y="1137539"/>
                  </a:lnTo>
                  <a:lnTo>
                    <a:pt x="14604" y="1074165"/>
                  </a:lnTo>
                  <a:lnTo>
                    <a:pt x="0" y="996568"/>
                  </a:lnTo>
                  <a:lnTo>
                    <a:pt x="0" y="199262"/>
                  </a:lnTo>
                  <a:close/>
                </a:path>
              </a:pathLst>
            </a:custGeom>
            <a:ln w="9144">
              <a:solidFill>
                <a:srgbClr val="00A7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54148" y="1700276"/>
            <a:ext cx="14147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Social  </a:t>
            </a:r>
            <a:r>
              <a:rPr sz="1800" spc="6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800" spc="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30" dirty="0">
                <a:solidFill>
                  <a:srgbClr val="FFFFFF"/>
                </a:solidFill>
                <a:latin typeface="Arial"/>
                <a:cs typeface="Arial"/>
              </a:rPr>
              <a:t>gement 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scenarios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3422" y="1858213"/>
            <a:ext cx="14154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scenarios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41921" y="1700276"/>
            <a:ext cx="10248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Industry  o</a:t>
            </a:r>
            <a:r>
              <a:rPr sz="1800" spc="2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era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800" spc="30" dirty="0">
                <a:solidFill>
                  <a:srgbClr val="FFFFFF"/>
                </a:solidFill>
                <a:latin typeface="Arial"/>
                <a:cs typeface="Arial"/>
              </a:rPr>
              <a:t>n 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scenarios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45626" y="1700276"/>
            <a:ext cx="11715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405" algn="just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solidFill>
                  <a:srgbClr val="FFFFFF"/>
                </a:solidFill>
                <a:latin typeface="Arial"/>
                <a:cs typeface="Arial"/>
              </a:rPr>
              <a:t>Individual  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appl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800" spc="30" dirty="0">
                <a:solidFill>
                  <a:srgbClr val="FFFFFF"/>
                </a:solidFill>
                <a:latin typeface="Arial"/>
                <a:cs typeface="Arial"/>
              </a:rPr>
              <a:t>cation 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scenarios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3060" y="2653245"/>
            <a:ext cx="2023745" cy="308927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Times New Roman"/>
              <a:cs typeface="Times New Roman"/>
            </a:endParaRPr>
          </a:p>
          <a:p>
            <a:pPr marL="360680" marR="346075" algn="ctr">
              <a:lnSpc>
                <a:spcPct val="100000"/>
              </a:lnSpc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Security  </a:t>
            </a:r>
            <a:r>
              <a:rPr sz="1800" spc="40" dirty="0">
                <a:solidFill>
                  <a:srgbClr val="585858"/>
                </a:solidFill>
                <a:latin typeface="Arial"/>
                <a:cs typeface="Arial"/>
              </a:rPr>
              <a:t>protection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Arial"/>
              <a:cs typeface="Arial"/>
            </a:endParaRPr>
          </a:p>
          <a:p>
            <a:pPr marL="10160" algn="ctr">
              <a:lnSpc>
                <a:spcPct val="100000"/>
              </a:lnSpc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</a:t>
            </a:r>
            <a:r>
              <a:rPr sz="1800" spc="4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  <a:p>
            <a:pPr marL="10795" algn="ctr">
              <a:lnSpc>
                <a:spcPct val="100000"/>
              </a:lnSpc>
            </a:pPr>
            <a:r>
              <a:rPr sz="1800" spc="25" dirty="0">
                <a:solidFill>
                  <a:srgbClr val="585858"/>
                </a:solidFill>
                <a:latin typeface="Arial"/>
                <a:cs typeface="Arial"/>
              </a:rPr>
              <a:t>Transportation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</a:t>
            </a:r>
            <a:r>
              <a:rPr sz="1800" spc="10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585858"/>
                </a:solidFill>
                <a:latin typeface="Arial"/>
                <a:cs typeface="Arial"/>
              </a:rPr>
              <a:t>Energy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14871" y="2662389"/>
            <a:ext cx="2023745" cy="308927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81280" rIns="0" bIns="0" rtlCol="0">
            <a:spAutoFit/>
          </a:bodyPr>
          <a:lstStyle/>
          <a:p>
            <a:pPr marL="360045" marR="190500" indent="-173355">
              <a:lnSpc>
                <a:spcPct val="320600"/>
              </a:lnSpc>
              <a:spcBef>
                <a:spcPts val="640"/>
              </a:spcBef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35" dirty="0">
                <a:solidFill>
                  <a:srgbClr val="585858"/>
                </a:solidFill>
                <a:latin typeface="Arial"/>
                <a:cs typeface="Arial"/>
              </a:rPr>
              <a:t>Agriculture  </a:t>
            </a: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25" dirty="0">
                <a:solidFill>
                  <a:srgbClr val="585858"/>
                </a:solidFill>
                <a:latin typeface="Arial"/>
                <a:cs typeface="Arial"/>
              </a:rPr>
              <a:t>Building  </a:t>
            </a: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</a:t>
            </a:r>
            <a:r>
              <a:rPr sz="1800" spc="9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85858"/>
                </a:solidFill>
                <a:latin typeface="Arial"/>
                <a:cs typeface="Arial"/>
              </a:rPr>
              <a:t>Retail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91728" y="2639529"/>
            <a:ext cx="2023745" cy="308927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299085" marR="228600" indent="78740">
              <a:lnSpc>
                <a:spcPct val="100000"/>
              </a:lnSpc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10" dirty="0">
                <a:solidFill>
                  <a:srgbClr val="585858"/>
                </a:solidFill>
                <a:latin typeface="Arial"/>
                <a:cs typeface="Arial"/>
              </a:rPr>
              <a:t>Life </a:t>
            </a:r>
            <a:r>
              <a:rPr sz="1800" spc="20" dirty="0">
                <a:solidFill>
                  <a:srgbClr val="585858"/>
                </a:solidFill>
                <a:latin typeface="Arial"/>
                <a:cs typeface="Arial"/>
              </a:rPr>
              <a:t>and  </a:t>
            </a:r>
            <a:r>
              <a:rPr sz="1800" spc="50" dirty="0">
                <a:solidFill>
                  <a:srgbClr val="585858"/>
                </a:solidFill>
                <a:latin typeface="Arial"/>
                <a:cs typeface="Arial"/>
              </a:rPr>
              <a:t>enter</a:t>
            </a:r>
            <a:r>
              <a:rPr sz="1800" spc="20" dirty="0">
                <a:solidFill>
                  <a:srgbClr val="585858"/>
                </a:solidFill>
                <a:latin typeface="Arial"/>
                <a:cs typeface="Arial"/>
              </a:rPr>
              <a:t>t</a:t>
            </a:r>
            <a:r>
              <a:rPr sz="1800" spc="40" dirty="0">
                <a:solidFill>
                  <a:srgbClr val="585858"/>
                </a:solidFill>
                <a:latin typeface="Arial"/>
                <a:cs typeface="Arial"/>
              </a:rPr>
              <a:t>ain</a:t>
            </a:r>
            <a:r>
              <a:rPr sz="1800" spc="90" dirty="0">
                <a:solidFill>
                  <a:srgbClr val="585858"/>
                </a:solidFill>
                <a:latin typeface="Arial"/>
                <a:cs typeface="Arial"/>
              </a:rPr>
              <a:t>m</a:t>
            </a:r>
            <a:r>
              <a:rPr sz="1800" spc="45" dirty="0">
                <a:solidFill>
                  <a:srgbClr val="585858"/>
                </a:solidFill>
                <a:latin typeface="Arial"/>
                <a:cs typeface="Arial"/>
              </a:rPr>
              <a:t>ent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Arial"/>
              <a:cs typeface="Arial"/>
            </a:endParaRPr>
          </a:p>
          <a:p>
            <a:pPr marL="250825">
              <a:lnSpc>
                <a:spcPct val="100000"/>
              </a:lnSpc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</a:t>
            </a:r>
            <a:r>
              <a:rPr sz="1800" spc="6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85858"/>
                </a:solidFill>
                <a:latin typeface="Arial"/>
                <a:cs typeface="Arial"/>
              </a:rPr>
              <a:t>Education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24300" y="2662389"/>
            <a:ext cx="2021839" cy="308927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81280" rIns="0" bIns="0" rtlCol="0">
            <a:spAutoFit/>
          </a:bodyPr>
          <a:lstStyle/>
          <a:p>
            <a:pPr marL="74930" marR="82550" indent="109855" algn="just">
              <a:lnSpc>
                <a:spcPct val="320600"/>
              </a:lnSpc>
              <a:spcBef>
                <a:spcPts val="640"/>
              </a:spcBef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15" dirty="0">
                <a:solidFill>
                  <a:srgbClr val="585858"/>
                </a:solidFill>
                <a:latin typeface="Arial"/>
                <a:cs typeface="Arial"/>
              </a:rPr>
              <a:t>Healthcare  </a:t>
            </a: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20" dirty="0">
                <a:solidFill>
                  <a:srgbClr val="585858"/>
                </a:solidFill>
                <a:latin typeface="Arial"/>
                <a:cs typeface="Arial"/>
              </a:rPr>
              <a:t>Government  </a:t>
            </a: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-50" dirty="0">
                <a:solidFill>
                  <a:srgbClr val="585858"/>
                </a:solidFill>
                <a:latin typeface="Arial"/>
                <a:cs typeface="Arial"/>
              </a:rPr>
              <a:t>Service</a:t>
            </a:r>
            <a:r>
              <a:rPr sz="1800" spc="14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Arial"/>
                <a:cs typeface="Arial"/>
              </a:rPr>
              <a:t>robot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00555" y="1350263"/>
            <a:ext cx="9391015" cy="4826000"/>
          </a:xfrm>
          <a:custGeom>
            <a:avLst/>
            <a:gdLst/>
            <a:ahLst/>
            <a:cxnLst/>
            <a:rect l="l" t="t" r="r" b="b"/>
            <a:pathLst>
              <a:path w="9391015" h="4826000">
                <a:moveTo>
                  <a:pt x="0" y="349503"/>
                </a:moveTo>
                <a:lnTo>
                  <a:pt x="7238" y="278511"/>
                </a:lnTo>
                <a:lnTo>
                  <a:pt x="26162" y="212344"/>
                </a:lnTo>
                <a:lnTo>
                  <a:pt x="55753" y="153797"/>
                </a:lnTo>
                <a:lnTo>
                  <a:pt x="94615" y="101726"/>
                </a:lnTo>
                <a:lnTo>
                  <a:pt x="143002" y="59944"/>
                </a:lnTo>
                <a:lnTo>
                  <a:pt x="197357" y="28066"/>
                </a:lnTo>
                <a:lnTo>
                  <a:pt x="258952" y="7747"/>
                </a:lnTo>
                <a:lnTo>
                  <a:pt x="324993" y="0"/>
                </a:lnTo>
                <a:lnTo>
                  <a:pt x="9065895" y="0"/>
                </a:lnTo>
                <a:lnTo>
                  <a:pt x="9131935" y="7747"/>
                </a:lnTo>
                <a:lnTo>
                  <a:pt x="9193530" y="28066"/>
                </a:lnTo>
                <a:lnTo>
                  <a:pt x="9247886" y="59944"/>
                </a:lnTo>
                <a:lnTo>
                  <a:pt x="9296273" y="101726"/>
                </a:lnTo>
                <a:lnTo>
                  <a:pt x="9335135" y="153797"/>
                </a:lnTo>
                <a:lnTo>
                  <a:pt x="9364726" y="212344"/>
                </a:lnTo>
                <a:lnTo>
                  <a:pt x="9383649" y="278511"/>
                </a:lnTo>
                <a:lnTo>
                  <a:pt x="9390888" y="349503"/>
                </a:lnTo>
                <a:lnTo>
                  <a:pt x="9390888" y="4476419"/>
                </a:lnTo>
                <a:lnTo>
                  <a:pt x="9383649" y="4547463"/>
                </a:lnTo>
                <a:lnTo>
                  <a:pt x="9364726" y="4613656"/>
                </a:lnTo>
                <a:lnTo>
                  <a:pt x="9335135" y="4672152"/>
                </a:lnTo>
                <a:lnTo>
                  <a:pt x="9296273" y="4724184"/>
                </a:lnTo>
                <a:lnTo>
                  <a:pt x="9247886" y="4766056"/>
                </a:lnTo>
                <a:lnTo>
                  <a:pt x="9193530" y="4797856"/>
                </a:lnTo>
                <a:lnTo>
                  <a:pt x="9131935" y="4818214"/>
                </a:lnTo>
                <a:lnTo>
                  <a:pt x="9065895" y="4825974"/>
                </a:lnTo>
                <a:lnTo>
                  <a:pt x="324993" y="4825974"/>
                </a:lnTo>
                <a:lnTo>
                  <a:pt x="258952" y="4818214"/>
                </a:lnTo>
                <a:lnTo>
                  <a:pt x="197357" y="4797856"/>
                </a:lnTo>
                <a:lnTo>
                  <a:pt x="143002" y="4766056"/>
                </a:lnTo>
                <a:lnTo>
                  <a:pt x="94615" y="4724184"/>
                </a:lnTo>
                <a:lnTo>
                  <a:pt x="55753" y="4672152"/>
                </a:lnTo>
                <a:lnTo>
                  <a:pt x="26162" y="4613656"/>
                </a:lnTo>
                <a:lnTo>
                  <a:pt x="7238" y="4547463"/>
                </a:lnTo>
                <a:lnTo>
                  <a:pt x="0" y="4476419"/>
                </a:lnTo>
                <a:lnTo>
                  <a:pt x="0" y="349503"/>
                </a:lnTo>
                <a:close/>
              </a:path>
            </a:pathLst>
          </a:custGeom>
          <a:ln w="12191">
            <a:solidFill>
              <a:srgbClr val="CACAC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0876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 </a:t>
            </a:r>
            <a:r>
              <a:rPr spc="65" dirty="0"/>
              <a:t>Application </a:t>
            </a:r>
            <a:r>
              <a:rPr spc="-10" dirty="0"/>
              <a:t>Field </a:t>
            </a:r>
            <a:r>
              <a:rPr spc="190" dirty="0"/>
              <a:t>-</a:t>
            </a:r>
            <a:r>
              <a:rPr spc="350" dirty="0"/>
              <a:t> </a:t>
            </a:r>
            <a:r>
              <a:rPr spc="10" dirty="0"/>
              <a:t>Retail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14373"/>
            <a:ext cx="914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Wingdings"/>
                <a:cs typeface="Wingdings"/>
              </a:rPr>
              <a:t></a:t>
            </a:r>
            <a:endParaRPr sz="7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288905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AI </a:t>
            </a:r>
            <a:r>
              <a:rPr sz="1400" spc="70" dirty="0">
                <a:latin typeface="Arial"/>
                <a:cs typeface="Arial"/>
              </a:rPr>
              <a:t>will </a:t>
            </a:r>
            <a:r>
              <a:rPr sz="1400" spc="40" dirty="0">
                <a:latin typeface="Arial"/>
                <a:cs typeface="Arial"/>
              </a:rPr>
              <a:t>bring </a:t>
            </a:r>
            <a:r>
              <a:rPr sz="1400" spc="30" dirty="0">
                <a:latin typeface="Arial"/>
                <a:cs typeface="Arial"/>
              </a:rPr>
              <a:t>revolutionary </a:t>
            </a:r>
            <a:r>
              <a:rPr sz="1400" spc="-20" dirty="0">
                <a:latin typeface="Arial"/>
                <a:cs typeface="Arial"/>
              </a:rPr>
              <a:t>changes </a:t>
            </a:r>
            <a:r>
              <a:rPr sz="1400" spc="75" dirty="0">
                <a:latin typeface="Arial"/>
                <a:cs typeface="Arial"/>
              </a:rPr>
              <a:t>to </a:t>
            </a:r>
            <a:r>
              <a:rPr sz="1400" spc="40" dirty="0">
                <a:latin typeface="Arial"/>
                <a:cs typeface="Arial"/>
              </a:rPr>
              <a:t>the retail </a:t>
            </a:r>
            <a:r>
              <a:rPr sz="1400" spc="15" dirty="0">
                <a:latin typeface="Arial"/>
                <a:cs typeface="Arial"/>
              </a:rPr>
              <a:t>industry. </a:t>
            </a:r>
            <a:r>
              <a:rPr sz="1400" spc="-15" dirty="0">
                <a:latin typeface="Arial"/>
                <a:cs typeface="Arial"/>
              </a:rPr>
              <a:t>A </a:t>
            </a:r>
            <a:r>
              <a:rPr sz="1400" spc="25" dirty="0">
                <a:latin typeface="Arial"/>
                <a:cs typeface="Arial"/>
              </a:rPr>
              <a:t>typical </a:t>
            </a:r>
            <a:r>
              <a:rPr sz="1400" spc="35" dirty="0">
                <a:latin typeface="Arial"/>
                <a:cs typeface="Arial"/>
              </a:rPr>
              <a:t>symptom </a:t>
            </a:r>
            <a:r>
              <a:rPr sz="1400" spc="-30" dirty="0">
                <a:latin typeface="Arial"/>
                <a:cs typeface="Arial"/>
              </a:rPr>
              <a:t>is </a:t>
            </a:r>
            <a:r>
              <a:rPr sz="1400" spc="25" dirty="0">
                <a:latin typeface="Arial"/>
                <a:cs typeface="Arial"/>
              </a:rPr>
              <a:t>unmanned </a:t>
            </a:r>
            <a:r>
              <a:rPr sz="1400" spc="5" dirty="0">
                <a:latin typeface="Arial"/>
                <a:cs typeface="Arial"/>
              </a:rPr>
              <a:t>supermarkets. </a:t>
            </a:r>
            <a:r>
              <a:rPr sz="1400" spc="-15" dirty="0">
                <a:latin typeface="Arial"/>
                <a:cs typeface="Arial"/>
              </a:rPr>
              <a:t>For </a:t>
            </a:r>
            <a:r>
              <a:rPr sz="1400" spc="5" dirty="0">
                <a:latin typeface="Arial"/>
                <a:cs typeface="Arial"/>
              </a:rPr>
              <a:t>example, </a:t>
            </a:r>
            <a:r>
              <a:rPr sz="1400" spc="15" dirty="0">
                <a:latin typeface="Arial"/>
                <a:cs typeface="Arial"/>
              </a:rPr>
              <a:t>Amazon  </a:t>
            </a:r>
            <a:r>
              <a:rPr sz="1400" spc="-45" dirty="0">
                <a:latin typeface="Arial"/>
                <a:cs typeface="Arial"/>
              </a:rPr>
              <a:t>Go, </a:t>
            </a:r>
            <a:r>
              <a:rPr sz="1400" spc="25" dirty="0">
                <a:latin typeface="Arial"/>
                <a:cs typeface="Arial"/>
              </a:rPr>
              <a:t>unmanned </a:t>
            </a:r>
            <a:r>
              <a:rPr sz="1400" spc="20" dirty="0">
                <a:latin typeface="Arial"/>
                <a:cs typeface="Arial"/>
              </a:rPr>
              <a:t>supermarket </a:t>
            </a:r>
            <a:r>
              <a:rPr sz="1400" spc="60" dirty="0">
                <a:latin typeface="Arial"/>
                <a:cs typeface="Arial"/>
              </a:rPr>
              <a:t>of </a:t>
            </a:r>
            <a:r>
              <a:rPr sz="1400" spc="5" dirty="0">
                <a:latin typeface="Arial"/>
                <a:cs typeface="Arial"/>
              </a:rPr>
              <a:t>Amazon, </a:t>
            </a:r>
            <a:r>
              <a:rPr sz="1400" spc="-60" dirty="0">
                <a:latin typeface="Arial"/>
                <a:cs typeface="Arial"/>
              </a:rPr>
              <a:t>uses </a:t>
            </a:r>
            <a:r>
              <a:rPr sz="1400" spc="-40" dirty="0">
                <a:latin typeface="Arial"/>
                <a:cs typeface="Arial"/>
              </a:rPr>
              <a:t>sensors, </a:t>
            </a:r>
            <a:r>
              <a:rPr sz="1400" spc="-20" dirty="0">
                <a:latin typeface="Arial"/>
                <a:cs typeface="Arial"/>
              </a:rPr>
              <a:t>cameras, </a:t>
            </a:r>
            <a:r>
              <a:rPr sz="1400" spc="30" dirty="0">
                <a:latin typeface="Arial"/>
                <a:cs typeface="Arial"/>
              </a:rPr>
              <a:t>computer </a:t>
            </a:r>
            <a:r>
              <a:rPr sz="1400" spc="-5" dirty="0">
                <a:latin typeface="Arial"/>
                <a:cs typeface="Arial"/>
              </a:rPr>
              <a:t>vision, </a:t>
            </a:r>
            <a:r>
              <a:rPr sz="1400" spc="20" dirty="0">
                <a:latin typeface="Arial"/>
                <a:cs typeface="Arial"/>
              </a:rPr>
              <a:t>and </a:t>
            </a:r>
            <a:r>
              <a:rPr sz="1400" spc="-10" dirty="0">
                <a:latin typeface="Arial"/>
                <a:cs typeface="Arial"/>
              </a:rPr>
              <a:t>deep </a:t>
            </a:r>
            <a:r>
              <a:rPr sz="1400" spc="30" dirty="0">
                <a:latin typeface="Arial"/>
                <a:cs typeface="Arial"/>
              </a:rPr>
              <a:t>learning </a:t>
            </a:r>
            <a:r>
              <a:rPr sz="1400" spc="35" dirty="0">
                <a:latin typeface="Arial"/>
                <a:cs typeface="Arial"/>
              </a:rPr>
              <a:t>algorithms </a:t>
            </a:r>
            <a:r>
              <a:rPr sz="1400" spc="75" dirty="0">
                <a:latin typeface="Arial"/>
                <a:cs typeface="Arial"/>
              </a:rPr>
              <a:t>to </a:t>
            </a:r>
            <a:r>
              <a:rPr sz="1400" spc="25" dirty="0">
                <a:latin typeface="Arial"/>
                <a:cs typeface="Arial"/>
              </a:rPr>
              <a:t>completely  </a:t>
            </a:r>
            <a:r>
              <a:rPr sz="1400" spc="-10" dirty="0">
                <a:latin typeface="Arial"/>
                <a:cs typeface="Arial"/>
              </a:rPr>
              <a:t>cancel </a:t>
            </a:r>
            <a:r>
              <a:rPr sz="1400" spc="40" dirty="0">
                <a:latin typeface="Arial"/>
                <a:cs typeface="Arial"/>
              </a:rPr>
              <a:t>the </a:t>
            </a:r>
            <a:r>
              <a:rPr sz="1400" spc="15" dirty="0">
                <a:latin typeface="Arial"/>
                <a:cs typeface="Arial"/>
              </a:rPr>
              <a:t>checkout </a:t>
            </a:r>
            <a:r>
              <a:rPr sz="1400" spc="-35" dirty="0">
                <a:latin typeface="Arial"/>
                <a:cs typeface="Arial"/>
              </a:rPr>
              <a:t>process, </a:t>
            </a:r>
            <a:r>
              <a:rPr sz="1400" spc="40" dirty="0">
                <a:latin typeface="Arial"/>
                <a:cs typeface="Arial"/>
              </a:rPr>
              <a:t>allowing </a:t>
            </a:r>
            <a:r>
              <a:rPr sz="1400" dirty="0">
                <a:latin typeface="Arial"/>
                <a:cs typeface="Arial"/>
              </a:rPr>
              <a:t>customers </a:t>
            </a:r>
            <a:r>
              <a:rPr sz="1400" spc="75" dirty="0">
                <a:latin typeface="Arial"/>
                <a:cs typeface="Arial"/>
              </a:rPr>
              <a:t>to </a:t>
            </a:r>
            <a:r>
              <a:rPr sz="1400" spc="10" dirty="0">
                <a:latin typeface="Arial"/>
                <a:cs typeface="Arial"/>
              </a:rPr>
              <a:t>pick </a:t>
            </a:r>
            <a:r>
              <a:rPr sz="1400" spc="25" dirty="0">
                <a:latin typeface="Arial"/>
                <a:cs typeface="Arial"/>
              </a:rPr>
              <a:t>up </a:t>
            </a:r>
            <a:r>
              <a:rPr sz="1400" spc="-5" dirty="0">
                <a:latin typeface="Arial"/>
                <a:cs typeface="Arial"/>
              </a:rPr>
              <a:t>goods </a:t>
            </a:r>
            <a:r>
              <a:rPr sz="1400" spc="15" dirty="0">
                <a:latin typeface="Arial"/>
                <a:cs typeface="Arial"/>
              </a:rPr>
              <a:t>and </a:t>
            </a:r>
            <a:r>
              <a:rPr sz="1400" spc="40" dirty="0">
                <a:latin typeface="Arial"/>
                <a:cs typeface="Arial"/>
              </a:rPr>
              <a:t>"just </a:t>
            </a:r>
            <a:r>
              <a:rPr sz="1400" spc="50" dirty="0">
                <a:latin typeface="Arial"/>
                <a:cs typeface="Arial"/>
              </a:rPr>
              <a:t>walk</a:t>
            </a:r>
            <a:r>
              <a:rPr sz="1400" spc="270" dirty="0">
                <a:latin typeface="Arial"/>
                <a:cs typeface="Arial"/>
              </a:rPr>
              <a:t> </a:t>
            </a:r>
            <a:r>
              <a:rPr sz="1400" spc="45" dirty="0">
                <a:latin typeface="Arial"/>
                <a:cs typeface="Arial"/>
              </a:rPr>
              <a:t>out".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212289"/>
            <a:ext cx="920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Wingdings"/>
                <a:cs typeface="Wingdings"/>
              </a:rPr>
              <a:t></a:t>
            </a:r>
            <a:endParaRPr sz="7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076424"/>
            <a:ext cx="1018921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One </a:t>
            </a:r>
            <a:r>
              <a:rPr sz="1400" spc="60" dirty="0">
                <a:latin typeface="Arial"/>
                <a:cs typeface="Arial"/>
              </a:rPr>
              <a:t>of </a:t>
            </a:r>
            <a:r>
              <a:rPr sz="1400" spc="40" dirty="0">
                <a:latin typeface="Arial"/>
                <a:cs typeface="Arial"/>
              </a:rPr>
              <a:t>the </a:t>
            </a:r>
            <a:r>
              <a:rPr sz="1400" spc="10" dirty="0">
                <a:latin typeface="Arial"/>
                <a:cs typeface="Arial"/>
              </a:rPr>
              <a:t>biggest </a:t>
            </a:r>
            <a:r>
              <a:rPr sz="1400" spc="-5" dirty="0">
                <a:latin typeface="Arial"/>
                <a:cs typeface="Arial"/>
              </a:rPr>
              <a:t>challenges </a:t>
            </a:r>
            <a:r>
              <a:rPr sz="1400" spc="60" dirty="0">
                <a:latin typeface="Arial"/>
                <a:cs typeface="Arial"/>
              </a:rPr>
              <a:t>for </a:t>
            </a:r>
            <a:r>
              <a:rPr sz="1400" spc="25" dirty="0">
                <a:latin typeface="Arial"/>
                <a:cs typeface="Arial"/>
              </a:rPr>
              <a:t>unmanned </a:t>
            </a:r>
            <a:r>
              <a:rPr sz="1400" spc="20" dirty="0">
                <a:latin typeface="Arial"/>
                <a:cs typeface="Arial"/>
              </a:rPr>
              <a:t>supermarket </a:t>
            </a:r>
            <a:r>
              <a:rPr sz="1400" spc="-30" dirty="0">
                <a:latin typeface="Arial"/>
                <a:cs typeface="Arial"/>
              </a:rPr>
              <a:t>is </a:t>
            </a:r>
            <a:r>
              <a:rPr sz="1400" spc="50" dirty="0">
                <a:latin typeface="Arial"/>
                <a:cs typeface="Arial"/>
              </a:rPr>
              <a:t>how </a:t>
            </a:r>
            <a:r>
              <a:rPr sz="1400" spc="75" dirty="0">
                <a:latin typeface="Arial"/>
                <a:cs typeface="Arial"/>
              </a:rPr>
              <a:t>to </a:t>
            </a:r>
            <a:r>
              <a:rPr sz="1400" dirty="0">
                <a:latin typeface="Arial"/>
                <a:cs typeface="Arial"/>
              </a:rPr>
              <a:t>charge </a:t>
            </a:r>
            <a:r>
              <a:rPr sz="1400" spc="40" dirty="0">
                <a:latin typeface="Arial"/>
                <a:cs typeface="Arial"/>
              </a:rPr>
              <a:t>the </a:t>
            </a:r>
            <a:r>
              <a:rPr sz="1400" spc="55" dirty="0">
                <a:latin typeface="Arial"/>
                <a:cs typeface="Arial"/>
              </a:rPr>
              <a:t>right </a:t>
            </a:r>
            <a:r>
              <a:rPr sz="1400" spc="-25" dirty="0">
                <a:latin typeface="Arial"/>
                <a:cs typeface="Arial"/>
              </a:rPr>
              <a:t>fees </a:t>
            </a:r>
            <a:r>
              <a:rPr sz="1400" spc="75" dirty="0">
                <a:latin typeface="Arial"/>
                <a:cs typeface="Arial"/>
              </a:rPr>
              <a:t>to </a:t>
            </a:r>
            <a:r>
              <a:rPr sz="1400" spc="40" dirty="0">
                <a:latin typeface="Arial"/>
                <a:cs typeface="Arial"/>
              </a:rPr>
              <a:t>the </a:t>
            </a:r>
            <a:r>
              <a:rPr sz="1400" spc="55" dirty="0">
                <a:latin typeface="Arial"/>
                <a:cs typeface="Arial"/>
              </a:rPr>
              <a:t>right </a:t>
            </a:r>
            <a:r>
              <a:rPr sz="1400" spc="-5" dirty="0">
                <a:latin typeface="Arial"/>
                <a:cs typeface="Arial"/>
              </a:rPr>
              <a:t>customers. </a:t>
            </a:r>
            <a:r>
              <a:rPr sz="1400" spc="-85" dirty="0">
                <a:latin typeface="Arial"/>
                <a:cs typeface="Arial"/>
              </a:rPr>
              <a:t>So </a:t>
            </a:r>
            <a:r>
              <a:rPr sz="1400" spc="20" dirty="0">
                <a:latin typeface="Arial"/>
                <a:cs typeface="Arial"/>
              </a:rPr>
              <a:t>far,  </a:t>
            </a:r>
            <a:r>
              <a:rPr sz="1400" spc="15" dirty="0">
                <a:latin typeface="Arial"/>
                <a:cs typeface="Arial"/>
              </a:rPr>
              <a:t>Amazon </a:t>
            </a:r>
            <a:r>
              <a:rPr sz="1400" spc="-35" dirty="0">
                <a:latin typeface="Arial"/>
                <a:cs typeface="Arial"/>
              </a:rPr>
              <a:t>Go </a:t>
            </a:r>
            <a:r>
              <a:rPr sz="1400" spc="-30" dirty="0">
                <a:latin typeface="Arial"/>
                <a:cs typeface="Arial"/>
              </a:rPr>
              <a:t>is </a:t>
            </a:r>
            <a:r>
              <a:rPr sz="1400" spc="40" dirty="0">
                <a:latin typeface="Arial"/>
                <a:cs typeface="Arial"/>
              </a:rPr>
              <a:t>the </a:t>
            </a:r>
            <a:r>
              <a:rPr sz="1400" spc="25" dirty="0">
                <a:latin typeface="Arial"/>
                <a:cs typeface="Arial"/>
              </a:rPr>
              <a:t>only </a:t>
            </a:r>
            <a:r>
              <a:rPr sz="1400" spc="-30" dirty="0">
                <a:latin typeface="Arial"/>
                <a:cs typeface="Arial"/>
              </a:rPr>
              <a:t>successful business </a:t>
            </a:r>
            <a:r>
              <a:rPr sz="1400" spc="-55" dirty="0">
                <a:latin typeface="Arial"/>
                <a:cs typeface="Arial"/>
              </a:rPr>
              <a:t>case </a:t>
            </a:r>
            <a:r>
              <a:rPr sz="1400" spc="15" dirty="0">
                <a:latin typeface="Arial"/>
                <a:cs typeface="Arial"/>
              </a:rPr>
              <a:t>and </a:t>
            </a:r>
            <a:r>
              <a:rPr sz="1400" spc="-15" dirty="0">
                <a:latin typeface="Arial"/>
                <a:cs typeface="Arial"/>
              </a:rPr>
              <a:t>even </a:t>
            </a:r>
            <a:r>
              <a:rPr sz="1400" spc="25" dirty="0">
                <a:latin typeface="Arial"/>
                <a:cs typeface="Arial"/>
              </a:rPr>
              <a:t>this </a:t>
            </a:r>
            <a:r>
              <a:rPr sz="1400" spc="-55" dirty="0">
                <a:latin typeface="Arial"/>
                <a:cs typeface="Arial"/>
              </a:rPr>
              <a:t>case </a:t>
            </a:r>
            <a:r>
              <a:rPr sz="1400" spc="-5" dirty="0">
                <a:latin typeface="Arial"/>
                <a:cs typeface="Arial"/>
              </a:rPr>
              <a:t>involves </a:t>
            </a:r>
            <a:r>
              <a:rPr sz="1400" spc="30" dirty="0">
                <a:latin typeface="Arial"/>
                <a:cs typeface="Arial"/>
              </a:rPr>
              <a:t>many controlled </a:t>
            </a:r>
            <a:r>
              <a:rPr sz="1400" spc="5" dirty="0">
                <a:latin typeface="Arial"/>
                <a:cs typeface="Arial"/>
              </a:rPr>
              <a:t>factors. </a:t>
            </a:r>
            <a:r>
              <a:rPr sz="1400" spc="-15" dirty="0">
                <a:latin typeface="Arial"/>
                <a:cs typeface="Arial"/>
              </a:rPr>
              <a:t>For </a:t>
            </a:r>
            <a:r>
              <a:rPr sz="1400" spc="5" dirty="0">
                <a:latin typeface="Arial"/>
                <a:cs typeface="Arial"/>
              </a:rPr>
              <a:t>example, </a:t>
            </a:r>
            <a:r>
              <a:rPr sz="1400" spc="30" dirty="0">
                <a:latin typeface="Arial"/>
                <a:cs typeface="Arial"/>
              </a:rPr>
              <a:t>only </a:t>
            </a:r>
            <a:r>
              <a:rPr sz="1400" spc="5" dirty="0">
                <a:latin typeface="Arial"/>
                <a:cs typeface="Arial"/>
              </a:rPr>
              <a:t>Prime   </a:t>
            </a:r>
            <a:r>
              <a:rPr sz="1400" spc="10" dirty="0">
                <a:latin typeface="Arial"/>
                <a:cs typeface="Arial"/>
              </a:rPr>
              <a:t>members </a:t>
            </a:r>
            <a:r>
              <a:rPr sz="1400" spc="-10" dirty="0">
                <a:latin typeface="Arial"/>
                <a:cs typeface="Arial"/>
              </a:rPr>
              <a:t>can </a:t>
            </a:r>
            <a:r>
              <a:rPr sz="1400" spc="25" dirty="0">
                <a:latin typeface="Arial"/>
                <a:cs typeface="Arial"/>
              </a:rPr>
              <a:t>enter </a:t>
            </a:r>
            <a:r>
              <a:rPr sz="1400" spc="15" dirty="0">
                <a:latin typeface="Arial"/>
                <a:cs typeface="Arial"/>
              </a:rPr>
              <a:t>Amazon </a:t>
            </a:r>
            <a:r>
              <a:rPr sz="1400" spc="-50" dirty="0">
                <a:latin typeface="Arial"/>
                <a:cs typeface="Arial"/>
              </a:rPr>
              <a:t>Go. </a:t>
            </a:r>
            <a:r>
              <a:rPr sz="1400" spc="35" dirty="0">
                <a:latin typeface="Arial"/>
                <a:cs typeface="Arial"/>
              </a:rPr>
              <a:t>Other </a:t>
            </a:r>
            <a:r>
              <a:rPr sz="1400" spc="-5" dirty="0">
                <a:latin typeface="Arial"/>
                <a:cs typeface="Arial"/>
              </a:rPr>
              <a:t>enterprises, </a:t>
            </a:r>
            <a:r>
              <a:rPr sz="1400" spc="75" dirty="0">
                <a:latin typeface="Arial"/>
                <a:cs typeface="Arial"/>
              </a:rPr>
              <a:t>to </a:t>
            </a:r>
            <a:r>
              <a:rPr sz="1400" spc="60" dirty="0">
                <a:latin typeface="Arial"/>
                <a:cs typeface="Arial"/>
              </a:rPr>
              <a:t>follow </a:t>
            </a:r>
            <a:r>
              <a:rPr sz="1400" spc="40" dirty="0">
                <a:latin typeface="Arial"/>
                <a:cs typeface="Arial"/>
              </a:rPr>
              <a:t>the </a:t>
            </a:r>
            <a:r>
              <a:rPr sz="1400" spc="15" dirty="0">
                <a:latin typeface="Arial"/>
                <a:cs typeface="Arial"/>
              </a:rPr>
              <a:t>example </a:t>
            </a:r>
            <a:r>
              <a:rPr sz="1400" spc="60" dirty="0">
                <a:latin typeface="Arial"/>
                <a:cs typeface="Arial"/>
              </a:rPr>
              <a:t>of </a:t>
            </a:r>
            <a:r>
              <a:rPr sz="1400" spc="5" dirty="0">
                <a:latin typeface="Arial"/>
                <a:cs typeface="Arial"/>
              </a:rPr>
              <a:t>Amazon, </a:t>
            </a:r>
            <a:r>
              <a:rPr sz="1400" spc="-10" dirty="0">
                <a:latin typeface="Arial"/>
                <a:cs typeface="Arial"/>
              </a:rPr>
              <a:t>have </a:t>
            </a:r>
            <a:r>
              <a:rPr sz="1400" spc="70" dirty="0">
                <a:latin typeface="Arial"/>
                <a:cs typeface="Arial"/>
              </a:rPr>
              <a:t>to </a:t>
            </a:r>
            <a:r>
              <a:rPr sz="1400" spc="40" dirty="0">
                <a:latin typeface="Arial"/>
                <a:cs typeface="Arial"/>
              </a:rPr>
              <a:t>build their </a:t>
            </a:r>
            <a:r>
              <a:rPr sz="1400" spc="15" dirty="0">
                <a:latin typeface="Arial"/>
                <a:cs typeface="Arial"/>
              </a:rPr>
              <a:t>membership </a:t>
            </a:r>
            <a:r>
              <a:rPr sz="1400" spc="-10" dirty="0">
                <a:latin typeface="Arial"/>
                <a:cs typeface="Arial"/>
              </a:rPr>
              <a:t>system  </a:t>
            </a:r>
            <a:r>
              <a:rPr sz="1400" spc="20" dirty="0">
                <a:latin typeface="Arial"/>
                <a:cs typeface="Arial"/>
              </a:rPr>
              <a:t>first.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83508" y="3243072"/>
            <a:ext cx="4460747" cy="29580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86510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 </a:t>
            </a:r>
            <a:r>
              <a:rPr spc="65" dirty="0"/>
              <a:t>Application </a:t>
            </a:r>
            <a:r>
              <a:rPr spc="-10" dirty="0"/>
              <a:t>Field </a:t>
            </a:r>
            <a:r>
              <a:rPr spc="190" dirty="0"/>
              <a:t>- </a:t>
            </a:r>
            <a:r>
              <a:rPr spc="70" dirty="0"/>
              <a:t>Autonomous</a:t>
            </a:r>
            <a:r>
              <a:rPr spc="305" dirty="0"/>
              <a:t> </a:t>
            </a:r>
            <a:r>
              <a:rPr spc="60" dirty="0"/>
              <a:t>Driving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50950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213"/>
            <a:ext cx="1029398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The </a:t>
            </a:r>
            <a:r>
              <a:rPr sz="1800" spc="-25" dirty="0">
                <a:latin typeface="Arial"/>
                <a:cs typeface="Arial"/>
              </a:rPr>
              <a:t>Society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45" dirty="0">
                <a:latin typeface="Arial"/>
                <a:cs typeface="Arial"/>
              </a:rPr>
              <a:t>Automotive </a:t>
            </a:r>
            <a:r>
              <a:rPr sz="1800" spc="-30" dirty="0">
                <a:latin typeface="Arial"/>
                <a:cs typeface="Arial"/>
              </a:rPr>
              <a:t>Engineers </a:t>
            </a:r>
            <a:r>
              <a:rPr sz="1800" spc="-40" dirty="0">
                <a:latin typeface="Arial"/>
                <a:cs typeface="Arial"/>
              </a:rPr>
              <a:t>(SAE) </a:t>
            </a:r>
            <a:r>
              <a:rPr sz="1800" spc="50" dirty="0">
                <a:latin typeface="Arial"/>
                <a:cs typeface="Arial"/>
              </a:rPr>
              <a:t>in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-105" dirty="0">
                <a:latin typeface="Arial"/>
                <a:cs typeface="Arial"/>
              </a:rPr>
              <a:t>U.S. </a:t>
            </a:r>
            <a:r>
              <a:rPr sz="1800" dirty="0">
                <a:latin typeface="Arial"/>
                <a:cs typeface="Arial"/>
              </a:rPr>
              <a:t>defines </a:t>
            </a:r>
            <a:r>
              <a:rPr sz="1800" spc="5" dirty="0">
                <a:latin typeface="Arial"/>
                <a:cs typeface="Arial"/>
              </a:rPr>
              <a:t>6 </a:t>
            </a:r>
            <a:r>
              <a:rPr sz="1800" spc="-20" dirty="0">
                <a:latin typeface="Arial"/>
                <a:cs typeface="Arial"/>
              </a:rPr>
              <a:t>levels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40" dirty="0">
                <a:latin typeface="Arial"/>
                <a:cs typeface="Arial"/>
              </a:rPr>
              <a:t>driving </a:t>
            </a:r>
            <a:r>
              <a:rPr sz="1800" spc="60" dirty="0">
                <a:latin typeface="Arial"/>
                <a:cs typeface="Arial"/>
              </a:rPr>
              <a:t>automation  </a:t>
            </a:r>
            <a:r>
              <a:rPr sz="1800" spc="40" dirty="0">
                <a:latin typeface="Arial"/>
                <a:cs typeface="Arial"/>
              </a:rPr>
              <a:t>ranging </a:t>
            </a:r>
            <a:r>
              <a:rPr sz="1800" spc="85" dirty="0">
                <a:latin typeface="Arial"/>
                <a:cs typeface="Arial"/>
              </a:rPr>
              <a:t>from </a:t>
            </a:r>
            <a:r>
              <a:rPr sz="1800" spc="5" dirty="0">
                <a:latin typeface="Arial"/>
                <a:cs typeface="Arial"/>
              </a:rPr>
              <a:t>0 </a:t>
            </a:r>
            <a:r>
              <a:rPr sz="1800" spc="75" dirty="0">
                <a:latin typeface="Arial"/>
                <a:cs typeface="Arial"/>
              </a:rPr>
              <a:t>(fully </a:t>
            </a:r>
            <a:r>
              <a:rPr sz="1800" spc="60" dirty="0">
                <a:latin typeface="Arial"/>
                <a:cs typeface="Arial"/>
              </a:rPr>
              <a:t>manual) </a:t>
            </a:r>
            <a:r>
              <a:rPr sz="1800" spc="85" dirty="0">
                <a:latin typeface="Arial"/>
                <a:cs typeface="Arial"/>
              </a:rPr>
              <a:t>to </a:t>
            </a:r>
            <a:r>
              <a:rPr sz="1800" spc="5" dirty="0">
                <a:latin typeface="Arial"/>
                <a:cs typeface="Arial"/>
              </a:rPr>
              <a:t>5 </a:t>
            </a:r>
            <a:r>
              <a:rPr sz="1800" spc="75" dirty="0">
                <a:latin typeface="Arial"/>
                <a:cs typeface="Arial"/>
              </a:rPr>
              <a:t>(fully </a:t>
            </a:r>
            <a:r>
              <a:rPr sz="1800" spc="30" dirty="0">
                <a:latin typeface="Arial"/>
                <a:cs typeface="Arial"/>
              </a:rPr>
              <a:t>autonomous). </a:t>
            </a:r>
            <a:r>
              <a:rPr sz="1800" spc="-40" dirty="0">
                <a:latin typeface="Arial"/>
                <a:cs typeface="Arial"/>
              </a:rPr>
              <a:t>L0 </a:t>
            </a:r>
            <a:r>
              <a:rPr sz="1800" spc="5" dirty="0">
                <a:latin typeface="Arial"/>
                <a:cs typeface="Arial"/>
              </a:rPr>
              <a:t>indicates </a:t>
            </a:r>
            <a:r>
              <a:rPr sz="1800" spc="85" dirty="0">
                <a:latin typeface="Arial"/>
                <a:cs typeface="Arial"/>
              </a:rPr>
              <a:t>that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40" dirty="0">
                <a:latin typeface="Arial"/>
                <a:cs typeface="Arial"/>
              </a:rPr>
              <a:t>driving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vehicle  </a:t>
            </a:r>
            <a:r>
              <a:rPr sz="1800" spc="30" dirty="0">
                <a:latin typeface="Arial"/>
                <a:cs typeface="Arial"/>
              </a:rPr>
              <a:t>completely </a:t>
            </a:r>
            <a:r>
              <a:rPr sz="1800" spc="-15" dirty="0">
                <a:latin typeface="Arial"/>
                <a:cs typeface="Arial"/>
              </a:rPr>
              <a:t>depends </a:t>
            </a:r>
            <a:r>
              <a:rPr sz="1800" spc="35" dirty="0">
                <a:latin typeface="Arial"/>
                <a:cs typeface="Arial"/>
              </a:rPr>
              <a:t>on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10" dirty="0">
                <a:latin typeface="Arial"/>
                <a:cs typeface="Arial"/>
              </a:rPr>
              <a:t>driver's </a:t>
            </a:r>
            <a:r>
              <a:rPr sz="1800" spc="25" dirty="0">
                <a:latin typeface="Arial"/>
                <a:cs typeface="Arial"/>
              </a:rPr>
              <a:t>operation. </a:t>
            </a:r>
            <a:r>
              <a:rPr sz="1800" spc="-30" dirty="0">
                <a:latin typeface="Arial"/>
                <a:cs typeface="Arial"/>
              </a:rPr>
              <a:t>The </a:t>
            </a:r>
            <a:r>
              <a:rPr sz="1800" spc="-15" dirty="0">
                <a:latin typeface="Arial"/>
                <a:cs typeface="Arial"/>
              </a:rPr>
              <a:t>system </a:t>
            </a:r>
            <a:r>
              <a:rPr sz="1800" spc="-10" dirty="0">
                <a:latin typeface="Arial"/>
                <a:cs typeface="Arial"/>
              </a:rPr>
              <a:t>above </a:t>
            </a:r>
            <a:r>
              <a:rPr sz="1800" spc="-40" dirty="0">
                <a:latin typeface="Arial"/>
                <a:cs typeface="Arial"/>
              </a:rPr>
              <a:t>L3 </a:t>
            </a:r>
            <a:r>
              <a:rPr sz="1800" spc="-10" dirty="0">
                <a:latin typeface="Arial"/>
                <a:cs typeface="Arial"/>
              </a:rPr>
              <a:t>can </a:t>
            </a:r>
            <a:r>
              <a:rPr sz="1800" spc="55" dirty="0">
                <a:latin typeface="Arial"/>
                <a:cs typeface="Arial"/>
              </a:rPr>
              <a:t>implement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10" dirty="0">
                <a:latin typeface="Arial"/>
                <a:cs typeface="Arial"/>
              </a:rPr>
              <a:t>driver's  </a:t>
            </a:r>
            <a:r>
              <a:rPr sz="1800" spc="65" dirty="0">
                <a:latin typeface="Arial"/>
                <a:cs typeface="Arial"/>
              </a:rPr>
              <a:t>hand-off </a:t>
            </a:r>
            <a:r>
              <a:rPr sz="1800" spc="35" dirty="0">
                <a:latin typeface="Arial"/>
                <a:cs typeface="Arial"/>
              </a:rPr>
              <a:t>operation </a:t>
            </a:r>
            <a:r>
              <a:rPr sz="1800" spc="50" dirty="0">
                <a:latin typeface="Arial"/>
                <a:cs typeface="Arial"/>
              </a:rPr>
              <a:t>in </a:t>
            </a:r>
            <a:r>
              <a:rPr sz="1800" spc="-15" dirty="0">
                <a:latin typeface="Arial"/>
                <a:cs typeface="Arial"/>
              </a:rPr>
              <a:t>specific </a:t>
            </a:r>
            <a:r>
              <a:rPr sz="1800" spc="-85" dirty="0">
                <a:latin typeface="Arial"/>
                <a:cs typeface="Arial"/>
              </a:rPr>
              <a:t>cases, </a:t>
            </a:r>
            <a:r>
              <a:rPr sz="1800" spc="-40" dirty="0">
                <a:latin typeface="Arial"/>
                <a:cs typeface="Arial"/>
              </a:rPr>
              <a:t>L5 </a:t>
            </a:r>
            <a:r>
              <a:rPr sz="1800" spc="-20" dirty="0">
                <a:latin typeface="Arial"/>
                <a:cs typeface="Arial"/>
              </a:rPr>
              <a:t>depends </a:t>
            </a:r>
            <a:r>
              <a:rPr sz="1800" spc="35" dirty="0">
                <a:latin typeface="Arial"/>
                <a:cs typeface="Arial"/>
              </a:rPr>
              <a:t>on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-15" dirty="0">
                <a:latin typeface="Arial"/>
                <a:cs typeface="Arial"/>
              </a:rPr>
              <a:t>system </a:t>
            </a:r>
            <a:r>
              <a:rPr sz="1800" spc="40" dirty="0">
                <a:latin typeface="Arial"/>
                <a:cs typeface="Arial"/>
              </a:rPr>
              <a:t>when </a:t>
            </a:r>
            <a:r>
              <a:rPr sz="1800" spc="-20" dirty="0">
                <a:latin typeface="Arial"/>
                <a:cs typeface="Arial"/>
              </a:rPr>
              <a:t>vehicles </a:t>
            </a:r>
            <a:r>
              <a:rPr sz="1800" dirty="0">
                <a:latin typeface="Arial"/>
                <a:cs typeface="Arial"/>
              </a:rPr>
              <a:t>are </a:t>
            </a:r>
            <a:r>
              <a:rPr sz="1800" spc="40" dirty="0">
                <a:latin typeface="Arial"/>
                <a:cs typeface="Arial"/>
              </a:rPr>
              <a:t>driving </a:t>
            </a:r>
            <a:r>
              <a:rPr sz="1800" spc="50" dirty="0">
                <a:latin typeface="Arial"/>
                <a:cs typeface="Arial"/>
              </a:rPr>
              <a:t>in </a:t>
            </a:r>
            <a:r>
              <a:rPr sz="1800" spc="55" dirty="0">
                <a:latin typeface="Arial"/>
                <a:cs typeface="Arial"/>
              </a:rPr>
              <a:t>all  </a:t>
            </a:r>
            <a:r>
              <a:rPr sz="1800" spc="-35" dirty="0">
                <a:latin typeface="Arial"/>
                <a:cs typeface="Arial"/>
              </a:rPr>
              <a:t>scenarios.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3273678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3099298"/>
            <a:ext cx="10293985" cy="2715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5"/>
              </a:spcBef>
            </a:pPr>
            <a:r>
              <a:rPr sz="1800" spc="10" dirty="0">
                <a:latin typeface="Arial"/>
                <a:cs typeface="Arial"/>
              </a:rPr>
              <a:t>Currently, </a:t>
            </a:r>
            <a:r>
              <a:rPr sz="1800" spc="35" dirty="0">
                <a:latin typeface="Arial"/>
                <a:cs typeface="Arial"/>
              </a:rPr>
              <a:t>only </a:t>
            </a:r>
            <a:r>
              <a:rPr sz="1800" spc="-15" dirty="0">
                <a:latin typeface="Arial"/>
                <a:cs typeface="Arial"/>
              </a:rPr>
              <a:t>some </a:t>
            </a:r>
            <a:r>
              <a:rPr sz="1800" spc="30" dirty="0">
                <a:latin typeface="Arial"/>
                <a:cs typeface="Arial"/>
              </a:rPr>
              <a:t>commercial </a:t>
            </a:r>
            <a:r>
              <a:rPr sz="1800" spc="-25" dirty="0">
                <a:latin typeface="Arial"/>
                <a:cs typeface="Arial"/>
              </a:rPr>
              <a:t>passenger </a:t>
            </a:r>
            <a:r>
              <a:rPr sz="1800" spc="-5" dirty="0">
                <a:latin typeface="Arial"/>
                <a:cs typeface="Arial"/>
              </a:rPr>
              <a:t>vehicle models, </a:t>
            </a:r>
            <a:r>
              <a:rPr sz="1800" spc="-30" dirty="0">
                <a:latin typeface="Arial"/>
                <a:cs typeface="Arial"/>
              </a:rPr>
              <a:t>such </a:t>
            </a:r>
            <a:r>
              <a:rPr sz="1800" spc="-75" dirty="0">
                <a:latin typeface="Arial"/>
                <a:cs typeface="Arial"/>
              </a:rPr>
              <a:t>as </a:t>
            </a:r>
            <a:r>
              <a:rPr sz="1800" spc="25" dirty="0">
                <a:latin typeface="Arial"/>
                <a:cs typeface="Arial"/>
              </a:rPr>
              <a:t>Audi </a:t>
            </a:r>
            <a:r>
              <a:rPr sz="1800" spc="-30" dirty="0">
                <a:latin typeface="Arial"/>
                <a:cs typeface="Arial"/>
              </a:rPr>
              <a:t>A8, </a:t>
            </a:r>
            <a:r>
              <a:rPr sz="1800" spc="-50" dirty="0">
                <a:latin typeface="Arial"/>
                <a:cs typeface="Arial"/>
              </a:rPr>
              <a:t>Tesla,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-15" dirty="0">
                <a:latin typeface="Arial"/>
                <a:cs typeface="Arial"/>
              </a:rPr>
              <a:t>Cadillac,  </a:t>
            </a:r>
            <a:r>
              <a:rPr sz="1800" spc="30" dirty="0">
                <a:latin typeface="Arial"/>
                <a:cs typeface="Arial"/>
              </a:rPr>
              <a:t>support </a:t>
            </a:r>
            <a:r>
              <a:rPr sz="1800" spc="-40" dirty="0">
                <a:latin typeface="Arial"/>
                <a:cs typeface="Arial"/>
              </a:rPr>
              <a:t>L2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-40" dirty="0">
                <a:latin typeface="Arial"/>
                <a:cs typeface="Arial"/>
              </a:rPr>
              <a:t>L3 </a:t>
            </a:r>
            <a:r>
              <a:rPr sz="1800" spc="-10" dirty="0">
                <a:latin typeface="Arial"/>
                <a:cs typeface="Arial"/>
              </a:rPr>
              <a:t>Advanced </a:t>
            </a:r>
            <a:r>
              <a:rPr sz="1800" spc="-5" dirty="0">
                <a:latin typeface="Arial"/>
                <a:cs typeface="Arial"/>
              </a:rPr>
              <a:t>driver-assistance </a:t>
            </a:r>
            <a:r>
              <a:rPr sz="1800" spc="-35" dirty="0">
                <a:latin typeface="Arial"/>
                <a:cs typeface="Arial"/>
              </a:rPr>
              <a:t>systems </a:t>
            </a:r>
            <a:r>
              <a:rPr sz="1800" spc="-20" dirty="0">
                <a:latin typeface="Arial"/>
                <a:cs typeface="Arial"/>
              </a:rPr>
              <a:t>(ADAS). </a:t>
            </a:r>
            <a:r>
              <a:rPr sz="1800" spc="80" dirty="0">
                <a:latin typeface="Arial"/>
                <a:cs typeface="Arial"/>
              </a:rPr>
              <a:t>It </a:t>
            </a:r>
            <a:r>
              <a:rPr sz="1800" spc="-45" dirty="0">
                <a:latin typeface="Arial"/>
                <a:cs typeface="Arial"/>
              </a:rPr>
              <a:t>is </a:t>
            </a:r>
            <a:r>
              <a:rPr sz="1800" spc="25" dirty="0">
                <a:latin typeface="Arial"/>
                <a:cs typeface="Arial"/>
              </a:rPr>
              <a:t>estimated </a:t>
            </a:r>
            <a:r>
              <a:rPr sz="1800" spc="85" dirty="0">
                <a:latin typeface="Arial"/>
                <a:cs typeface="Arial"/>
              </a:rPr>
              <a:t>that </a:t>
            </a:r>
            <a:r>
              <a:rPr sz="1800" spc="10" dirty="0">
                <a:latin typeface="Arial"/>
                <a:cs typeface="Arial"/>
              </a:rPr>
              <a:t>by </a:t>
            </a:r>
            <a:r>
              <a:rPr sz="1800" spc="-10" dirty="0">
                <a:latin typeface="Arial"/>
                <a:cs typeface="Arial"/>
              </a:rPr>
              <a:t>2020, </a:t>
            </a:r>
            <a:r>
              <a:rPr sz="1800" spc="40" dirty="0">
                <a:latin typeface="Arial"/>
                <a:cs typeface="Arial"/>
              </a:rPr>
              <a:t>more  </a:t>
            </a:r>
            <a:r>
              <a:rPr sz="1800" spc="-40" dirty="0">
                <a:latin typeface="Arial"/>
                <a:cs typeface="Arial"/>
              </a:rPr>
              <a:t>L3 </a:t>
            </a:r>
            <a:r>
              <a:rPr sz="1800" dirty="0">
                <a:latin typeface="Arial"/>
                <a:cs typeface="Arial"/>
              </a:rPr>
              <a:t>vehicle </a:t>
            </a:r>
            <a:r>
              <a:rPr sz="1800" spc="10" dirty="0">
                <a:latin typeface="Arial"/>
                <a:cs typeface="Arial"/>
              </a:rPr>
              <a:t>models </a:t>
            </a:r>
            <a:r>
              <a:rPr sz="1800" spc="85" dirty="0">
                <a:latin typeface="Arial"/>
                <a:cs typeface="Arial"/>
              </a:rPr>
              <a:t>will </a:t>
            </a:r>
            <a:r>
              <a:rPr sz="1800" spc="5" dirty="0">
                <a:latin typeface="Arial"/>
                <a:cs typeface="Arial"/>
              </a:rPr>
              <a:t>emerge </a:t>
            </a:r>
            <a:r>
              <a:rPr sz="1800" spc="90" dirty="0">
                <a:latin typeface="Arial"/>
                <a:cs typeface="Arial"/>
              </a:rPr>
              <a:t>with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65" dirty="0">
                <a:latin typeface="Arial"/>
                <a:cs typeface="Arial"/>
              </a:rPr>
              <a:t>further </a:t>
            </a:r>
            <a:r>
              <a:rPr sz="1800" spc="50" dirty="0">
                <a:latin typeface="Arial"/>
                <a:cs typeface="Arial"/>
              </a:rPr>
              <a:t>improvement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-50" dirty="0">
                <a:latin typeface="Arial"/>
                <a:cs typeface="Arial"/>
              </a:rPr>
              <a:t>sensors </a:t>
            </a:r>
            <a:r>
              <a:rPr sz="1800" spc="25" dirty="0">
                <a:latin typeface="Arial"/>
                <a:cs typeface="Arial"/>
              </a:rPr>
              <a:t>and </a:t>
            </a:r>
            <a:r>
              <a:rPr sz="1800" spc="30" dirty="0">
                <a:latin typeface="Arial"/>
                <a:cs typeface="Arial"/>
              </a:rPr>
              <a:t>vehicle-mounted  </a:t>
            </a:r>
            <a:r>
              <a:rPr sz="1800" spc="-40" dirty="0">
                <a:latin typeface="Arial"/>
                <a:cs typeface="Arial"/>
              </a:rPr>
              <a:t>processors. L4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-40" dirty="0">
                <a:latin typeface="Arial"/>
                <a:cs typeface="Arial"/>
              </a:rPr>
              <a:t>L5 </a:t>
            </a:r>
            <a:r>
              <a:rPr sz="1800" spc="35" dirty="0">
                <a:latin typeface="Arial"/>
                <a:cs typeface="Arial"/>
              </a:rPr>
              <a:t>autonomous </a:t>
            </a:r>
            <a:r>
              <a:rPr sz="1800" spc="40" dirty="0">
                <a:latin typeface="Arial"/>
                <a:cs typeface="Arial"/>
              </a:rPr>
              <a:t>driving </a:t>
            </a:r>
            <a:r>
              <a:rPr sz="1800" spc="-45" dirty="0">
                <a:latin typeface="Arial"/>
                <a:cs typeface="Arial"/>
              </a:rPr>
              <a:t>is </a:t>
            </a:r>
            <a:r>
              <a:rPr sz="1800" spc="-10" dirty="0">
                <a:latin typeface="Arial"/>
                <a:cs typeface="Arial"/>
              </a:rPr>
              <a:t>expected </a:t>
            </a:r>
            <a:r>
              <a:rPr sz="1800" spc="95" dirty="0">
                <a:latin typeface="Arial"/>
                <a:cs typeface="Arial"/>
              </a:rPr>
              <a:t>to </a:t>
            </a:r>
            <a:r>
              <a:rPr sz="1800" spc="-15" dirty="0">
                <a:latin typeface="Arial"/>
                <a:cs typeface="Arial"/>
              </a:rPr>
              <a:t>be </a:t>
            </a:r>
            <a:r>
              <a:rPr sz="1800" spc="50" dirty="0">
                <a:latin typeface="Arial"/>
                <a:cs typeface="Arial"/>
              </a:rPr>
              <a:t>first </a:t>
            </a:r>
            <a:r>
              <a:rPr sz="1800" spc="45" dirty="0">
                <a:latin typeface="Arial"/>
                <a:cs typeface="Arial"/>
              </a:rPr>
              <a:t>implemented </a:t>
            </a:r>
            <a:r>
              <a:rPr sz="1800" spc="35" dirty="0">
                <a:latin typeface="Arial"/>
                <a:cs typeface="Arial"/>
              </a:rPr>
              <a:t>on 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commercial  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vehicles </a:t>
            </a:r>
            <a:r>
              <a:rPr sz="1800" b="1" spc="20" dirty="0">
                <a:solidFill>
                  <a:srgbClr val="C00000"/>
                </a:solidFill>
                <a:latin typeface="Arial"/>
                <a:cs typeface="Arial"/>
              </a:rPr>
              <a:t>in 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closed </a:t>
            </a:r>
            <a:r>
              <a:rPr sz="1800" b="1" spc="-55" dirty="0">
                <a:solidFill>
                  <a:srgbClr val="C00000"/>
                </a:solidFill>
                <a:latin typeface="Arial"/>
                <a:cs typeface="Arial"/>
              </a:rPr>
              <a:t>campuses</a:t>
            </a:r>
            <a:r>
              <a:rPr sz="1800" spc="-55" dirty="0">
                <a:latin typeface="Arial"/>
                <a:cs typeface="Arial"/>
              </a:rPr>
              <a:t>. </a:t>
            </a:r>
            <a:r>
              <a:rPr sz="1800" spc="-25" dirty="0">
                <a:latin typeface="Arial"/>
                <a:cs typeface="Arial"/>
              </a:rPr>
              <a:t>A </a:t>
            </a:r>
            <a:r>
              <a:rPr sz="1800" spc="40" dirty="0">
                <a:latin typeface="Arial"/>
                <a:cs typeface="Arial"/>
              </a:rPr>
              <a:t>wider </a:t>
            </a:r>
            <a:r>
              <a:rPr sz="1800" spc="20" dirty="0">
                <a:latin typeface="Arial"/>
                <a:cs typeface="Arial"/>
              </a:rPr>
              <a:t>range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-25" dirty="0">
                <a:latin typeface="Arial"/>
                <a:cs typeface="Arial"/>
              </a:rPr>
              <a:t>passenger </a:t>
            </a:r>
            <a:r>
              <a:rPr sz="1800" spc="-20" dirty="0">
                <a:latin typeface="Arial"/>
                <a:cs typeface="Arial"/>
              </a:rPr>
              <a:t>vehicles </a:t>
            </a:r>
            <a:r>
              <a:rPr sz="1800" spc="25" dirty="0">
                <a:latin typeface="Arial"/>
                <a:cs typeface="Arial"/>
              </a:rPr>
              <a:t>require </a:t>
            </a:r>
            <a:r>
              <a:rPr sz="1800" spc="-10" dirty="0">
                <a:latin typeface="Arial"/>
                <a:cs typeface="Arial"/>
              </a:rPr>
              <a:t>advanced </a:t>
            </a:r>
            <a:r>
              <a:rPr sz="1800" spc="35" dirty="0">
                <a:latin typeface="Arial"/>
                <a:cs typeface="Arial"/>
              </a:rPr>
              <a:t>autonomous </a:t>
            </a:r>
            <a:r>
              <a:rPr sz="1800" spc="570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driving, </a:t>
            </a:r>
            <a:r>
              <a:rPr sz="1800" spc="40" dirty="0">
                <a:latin typeface="Arial"/>
                <a:cs typeface="Arial"/>
              </a:rPr>
              <a:t>which </a:t>
            </a:r>
            <a:r>
              <a:rPr sz="1800" spc="5" dirty="0">
                <a:latin typeface="Arial"/>
                <a:cs typeface="Arial"/>
              </a:rPr>
              <a:t>requires </a:t>
            </a:r>
            <a:r>
              <a:rPr sz="1800" spc="65" dirty="0">
                <a:latin typeface="Arial"/>
                <a:cs typeface="Arial"/>
              </a:rPr>
              <a:t>further </a:t>
            </a:r>
            <a:r>
              <a:rPr sz="1800" spc="45" dirty="0">
                <a:latin typeface="Arial"/>
                <a:cs typeface="Arial"/>
              </a:rPr>
              <a:t>improvement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5" dirty="0">
                <a:latin typeface="Arial"/>
                <a:cs typeface="Arial"/>
              </a:rPr>
              <a:t>technologies, </a:t>
            </a:r>
            <a:r>
              <a:rPr sz="1800" spc="-10" dirty="0">
                <a:latin typeface="Arial"/>
                <a:cs typeface="Arial"/>
              </a:rPr>
              <a:t>policies,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30" dirty="0">
                <a:latin typeface="Arial"/>
                <a:cs typeface="Arial"/>
              </a:rPr>
              <a:t>infrastructure. </a:t>
            </a:r>
            <a:r>
              <a:rPr sz="1800" spc="80" dirty="0">
                <a:latin typeface="Arial"/>
                <a:cs typeface="Arial"/>
              </a:rPr>
              <a:t>It </a:t>
            </a:r>
            <a:r>
              <a:rPr sz="1800" spc="-45" dirty="0">
                <a:latin typeface="Arial"/>
                <a:cs typeface="Arial"/>
              </a:rPr>
              <a:t>is  </a:t>
            </a:r>
            <a:r>
              <a:rPr sz="1800" spc="25" dirty="0">
                <a:latin typeface="Arial"/>
                <a:cs typeface="Arial"/>
              </a:rPr>
              <a:t>estimated </a:t>
            </a:r>
            <a:r>
              <a:rPr sz="1800" spc="85" dirty="0">
                <a:latin typeface="Arial"/>
                <a:cs typeface="Arial"/>
              </a:rPr>
              <a:t>that </a:t>
            </a:r>
            <a:r>
              <a:rPr sz="1800" spc="-40" dirty="0">
                <a:latin typeface="Arial"/>
                <a:cs typeface="Arial"/>
              </a:rPr>
              <a:t>L4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-40" dirty="0">
                <a:latin typeface="Arial"/>
                <a:cs typeface="Arial"/>
              </a:rPr>
              <a:t>L5 </a:t>
            </a:r>
            <a:r>
              <a:rPr sz="1800" spc="35" dirty="0">
                <a:latin typeface="Arial"/>
                <a:cs typeface="Arial"/>
              </a:rPr>
              <a:t>autonomous </a:t>
            </a:r>
            <a:r>
              <a:rPr sz="1800" spc="40" dirty="0">
                <a:latin typeface="Arial"/>
                <a:cs typeface="Arial"/>
              </a:rPr>
              <a:t>driving </a:t>
            </a:r>
            <a:r>
              <a:rPr sz="1800" spc="85" dirty="0">
                <a:latin typeface="Arial"/>
                <a:cs typeface="Arial"/>
              </a:rPr>
              <a:t>will </a:t>
            </a:r>
            <a:r>
              <a:rPr sz="1800" spc="-15" dirty="0">
                <a:latin typeface="Arial"/>
                <a:cs typeface="Arial"/>
              </a:rPr>
              <a:t>be </a:t>
            </a:r>
            <a:r>
              <a:rPr sz="1800" spc="20" dirty="0">
                <a:latin typeface="Arial"/>
                <a:cs typeface="Arial"/>
              </a:rPr>
              <a:t>supported </a:t>
            </a:r>
            <a:r>
              <a:rPr sz="1800" spc="5" dirty="0">
                <a:latin typeface="Arial"/>
                <a:cs typeface="Arial"/>
              </a:rPr>
              <a:t>by </a:t>
            </a:r>
            <a:r>
              <a:rPr sz="1800" spc="50" dirty="0">
                <a:latin typeface="Arial"/>
                <a:cs typeface="Arial"/>
              </a:rPr>
              <a:t>common </a:t>
            </a:r>
            <a:r>
              <a:rPr sz="1800" dirty="0">
                <a:latin typeface="Arial"/>
                <a:cs typeface="Arial"/>
              </a:rPr>
              <a:t>roads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spc="50" dirty="0">
                <a:latin typeface="Arial"/>
                <a:cs typeface="Arial"/>
              </a:rPr>
              <a:t>in </a:t>
            </a:r>
            <a:r>
              <a:rPr sz="1800" spc="-15" dirty="0">
                <a:latin typeface="Arial"/>
                <a:cs typeface="Arial"/>
              </a:rPr>
              <a:t>2025–2030.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3086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 </a:t>
            </a:r>
            <a:r>
              <a:rPr spc="125" dirty="0"/>
              <a:t>Will </a:t>
            </a:r>
            <a:r>
              <a:rPr spc="-40" dirty="0"/>
              <a:t>Change </a:t>
            </a:r>
            <a:r>
              <a:rPr spc="95" dirty="0"/>
              <a:t>All</a:t>
            </a:r>
            <a:r>
              <a:rPr spc="325" dirty="0"/>
              <a:t> </a:t>
            </a:r>
            <a:r>
              <a:rPr spc="15" dirty="0"/>
              <a:t>Industries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32888" y="1440180"/>
            <a:ext cx="251460" cy="407034"/>
            <a:chOff x="2532888" y="1440180"/>
            <a:chExt cx="251460" cy="407034"/>
          </a:xfrm>
        </p:grpSpPr>
        <p:sp>
          <p:nvSpPr>
            <p:cNvPr id="4" name="object 4"/>
            <p:cNvSpPr/>
            <p:nvPr/>
          </p:nvSpPr>
          <p:spPr>
            <a:xfrm>
              <a:off x="2592324" y="1586525"/>
              <a:ext cx="191867" cy="26056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32888" y="1440179"/>
              <a:ext cx="243840" cy="353695"/>
            </a:xfrm>
            <a:custGeom>
              <a:avLst/>
              <a:gdLst/>
              <a:ahLst/>
              <a:cxnLst/>
              <a:rect l="l" t="t" r="r" b="b"/>
              <a:pathLst>
                <a:path w="243839" h="353694">
                  <a:moveTo>
                    <a:pt x="160020" y="97028"/>
                  </a:moveTo>
                  <a:lnTo>
                    <a:pt x="156337" y="92964"/>
                  </a:lnTo>
                  <a:lnTo>
                    <a:pt x="127000" y="92964"/>
                  </a:lnTo>
                  <a:lnTo>
                    <a:pt x="116840" y="92964"/>
                  </a:lnTo>
                  <a:lnTo>
                    <a:pt x="87503" y="92964"/>
                  </a:lnTo>
                  <a:lnTo>
                    <a:pt x="83820" y="97028"/>
                  </a:lnTo>
                  <a:lnTo>
                    <a:pt x="83820" y="107188"/>
                  </a:lnTo>
                  <a:lnTo>
                    <a:pt x="87503" y="111252"/>
                  </a:lnTo>
                  <a:lnTo>
                    <a:pt x="112776" y="111252"/>
                  </a:lnTo>
                  <a:lnTo>
                    <a:pt x="112776" y="349250"/>
                  </a:lnTo>
                  <a:lnTo>
                    <a:pt x="116840" y="353568"/>
                  </a:lnTo>
                  <a:lnTo>
                    <a:pt x="127000" y="353568"/>
                  </a:lnTo>
                  <a:lnTo>
                    <a:pt x="131064" y="349250"/>
                  </a:lnTo>
                  <a:lnTo>
                    <a:pt x="131064" y="111252"/>
                  </a:lnTo>
                  <a:lnTo>
                    <a:pt x="156337" y="111252"/>
                  </a:lnTo>
                  <a:lnTo>
                    <a:pt x="160020" y="107188"/>
                  </a:lnTo>
                  <a:lnTo>
                    <a:pt x="160020" y="97028"/>
                  </a:lnTo>
                  <a:close/>
                </a:path>
                <a:path w="243839" h="353694">
                  <a:moveTo>
                    <a:pt x="243840" y="137668"/>
                  </a:moveTo>
                  <a:lnTo>
                    <a:pt x="234137" y="84175"/>
                  </a:lnTo>
                  <a:lnTo>
                    <a:pt x="207835" y="40411"/>
                  </a:lnTo>
                  <a:lnTo>
                    <a:pt x="169037" y="10858"/>
                  </a:lnTo>
                  <a:lnTo>
                    <a:pt x="121920" y="0"/>
                  </a:lnTo>
                  <a:lnTo>
                    <a:pt x="74358" y="10858"/>
                  </a:lnTo>
                  <a:lnTo>
                    <a:pt x="35623" y="40411"/>
                  </a:lnTo>
                  <a:lnTo>
                    <a:pt x="9537" y="84175"/>
                  </a:lnTo>
                  <a:lnTo>
                    <a:pt x="0" y="137668"/>
                  </a:lnTo>
                  <a:lnTo>
                    <a:pt x="5549" y="179108"/>
                  </a:lnTo>
                  <a:lnTo>
                    <a:pt x="21234" y="215760"/>
                  </a:lnTo>
                  <a:lnTo>
                    <a:pt x="45529" y="245630"/>
                  </a:lnTo>
                  <a:lnTo>
                    <a:pt x="76962" y="266700"/>
                  </a:lnTo>
                  <a:lnTo>
                    <a:pt x="83439" y="248539"/>
                  </a:lnTo>
                  <a:lnTo>
                    <a:pt x="56045" y="230593"/>
                  </a:lnTo>
                  <a:lnTo>
                    <a:pt x="35064" y="205066"/>
                  </a:lnTo>
                  <a:lnTo>
                    <a:pt x="21615" y="173558"/>
                  </a:lnTo>
                  <a:lnTo>
                    <a:pt x="16891" y="137668"/>
                  </a:lnTo>
                  <a:lnTo>
                    <a:pt x="25120" y="91668"/>
                  </a:lnTo>
                  <a:lnTo>
                    <a:pt x="47586" y="54000"/>
                  </a:lnTo>
                  <a:lnTo>
                    <a:pt x="80962" y="28536"/>
                  </a:lnTo>
                  <a:lnTo>
                    <a:pt x="121920" y="19177"/>
                  </a:lnTo>
                  <a:lnTo>
                    <a:pt x="162864" y="28536"/>
                  </a:lnTo>
                  <a:lnTo>
                    <a:pt x="196240" y="54000"/>
                  </a:lnTo>
                  <a:lnTo>
                    <a:pt x="218706" y="91668"/>
                  </a:lnTo>
                  <a:lnTo>
                    <a:pt x="226949" y="137668"/>
                  </a:lnTo>
                  <a:lnTo>
                    <a:pt x="226771" y="144056"/>
                  </a:lnTo>
                  <a:lnTo>
                    <a:pt x="226263" y="150431"/>
                  </a:lnTo>
                  <a:lnTo>
                    <a:pt x="225386" y="156819"/>
                  </a:lnTo>
                  <a:lnTo>
                    <a:pt x="224155" y="163195"/>
                  </a:lnTo>
                  <a:lnTo>
                    <a:pt x="241046" y="167513"/>
                  </a:lnTo>
                  <a:lnTo>
                    <a:pt x="242277" y="160286"/>
                  </a:lnTo>
                  <a:lnTo>
                    <a:pt x="243154" y="152971"/>
                  </a:lnTo>
                  <a:lnTo>
                    <a:pt x="243662" y="145478"/>
                  </a:lnTo>
                  <a:lnTo>
                    <a:pt x="243840" y="137668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945635" y="1514855"/>
            <a:ext cx="466725" cy="312420"/>
            <a:chOff x="3945635" y="1514855"/>
            <a:chExt cx="466725" cy="312420"/>
          </a:xfrm>
        </p:grpSpPr>
        <p:sp>
          <p:nvSpPr>
            <p:cNvPr id="7" name="object 7"/>
            <p:cNvSpPr/>
            <p:nvPr/>
          </p:nvSpPr>
          <p:spPr>
            <a:xfrm>
              <a:off x="4279376" y="1720659"/>
              <a:ext cx="82264" cy="867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45635" y="1592579"/>
              <a:ext cx="181355" cy="1569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10227" y="1514855"/>
              <a:ext cx="302260" cy="312420"/>
            </a:xfrm>
            <a:custGeom>
              <a:avLst/>
              <a:gdLst/>
              <a:ahLst/>
              <a:cxnLst/>
              <a:rect l="l" t="t" r="r" b="b"/>
              <a:pathLst>
                <a:path w="302260" h="312419">
                  <a:moveTo>
                    <a:pt x="93599" y="0"/>
                  </a:moveTo>
                  <a:lnTo>
                    <a:pt x="57060" y="8370"/>
                  </a:lnTo>
                  <a:lnTo>
                    <a:pt x="27320" y="31241"/>
                  </a:lnTo>
                  <a:lnTo>
                    <a:pt x="7320" y="65258"/>
                  </a:lnTo>
                  <a:lnTo>
                    <a:pt x="0" y="107061"/>
                  </a:lnTo>
                  <a:lnTo>
                    <a:pt x="883" y="121600"/>
                  </a:lnTo>
                  <a:lnTo>
                    <a:pt x="14224" y="163195"/>
                  </a:lnTo>
                  <a:lnTo>
                    <a:pt x="40227" y="204888"/>
                  </a:lnTo>
                  <a:lnTo>
                    <a:pt x="71088" y="243760"/>
                  </a:lnTo>
                  <a:lnTo>
                    <a:pt x="106378" y="279370"/>
                  </a:lnTo>
                  <a:lnTo>
                    <a:pt x="145669" y="311277"/>
                  </a:lnTo>
                  <a:lnTo>
                    <a:pt x="147574" y="312420"/>
                  </a:lnTo>
                  <a:lnTo>
                    <a:pt x="154177" y="312420"/>
                  </a:lnTo>
                  <a:lnTo>
                    <a:pt x="155194" y="311277"/>
                  </a:lnTo>
                  <a:lnTo>
                    <a:pt x="165758" y="303164"/>
                  </a:lnTo>
                  <a:lnTo>
                    <a:pt x="176180" y="294957"/>
                  </a:lnTo>
                  <a:lnTo>
                    <a:pt x="181139" y="290830"/>
                  </a:lnTo>
                  <a:lnTo>
                    <a:pt x="150368" y="290830"/>
                  </a:lnTo>
                  <a:lnTo>
                    <a:pt x="113885" y="260699"/>
                  </a:lnTo>
                  <a:lnTo>
                    <a:pt x="81200" y="227425"/>
                  </a:lnTo>
                  <a:lnTo>
                    <a:pt x="52587" y="191531"/>
                  </a:lnTo>
                  <a:lnTo>
                    <a:pt x="28321" y="153543"/>
                  </a:lnTo>
                  <a:lnTo>
                    <a:pt x="17018" y="107061"/>
                  </a:lnTo>
                  <a:lnTo>
                    <a:pt x="23000" y="72848"/>
                  </a:lnTo>
                  <a:lnTo>
                    <a:pt x="39354" y="45005"/>
                  </a:lnTo>
                  <a:lnTo>
                    <a:pt x="63684" y="26283"/>
                  </a:lnTo>
                  <a:lnTo>
                    <a:pt x="93599" y="19431"/>
                  </a:lnTo>
                  <a:lnTo>
                    <a:pt x="147411" y="19431"/>
                  </a:lnTo>
                  <a:lnTo>
                    <a:pt x="137675" y="12322"/>
                  </a:lnTo>
                  <a:lnTo>
                    <a:pt x="123793" y="5556"/>
                  </a:lnTo>
                  <a:lnTo>
                    <a:pt x="109005" y="1408"/>
                  </a:lnTo>
                  <a:lnTo>
                    <a:pt x="93599" y="0"/>
                  </a:lnTo>
                  <a:close/>
                </a:path>
                <a:path w="302260" h="312419">
                  <a:moveTo>
                    <a:pt x="189230" y="259461"/>
                  </a:moveTo>
                  <a:lnTo>
                    <a:pt x="185420" y="262636"/>
                  </a:lnTo>
                  <a:lnTo>
                    <a:pt x="176853" y="269952"/>
                  </a:lnTo>
                  <a:lnTo>
                    <a:pt x="168227" y="277161"/>
                  </a:lnTo>
                  <a:lnTo>
                    <a:pt x="159434" y="284156"/>
                  </a:lnTo>
                  <a:lnTo>
                    <a:pt x="150368" y="290830"/>
                  </a:lnTo>
                  <a:lnTo>
                    <a:pt x="181139" y="290830"/>
                  </a:lnTo>
                  <a:lnTo>
                    <a:pt x="186269" y="286559"/>
                  </a:lnTo>
                  <a:lnTo>
                    <a:pt x="195834" y="277876"/>
                  </a:lnTo>
                  <a:lnTo>
                    <a:pt x="199644" y="274574"/>
                  </a:lnTo>
                  <a:lnTo>
                    <a:pt x="200533" y="268097"/>
                  </a:lnTo>
                  <a:lnTo>
                    <a:pt x="197738" y="263779"/>
                  </a:lnTo>
                  <a:lnTo>
                    <a:pt x="194818" y="260477"/>
                  </a:lnTo>
                  <a:lnTo>
                    <a:pt x="189230" y="259461"/>
                  </a:lnTo>
                  <a:close/>
                </a:path>
                <a:path w="302260" h="312419">
                  <a:moveTo>
                    <a:pt x="258718" y="19431"/>
                  </a:moveTo>
                  <a:lnTo>
                    <a:pt x="208152" y="19431"/>
                  </a:lnTo>
                  <a:lnTo>
                    <a:pt x="237638" y="26283"/>
                  </a:lnTo>
                  <a:lnTo>
                    <a:pt x="262016" y="45005"/>
                  </a:lnTo>
                  <a:lnTo>
                    <a:pt x="278608" y="72848"/>
                  </a:lnTo>
                  <a:lnTo>
                    <a:pt x="284734" y="107061"/>
                  </a:lnTo>
                  <a:lnTo>
                    <a:pt x="283893" y="119145"/>
                  </a:lnTo>
                  <a:lnTo>
                    <a:pt x="281559" y="130921"/>
                  </a:lnTo>
                  <a:lnTo>
                    <a:pt x="277983" y="142118"/>
                  </a:lnTo>
                  <a:lnTo>
                    <a:pt x="273431" y="152400"/>
                  </a:lnTo>
                  <a:lnTo>
                    <a:pt x="272414" y="152400"/>
                  </a:lnTo>
                  <a:lnTo>
                    <a:pt x="272414" y="153543"/>
                  </a:lnTo>
                  <a:lnTo>
                    <a:pt x="247919" y="192579"/>
                  </a:lnTo>
                  <a:lnTo>
                    <a:pt x="218567" y="229235"/>
                  </a:lnTo>
                  <a:lnTo>
                    <a:pt x="215646" y="232410"/>
                  </a:lnTo>
                  <a:lnTo>
                    <a:pt x="215646" y="238887"/>
                  </a:lnTo>
                  <a:lnTo>
                    <a:pt x="218567" y="242189"/>
                  </a:lnTo>
                  <a:lnTo>
                    <a:pt x="222250" y="246507"/>
                  </a:lnTo>
                  <a:lnTo>
                    <a:pt x="227075" y="246507"/>
                  </a:lnTo>
                  <a:lnTo>
                    <a:pt x="261334" y="204438"/>
                  </a:lnTo>
                  <a:lnTo>
                    <a:pt x="287527" y="163195"/>
                  </a:lnTo>
                  <a:lnTo>
                    <a:pt x="300726" y="121600"/>
                  </a:lnTo>
                  <a:lnTo>
                    <a:pt x="301751" y="107061"/>
                  </a:lnTo>
                  <a:lnTo>
                    <a:pt x="294306" y="65258"/>
                  </a:lnTo>
                  <a:lnTo>
                    <a:pt x="274097" y="31241"/>
                  </a:lnTo>
                  <a:lnTo>
                    <a:pt x="258718" y="19431"/>
                  </a:lnTo>
                  <a:close/>
                </a:path>
                <a:path w="302260" h="312419">
                  <a:moveTo>
                    <a:pt x="147411" y="19431"/>
                  </a:moveTo>
                  <a:lnTo>
                    <a:pt x="93599" y="19431"/>
                  </a:lnTo>
                  <a:lnTo>
                    <a:pt x="107578" y="20857"/>
                  </a:lnTo>
                  <a:lnTo>
                    <a:pt x="120951" y="25130"/>
                  </a:lnTo>
                  <a:lnTo>
                    <a:pt x="133443" y="32236"/>
                  </a:lnTo>
                  <a:lnTo>
                    <a:pt x="144780" y="42164"/>
                  </a:lnTo>
                  <a:lnTo>
                    <a:pt x="148462" y="45339"/>
                  </a:lnTo>
                  <a:lnTo>
                    <a:pt x="153288" y="45339"/>
                  </a:lnTo>
                  <a:lnTo>
                    <a:pt x="156083" y="42164"/>
                  </a:lnTo>
                  <a:lnTo>
                    <a:pt x="167415" y="32236"/>
                  </a:lnTo>
                  <a:lnTo>
                    <a:pt x="179974" y="25130"/>
                  </a:lnTo>
                  <a:lnTo>
                    <a:pt x="191269" y="21590"/>
                  </a:lnTo>
                  <a:lnTo>
                    <a:pt x="150368" y="21590"/>
                  </a:lnTo>
                  <a:lnTo>
                    <a:pt x="147411" y="19431"/>
                  </a:lnTo>
                  <a:close/>
                </a:path>
                <a:path w="302260" h="312419">
                  <a:moveTo>
                    <a:pt x="208152" y="0"/>
                  </a:moveTo>
                  <a:lnTo>
                    <a:pt x="192605" y="1408"/>
                  </a:lnTo>
                  <a:lnTo>
                    <a:pt x="177498" y="5556"/>
                  </a:lnTo>
                  <a:lnTo>
                    <a:pt x="163272" y="12322"/>
                  </a:lnTo>
                  <a:lnTo>
                    <a:pt x="150368" y="21590"/>
                  </a:lnTo>
                  <a:lnTo>
                    <a:pt x="191269" y="21590"/>
                  </a:lnTo>
                  <a:lnTo>
                    <a:pt x="193605" y="20857"/>
                  </a:lnTo>
                  <a:lnTo>
                    <a:pt x="208152" y="19431"/>
                  </a:lnTo>
                  <a:lnTo>
                    <a:pt x="258718" y="19431"/>
                  </a:lnTo>
                  <a:lnTo>
                    <a:pt x="244316" y="8370"/>
                  </a:lnTo>
                  <a:lnTo>
                    <a:pt x="208152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396484" y="1460880"/>
            <a:ext cx="342900" cy="396875"/>
            <a:chOff x="5396484" y="1460880"/>
            <a:chExt cx="342900" cy="396875"/>
          </a:xfrm>
        </p:grpSpPr>
        <p:sp>
          <p:nvSpPr>
            <p:cNvPr id="11" name="object 11"/>
            <p:cNvSpPr/>
            <p:nvPr/>
          </p:nvSpPr>
          <p:spPr>
            <a:xfrm>
              <a:off x="5469636" y="1609343"/>
              <a:ext cx="201167" cy="8382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96484" y="1460880"/>
              <a:ext cx="342900" cy="396875"/>
            </a:xfrm>
            <a:custGeom>
              <a:avLst/>
              <a:gdLst/>
              <a:ahLst/>
              <a:cxnLst/>
              <a:rect l="l" t="t" r="r" b="b"/>
              <a:pathLst>
                <a:path w="342900" h="396875">
                  <a:moveTo>
                    <a:pt x="192024" y="308864"/>
                  </a:moveTo>
                  <a:lnTo>
                    <a:pt x="189230" y="305435"/>
                  </a:lnTo>
                  <a:lnTo>
                    <a:pt x="153670" y="305435"/>
                  </a:lnTo>
                  <a:lnTo>
                    <a:pt x="150876" y="308864"/>
                  </a:lnTo>
                  <a:lnTo>
                    <a:pt x="150876" y="317246"/>
                  </a:lnTo>
                  <a:lnTo>
                    <a:pt x="153670" y="320675"/>
                  </a:lnTo>
                  <a:lnTo>
                    <a:pt x="189230" y="320675"/>
                  </a:lnTo>
                  <a:lnTo>
                    <a:pt x="192024" y="317246"/>
                  </a:lnTo>
                  <a:lnTo>
                    <a:pt x="192024" y="308864"/>
                  </a:lnTo>
                  <a:close/>
                </a:path>
                <a:path w="342900" h="396875">
                  <a:moveTo>
                    <a:pt x="306324" y="102997"/>
                  </a:moveTo>
                  <a:lnTo>
                    <a:pt x="304571" y="92697"/>
                  </a:lnTo>
                  <a:lnTo>
                    <a:pt x="303911" y="91567"/>
                  </a:lnTo>
                  <a:lnTo>
                    <a:pt x="299758" y="84391"/>
                  </a:lnTo>
                  <a:lnTo>
                    <a:pt x="293497" y="79590"/>
                  </a:lnTo>
                  <a:lnTo>
                    <a:pt x="293497" y="96393"/>
                  </a:lnTo>
                  <a:lnTo>
                    <a:pt x="293497" y="275209"/>
                  </a:lnTo>
                  <a:lnTo>
                    <a:pt x="289179" y="280035"/>
                  </a:lnTo>
                  <a:lnTo>
                    <a:pt x="53721" y="280035"/>
                  </a:lnTo>
                  <a:lnTo>
                    <a:pt x="49403" y="275209"/>
                  </a:lnTo>
                  <a:lnTo>
                    <a:pt x="49403" y="96393"/>
                  </a:lnTo>
                  <a:lnTo>
                    <a:pt x="53721" y="91567"/>
                  </a:lnTo>
                  <a:lnTo>
                    <a:pt x="289179" y="91567"/>
                  </a:lnTo>
                  <a:lnTo>
                    <a:pt x="293497" y="96393"/>
                  </a:lnTo>
                  <a:lnTo>
                    <a:pt x="293497" y="79590"/>
                  </a:lnTo>
                  <a:lnTo>
                    <a:pt x="292544" y="78854"/>
                  </a:lnTo>
                  <a:lnTo>
                    <a:pt x="283591" y="76835"/>
                  </a:lnTo>
                  <a:lnTo>
                    <a:pt x="59309" y="76835"/>
                  </a:lnTo>
                  <a:lnTo>
                    <a:pt x="50342" y="78854"/>
                  </a:lnTo>
                  <a:lnTo>
                    <a:pt x="43129" y="84391"/>
                  </a:lnTo>
                  <a:lnTo>
                    <a:pt x="38315" y="92697"/>
                  </a:lnTo>
                  <a:lnTo>
                    <a:pt x="36576" y="102997"/>
                  </a:lnTo>
                  <a:lnTo>
                    <a:pt x="36576" y="269494"/>
                  </a:lnTo>
                  <a:lnTo>
                    <a:pt x="38315" y="279285"/>
                  </a:lnTo>
                  <a:lnTo>
                    <a:pt x="43129" y="287324"/>
                  </a:lnTo>
                  <a:lnTo>
                    <a:pt x="50342" y="292773"/>
                  </a:lnTo>
                  <a:lnTo>
                    <a:pt x="59309" y="294767"/>
                  </a:lnTo>
                  <a:lnTo>
                    <a:pt x="283591" y="294767"/>
                  </a:lnTo>
                  <a:lnTo>
                    <a:pt x="292544" y="292773"/>
                  </a:lnTo>
                  <a:lnTo>
                    <a:pt x="299758" y="287324"/>
                  </a:lnTo>
                  <a:lnTo>
                    <a:pt x="304114" y="280035"/>
                  </a:lnTo>
                  <a:lnTo>
                    <a:pt x="304571" y="279285"/>
                  </a:lnTo>
                  <a:lnTo>
                    <a:pt x="306324" y="269494"/>
                  </a:lnTo>
                  <a:lnTo>
                    <a:pt x="306324" y="102997"/>
                  </a:lnTo>
                  <a:close/>
                </a:path>
                <a:path w="342900" h="396875">
                  <a:moveTo>
                    <a:pt x="342900" y="81280"/>
                  </a:moveTo>
                  <a:lnTo>
                    <a:pt x="311531" y="46355"/>
                  </a:lnTo>
                  <a:lnTo>
                    <a:pt x="185369" y="46355"/>
                  </a:lnTo>
                  <a:lnTo>
                    <a:pt x="217170" y="9779"/>
                  </a:lnTo>
                  <a:lnTo>
                    <a:pt x="217170" y="5715"/>
                  </a:lnTo>
                  <a:lnTo>
                    <a:pt x="212090" y="0"/>
                  </a:lnTo>
                  <a:lnTo>
                    <a:pt x="207772" y="0"/>
                  </a:lnTo>
                  <a:lnTo>
                    <a:pt x="204978" y="2413"/>
                  </a:lnTo>
                  <a:lnTo>
                    <a:pt x="171399" y="41160"/>
                  </a:lnTo>
                  <a:lnTo>
                    <a:pt x="135128" y="0"/>
                  </a:lnTo>
                  <a:lnTo>
                    <a:pt x="130810" y="0"/>
                  </a:lnTo>
                  <a:lnTo>
                    <a:pt x="125730" y="5715"/>
                  </a:lnTo>
                  <a:lnTo>
                    <a:pt x="125730" y="9779"/>
                  </a:lnTo>
                  <a:lnTo>
                    <a:pt x="157518" y="46355"/>
                  </a:lnTo>
                  <a:lnTo>
                    <a:pt x="31369" y="46355"/>
                  </a:lnTo>
                  <a:lnTo>
                    <a:pt x="19227" y="49072"/>
                  </a:lnTo>
                  <a:lnTo>
                    <a:pt x="9245" y="56489"/>
                  </a:lnTo>
                  <a:lnTo>
                    <a:pt x="2489" y="67576"/>
                  </a:lnTo>
                  <a:lnTo>
                    <a:pt x="0" y="81280"/>
                  </a:lnTo>
                  <a:lnTo>
                    <a:pt x="0" y="310896"/>
                  </a:lnTo>
                  <a:lnTo>
                    <a:pt x="2489" y="324675"/>
                  </a:lnTo>
                  <a:lnTo>
                    <a:pt x="9245" y="336029"/>
                  </a:lnTo>
                  <a:lnTo>
                    <a:pt x="19227" y="343750"/>
                  </a:lnTo>
                  <a:lnTo>
                    <a:pt x="31369" y="346583"/>
                  </a:lnTo>
                  <a:lnTo>
                    <a:pt x="132588" y="346583"/>
                  </a:lnTo>
                  <a:lnTo>
                    <a:pt x="132588" y="381635"/>
                  </a:lnTo>
                  <a:lnTo>
                    <a:pt x="92710" y="381635"/>
                  </a:lnTo>
                  <a:lnTo>
                    <a:pt x="89916" y="385064"/>
                  </a:lnTo>
                  <a:lnTo>
                    <a:pt x="89916" y="393446"/>
                  </a:lnTo>
                  <a:lnTo>
                    <a:pt x="92710" y="396875"/>
                  </a:lnTo>
                  <a:lnTo>
                    <a:pt x="250190" y="396875"/>
                  </a:lnTo>
                  <a:lnTo>
                    <a:pt x="252984" y="393446"/>
                  </a:lnTo>
                  <a:lnTo>
                    <a:pt x="252984" y="385064"/>
                  </a:lnTo>
                  <a:lnTo>
                    <a:pt x="250190" y="381635"/>
                  </a:lnTo>
                  <a:lnTo>
                    <a:pt x="211823" y="381635"/>
                  </a:lnTo>
                  <a:lnTo>
                    <a:pt x="211823" y="346583"/>
                  </a:lnTo>
                  <a:lnTo>
                    <a:pt x="225983" y="346583"/>
                  </a:lnTo>
                  <a:lnTo>
                    <a:pt x="229171" y="351688"/>
                  </a:lnTo>
                  <a:lnTo>
                    <a:pt x="234734" y="355765"/>
                  </a:lnTo>
                  <a:lnTo>
                    <a:pt x="241554" y="357251"/>
                  </a:lnTo>
                  <a:lnTo>
                    <a:pt x="248361" y="355765"/>
                  </a:lnTo>
                  <a:lnTo>
                    <a:pt x="253936" y="351688"/>
                  </a:lnTo>
                  <a:lnTo>
                    <a:pt x="257695" y="345630"/>
                  </a:lnTo>
                  <a:lnTo>
                    <a:pt x="259080" y="338201"/>
                  </a:lnTo>
                  <a:lnTo>
                    <a:pt x="257695" y="330784"/>
                  </a:lnTo>
                  <a:lnTo>
                    <a:pt x="253923" y="324726"/>
                  </a:lnTo>
                  <a:lnTo>
                    <a:pt x="248361" y="320649"/>
                  </a:lnTo>
                  <a:lnTo>
                    <a:pt x="241554" y="319151"/>
                  </a:lnTo>
                  <a:lnTo>
                    <a:pt x="234734" y="320649"/>
                  </a:lnTo>
                  <a:lnTo>
                    <a:pt x="229171" y="324726"/>
                  </a:lnTo>
                  <a:lnTo>
                    <a:pt x="225399" y="330784"/>
                  </a:lnTo>
                  <a:lnTo>
                    <a:pt x="225171" y="331978"/>
                  </a:lnTo>
                  <a:lnTo>
                    <a:pt x="198120" y="331978"/>
                  </a:lnTo>
                  <a:lnTo>
                    <a:pt x="198120" y="346583"/>
                  </a:lnTo>
                  <a:lnTo>
                    <a:pt x="198120" y="381635"/>
                  </a:lnTo>
                  <a:lnTo>
                    <a:pt x="144767" y="381635"/>
                  </a:lnTo>
                  <a:lnTo>
                    <a:pt x="144767" y="346583"/>
                  </a:lnTo>
                  <a:lnTo>
                    <a:pt x="198120" y="346583"/>
                  </a:lnTo>
                  <a:lnTo>
                    <a:pt x="198120" y="331978"/>
                  </a:lnTo>
                  <a:lnTo>
                    <a:pt x="31369" y="331978"/>
                  </a:lnTo>
                  <a:lnTo>
                    <a:pt x="24231" y="330276"/>
                  </a:lnTo>
                  <a:lnTo>
                    <a:pt x="18326" y="325678"/>
                  </a:lnTo>
                  <a:lnTo>
                    <a:pt x="14312" y="318960"/>
                  </a:lnTo>
                  <a:lnTo>
                    <a:pt x="12827" y="310896"/>
                  </a:lnTo>
                  <a:lnTo>
                    <a:pt x="12827" y="81280"/>
                  </a:lnTo>
                  <a:lnTo>
                    <a:pt x="14312" y="73291"/>
                  </a:lnTo>
                  <a:lnTo>
                    <a:pt x="18326" y="66840"/>
                  </a:lnTo>
                  <a:lnTo>
                    <a:pt x="24231" y="62534"/>
                  </a:lnTo>
                  <a:lnTo>
                    <a:pt x="31369" y="60960"/>
                  </a:lnTo>
                  <a:lnTo>
                    <a:pt x="311531" y="60960"/>
                  </a:lnTo>
                  <a:lnTo>
                    <a:pt x="318655" y="62534"/>
                  </a:lnTo>
                  <a:lnTo>
                    <a:pt x="324561" y="66840"/>
                  </a:lnTo>
                  <a:lnTo>
                    <a:pt x="328574" y="73291"/>
                  </a:lnTo>
                  <a:lnTo>
                    <a:pt x="330073" y="81280"/>
                  </a:lnTo>
                  <a:lnTo>
                    <a:pt x="330073" y="310896"/>
                  </a:lnTo>
                  <a:lnTo>
                    <a:pt x="328574" y="318960"/>
                  </a:lnTo>
                  <a:lnTo>
                    <a:pt x="324561" y="325678"/>
                  </a:lnTo>
                  <a:lnTo>
                    <a:pt x="318655" y="330276"/>
                  </a:lnTo>
                  <a:lnTo>
                    <a:pt x="311531" y="331978"/>
                  </a:lnTo>
                  <a:lnTo>
                    <a:pt x="309372" y="331978"/>
                  </a:lnTo>
                  <a:lnTo>
                    <a:pt x="309372" y="327660"/>
                  </a:lnTo>
                  <a:lnTo>
                    <a:pt x="301879" y="319151"/>
                  </a:lnTo>
                  <a:lnTo>
                    <a:pt x="283337" y="319151"/>
                  </a:lnTo>
                  <a:lnTo>
                    <a:pt x="275844" y="327660"/>
                  </a:lnTo>
                  <a:lnTo>
                    <a:pt x="275844" y="348742"/>
                  </a:lnTo>
                  <a:lnTo>
                    <a:pt x="283337" y="357251"/>
                  </a:lnTo>
                  <a:lnTo>
                    <a:pt x="301879" y="357251"/>
                  </a:lnTo>
                  <a:lnTo>
                    <a:pt x="309372" y="348742"/>
                  </a:lnTo>
                  <a:lnTo>
                    <a:pt x="309372" y="346583"/>
                  </a:lnTo>
                  <a:lnTo>
                    <a:pt x="311531" y="346583"/>
                  </a:lnTo>
                  <a:lnTo>
                    <a:pt x="323659" y="343750"/>
                  </a:lnTo>
                  <a:lnTo>
                    <a:pt x="333641" y="336029"/>
                  </a:lnTo>
                  <a:lnTo>
                    <a:pt x="340398" y="324675"/>
                  </a:lnTo>
                  <a:lnTo>
                    <a:pt x="342900" y="310896"/>
                  </a:lnTo>
                  <a:lnTo>
                    <a:pt x="342900" y="8128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847331" y="1522475"/>
            <a:ext cx="297180" cy="335280"/>
            <a:chOff x="6847331" y="1522475"/>
            <a:chExt cx="297180" cy="335280"/>
          </a:xfrm>
        </p:grpSpPr>
        <p:sp>
          <p:nvSpPr>
            <p:cNvPr id="14" name="object 14"/>
            <p:cNvSpPr/>
            <p:nvPr/>
          </p:nvSpPr>
          <p:spPr>
            <a:xfrm>
              <a:off x="6847331" y="1642871"/>
              <a:ext cx="297179" cy="21488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47331" y="1522475"/>
              <a:ext cx="152400" cy="329565"/>
            </a:xfrm>
            <a:custGeom>
              <a:avLst/>
              <a:gdLst/>
              <a:ahLst/>
              <a:cxnLst/>
              <a:rect l="l" t="t" r="r" b="b"/>
              <a:pathLst>
                <a:path w="152400" h="329564">
                  <a:moveTo>
                    <a:pt x="76581" y="0"/>
                  </a:moveTo>
                  <a:lnTo>
                    <a:pt x="46827" y="6838"/>
                  </a:lnTo>
                  <a:lnTo>
                    <a:pt x="22478" y="25463"/>
                  </a:lnTo>
                  <a:lnTo>
                    <a:pt x="6036" y="53042"/>
                  </a:lnTo>
                  <a:lnTo>
                    <a:pt x="0" y="86740"/>
                  </a:lnTo>
                  <a:lnTo>
                    <a:pt x="0" y="242443"/>
                  </a:lnTo>
                  <a:lnTo>
                    <a:pt x="6036" y="276141"/>
                  </a:lnTo>
                  <a:lnTo>
                    <a:pt x="22478" y="303720"/>
                  </a:lnTo>
                  <a:lnTo>
                    <a:pt x="46827" y="322345"/>
                  </a:lnTo>
                  <a:lnTo>
                    <a:pt x="76581" y="329184"/>
                  </a:lnTo>
                  <a:lnTo>
                    <a:pt x="96621" y="326136"/>
                  </a:lnTo>
                  <a:lnTo>
                    <a:pt x="115077" y="317373"/>
                  </a:lnTo>
                  <a:lnTo>
                    <a:pt x="130891" y="303466"/>
                  </a:lnTo>
                  <a:lnTo>
                    <a:pt x="143001" y="284988"/>
                  </a:lnTo>
                  <a:lnTo>
                    <a:pt x="144525" y="280543"/>
                  </a:lnTo>
                  <a:lnTo>
                    <a:pt x="143764" y="276098"/>
                  </a:lnTo>
                  <a:lnTo>
                    <a:pt x="139953" y="273431"/>
                  </a:lnTo>
                  <a:lnTo>
                    <a:pt x="136778" y="271652"/>
                  </a:lnTo>
                  <a:lnTo>
                    <a:pt x="132842" y="272541"/>
                  </a:lnTo>
                  <a:lnTo>
                    <a:pt x="130556" y="276987"/>
                  </a:lnTo>
                  <a:lnTo>
                    <a:pt x="120586" y="291984"/>
                  </a:lnTo>
                  <a:lnTo>
                    <a:pt x="107664" y="303434"/>
                  </a:lnTo>
                  <a:lnTo>
                    <a:pt x="92694" y="310741"/>
                  </a:lnTo>
                  <a:lnTo>
                    <a:pt x="76581" y="313309"/>
                  </a:lnTo>
                  <a:lnTo>
                    <a:pt x="52298" y="307719"/>
                  </a:lnTo>
                  <a:lnTo>
                    <a:pt x="32432" y="292496"/>
                  </a:lnTo>
                  <a:lnTo>
                    <a:pt x="19020" y="269964"/>
                  </a:lnTo>
                  <a:lnTo>
                    <a:pt x="14097" y="242443"/>
                  </a:lnTo>
                  <a:lnTo>
                    <a:pt x="14097" y="86740"/>
                  </a:lnTo>
                  <a:lnTo>
                    <a:pt x="19020" y="59219"/>
                  </a:lnTo>
                  <a:lnTo>
                    <a:pt x="32432" y="36687"/>
                  </a:lnTo>
                  <a:lnTo>
                    <a:pt x="52298" y="21464"/>
                  </a:lnTo>
                  <a:lnTo>
                    <a:pt x="76581" y="15875"/>
                  </a:lnTo>
                  <a:lnTo>
                    <a:pt x="100744" y="21464"/>
                  </a:lnTo>
                  <a:lnTo>
                    <a:pt x="120348" y="36687"/>
                  </a:lnTo>
                  <a:lnTo>
                    <a:pt x="133498" y="59219"/>
                  </a:lnTo>
                  <a:lnTo>
                    <a:pt x="138302" y="86740"/>
                  </a:lnTo>
                  <a:lnTo>
                    <a:pt x="138302" y="161925"/>
                  </a:lnTo>
                  <a:lnTo>
                    <a:pt x="141477" y="165481"/>
                  </a:lnTo>
                  <a:lnTo>
                    <a:pt x="149225" y="165481"/>
                  </a:lnTo>
                  <a:lnTo>
                    <a:pt x="152400" y="161925"/>
                  </a:lnTo>
                  <a:lnTo>
                    <a:pt x="152400" y="86740"/>
                  </a:lnTo>
                  <a:lnTo>
                    <a:pt x="146375" y="53042"/>
                  </a:lnTo>
                  <a:lnTo>
                    <a:pt x="130016" y="25463"/>
                  </a:lnTo>
                  <a:lnTo>
                    <a:pt x="105894" y="6838"/>
                  </a:lnTo>
                  <a:lnTo>
                    <a:pt x="76581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8297798" y="1481327"/>
            <a:ext cx="370840" cy="364490"/>
          </a:xfrm>
          <a:custGeom>
            <a:avLst/>
            <a:gdLst/>
            <a:ahLst/>
            <a:cxnLst/>
            <a:rect l="l" t="t" r="r" b="b"/>
            <a:pathLst>
              <a:path w="370840" h="364489">
                <a:moveTo>
                  <a:pt x="58674" y="224155"/>
                </a:moveTo>
                <a:lnTo>
                  <a:pt x="43687" y="224155"/>
                </a:lnTo>
                <a:lnTo>
                  <a:pt x="40894" y="244348"/>
                </a:lnTo>
                <a:lnTo>
                  <a:pt x="5460" y="255270"/>
                </a:lnTo>
                <a:lnTo>
                  <a:pt x="4064" y="256794"/>
                </a:lnTo>
                <a:lnTo>
                  <a:pt x="1397" y="258445"/>
                </a:lnTo>
                <a:lnTo>
                  <a:pt x="1397" y="259969"/>
                </a:lnTo>
                <a:lnTo>
                  <a:pt x="0" y="263017"/>
                </a:lnTo>
                <a:lnTo>
                  <a:pt x="0" y="264668"/>
                </a:lnTo>
                <a:lnTo>
                  <a:pt x="1397" y="267716"/>
                </a:lnTo>
                <a:lnTo>
                  <a:pt x="29972" y="347091"/>
                </a:lnTo>
                <a:lnTo>
                  <a:pt x="29972" y="350266"/>
                </a:lnTo>
                <a:lnTo>
                  <a:pt x="34162" y="353313"/>
                </a:lnTo>
                <a:lnTo>
                  <a:pt x="243967" y="353313"/>
                </a:lnTo>
                <a:lnTo>
                  <a:pt x="246760" y="359537"/>
                </a:lnTo>
                <a:lnTo>
                  <a:pt x="252095" y="364236"/>
                </a:lnTo>
                <a:lnTo>
                  <a:pt x="258952" y="364236"/>
                </a:lnTo>
                <a:lnTo>
                  <a:pt x="265749" y="362598"/>
                </a:lnTo>
                <a:lnTo>
                  <a:pt x="271414" y="358187"/>
                </a:lnTo>
                <a:lnTo>
                  <a:pt x="275294" y="351752"/>
                </a:lnTo>
                <a:lnTo>
                  <a:pt x="276732" y="344043"/>
                </a:lnTo>
                <a:lnTo>
                  <a:pt x="275294" y="336518"/>
                </a:lnTo>
                <a:lnTo>
                  <a:pt x="275064" y="336169"/>
                </a:lnTo>
                <a:lnTo>
                  <a:pt x="40894" y="336169"/>
                </a:lnTo>
                <a:lnTo>
                  <a:pt x="17779" y="269239"/>
                </a:lnTo>
                <a:lnTo>
                  <a:pt x="85851" y="245999"/>
                </a:lnTo>
                <a:lnTo>
                  <a:pt x="136166" y="245999"/>
                </a:lnTo>
                <a:lnTo>
                  <a:pt x="130809" y="244348"/>
                </a:lnTo>
                <a:lnTo>
                  <a:pt x="129988" y="238125"/>
                </a:lnTo>
                <a:lnTo>
                  <a:pt x="57276" y="238125"/>
                </a:lnTo>
                <a:lnTo>
                  <a:pt x="58674" y="224155"/>
                </a:lnTo>
                <a:close/>
              </a:path>
              <a:path w="370840" h="364489">
                <a:moveTo>
                  <a:pt x="317626" y="325374"/>
                </a:moveTo>
                <a:lnTo>
                  <a:pt x="301244" y="325374"/>
                </a:lnTo>
                <a:lnTo>
                  <a:pt x="294385" y="333121"/>
                </a:lnTo>
                <a:lnTo>
                  <a:pt x="294385" y="344043"/>
                </a:lnTo>
                <a:lnTo>
                  <a:pt x="295606" y="351752"/>
                </a:lnTo>
                <a:lnTo>
                  <a:pt x="299005" y="358187"/>
                </a:lnTo>
                <a:lnTo>
                  <a:pt x="304190" y="362598"/>
                </a:lnTo>
                <a:lnTo>
                  <a:pt x="310769" y="364236"/>
                </a:lnTo>
                <a:lnTo>
                  <a:pt x="317626" y="364236"/>
                </a:lnTo>
                <a:lnTo>
                  <a:pt x="322960" y="359537"/>
                </a:lnTo>
                <a:lnTo>
                  <a:pt x="325754" y="353313"/>
                </a:lnTo>
                <a:lnTo>
                  <a:pt x="366649" y="353313"/>
                </a:lnTo>
                <a:lnTo>
                  <a:pt x="370712" y="348614"/>
                </a:lnTo>
                <a:lnTo>
                  <a:pt x="370712" y="336169"/>
                </a:lnTo>
                <a:lnTo>
                  <a:pt x="325754" y="336169"/>
                </a:lnTo>
                <a:lnTo>
                  <a:pt x="322960" y="328422"/>
                </a:lnTo>
                <a:lnTo>
                  <a:pt x="317626" y="325374"/>
                </a:lnTo>
                <a:close/>
              </a:path>
              <a:path w="370840" h="364489">
                <a:moveTo>
                  <a:pt x="136166" y="245999"/>
                </a:moveTo>
                <a:lnTo>
                  <a:pt x="85851" y="245999"/>
                </a:lnTo>
                <a:lnTo>
                  <a:pt x="154050" y="269239"/>
                </a:lnTo>
                <a:lnTo>
                  <a:pt x="133603" y="336169"/>
                </a:lnTo>
                <a:lnTo>
                  <a:pt x="149986" y="336169"/>
                </a:lnTo>
                <a:lnTo>
                  <a:pt x="170433" y="267716"/>
                </a:lnTo>
                <a:lnTo>
                  <a:pt x="171703" y="264668"/>
                </a:lnTo>
                <a:lnTo>
                  <a:pt x="171703" y="263017"/>
                </a:lnTo>
                <a:lnTo>
                  <a:pt x="170433" y="259969"/>
                </a:lnTo>
                <a:lnTo>
                  <a:pt x="170433" y="258445"/>
                </a:lnTo>
                <a:lnTo>
                  <a:pt x="167640" y="256794"/>
                </a:lnTo>
                <a:lnTo>
                  <a:pt x="166243" y="255270"/>
                </a:lnTo>
                <a:lnTo>
                  <a:pt x="136166" y="245999"/>
                </a:lnTo>
                <a:close/>
              </a:path>
              <a:path w="370840" h="364489">
                <a:moveTo>
                  <a:pt x="366649" y="203962"/>
                </a:moveTo>
                <a:lnTo>
                  <a:pt x="203073" y="203962"/>
                </a:lnTo>
                <a:lnTo>
                  <a:pt x="199008" y="208534"/>
                </a:lnTo>
                <a:lnTo>
                  <a:pt x="199008" y="336169"/>
                </a:lnTo>
                <a:lnTo>
                  <a:pt x="213995" y="336169"/>
                </a:lnTo>
                <a:lnTo>
                  <a:pt x="213995" y="220980"/>
                </a:lnTo>
                <a:lnTo>
                  <a:pt x="370712" y="220980"/>
                </a:lnTo>
                <a:lnTo>
                  <a:pt x="370712" y="208534"/>
                </a:lnTo>
                <a:lnTo>
                  <a:pt x="366649" y="203962"/>
                </a:lnTo>
                <a:close/>
              </a:path>
              <a:path w="370840" h="364489">
                <a:moveTo>
                  <a:pt x="258952" y="325374"/>
                </a:moveTo>
                <a:lnTo>
                  <a:pt x="252095" y="325374"/>
                </a:lnTo>
                <a:lnTo>
                  <a:pt x="246760" y="328422"/>
                </a:lnTo>
                <a:lnTo>
                  <a:pt x="243967" y="336169"/>
                </a:lnTo>
                <a:lnTo>
                  <a:pt x="275064" y="336169"/>
                </a:lnTo>
                <a:lnTo>
                  <a:pt x="271414" y="330612"/>
                </a:lnTo>
                <a:lnTo>
                  <a:pt x="265749" y="326755"/>
                </a:lnTo>
                <a:lnTo>
                  <a:pt x="258952" y="325374"/>
                </a:lnTo>
                <a:close/>
              </a:path>
              <a:path w="370840" h="364489">
                <a:moveTo>
                  <a:pt x="370712" y="220980"/>
                </a:moveTo>
                <a:lnTo>
                  <a:pt x="355726" y="220980"/>
                </a:lnTo>
                <a:lnTo>
                  <a:pt x="355726" y="336169"/>
                </a:lnTo>
                <a:lnTo>
                  <a:pt x="370712" y="336169"/>
                </a:lnTo>
                <a:lnTo>
                  <a:pt x="370712" y="220980"/>
                </a:lnTo>
                <a:close/>
              </a:path>
              <a:path w="370840" h="364489">
                <a:moveTo>
                  <a:pt x="88646" y="228854"/>
                </a:moveTo>
                <a:lnTo>
                  <a:pt x="83184" y="228854"/>
                </a:lnTo>
                <a:lnTo>
                  <a:pt x="57276" y="238125"/>
                </a:lnTo>
                <a:lnTo>
                  <a:pt x="114553" y="238125"/>
                </a:lnTo>
                <a:lnTo>
                  <a:pt x="88646" y="228854"/>
                </a:lnTo>
                <a:close/>
              </a:path>
              <a:path w="370840" h="364489">
                <a:moveTo>
                  <a:pt x="128143" y="224155"/>
                </a:moveTo>
                <a:lnTo>
                  <a:pt x="113156" y="224155"/>
                </a:lnTo>
                <a:lnTo>
                  <a:pt x="114553" y="238125"/>
                </a:lnTo>
                <a:lnTo>
                  <a:pt x="129988" y="238125"/>
                </a:lnTo>
                <a:lnTo>
                  <a:pt x="128143" y="224155"/>
                </a:lnTo>
                <a:close/>
              </a:path>
              <a:path w="370840" h="364489">
                <a:moveTo>
                  <a:pt x="154050" y="161925"/>
                </a:moveTo>
                <a:lnTo>
                  <a:pt x="17779" y="161925"/>
                </a:lnTo>
                <a:lnTo>
                  <a:pt x="13716" y="164973"/>
                </a:lnTo>
                <a:lnTo>
                  <a:pt x="13716" y="220980"/>
                </a:lnTo>
                <a:lnTo>
                  <a:pt x="17779" y="224155"/>
                </a:lnTo>
                <a:lnTo>
                  <a:pt x="154050" y="224155"/>
                </a:lnTo>
                <a:lnTo>
                  <a:pt x="158115" y="220980"/>
                </a:lnTo>
                <a:lnTo>
                  <a:pt x="158115" y="207010"/>
                </a:lnTo>
                <a:lnTo>
                  <a:pt x="28701" y="207010"/>
                </a:lnTo>
                <a:lnTo>
                  <a:pt x="28701" y="178943"/>
                </a:lnTo>
                <a:lnTo>
                  <a:pt x="158115" y="178943"/>
                </a:lnTo>
                <a:lnTo>
                  <a:pt x="158115" y="164973"/>
                </a:lnTo>
                <a:lnTo>
                  <a:pt x="154050" y="161925"/>
                </a:lnTo>
                <a:close/>
              </a:path>
              <a:path w="370840" h="364489">
                <a:moveTo>
                  <a:pt x="158115" y="178943"/>
                </a:moveTo>
                <a:lnTo>
                  <a:pt x="143128" y="178943"/>
                </a:lnTo>
                <a:lnTo>
                  <a:pt x="143128" y="207010"/>
                </a:lnTo>
                <a:lnTo>
                  <a:pt x="158115" y="207010"/>
                </a:lnTo>
                <a:lnTo>
                  <a:pt x="158115" y="178943"/>
                </a:lnTo>
                <a:close/>
              </a:path>
              <a:path w="370840" h="364489">
                <a:moveTo>
                  <a:pt x="333882" y="172720"/>
                </a:moveTo>
                <a:lnTo>
                  <a:pt x="235839" y="172720"/>
                </a:lnTo>
                <a:lnTo>
                  <a:pt x="233045" y="177419"/>
                </a:lnTo>
                <a:lnTo>
                  <a:pt x="233045" y="203962"/>
                </a:lnTo>
                <a:lnTo>
                  <a:pt x="248030" y="203962"/>
                </a:lnTo>
                <a:lnTo>
                  <a:pt x="248030" y="189864"/>
                </a:lnTo>
                <a:lnTo>
                  <a:pt x="336676" y="189864"/>
                </a:lnTo>
                <a:lnTo>
                  <a:pt x="336676" y="177419"/>
                </a:lnTo>
                <a:lnTo>
                  <a:pt x="333882" y="172720"/>
                </a:lnTo>
                <a:close/>
              </a:path>
              <a:path w="370840" h="364489">
                <a:moveTo>
                  <a:pt x="336676" y="189864"/>
                </a:moveTo>
                <a:lnTo>
                  <a:pt x="321691" y="189864"/>
                </a:lnTo>
                <a:lnTo>
                  <a:pt x="321691" y="203962"/>
                </a:lnTo>
                <a:lnTo>
                  <a:pt x="336676" y="203962"/>
                </a:lnTo>
                <a:lnTo>
                  <a:pt x="336676" y="189864"/>
                </a:lnTo>
                <a:close/>
              </a:path>
              <a:path w="370840" h="364489">
                <a:moveTo>
                  <a:pt x="216952" y="46736"/>
                </a:moveTo>
                <a:lnTo>
                  <a:pt x="185420" y="46736"/>
                </a:lnTo>
                <a:lnTo>
                  <a:pt x="239902" y="172720"/>
                </a:lnTo>
                <a:lnTo>
                  <a:pt x="257555" y="172720"/>
                </a:lnTo>
                <a:lnTo>
                  <a:pt x="208533" y="62230"/>
                </a:lnTo>
                <a:lnTo>
                  <a:pt x="229162" y="62230"/>
                </a:lnTo>
                <a:lnTo>
                  <a:pt x="216952" y="46736"/>
                </a:lnTo>
                <a:close/>
              </a:path>
              <a:path w="370840" h="364489">
                <a:moveTo>
                  <a:pt x="229162" y="62230"/>
                </a:moveTo>
                <a:lnTo>
                  <a:pt x="208533" y="62230"/>
                </a:lnTo>
                <a:lnTo>
                  <a:pt x="295782" y="172720"/>
                </a:lnTo>
                <a:lnTo>
                  <a:pt x="316229" y="172720"/>
                </a:lnTo>
                <a:lnTo>
                  <a:pt x="229162" y="62230"/>
                </a:lnTo>
                <a:close/>
              </a:path>
              <a:path w="370840" h="364489">
                <a:moveTo>
                  <a:pt x="103631" y="87122"/>
                </a:moveTo>
                <a:lnTo>
                  <a:pt x="68199" y="87122"/>
                </a:lnTo>
                <a:lnTo>
                  <a:pt x="64134" y="90297"/>
                </a:lnTo>
                <a:lnTo>
                  <a:pt x="64134" y="94996"/>
                </a:lnTo>
                <a:lnTo>
                  <a:pt x="61341" y="161925"/>
                </a:lnTo>
                <a:lnTo>
                  <a:pt x="76326" y="161925"/>
                </a:lnTo>
                <a:lnTo>
                  <a:pt x="79121" y="104267"/>
                </a:lnTo>
                <a:lnTo>
                  <a:pt x="108065" y="104267"/>
                </a:lnTo>
                <a:lnTo>
                  <a:pt x="107817" y="98044"/>
                </a:lnTo>
                <a:lnTo>
                  <a:pt x="107696" y="90297"/>
                </a:lnTo>
                <a:lnTo>
                  <a:pt x="103631" y="87122"/>
                </a:lnTo>
                <a:close/>
              </a:path>
              <a:path w="370840" h="364489">
                <a:moveTo>
                  <a:pt x="108065" y="104267"/>
                </a:moveTo>
                <a:lnTo>
                  <a:pt x="92709" y="104267"/>
                </a:lnTo>
                <a:lnTo>
                  <a:pt x="95376" y="161925"/>
                </a:lnTo>
                <a:lnTo>
                  <a:pt x="110362" y="161925"/>
                </a:lnTo>
                <a:lnTo>
                  <a:pt x="108065" y="104267"/>
                </a:lnTo>
                <a:close/>
              </a:path>
              <a:path w="370840" h="364489">
                <a:moveTo>
                  <a:pt x="203073" y="93345"/>
                </a:moveTo>
                <a:lnTo>
                  <a:pt x="151256" y="93345"/>
                </a:lnTo>
                <a:lnTo>
                  <a:pt x="147193" y="98044"/>
                </a:lnTo>
                <a:lnTo>
                  <a:pt x="147193" y="154050"/>
                </a:lnTo>
                <a:lnTo>
                  <a:pt x="151256" y="158750"/>
                </a:lnTo>
                <a:lnTo>
                  <a:pt x="203073" y="158750"/>
                </a:lnTo>
                <a:lnTo>
                  <a:pt x="205867" y="154050"/>
                </a:lnTo>
                <a:lnTo>
                  <a:pt x="205867" y="141605"/>
                </a:lnTo>
                <a:lnTo>
                  <a:pt x="163575" y="141605"/>
                </a:lnTo>
                <a:lnTo>
                  <a:pt x="163575" y="110489"/>
                </a:lnTo>
                <a:lnTo>
                  <a:pt x="205867" y="110489"/>
                </a:lnTo>
                <a:lnTo>
                  <a:pt x="205867" y="98044"/>
                </a:lnTo>
                <a:lnTo>
                  <a:pt x="203073" y="93345"/>
                </a:lnTo>
                <a:close/>
              </a:path>
              <a:path w="370840" h="364489">
                <a:moveTo>
                  <a:pt x="205867" y="110489"/>
                </a:moveTo>
                <a:lnTo>
                  <a:pt x="190880" y="110489"/>
                </a:lnTo>
                <a:lnTo>
                  <a:pt x="190880" y="141605"/>
                </a:lnTo>
                <a:lnTo>
                  <a:pt x="205867" y="141605"/>
                </a:lnTo>
                <a:lnTo>
                  <a:pt x="205867" y="110489"/>
                </a:lnTo>
                <a:close/>
              </a:path>
              <a:path w="370840" h="364489">
                <a:moveTo>
                  <a:pt x="182625" y="3175"/>
                </a:moveTo>
                <a:lnTo>
                  <a:pt x="171703" y="3175"/>
                </a:lnTo>
                <a:lnTo>
                  <a:pt x="171703" y="4699"/>
                </a:lnTo>
                <a:lnTo>
                  <a:pt x="170433" y="4699"/>
                </a:lnTo>
                <a:lnTo>
                  <a:pt x="170433" y="7747"/>
                </a:lnTo>
                <a:lnTo>
                  <a:pt x="169036" y="7747"/>
                </a:lnTo>
                <a:lnTo>
                  <a:pt x="169036" y="93345"/>
                </a:lnTo>
                <a:lnTo>
                  <a:pt x="185420" y="93345"/>
                </a:lnTo>
                <a:lnTo>
                  <a:pt x="185420" y="46736"/>
                </a:lnTo>
                <a:lnTo>
                  <a:pt x="216952" y="46736"/>
                </a:lnTo>
                <a:lnTo>
                  <a:pt x="182625" y="3175"/>
                </a:lnTo>
                <a:close/>
              </a:path>
              <a:path w="370840" h="364489">
                <a:moveTo>
                  <a:pt x="181228" y="1524"/>
                </a:moveTo>
                <a:lnTo>
                  <a:pt x="173100" y="1524"/>
                </a:lnTo>
                <a:lnTo>
                  <a:pt x="173100" y="3175"/>
                </a:lnTo>
                <a:lnTo>
                  <a:pt x="181228" y="3175"/>
                </a:lnTo>
                <a:lnTo>
                  <a:pt x="181228" y="1524"/>
                </a:lnTo>
                <a:close/>
              </a:path>
              <a:path w="370840" h="364489">
                <a:moveTo>
                  <a:pt x="178561" y="0"/>
                </a:moveTo>
                <a:lnTo>
                  <a:pt x="175895" y="0"/>
                </a:lnTo>
                <a:lnTo>
                  <a:pt x="175895" y="1524"/>
                </a:lnTo>
                <a:lnTo>
                  <a:pt x="178561" y="1524"/>
                </a:lnTo>
                <a:lnTo>
                  <a:pt x="178561" y="0"/>
                </a:lnTo>
                <a:close/>
              </a:path>
            </a:pathLst>
          </a:custGeom>
          <a:solidFill>
            <a:srgbClr val="A9A9A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9749028" y="1528572"/>
            <a:ext cx="297815" cy="330835"/>
            <a:chOff x="9749028" y="1528572"/>
            <a:chExt cx="297815" cy="330835"/>
          </a:xfrm>
        </p:grpSpPr>
        <p:sp>
          <p:nvSpPr>
            <p:cNvPr id="18" name="object 18"/>
            <p:cNvSpPr/>
            <p:nvPr/>
          </p:nvSpPr>
          <p:spPr>
            <a:xfrm>
              <a:off x="9749028" y="1528571"/>
              <a:ext cx="297815" cy="330835"/>
            </a:xfrm>
            <a:custGeom>
              <a:avLst/>
              <a:gdLst/>
              <a:ahLst/>
              <a:cxnLst/>
              <a:rect l="l" t="t" r="r" b="b"/>
              <a:pathLst>
                <a:path w="297815" h="330835">
                  <a:moveTo>
                    <a:pt x="297192" y="192328"/>
                  </a:moveTo>
                  <a:lnTo>
                    <a:pt x="295884" y="186156"/>
                  </a:lnTo>
                  <a:lnTo>
                    <a:pt x="292455" y="181076"/>
                  </a:lnTo>
                  <a:lnTo>
                    <a:pt x="289369" y="179247"/>
                  </a:lnTo>
                  <a:lnTo>
                    <a:pt x="289560" y="165354"/>
                  </a:lnTo>
                  <a:lnTo>
                    <a:pt x="282181" y="113055"/>
                  </a:lnTo>
                  <a:lnTo>
                    <a:pt x="261632" y="67652"/>
                  </a:lnTo>
                  <a:lnTo>
                    <a:pt x="230301" y="31877"/>
                  </a:lnTo>
                  <a:lnTo>
                    <a:pt x="190550" y="8420"/>
                  </a:lnTo>
                  <a:lnTo>
                    <a:pt x="145542" y="152"/>
                  </a:lnTo>
                  <a:lnTo>
                    <a:pt x="145161" y="0"/>
                  </a:lnTo>
                  <a:lnTo>
                    <a:pt x="145034" y="50"/>
                  </a:lnTo>
                  <a:lnTo>
                    <a:pt x="144780" y="0"/>
                  </a:lnTo>
                  <a:lnTo>
                    <a:pt x="99288" y="8420"/>
                  </a:lnTo>
                  <a:lnTo>
                    <a:pt x="59575" y="31877"/>
                  </a:lnTo>
                  <a:lnTo>
                    <a:pt x="28130" y="67652"/>
                  </a:lnTo>
                  <a:lnTo>
                    <a:pt x="7442" y="113055"/>
                  </a:lnTo>
                  <a:lnTo>
                    <a:pt x="0" y="165354"/>
                  </a:lnTo>
                  <a:lnTo>
                    <a:pt x="7442" y="217665"/>
                  </a:lnTo>
                  <a:lnTo>
                    <a:pt x="28130" y="263067"/>
                  </a:lnTo>
                  <a:lnTo>
                    <a:pt x="59575" y="298843"/>
                  </a:lnTo>
                  <a:lnTo>
                    <a:pt x="99288" y="322300"/>
                  </a:lnTo>
                  <a:lnTo>
                    <a:pt x="144780" y="330708"/>
                  </a:lnTo>
                  <a:lnTo>
                    <a:pt x="145046" y="330669"/>
                  </a:lnTo>
                  <a:lnTo>
                    <a:pt x="145427" y="330619"/>
                  </a:lnTo>
                  <a:lnTo>
                    <a:pt x="183375" y="324840"/>
                  </a:lnTo>
                  <a:lnTo>
                    <a:pt x="218503" y="307975"/>
                  </a:lnTo>
                  <a:lnTo>
                    <a:pt x="248577" y="281317"/>
                  </a:lnTo>
                  <a:lnTo>
                    <a:pt x="264528" y="257302"/>
                  </a:lnTo>
                  <a:lnTo>
                    <a:pt x="269748" y="259715"/>
                  </a:lnTo>
                  <a:lnTo>
                    <a:pt x="278384" y="255524"/>
                  </a:lnTo>
                  <a:lnTo>
                    <a:pt x="281305" y="246380"/>
                  </a:lnTo>
                  <a:lnTo>
                    <a:pt x="281863" y="239991"/>
                  </a:lnTo>
                  <a:lnTo>
                    <a:pt x="280416" y="233730"/>
                  </a:lnTo>
                  <a:lnTo>
                    <a:pt x="277050" y="228396"/>
                  </a:lnTo>
                  <a:lnTo>
                    <a:pt x="271907" y="224790"/>
                  </a:lnTo>
                  <a:lnTo>
                    <a:pt x="264795" y="222250"/>
                  </a:lnTo>
                  <a:lnTo>
                    <a:pt x="256159" y="226441"/>
                  </a:lnTo>
                  <a:lnTo>
                    <a:pt x="254000" y="235585"/>
                  </a:lnTo>
                  <a:lnTo>
                    <a:pt x="251079" y="243967"/>
                  </a:lnTo>
                  <a:lnTo>
                    <a:pt x="253111" y="249643"/>
                  </a:lnTo>
                  <a:lnTo>
                    <a:pt x="239280" y="270560"/>
                  </a:lnTo>
                  <a:lnTo>
                    <a:pt x="211861" y="294881"/>
                  </a:lnTo>
                  <a:lnTo>
                    <a:pt x="190830" y="305015"/>
                  </a:lnTo>
                  <a:lnTo>
                    <a:pt x="209397" y="282321"/>
                  </a:lnTo>
                  <a:lnTo>
                    <a:pt x="229006" y="229768"/>
                  </a:lnTo>
                  <a:lnTo>
                    <a:pt x="236220" y="165354"/>
                  </a:lnTo>
                  <a:lnTo>
                    <a:pt x="229006" y="100952"/>
                  </a:lnTo>
                  <a:lnTo>
                    <a:pt x="223012" y="84886"/>
                  </a:lnTo>
                  <a:lnTo>
                    <a:pt x="223012" y="165354"/>
                  </a:lnTo>
                  <a:lnTo>
                    <a:pt x="216827" y="223901"/>
                  </a:lnTo>
                  <a:lnTo>
                    <a:pt x="200037" y="271691"/>
                  </a:lnTo>
                  <a:lnTo>
                    <a:pt x="175272" y="303911"/>
                  </a:lnTo>
                  <a:lnTo>
                    <a:pt x="145402" y="315633"/>
                  </a:lnTo>
                  <a:lnTo>
                    <a:pt x="145046" y="315683"/>
                  </a:lnTo>
                  <a:lnTo>
                    <a:pt x="115163" y="303911"/>
                  </a:lnTo>
                  <a:lnTo>
                    <a:pt x="101561" y="286042"/>
                  </a:lnTo>
                  <a:lnTo>
                    <a:pt x="101561" y="306971"/>
                  </a:lnTo>
                  <a:lnTo>
                    <a:pt x="67310" y="286715"/>
                  </a:lnTo>
                  <a:lnTo>
                    <a:pt x="38696" y="254165"/>
                  </a:lnTo>
                  <a:lnTo>
                    <a:pt x="19862" y="212890"/>
                  </a:lnTo>
                  <a:lnTo>
                    <a:pt x="13081" y="165354"/>
                  </a:lnTo>
                  <a:lnTo>
                    <a:pt x="19862" y="117830"/>
                  </a:lnTo>
                  <a:lnTo>
                    <a:pt x="38696" y="76555"/>
                  </a:lnTo>
                  <a:lnTo>
                    <a:pt x="67310" y="44005"/>
                  </a:lnTo>
                  <a:lnTo>
                    <a:pt x="101549" y="23761"/>
                  </a:lnTo>
                  <a:lnTo>
                    <a:pt x="81572" y="48387"/>
                  </a:lnTo>
                  <a:lnTo>
                    <a:pt x="62052" y="100952"/>
                  </a:lnTo>
                  <a:lnTo>
                    <a:pt x="54864" y="165354"/>
                  </a:lnTo>
                  <a:lnTo>
                    <a:pt x="62052" y="229768"/>
                  </a:lnTo>
                  <a:lnTo>
                    <a:pt x="81572" y="282321"/>
                  </a:lnTo>
                  <a:lnTo>
                    <a:pt x="101561" y="306971"/>
                  </a:lnTo>
                  <a:lnTo>
                    <a:pt x="101561" y="286042"/>
                  </a:lnTo>
                  <a:lnTo>
                    <a:pt x="90652" y="271691"/>
                  </a:lnTo>
                  <a:lnTo>
                    <a:pt x="74129" y="223901"/>
                  </a:lnTo>
                  <a:lnTo>
                    <a:pt x="68072" y="165354"/>
                  </a:lnTo>
                  <a:lnTo>
                    <a:pt x="74129" y="106819"/>
                  </a:lnTo>
                  <a:lnTo>
                    <a:pt x="90652" y="59029"/>
                  </a:lnTo>
                  <a:lnTo>
                    <a:pt x="115163" y="26809"/>
                  </a:lnTo>
                  <a:lnTo>
                    <a:pt x="145034" y="15036"/>
                  </a:lnTo>
                  <a:lnTo>
                    <a:pt x="145491" y="15125"/>
                  </a:lnTo>
                  <a:lnTo>
                    <a:pt x="175272" y="26809"/>
                  </a:lnTo>
                  <a:lnTo>
                    <a:pt x="200037" y="59029"/>
                  </a:lnTo>
                  <a:lnTo>
                    <a:pt x="216827" y="106819"/>
                  </a:lnTo>
                  <a:lnTo>
                    <a:pt x="223012" y="165354"/>
                  </a:lnTo>
                  <a:lnTo>
                    <a:pt x="223012" y="84886"/>
                  </a:lnTo>
                  <a:lnTo>
                    <a:pt x="209397" y="48387"/>
                  </a:lnTo>
                  <a:lnTo>
                    <a:pt x="190157" y="24879"/>
                  </a:lnTo>
                  <a:lnTo>
                    <a:pt x="222567" y="44005"/>
                  </a:lnTo>
                  <a:lnTo>
                    <a:pt x="251079" y="76555"/>
                  </a:lnTo>
                  <a:lnTo>
                    <a:pt x="269760" y="117830"/>
                  </a:lnTo>
                  <a:lnTo>
                    <a:pt x="276479" y="165354"/>
                  </a:lnTo>
                  <a:lnTo>
                    <a:pt x="276479" y="178092"/>
                  </a:lnTo>
                  <a:lnTo>
                    <a:pt x="275691" y="178282"/>
                  </a:lnTo>
                  <a:lnTo>
                    <a:pt x="270865" y="182079"/>
                  </a:lnTo>
                  <a:lnTo>
                    <a:pt x="267589" y="187960"/>
                  </a:lnTo>
                  <a:lnTo>
                    <a:pt x="266700" y="194360"/>
                  </a:lnTo>
                  <a:lnTo>
                    <a:pt x="268185" y="200621"/>
                  </a:lnTo>
                  <a:lnTo>
                    <a:pt x="271614" y="205955"/>
                  </a:lnTo>
                  <a:lnTo>
                    <a:pt x="276606" y="209550"/>
                  </a:lnTo>
                  <a:lnTo>
                    <a:pt x="284861" y="212090"/>
                  </a:lnTo>
                  <a:lnTo>
                    <a:pt x="293878" y="207899"/>
                  </a:lnTo>
                  <a:lnTo>
                    <a:pt x="296164" y="198755"/>
                  </a:lnTo>
                  <a:lnTo>
                    <a:pt x="297192" y="192328"/>
                  </a:lnTo>
                  <a:close/>
                </a:path>
              </a:pathLst>
            </a:custGeom>
            <a:solidFill>
              <a:srgbClr val="A9A9A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50552" y="1528572"/>
              <a:ext cx="286512" cy="3261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37260" y="1429258"/>
            <a:ext cx="291465" cy="413384"/>
            <a:chOff x="937260" y="1429258"/>
            <a:chExt cx="291465" cy="413384"/>
          </a:xfrm>
        </p:grpSpPr>
        <p:sp>
          <p:nvSpPr>
            <p:cNvPr id="21" name="object 21"/>
            <p:cNvSpPr/>
            <p:nvPr/>
          </p:nvSpPr>
          <p:spPr>
            <a:xfrm>
              <a:off x="937260" y="1429257"/>
              <a:ext cx="291465" cy="413384"/>
            </a:xfrm>
            <a:custGeom>
              <a:avLst/>
              <a:gdLst/>
              <a:ahLst/>
              <a:cxnLst/>
              <a:rect l="l" t="t" r="r" b="b"/>
              <a:pathLst>
                <a:path w="291465" h="413385">
                  <a:moveTo>
                    <a:pt x="291084" y="249428"/>
                  </a:moveTo>
                  <a:lnTo>
                    <a:pt x="289585" y="240842"/>
                  </a:lnTo>
                  <a:lnTo>
                    <a:pt x="285496" y="233819"/>
                  </a:lnTo>
                  <a:lnTo>
                    <a:pt x="280416" y="229844"/>
                  </a:lnTo>
                  <a:lnTo>
                    <a:pt x="280416" y="108204"/>
                  </a:lnTo>
                  <a:lnTo>
                    <a:pt x="276618" y="103886"/>
                  </a:lnTo>
                  <a:lnTo>
                    <a:pt x="271881" y="103886"/>
                  </a:lnTo>
                  <a:lnTo>
                    <a:pt x="252984" y="108191"/>
                  </a:lnTo>
                  <a:lnTo>
                    <a:pt x="252984" y="19812"/>
                  </a:lnTo>
                  <a:lnTo>
                    <a:pt x="249262" y="15494"/>
                  </a:lnTo>
                  <a:lnTo>
                    <a:pt x="239941" y="15494"/>
                  </a:lnTo>
                  <a:lnTo>
                    <a:pt x="236220" y="19812"/>
                  </a:lnTo>
                  <a:lnTo>
                    <a:pt x="236220" y="111988"/>
                  </a:lnTo>
                  <a:lnTo>
                    <a:pt x="235877" y="112064"/>
                  </a:lnTo>
                  <a:lnTo>
                    <a:pt x="206629" y="134442"/>
                  </a:lnTo>
                  <a:lnTo>
                    <a:pt x="196596" y="151485"/>
                  </a:lnTo>
                  <a:lnTo>
                    <a:pt x="196596" y="6477"/>
                  </a:lnTo>
                  <a:lnTo>
                    <a:pt x="196596" y="4572"/>
                  </a:lnTo>
                  <a:lnTo>
                    <a:pt x="192824" y="254"/>
                  </a:lnTo>
                  <a:lnTo>
                    <a:pt x="190474" y="254"/>
                  </a:lnTo>
                  <a:lnTo>
                    <a:pt x="190004" y="0"/>
                  </a:lnTo>
                  <a:lnTo>
                    <a:pt x="186232" y="0"/>
                  </a:lnTo>
                  <a:lnTo>
                    <a:pt x="185762" y="254"/>
                  </a:lnTo>
                  <a:lnTo>
                    <a:pt x="183388" y="254"/>
                  </a:lnTo>
                  <a:lnTo>
                    <a:pt x="180746" y="3276"/>
                  </a:lnTo>
                  <a:lnTo>
                    <a:pt x="179641" y="3975"/>
                  </a:lnTo>
                  <a:lnTo>
                    <a:pt x="179641" y="265531"/>
                  </a:lnTo>
                  <a:lnTo>
                    <a:pt x="179641" y="304571"/>
                  </a:lnTo>
                  <a:lnTo>
                    <a:pt x="130327" y="284988"/>
                  </a:lnTo>
                  <a:lnTo>
                    <a:pt x="109918" y="278396"/>
                  </a:lnTo>
                  <a:lnTo>
                    <a:pt x="109918" y="105664"/>
                  </a:lnTo>
                  <a:lnTo>
                    <a:pt x="179641" y="265531"/>
                  </a:lnTo>
                  <a:lnTo>
                    <a:pt x="179641" y="3975"/>
                  </a:lnTo>
                  <a:lnTo>
                    <a:pt x="179603" y="25933"/>
                  </a:lnTo>
                  <a:lnTo>
                    <a:pt x="179603" y="222123"/>
                  </a:lnTo>
                  <a:lnTo>
                    <a:pt x="112928" y="67221"/>
                  </a:lnTo>
                  <a:lnTo>
                    <a:pt x="179603" y="25933"/>
                  </a:lnTo>
                  <a:lnTo>
                    <a:pt x="179603" y="4000"/>
                  </a:lnTo>
                  <a:lnTo>
                    <a:pt x="97675" y="55118"/>
                  </a:lnTo>
                  <a:lnTo>
                    <a:pt x="96253" y="56210"/>
                  </a:lnTo>
                  <a:lnTo>
                    <a:pt x="93700" y="57658"/>
                  </a:lnTo>
                  <a:lnTo>
                    <a:pt x="91808" y="64135"/>
                  </a:lnTo>
                  <a:lnTo>
                    <a:pt x="92964" y="66789"/>
                  </a:lnTo>
                  <a:lnTo>
                    <a:pt x="92964" y="102489"/>
                  </a:lnTo>
                  <a:lnTo>
                    <a:pt x="92405" y="102489"/>
                  </a:lnTo>
                  <a:lnTo>
                    <a:pt x="92405" y="122047"/>
                  </a:lnTo>
                  <a:lnTo>
                    <a:pt x="92405" y="183095"/>
                  </a:lnTo>
                  <a:lnTo>
                    <a:pt x="92405" y="257619"/>
                  </a:lnTo>
                  <a:lnTo>
                    <a:pt x="92405" y="264922"/>
                  </a:lnTo>
                  <a:lnTo>
                    <a:pt x="92163" y="264287"/>
                  </a:lnTo>
                  <a:lnTo>
                    <a:pt x="91198" y="258826"/>
                  </a:lnTo>
                  <a:lnTo>
                    <a:pt x="92405" y="257619"/>
                  </a:lnTo>
                  <a:lnTo>
                    <a:pt x="92405" y="183095"/>
                  </a:lnTo>
                  <a:lnTo>
                    <a:pt x="81978" y="188087"/>
                  </a:lnTo>
                  <a:lnTo>
                    <a:pt x="54457" y="205282"/>
                  </a:lnTo>
                  <a:lnTo>
                    <a:pt x="28359" y="231038"/>
                  </a:lnTo>
                  <a:lnTo>
                    <a:pt x="17322" y="262686"/>
                  </a:lnTo>
                  <a:lnTo>
                    <a:pt x="17322" y="192405"/>
                  </a:lnTo>
                  <a:lnTo>
                    <a:pt x="27914" y="192405"/>
                  </a:lnTo>
                  <a:lnTo>
                    <a:pt x="31762" y="188087"/>
                  </a:lnTo>
                  <a:lnTo>
                    <a:pt x="31762" y="122047"/>
                  </a:lnTo>
                  <a:lnTo>
                    <a:pt x="46202" y="122047"/>
                  </a:lnTo>
                  <a:lnTo>
                    <a:pt x="50050" y="117729"/>
                  </a:lnTo>
                  <a:lnTo>
                    <a:pt x="50050" y="77597"/>
                  </a:lnTo>
                  <a:lnTo>
                    <a:pt x="65455" y="77597"/>
                  </a:lnTo>
                  <a:lnTo>
                    <a:pt x="65455" y="117729"/>
                  </a:lnTo>
                  <a:lnTo>
                    <a:pt x="69303" y="122047"/>
                  </a:lnTo>
                  <a:lnTo>
                    <a:pt x="92405" y="122047"/>
                  </a:lnTo>
                  <a:lnTo>
                    <a:pt x="92405" y="102489"/>
                  </a:lnTo>
                  <a:lnTo>
                    <a:pt x="82778" y="102489"/>
                  </a:lnTo>
                  <a:lnTo>
                    <a:pt x="82778" y="77597"/>
                  </a:lnTo>
                  <a:lnTo>
                    <a:pt x="82778" y="62484"/>
                  </a:lnTo>
                  <a:lnTo>
                    <a:pt x="78930" y="58166"/>
                  </a:lnTo>
                  <a:lnTo>
                    <a:pt x="67056" y="58166"/>
                  </a:lnTo>
                  <a:lnTo>
                    <a:pt x="67056" y="7620"/>
                  </a:lnTo>
                  <a:lnTo>
                    <a:pt x="63334" y="3302"/>
                  </a:lnTo>
                  <a:lnTo>
                    <a:pt x="54013" y="3302"/>
                  </a:lnTo>
                  <a:lnTo>
                    <a:pt x="50292" y="7620"/>
                  </a:lnTo>
                  <a:lnTo>
                    <a:pt x="50292" y="58166"/>
                  </a:lnTo>
                  <a:lnTo>
                    <a:pt x="36576" y="58166"/>
                  </a:lnTo>
                  <a:lnTo>
                    <a:pt x="32727" y="62484"/>
                  </a:lnTo>
                  <a:lnTo>
                    <a:pt x="32727" y="102489"/>
                  </a:lnTo>
                  <a:lnTo>
                    <a:pt x="18288" y="102489"/>
                  </a:lnTo>
                  <a:lnTo>
                    <a:pt x="14439" y="107950"/>
                  </a:lnTo>
                  <a:lnTo>
                    <a:pt x="14439" y="172974"/>
                  </a:lnTo>
                  <a:lnTo>
                    <a:pt x="3848" y="172974"/>
                  </a:lnTo>
                  <a:lnTo>
                    <a:pt x="0" y="178308"/>
                  </a:lnTo>
                  <a:lnTo>
                    <a:pt x="0" y="408940"/>
                  </a:lnTo>
                  <a:lnTo>
                    <a:pt x="3848" y="413258"/>
                  </a:lnTo>
                  <a:lnTo>
                    <a:pt x="105879" y="413258"/>
                  </a:lnTo>
                  <a:lnTo>
                    <a:pt x="109728" y="408940"/>
                  </a:lnTo>
                  <a:lnTo>
                    <a:pt x="109728" y="393827"/>
                  </a:lnTo>
                  <a:lnTo>
                    <a:pt x="109728" y="346481"/>
                  </a:lnTo>
                  <a:lnTo>
                    <a:pt x="130327" y="352298"/>
                  </a:lnTo>
                  <a:lnTo>
                    <a:pt x="166954" y="365925"/>
                  </a:lnTo>
                  <a:lnTo>
                    <a:pt x="190804" y="384200"/>
                  </a:lnTo>
                  <a:lnTo>
                    <a:pt x="198170" y="393446"/>
                  </a:lnTo>
                  <a:lnTo>
                    <a:pt x="185089" y="393446"/>
                  </a:lnTo>
                  <a:lnTo>
                    <a:pt x="131229" y="393446"/>
                  </a:lnTo>
                  <a:lnTo>
                    <a:pt x="126492" y="397891"/>
                  </a:lnTo>
                  <a:lnTo>
                    <a:pt x="126492" y="408813"/>
                  </a:lnTo>
                  <a:lnTo>
                    <a:pt x="131229" y="413258"/>
                  </a:lnTo>
                  <a:lnTo>
                    <a:pt x="185089" y="413258"/>
                  </a:lnTo>
                  <a:lnTo>
                    <a:pt x="212407" y="413258"/>
                  </a:lnTo>
                  <a:lnTo>
                    <a:pt x="235483" y="413258"/>
                  </a:lnTo>
                  <a:lnTo>
                    <a:pt x="276682" y="413258"/>
                  </a:lnTo>
                  <a:lnTo>
                    <a:pt x="281114" y="413258"/>
                  </a:lnTo>
                  <a:lnTo>
                    <a:pt x="283972" y="412115"/>
                  </a:lnTo>
                  <a:lnTo>
                    <a:pt x="284924" y="409956"/>
                  </a:lnTo>
                  <a:lnTo>
                    <a:pt x="286842" y="406781"/>
                  </a:lnTo>
                  <a:lnTo>
                    <a:pt x="286842" y="403479"/>
                  </a:lnTo>
                  <a:lnTo>
                    <a:pt x="285889" y="400177"/>
                  </a:lnTo>
                  <a:lnTo>
                    <a:pt x="282905" y="393700"/>
                  </a:lnTo>
                  <a:lnTo>
                    <a:pt x="280416" y="388315"/>
                  </a:lnTo>
                  <a:lnTo>
                    <a:pt x="280416" y="336092"/>
                  </a:lnTo>
                  <a:lnTo>
                    <a:pt x="285496" y="332105"/>
                  </a:lnTo>
                  <a:lnTo>
                    <a:pt x="289585" y="325081"/>
                  </a:lnTo>
                  <a:lnTo>
                    <a:pt x="291084" y="316484"/>
                  </a:lnTo>
                  <a:lnTo>
                    <a:pt x="289585" y="307898"/>
                  </a:lnTo>
                  <a:lnTo>
                    <a:pt x="285496" y="300863"/>
                  </a:lnTo>
                  <a:lnTo>
                    <a:pt x="279438" y="296125"/>
                  </a:lnTo>
                  <a:lnTo>
                    <a:pt x="272034" y="294386"/>
                  </a:lnTo>
                  <a:lnTo>
                    <a:pt x="264617" y="296125"/>
                  </a:lnTo>
                  <a:lnTo>
                    <a:pt x="258559" y="300863"/>
                  </a:lnTo>
                  <a:lnTo>
                    <a:pt x="254469" y="307898"/>
                  </a:lnTo>
                  <a:lnTo>
                    <a:pt x="252984" y="316484"/>
                  </a:lnTo>
                  <a:lnTo>
                    <a:pt x="254469" y="325081"/>
                  </a:lnTo>
                  <a:lnTo>
                    <a:pt x="258559" y="332105"/>
                  </a:lnTo>
                  <a:lnTo>
                    <a:pt x="263588" y="336054"/>
                  </a:lnTo>
                  <a:lnTo>
                    <a:pt x="263588" y="364401"/>
                  </a:lnTo>
                  <a:lnTo>
                    <a:pt x="263588" y="393242"/>
                  </a:lnTo>
                  <a:lnTo>
                    <a:pt x="263588" y="393446"/>
                  </a:lnTo>
                  <a:lnTo>
                    <a:pt x="235483" y="393446"/>
                  </a:lnTo>
                  <a:lnTo>
                    <a:pt x="220814" y="393446"/>
                  </a:lnTo>
                  <a:lnTo>
                    <a:pt x="211696" y="380199"/>
                  </a:lnTo>
                  <a:lnTo>
                    <a:pt x="194614" y="362419"/>
                  </a:lnTo>
                  <a:lnTo>
                    <a:pt x="168783" y="345033"/>
                  </a:lnTo>
                  <a:lnTo>
                    <a:pt x="133197" y="332740"/>
                  </a:lnTo>
                  <a:lnTo>
                    <a:pt x="106260" y="326072"/>
                  </a:lnTo>
                  <a:lnTo>
                    <a:pt x="105879" y="325628"/>
                  </a:lnTo>
                  <a:lnTo>
                    <a:pt x="104495" y="325628"/>
                  </a:lnTo>
                  <a:lnTo>
                    <a:pt x="98755" y="324205"/>
                  </a:lnTo>
                  <a:lnTo>
                    <a:pt x="92405" y="321538"/>
                  </a:lnTo>
                  <a:lnTo>
                    <a:pt x="92405" y="341579"/>
                  </a:lnTo>
                  <a:lnTo>
                    <a:pt x="92405" y="393827"/>
                  </a:lnTo>
                  <a:lnTo>
                    <a:pt x="17322" y="393827"/>
                  </a:lnTo>
                  <a:lnTo>
                    <a:pt x="17322" y="266636"/>
                  </a:lnTo>
                  <a:lnTo>
                    <a:pt x="23901" y="294246"/>
                  </a:lnTo>
                  <a:lnTo>
                    <a:pt x="45275" y="318922"/>
                  </a:lnTo>
                  <a:lnTo>
                    <a:pt x="80772" y="338289"/>
                  </a:lnTo>
                  <a:lnTo>
                    <a:pt x="92405" y="341579"/>
                  </a:lnTo>
                  <a:lnTo>
                    <a:pt x="92405" y="321538"/>
                  </a:lnTo>
                  <a:lnTo>
                    <a:pt x="66738" y="310756"/>
                  </a:lnTo>
                  <a:lnTo>
                    <a:pt x="43141" y="291185"/>
                  </a:lnTo>
                  <a:lnTo>
                    <a:pt x="33947" y="264287"/>
                  </a:lnTo>
                  <a:lnTo>
                    <a:pt x="39814" y="246075"/>
                  </a:lnTo>
                  <a:lnTo>
                    <a:pt x="54457" y="229476"/>
                  </a:lnTo>
                  <a:lnTo>
                    <a:pt x="73393" y="215341"/>
                  </a:lnTo>
                  <a:lnTo>
                    <a:pt x="92163" y="204470"/>
                  </a:lnTo>
                  <a:lnTo>
                    <a:pt x="92163" y="231648"/>
                  </a:lnTo>
                  <a:lnTo>
                    <a:pt x="86385" y="237693"/>
                  </a:lnTo>
                  <a:lnTo>
                    <a:pt x="80340" y="245910"/>
                  </a:lnTo>
                  <a:lnTo>
                    <a:pt x="75907" y="255981"/>
                  </a:lnTo>
                  <a:lnTo>
                    <a:pt x="74980" y="267589"/>
                  </a:lnTo>
                  <a:lnTo>
                    <a:pt x="79667" y="278980"/>
                  </a:lnTo>
                  <a:lnTo>
                    <a:pt x="89636" y="288734"/>
                  </a:lnTo>
                  <a:lnTo>
                    <a:pt x="105156" y="296887"/>
                  </a:lnTo>
                  <a:lnTo>
                    <a:pt x="126504" y="303403"/>
                  </a:lnTo>
                  <a:lnTo>
                    <a:pt x="182740" y="323621"/>
                  </a:lnTo>
                  <a:lnTo>
                    <a:pt x="222770" y="348551"/>
                  </a:lnTo>
                  <a:lnTo>
                    <a:pt x="249034" y="373494"/>
                  </a:lnTo>
                  <a:lnTo>
                    <a:pt x="263588" y="393242"/>
                  </a:lnTo>
                  <a:lnTo>
                    <a:pt x="263588" y="364401"/>
                  </a:lnTo>
                  <a:lnTo>
                    <a:pt x="255333" y="353212"/>
                  </a:lnTo>
                  <a:lnTo>
                    <a:pt x="208038" y="315836"/>
                  </a:lnTo>
                  <a:lnTo>
                    <a:pt x="196596" y="311302"/>
                  </a:lnTo>
                  <a:lnTo>
                    <a:pt x="196596" y="267589"/>
                  </a:lnTo>
                  <a:lnTo>
                    <a:pt x="196596" y="259956"/>
                  </a:lnTo>
                  <a:lnTo>
                    <a:pt x="196913" y="259588"/>
                  </a:lnTo>
                  <a:lnTo>
                    <a:pt x="196913" y="208788"/>
                  </a:lnTo>
                  <a:lnTo>
                    <a:pt x="202082" y="177507"/>
                  </a:lnTo>
                  <a:lnTo>
                    <a:pt x="216242" y="151485"/>
                  </a:lnTo>
                  <a:lnTo>
                    <a:pt x="237337" y="132753"/>
                  </a:lnTo>
                  <a:lnTo>
                    <a:pt x="263334" y="123317"/>
                  </a:lnTo>
                  <a:lnTo>
                    <a:pt x="263334" y="230073"/>
                  </a:lnTo>
                  <a:lnTo>
                    <a:pt x="258559" y="233807"/>
                  </a:lnTo>
                  <a:lnTo>
                    <a:pt x="254469" y="240842"/>
                  </a:lnTo>
                  <a:lnTo>
                    <a:pt x="252984" y="249428"/>
                  </a:lnTo>
                  <a:lnTo>
                    <a:pt x="254469" y="258025"/>
                  </a:lnTo>
                  <a:lnTo>
                    <a:pt x="258559" y="265049"/>
                  </a:lnTo>
                  <a:lnTo>
                    <a:pt x="264617" y="269798"/>
                  </a:lnTo>
                  <a:lnTo>
                    <a:pt x="272034" y="271526"/>
                  </a:lnTo>
                  <a:lnTo>
                    <a:pt x="279438" y="269798"/>
                  </a:lnTo>
                  <a:lnTo>
                    <a:pt x="285496" y="265049"/>
                  </a:lnTo>
                  <a:lnTo>
                    <a:pt x="289585" y="258025"/>
                  </a:lnTo>
                  <a:lnTo>
                    <a:pt x="291084" y="249428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30224" y="1755648"/>
              <a:ext cx="103631" cy="8686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906267" y="3767328"/>
            <a:ext cx="370840" cy="349250"/>
            <a:chOff x="2906267" y="3767328"/>
            <a:chExt cx="370840" cy="349250"/>
          </a:xfrm>
        </p:grpSpPr>
        <p:sp>
          <p:nvSpPr>
            <p:cNvPr id="24" name="object 24"/>
            <p:cNvSpPr/>
            <p:nvPr/>
          </p:nvSpPr>
          <p:spPr>
            <a:xfrm>
              <a:off x="3026664" y="3846576"/>
              <a:ext cx="220979" cy="134620"/>
            </a:xfrm>
            <a:custGeom>
              <a:avLst/>
              <a:gdLst/>
              <a:ahLst/>
              <a:cxnLst/>
              <a:rect l="l" t="t" r="r" b="b"/>
              <a:pathLst>
                <a:path w="220980" h="134620">
                  <a:moveTo>
                    <a:pt x="220980" y="105918"/>
                  </a:moveTo>
                  <a:lnTo>
                    <a:pt x="219075" y="95567"/>
                  </a:lnTo>
                  <a:lnTo>
                    <a:pt x="218516" y="94615"/>
                  </a:lnTo>
                  <a:lnTo>
                    <a:pt x="213804" y="86537"/>
                  </a:lnTo>
                  <a:lnTo>
                    <a:pt x="206248" y="80543"/>
                  </a:lnTo>
                  <a:lnTo>
                    <a:pt x="206248" y="100330"/>
                  </a:lnTo>
                  <a:lnTo>
                    <a:pt x="206248" y="112522"/>
                  </a:lnTo>
                  <a:lnTo>
                    <a:pt x="202057" y="117221"/>
                  </a:lnTo>
                  <a:lnTo>
                    <a:pt x="37211" y="117221"/>
                  </a:lnTo>
                  <a:lnTo>
                    <a:pt x="33020" y="112522"/>
                  </a:lnTo>
                  <a:lnTo>
                    <a:pt x="33020" y="100330"/>
                  </a:lnTo>
                  <a:lnTo>
                    <a:pt x="37211" y="94615"/>
                  </a:lnTo>
                  <a:lnTo>
                    <a:pt x="202057" y="94615"/>
                  </a:lnTo>
                  <a:lnTo>
                    <a:pt x="206248" y="100330"/>
                  </a:lnTo>
                  <a:lnTo>
                    <a:pt x="206248" y="80543"/>
                  </a:lnTo>
                  <a:lnTo>
                    <a:pt x="205752" y="80149"/>
                  </a:lnTo>
                  <a:lnTo>
                    <a:pt x="195580" y="77724"/>
                  </a:lnTo>
                  <a:lnTo>
                    <a:pt x="43688" y="77724"/>
                  </a:lnTo>
                  <a:lnTo>
                    <a:pt x="33172" y="80149"/>
                  </a:lnTo>
                  <a:lnTo>
                    <a:pt x="25171" y="86537"/>
                  </a:lnTo>
                  <a:lnTo>
                    <a:pt x="20066" y="95567"/>
                  </a:lnTo>
                  <a:lnTo>
                    <a:pt x="18288" y="105918"/>
                  </a:lnTo>
                  <a:lnTo>
                    <a:pt x="20180" y="117081"/>
                  </a:lnTo>
                  <a:lnTo>
                    <a:pt x="25463" y="126022"/>
                  </a:lnTo>
                  <a:lnTo>
                    <a:pt x="33502" y="131965"/>
                  </a:lnTo>
                  <a:lnTo>
                    <a:pt x="43688" y="134112"/>
                  </a:lnTo>
                  <a:lnTo>
                    <a:pt x="195580" y="134112"/>
                  </a:lnTo>
                  <a:lnTo>
                    <a:pt x="205752" y="131965"/>
                  </a:lnTo>
                  <a:lnTo>
                    <a:pt x="213804" y="126022"/>
                  </a:lnTo>
                  <a:lnTo>
                    <a:pt x="218986" y="117221"/>
                  </a:lnTo>
                  <a:lnTo>
                    <a:pt x="219075" y="117081"/>
                  </a:lnTo>
                  <a:lnTo>
                    <a:pt x="220980" y="105918"/>
                  </a:lnTo>
                  <a:close/>
                </a:path>
                <a:path w="220980" h="134620">
                  <a:moveTo>
                    <a:pt x="220980" y="38735"/>
                  </a:moveTo>
                  <a:lnTo>
                    <a:pt x="219075" y="28841"/>
                  </a:lnTo>
                  <a:lnTo>
                    <a:pt x="213804" y="19799"/>
                  </a:lnTo>
                  <a:lnTo>
                    <a:pt x="205752" y="13220"/>
                  </a:lnTo>
                  <a:lnTo>
                    <a:pt x="195580" y="10668"/>
                  </a:lnTo>
                  <a:lnTo>
                    <a:pt x="172212" y="10668"/>
                  </a:lnTo>
                  <a:lnTo>
                    <a:pt x="172212" y="8509"/>
                  </a:lnTo>
                  <a:lnTo>
                    <a:pt x="164719" y="0"/>
                  </a:lnTo>
                  <a:lnTo>
                    <a:pt x="146177" y="0"/>
                  </a:lnTo>
                  <a:lnTo>
                    <a:pt x="138684" y="8509"/>
                  </a:lnTo>
                  <a:lnTo>
                    <a:pt x="138684" y="29591"/>
                  </a:lnTo>
                  <a:lnTo>
                    <a:pt x="146177" y="38100"/>
                  </a:lnTo>
                  <a:lnTo>
                    <a:pt x="164719" y="38100"/>
                  </a:lnTo>
                  <a:lnTo>
                    <a:pt x="172212" y="29591"/>
                  </a:lnTo>
                  <a:lnTo>
                    <a:pt x="172212" y="27432"/>
                  </a:lnTo>
                  <a:lnTo>
                    <a:pt x="201295" y="27432"/>
                  </a:lnTo>
                  <a:lnTo>
                    <a:pt x="206248" y="33147"/>
                  </a:lnTo>
                  <a:lnTo>
                    <a:pt x="206248" y="45212"/>
                  </a:lnTo>
                  <a:lnTo>
                    <a:pt x="202184" y="51816"/>
                  </a:lnTo>
                  <a:lnTo>
                    <a:pt x="18034" y="51816"/>
                  </a:lnTo>
                  <a:lnTo>
                    <a:pt x="14732" y="45212"/>
                  </a:lnTo>
                  <a:lnTo>
                    <a:pt x="14732" y="33147"/>
                  </a:lnTo>
                  <a:lnTo>
                    <a:pt x="18796" y="27432"/>
                  </a:lnTo>
                  <a:lnTo>
                    <a:pt x="88392" y="27432"/>
                  </a:lnTo>
                  <a:lnTo>
                    <a:pt x="88392" y="29591"/>
                  </a:lnTo>
                  <a:lnTo>
                    <a:pt x="95885" y="38100"/>
                  </a:lnTo>
                  <a:lnTo>
                    <a:pt x="114427" y="38100"/>
                  </a:lnTo>
                  <a:lnTo>
                    <a:pt x="121920" y="29591"/>
                  </a:lnTo>
                  <a:lnTo>
                    <a:pt x="121920" y="8509"/>
                  </a:lnTo>
                  <a:lnTo>
                    <a:pt x="114427" y="0"/>
                  </a:lnTo>
                  <a:lnTo>
                    <a:pt x="95885" y="0"/>
                  </a:lnTo>
                  <a:lnTo>
                    <a:pt x="88392" y="8509"/>
                  </a:lnTo>
                  <a:lnTo>
                    <a:pt x="88392" y="10668"/>
                  </a:lnTo>
                  <a:lnTo>
                    <a:pt x="24511" y="10668"/>
                  </a:lnTo>
                  <a:lnTo>
                    <a:pt x="14465" y="13220"/>
                  </a:lnTo>
                  <a:lnTo>
                    <a:pt x="6731" y="19799"/>
                  </a:lnTo>
                  <a:lnTo>
                    <a:pt x="1752" y="28841"/>
                  </a:lnTo>
                  <a:lnTo>
                    <a:pt x="0" y="38735"/>
                  </a:lnTo>
                  <a:lnTo>
                    <a:pt x="1879" y="50482"/>
                  </a:lnTo>
                  <a:lnTo>
                    <a:pt x="7061" y="59944"/>
                  </a:lnTo>
                  <a:lnTo>
                    <a:pt x="14833" y="66281"/>
                  </a:lnTo>
                  <a:lnTo>
                    <a:pt x="24511" y="68580"/>
                  </a:lnTo>
                  <a:lnTo>
                    <a:pt x="195580" y="68580"/>
                  </a:lnTo>
                  <a:lnTo>
                    <a:pt x="205435" y="66281"/>
                  </a:lnTo>
                  <a:lnTo>
                    <a:pt x="213512" y="59944"/>
                  </a:lnTo>
                  <a:lnTo>
                    <a:pt x="218973" y="50482"/>
                  </a:lnTo>
                  <a:lnTo>
                    <a:pt x="220980" y="38735"/>
                  </a:lnTo>
                  <a:close/>
                </a:path>
              </a:pathLst>
            </a:custGeom>
            <a:solidFill>
              <a:srgbClr val="A9A9A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14471" y="4030980"/>
              <a:ext cx="77723" cy="8534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65347" y="4030980"/>
              <a:ext cx="77724" cy="8534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06267" y="3767328"/>
              <a:ext cx="370840" cy="266700"/>
            </a:xfrm>
            <a:custGeom>
              <a:avLst/>
              <a:gdLst/>
              <a:ahLst/>
              <a:cxnLst/>
              <a:rect l="l" t="t" r="r" b="b"/>
              <a:pathLst>
                <a:path w="370839" h="266700">
                  <a:moveTo>
                    <a:pt x="39369" y="0"/>
                  </a:moveTo>
                  <a:lnTo>
                    <a:pt x="4063" y="0"/>
                  </a:lnTo>
                  <a:lnTo>
                    <a:pt x="0" y="3683"/>
                  </a:lnTo>
                  <a:lnTo>
                    <a:pt x="0" y="13081"/>
                  </a:lnTo>
                  <a:lnTo>
                    <a:pt x="4063" y="16891"/>
                  </a:lnTo>
                  <a:lnTo>
                    <a:pt x="47498" y="16891"/>
                  </a:lnTo>
                  <a:lnTo>
                    <a:pt x="54101" y="22479"/>
                  </a:lnTo>
                  <a:lnTo>
                    <a:pt x="57404" y="30861"/>
                  </a:lnTo>
                  <a:lnTo>
                    <a:pt x="113030" y="209677"/>
                  </a:lnTo>
                  <a:lnTo>
                    <a:pt x="103250" y="209677"/>
                  </a:lnTo>
                  <a:lnTo>
                    <a:pt x="98298" y="212471"/>
                  </a:lnTo>
                  <a:lnTo>
                    <a:pt x="94233" y="217043"/>
                  </a:lnTo>
                  <a:lnTo>
                    <a:pt x="90169" y="221742"/>
                  </a:lnTo>
                  <a:lnTo>
                    <a:pt x="87630" y="227457"/>
                  </a:lnTo>
                  <a:lnTo>
                    <a:pt x="87630" y="242316"/>
                  </a:lnTo>
                  <a:lnTo>
                    <a:pt x="89370" y="252073"/>
                  </a:lnTo>
                  <a:lnTo>
                    <a:pt x="94122" y="259794"/>
                  </a:lnTo>
                  <a:lnTo>
                    <a:pt x="101185" y="264872"/>
                  </a:lnTo>
                  <a:lnTo>
                    <a:pt x="109855" y="266700"/>
                  </a:lnTo>
                  <a:lnTo>
                    <a:pt x="367030" y="266700"/>
                  </a:lnTo>
                  <a:lnTo>
                    <a:pt x="370331" y="263017"/>
                  </a:lnTo>
                  <a:lnTo>
                    <a:pt x="370331" y="253619"/>
                  </a:lnTo>
                  <a:lnTo>
                    <a:pt x="367030" y="249809"/>
                  </a:lnTo>
                  <a:lnTo>
                    <a:pt x="105663" y="249809"/>
                  </a:lnTo>
                  <a:lnTo>
                    <a:pt x="102362" y="247015"/>
                  </a:lnTo>
                  <a:lnTo>
                    <a:pt x="102362" y="232029"/>
                  </a:lnTo>
                  <a:lnTo>
                    <a:pt x="103250" y="230251"/>
                  </a:lnTo>
                  <a:lnTo>
                    <a:pt x="105663" y="227457"/>
                  </a:lnTo>
                  <a:lnTo>
                    <a:pt x="107314" y="226441"/>
                  </a:lnTo>
                  <a:lnTo>
                    <a:pt x="125349" y="226441"/>
                  </a:lnTo>
                  <a:lnTo>
                    <a:pt x="127762" y="224536"/>
                  </a:lnTo>
                  <a:lnTo>
                    <a:pt x="129412" y="222758"/>
                  </a:lnTo>
                  <a:lnTo>
                    <a:pt x="131063" y="220853"/>
                  </a:lnTo>
                  <a:lnTo>
                    <a:pt x="131063" y="218059"/>
                  </a:lnTo>
                  <a:lnTo>
                    <a:pt x="71246" y="25273"/>
                  </a:lnTo>
                  <a:lnTo>
                    <a:pt x="49512" y="1841"/>
                  </a:lnTo>
                  <a:lnTo>
                    <a:pt x="39369" y="0"/>
                  </a:lnTo>
                  <a:close/>
                </a:path>
              </a:pathLst>
            </a:custGeom>
            <a:solidFill>
              <a:srgbClr val="A9A9A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578610" y="3785615"/>
            <a:ext cx="268605" cy="364490"/>
            <a:chOff x="1578610" y="3785615"/>
            <a:chExt cx="268605" cy="364490"/>
          </a:xfrm>
        </p:grpSpPr>
        <p:sp>
          <p:nvSpPr>
            <p:cNvPr id="29" name="object 29"/>
            <p:cNvSpPr/>
            <p:nvPr/>
          </p:nvSpPr>
          <p:spPr>
            <a:xfrm>
              <a:off x="1676400" y="3875531"/>
              <a:ext cx="136904" cy="23745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78610" y="3785615"/>
              <a:ext cx="268605" cy="364490"/>
            </a:xfrm>
            <a:custGeom>
              <a:avLst/>
              <a:gdLst/>
              <a:ahLst/>
              <a:cxnLst/>
              <a:rect l="l" t="t" r="r" b="b"/>
              <a:pathLst>
                <a:path w="268605" h="364489">
                  <a:moveTo>
                    <a:pt x="136397" y="0"/>
                  </a:moveTo>
                  <a:lnTo>
                    <a:pt x="133222" y="0"/>
                  </a:lnTo>
                  <a:lnTo>
                    <a:pt x="130047" y="1142"/>
                  </a:lnTo>
                  <a:lnTo>
                    <a:pt x="126872" y="2412"/>
                  </a:lnTo>
                  <a:lnTo>
                    <a:pt x="125857" y="5968"/>
                  </a:lnTo>
                  <a:lnTo>
                    <a:pt x="124840" y="7111"/>
                  </a:lnTo>
                  <a:lnTo>
                    <a:pt x="124840" y="8381"/>
                  </a:lnTo>
                  <a:lnTo>
                    <a:pt x="123697" y="8381"/>
                  </a:lnTo>
                  <a:lnTo>
                    <a:pt x="96831" y="30311"/>
                  </a:lnTo>
                  <a:lnTo>
                    <a:pt x="69643" y="45989"/>
                  </a:lnTo>
                  <a:lnTo>
                    <a:pt x="42241" y="55405"/>
                  </a:lnTo>
                  <a:lnTo>
                    <a:pt x="14731" y="58546"/>
                  </a:lnTo>
                  <a:lnTo>
                    <a:pt x="6223" y="58546"/>
                  </a:lnTo>
                  <a:lnTo>
                    <a:pt x="3175" y="60959"/>
                  </a:lnTo>
                  <a:lnTo>
                    <a:pt x="1015" y="63245"/>
                  </a:lnTo>
                  <a:lnTo>
                    <a:pt x="0" y="66928"/>
                  </a:lnTo>
                  <a:lnTo>
                    <a:pt x="0" y="70484"/>
                  </a:lnTo>
                  <a:lnTo>
                    <a:pt x="1015" y="74040"/>
                  </a:lnTo>
                  <a:lnTo>
                    <a:pt x="2031" y="76453"/>
                  </a:lnTo>
                  <a:lnTo>
                    <a:pt x="9323" y="136660"/>
                  </a:lnTo>
                  <a:lnTo>
                    <a:pt x="21291" y="188502"/>
                  </a:lnTo>
                  <a:lnTo>
                    <a:pt x="36331" y="232212"/>
                  </a:lnTo>
                  <a:lnTo>
                    <a:pt x="52840" y="268022"/>
                  </a:lnTo>
                  <a:lnTo>
                    <a:pt x="85296" y="318654"/>
                  </a:lnTo>
                  <a:lnTo>
                    <a:pt x="115506" y="351063"/>
                  </a:lnTo>
                  <a:lnTo>
                    <a:pt x="126872" y="359409"/>
                  </a:lnTo>
                  <a:lnTo>
                    <a:pt x="127889" y="360679"/>
                  </a:lnTo>
                  <a:lnTo>
                    <a:pt x="129032" y="363092"/>
                  </a:lnTo>
                  <a:lnTo>
                    <a:pt x="132079" y="364235"/>
                  </a:lnTo>
                  <a:lnTo>
                    <a:pt x="135254" y="364235"/>
                  </a:lnTo>
                  <a:lnTo>
                    <a:pt x="137414" y="363092"/>
                  </a:lnTo>
                  <a:lnTo>
                    <a:pt x="138429" y="363092"/>
                  </a:lnTo>
                  <a:lnTo>
                    <a:pt x="141604" y="360679"/>
                  </a:lnTo>
                  <a:lnTo>
                    <a:pt x="142621" y="360679"/>
                  </a:lnTo>
                  <a:lnTo>
                    <a:pt x="146877" y="357199"/>
                  </a:lnTo>
                  <a:lnTo>
                    <a:pt x="157146" y="348265"/>
                  </a:lnTo>
                  <a:lnTo>
                    <a:pt x="164965" y="340359"/>
                  </a:lnTo>
                  <a:lnTo>
                    <a:pt x="135254" y="340359"/>
                  </a:lnTo>
                  <a:lnTo>
                    <a:pt x="123092" y="330370"/>
                  </a:lnTo>
                  <a:lnTo>
                    <a:pt x="78533" y="274669"/>
                  </a:lnTo>
                  <a:lnTo>
                    <a:pt x="54116" y="226050"/>
                  </a:lnTo>
                  <a:lnTo>
                    <a:pt x="33593" y="161648"/>
                  </a:lnTo>
                  <a:lnTo>
                    <a:pt x="20955" y="80009"/>
                  </a:lnTo>
                  <a:lnTo>
                    <a:pt x="49905" y="75830"/>
                  </a:lnTo>
                  <a:lnTo>
                    <a:pt x="78533" y="65246"/>
                  </a:lnTo>
                  <a:lnTo>
                    <a:pt x="106947" y="48613"/>
                  </a:lnTo>
                  <a:lnTo>
                    <a:pt x="135254" y="26288"/>
                  </a:lnTo>
                  <a:lnTo>
                    <a:pt x="163350" y="26288"/>
                  </a:lnTo>
                  <a:lnTo>
                    <a:pt x="144779" y="7111"/>
                  </a:lnTo>
                  <a:lnTo>
                    <a:pt x="141604" y="3555"/>
                  </a:lnTo>
                  <a:lnTo>
                    <a:pt x="138429" y="1142"/>
                  </a:lnTo>
                  <a:lnTo>
                    <a:pt x="136397" y="0"/>
                  </a:lnTo>
                  <a:close/>
                </a:path>
                <a:path w="268605" h="364489">
                  <a:moveTo>
                    <a:pt x="184531" y="292607"/>
                  </a:moveTo>
                  <a:lnTo>
                    <a:pt x="178308" y="293750"/>
                  </a:lnTo>
                  <a:lnTo>
                    <a:pt x="175133" y="298576"/>
                  </a:lnTo>
                  <a:lnTo>
                    <a:pt x="162133" y="314499"/>
                  </a:lnTo>
                  <a:lnTo>
                    <a:pt x="150479" y="326612"/>
                  </a:lnTo>
                  <a:lnTo>
                    <a:pt x="141182" y="335152"/>
                  </a:lnTo>
                  <a:lnTo>
                    <a:pt x="135254" y="340359"/>
                  </a:lnTo>
                  <a:lnTo>
                    <a:pt x="164965" y="340359"/>
                  </a:lnTo>
                  <a:lnTo>
                    <a:pt x="171963" y="333283"/>
                  </a:lnTo>
                  <a:lnTo>
                    <a:pt x="189865" y="311657"/>
                  </a:lnTo>
                  <a:lnTo>
                    <a:pt x="192913" y="306958"/>
                  </a:lnTo>
                  <a:lnTo>
                    <a:pt x="191897" y="300989"/>
                  </a:lnTo>
                  <a:lnTo>
                    <a:pt x="188722" y="297306"/>
                  </a:lnTo>
                  <a:lnTo>
                    <a:pt x="184531" y="292607"/>
                  </a:lnTo>
                  <a:close/>
                </a:path>
                <a:path w="268605" h="364489">
                  <a:moveTo>
                    <a:pt x="163350" y="26288"/>
                  </a:moveTo>
                  <a:lnTo>
                    <a:pt x="135254" y="26288"/>
                  </a:lnTo>
                  <a:lnTo>
                    <a:pt x="150310" y="39862"/>
                  </a:lnTo>
                  <a:lnTo>
                    <a:pt x="175498" y="57149"/>
                  </a:lnTo>
                  <a:lnTo>
                    <a:pt x="209139" y="72437"/>
                  </a:lnTo>
                  <a:lnTo>
                    <a:pt x="249554" y="80009"/>
                  </a:lnTo>
                  <a:lnTo>
                    <a:pt x="243883" y="125251"/>
                  </a:lnTo>
                  <a:lnTo>
                    <a:pt x="234759" y="167814"/>
                  </a:lnTo>
                  <a:lnTo>
                    <a:pt x="222301" y="207686"/>
                  </a:lnTo>
                  <a:lnTo>
                    <a:pt x="206628" y="244855"/>
                  </a:lnTo>
                  <a:lnTo>
                    <a:pt x="204470" y="249554"/>
                  </a:lnTo>
                  <a:lnTo>
                    <a:pt x="206628" y="256793"/>
                  </a:lnTo>
                  <a:lnTo>
                    <a:pt x="210820" y="259206"/>
                  </a:lnTo>
                  <a:lnTo>
                    <a:pt x="215010" y="262762"/>
                  </a:lnTo>
                  <a:lnTo>
                    <a:pt x="221234" y="260349"/>
                  </a:lnTo>
                  <a:lnTo>
                    <a:pt x="240456" y="214612"/>
                  </a:lnTo>
                  <a:lnTo>
                    <a:pt x="253793" y="170640"/>
                  </a:lnTo>
                  <a:lnTo>
                    <a:pt x="263201" y="123739"/>
                  </a:lnTo>
                  <a:lnTo>
                    <a:pt x="268478" y="74040"/>
                  </a:lnTo>
                  <a:lnTo>
                    <a:pt x="268478" y="63245"/>
                  </a:lnTo>
                  <a:lnTo>
                    <a:pt x="264287" y="58546"/>
                  </a:lnTo>
                  <a:lnTo>
                    <a:pt x="254889" y="58546"/>
                  </a:lnTo>
                  <a:lnTo>
                    <a:pt x="218307" y="57743"/>
                  </a:lnTo>
                  <a:lnTo>
                    <a:pt x="194643" y="52117"/>
                  </a:lnTo>
                  <a:lnTo>
                    <a:pt x="173575" y="36847"/>
                  </a:lnTo>
                  <a:lnTo>
                    <a:pt x="163350" y="26288"/>
                  </a:lnTo>
                  <a:close/>
                </a:path>
              </a:pathLst>
            </a:custGeom>
            <a:solidFill>
              <a:srgbClr val="A9A9A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6341364" y="3797808"/>
            <a:ext cx="259079" cy="350520"/>
          </a:xfrm>
          <a:custGeom>
            <a:avLst/>
            <a:gdLst/>
            <a:ahLst/>
            <a:cxnLst/>
            <a:rect l="l" t="t" r="r" b="b"/>
            <a:pathLst>
              <a:path w="259079" h="350520">
                <a:moveTo>
                  <a:pt x="112268" y="162306"/>
                </a:moveTo>
                <a:lnTo>
                  <a:pt x="90677" y="162306"/>
                </a:lnTo>
                <a:lnTo>
                  <a:pt x="71120" y="343154"/>
                </a:lnTo>
                <a:lnTo>
                  <a:pt x="70485" y="346837"/>
                </a:lnTo>
                <a:lnTo>
                  <a:pt x="73151" y="349758"/>
                </a:lnTo>
                <a:lnTo>
                  <a:pt x="76326" y="350520"/>
                </a:lnTo>
                <a:lnTo>
                  <a:pt x="78994" y="350520"/>
                </a:lnTo>
                <a:lnTo>
                  <a:pt x="81534" y="348996"/>
                </a:lnTo>
                <a:lnTo>
                  <a:pt x="82169" y="346837"/>
                </a:lnTo>
                <a:lnTo>
                  <a:pt x="82931" y="346837"/>
                </a:lnTo>
                <a:lnTo>
                  <a:pt x="84200" y="346075"/>
                </a:lnTo>
                <a:lnTo>
                  <a:pt x="84836" y="346075"/>
                </a:lnTo>
                <a:lnTo>
                  <a:pt x="109160" y="331343"/>
                </a:lnTo>
                <a:lnTo>
                  <a:pt x="84200" y="331343"/>
                </a:lnTo>
                <a:lnTo>
                  <a:pt x="88773" y="293751"/>
                </a:lnTo>
                <a:lnTo>
                  <a:pt x="114329" y="293751"/>
                </a:lnTo>
                <a:lnTo>
                  <a:pt x="97282" y="283337"/>
                </a:lnTo>
                <a:lnTo>
                  <a:pt x="112071" y="272288"/>
                </a:lnTo>
                <a:lnTo>
                  <a:pt x="90677" y="272288"/>
                </a:lnTo>
                <a:lnTo>
                  <a:pt x="95250" y="232410"/>
                </a:lnTo>
                <a:lnTo>
                  <a:pt x="116302" y="232410"/>
                </a:lnTo>
                <a:lnTo>
                  <a:pt x="101853" y="221361"/>
                </a:lnTo>
                <a:lnTo>
                  <a:pt x="116233" y="208153"/>
                </a:lnTo>
                <a:lnTo>
                  <a:pt x="97916" y="208153"/>
                </a:lnTo>
                <a:lnTo>
                  <a:pt x="101853" y="169672"/>
                </a:lnTo>
                <a:lnTo>
                  <a:pt x="120267" y="169672"/>
                </a:lnTo>
                <a:lnTo>
                  <a:pt x="112268" y="162306"/>
                </a:lnTo>
                <a:close/>
              </a:path>
              <a:path w="259079" h="350520">
                <a:moveTo>
                  <a:pt x="155545" y="318770"/>
                </a:moveTo>
                <a:lnTo>
                  <a:pt x="129921" y="318770"/>
                </a:lnTo>
                <a:lnTo>
                  <a:pt x="174243" y="346075"/>
                </a:lnTo>
                <a:lnTo>
                  <a:pt x="174879" y="346075"/>
                </a:lnTo>
                <a:lnTo>
                  <a:pt x="176149" y="346837"/>
                </a:lnTo>
                <a:lnTo>
                  <a:pt x="176911" y="346837"/>
                </a:lnTo>
                <a:lnTo>
                  <a:pt x="177545" y="348996"/>
                </a:lnTo>
                <a:lnTo>
                  <a:pt x="180086" y="350520"/>
                </a:lnTo>
                <a:lnTo>
                  <a:pt x="182753" y="350520"/>
                </a:lnTo>
                <a:lnTo>
                  <a:pt x="185928" y="349758"/>
                </a:lnTo>
                <a:lnTo>
                  <a:pt x="188594" y="346837"/>
                </a:lnTo>
                <a:lnTo>
                  <a:pt x="187960" y="343154"/>
                </a:lnTo>
                <a:lnTo>
                  <a:pt x="186459" y="330581"/>
                </a:lnTo>
                <a:lnTo>
                  <a:pt x="174879" y="330581"/>
                </a:lnTo>
                <a:lnTo>
                  <a:pt x="155545" y="318770"/>
                </a:lnTo>
                <a:close/>
              </a:path>
              <a:path w="259079" h="350520">
                <a:moveTo>
                  <a:pt x="114329" y="293751"/>
                </a:moveTo>
                <a:lnTo>
                  <a:pt x="88773" y="293751"/>
                </a:lnTo>
                <a:lnTo>
                  <a:pt x="117475" y="310642"/>
                </a:lnTo>
                <a:lnTo>
                  <a:pt x="84200" y="331343"/>
                </a:lnTo>
                <a:lnTo>
                  <a:pt x="109160" y="331343"/>
                </a:lnTo>
                <a:lnTo>
                  <a:pt x="129921" y="318770"/>
                </a:lnTo>
                <a:lnTo>
                  <a:pt x="155545" y="318770"/>
                </a:lnTo>
                <a:lnTo>
                  <a:pt x="142239" y="310642"/>
                </a:lnTo>
                <a:lnTo>
                  <a:pt x="154479" y="303276"/>
                </a:lnTo>
                <a:lnTo>
                  <a:pt x="129921" y="303276"/>
                </a:lnTo>
                <a:lnTo>
                  <a:pt x="114329" y="293751"/>
                </a:lnTo>
                <a:close/>
              </a:path>
              <a:path w="259079" h="350520">
                <a:moveTo>
                  <a:pt x="182062" y="293751"/>
                </a:moveTo>
                <a:lnTo>
                  <a:pt x="170307" y="293751"/>
                </a:lnTo>
                <a:lnTo>
                  <a:pt x="174879" y="330581"/>
                </a:lnTo>
                <a:lnTo>
                  <a:pt x="186459" y="330581"/>
                </a:lnTo>
                <a:lnTo>
                  <a:pt x="182062" y="293751"/>
                </a:lnTo>
                <a:close/>
              </a:path>
              <a:path w="259079" h="350520">
                <a:moveTo>
                  <a:pt x="150622" y="258953"/>
                </a:moveTo>
                <a:lnTo>
                  <a:pt x="129921" y="258953"/>
                </a:lnTo>
                <a:lnTo>
                  <a:pt x="161797" y="283337"/>
                </a:lnTo>
                <a:lnTo>
                  <a:pt x="129921" y="303276"/>
                </a:lnTo>
                <a:lnTo>
                  <a:pt x="154479" y="303276"/>
                </a:lnTo>
                <a:lnTo>
                  <a:pt x="170307" y="293751"/>
                </a:lnTo>
                <a:lnTo>
                  <a:pt x="182062" y="293751"/>
                </a:lnTo>
                <a:lnTo>
                  <a:pt x="179499" y="272288"/>
                </a:lnTo>
                <a:lnTo>
                  <a:pt x="167766" y="272288"/>
                </a:lnTo>
                <a:lnTo>
                  <a:pt x="150622" y="258953"/>
                </a:lnTo>
                <a:close/>
              </a:path>
              <a:path w="259079" h="350520">
                <a:moveTo>
                  <a:pt x="116302" y="232410"/>
                </a:moveTo>
                <a:lnTo>
                  <a:pt x="95250" y="232410"/>
                </a:lnTo>
                <a:lnTo>
                  <a:pt x="119380" y="250952"/>
                </a:lnTo>
                <a:lnTo>
                  <a:pt x="90677" y="272288"/>
                </a:lnTo>
                <a:lnTo>
                  <a:pt x="112071" y="272288"/>
                </a:lnTo>
                <a:lnTo>
                  <a:pt x="129921" y="258953"/>
                </a:lnTo>
                <a:lnTo>
                  <a:pt x="150622" y="258953"/>
                </a:lnTo>
                <a:lnTo>
                  <a:pt x="140335" y="250952"/>
                </a:lnTo>
                <a:lnTo>
                  <a:pt x="150785" y="242824"/>
                </a:lnTo>
                <a:lnTo>
                  <a:pt x="129921" y="242824"/>
                </a:lnTo>
                <a:lnTo>
                  <a:pt x="116302" y="232410"/>
                </a:lnTo>
                <a:close/>
              </a:path>
              <a:path w="259079" h="350520">
                <a:moveTo>
                  <a:pt x="174830" y="233172"/>
                </a:moveTo>
                <a:lnTo>
                  <a:pt x="163194" y="233172"/>
                </a:lnTo>
                <a:lnTo>
                  <a:pt x="167766" y="272288"/>
                </a:lnTo>
                <a:lnTo>
                  <a:pt x="179499" y="272288"/>
                </a:lnTo>
                <a:lnTo>
                  <a:pt x="174830" y="233172"/>
                </a:lnTo>
                <a:close/>
              </a:path>
              <a:path w="259079" h="350520">
                <a:moveTo>
                  <a:pt x="147555" y="195580"/>
                </a:moveTo>
                <a:lnTo>
                  <a:pt x="129921" y="195580"/>
                </a:lnTo>
                <a:lnTo>
                  <a:pt x="157225" y="221361"/>
                </a:lnTo>
                <a:lnTo>
                  <a:pt x="129921" y="242824"/>
                </a:lnTo>
                <a:lnTo>
                  <a:pt x="150785" y="242824"/>
                </a:lnTo>
                <a:lnTo>
                  <a:pt x="163194" y="233172"/>
                </a:lnTo>
                <a:lnTo>
                  <a:pt x="174830" y="233172"/>
                </a:lnTo>
                <a:lnTo>
                  <a:pt x="171752" y="207391"/>
                </a:lnTo>
                <a:lnTo>
                  <a:pt x="159893" y="207391"/>
                </a:lnTo>
                <a:lnTo>
                  <a:pt x="147555" y="195580"/>
                </a:lnTo>
                <a:close/>
              </a:path>
              <a:path w="259079" h="350520">
                <a:moveTo>
                  <a:pt x="120267" y="169672"/>
                </a:moveTo>
                <a:lnTo>
                  <a:pt x="101853" y="169672"/>
                </a:lnTo>
                <a:lnTo>
                  <a:pt x="120776" y="187452"/>
                </a:lnTo>
                <a:lnTo>
                  <a:pt x="97916" y="208153"/>
                </a:lnTo>
                <a:lnTo>
                  <a:pt x="116233" y="208153"/>
                </a:lnTo>
                <a:lnTo>
                  <a:pt x="129921" y="195580"/>
                </a:lnTo>
                <a:lnTo>
                  <a:pt x="147555" y="195580"/>
                </a:lnTo>
                <a:lnTo>
                  <a:pt x="139064" y="187452"/>
                </a:lnTo>
                <a:lnTo>
                  <a:pt x="148302" y="178562"/>
                </a:lnTo>
                <a:lnTo>
                  <a:pt x="129921" y="178562"/>
                </a:lnTo>
                <a:lnTo>
                  <a:pt x="120267" y="169672"/>
                </a:lnTo>
                <a:close/>
              </a:path>
              <a:path w="259079" h="350520">
                <a:moveTo>
                  <a:pt x="167431" y="171196"/>
                </a:moveTo>
                <a:lnTo>
                  <a:pt x="155956" y="171196"/>
                </a:lnTo>
                <a:lnTo>
                  <a:pt x="159893" y="207391"/>
                </a:lnTo>
                <a:lnTo>
                  <a:pt x="171752" y="207391"/>
                </a:lnTo>
                <a:lnTo>
                  <a:pt x="167431" y="171196"/>
                </a:lnTo>
                <a:close/>
              </a:path>
              <a:path w="259079" h="350520">
                <a:moveTo>
                  <a:pt x="258444" y="152019"/>
                </a:moveTo>
                <a:lnTo>
                  <a:pt x="635" y="152019"/>
                </a:lnTo>
                <a:lnTo>
                  <a:pt x="635" y="154178"/>
                </a:lnTo>
                <a:lnTo>
                  <a:pt x="0" y="154178"/>
                </a:lnTo>
                <a:lnTo>
                  <a:pt x="0" y="188214"/>
                </a:lnTo>
                <a:lnTo>
                  <a:pt x="2666" y="191135"/>
                </a:lnTo>
                <a:lnTo>
                  <a:pt x="9144" y="191135"/>
                </a:lnTo>
                <a:lnTo>
                  <a:pt x="11684" y="188214"/>
                </a:lnTo>
                <a:lnTo>
                  <a:pt x="11684" y="162306"/>
                </a:lnTo>
                <a:lnTo>
                  <a:pt x="259080" y="162306"/>
                </a:lnTo>
                <a:lnTo>
                  <a:pt x="259080" y="153543"/>
                </a:lnTo>
                <a:lnTo>
                  <a:pt x="258444" y="153543"/>
                </a:lnTo>
                <a:lnTo>
                  <a:pt x="258444" y="152019"/>
                </a:lnTo>
                <a:close/>
              </a:path>
              <a:path w="259079" h="350520">
                <a:moveTo>
                  <a:pt x="55499" y="162306"/>
                </a:moveTo>
                <a:lnTo>
                  <a:pt x="43687" y="162306"/>
                </a:lnTo>
                <a:lnTo>
                  <a:pt x="43687" y="188214"/>
                </a:lnTo>
                <a:lnTo>
                  <a:pt x="46355" y="191135"/>
                </a:lnTo>
                <a:lnTo>
                  <a:pt x="52832" y="191135"/>
                </a:lnTo>
                <a:lnTo>
                  <a:pt x="55499" y="188214"/>
                </a:lnTo>
                <a:lnTo>
                  <a:pt x="55499" y="162306"/>
                </a:lnTo>
                <a:close/>
              </a:path>
              <a:path w="259079" h="350520">
                <a:moveTo>
                  <a:pt x="215391" y="162306"/>
                </a:moveTo>
                <a:lnTo>
                  <a:pt x="203581" y="162306"/>
                </a:lnTo>
                <a:lnTo>
                  <a:pt x="203581" y="188214"/>
                </a:lnTo>
                <a:lnTo>
                  <a:pt x="206247" y="191135"/>
                </a:lnTo>
                <a:lnTo>
                  <a:pt x="212725" y="191135"/>
                </a:lnTo>
                <a:lnTo>
                  <a:pt x="215391" y="188214"/>
                </a:lnTo>
                <a:lnTo>
                  <a:pt x="215391" y="162306"/>
                </a:lnTo>
                <a:close/>
              </a:path>
              <a:path w="259079" h="350520">
                <a:moveTo>
                  <a:pt x="259080" y="162306"/>
                </a:moveTo>
                <a:lnTo>
                  <a:pt x="247395" y="162306"/>
                </a:lnTo>
                <a:lnTo>
                  <a:pt x="247395" y="188214"/>
                </a:lnTo>
                <a:lnTo>
                  <a:pt x="249936" y="191135"/>
                </a:lnTo>
                <a:lnTo>
                  <a:pt x="256412" y="191135"/>
                </a:lnTo>
                <a:lnTo>
                  <a:pt x="259080" y="188214"/>
                </a:lnTo>
                <a:lnTo>
                  <a:pt x="259080" y="162306"/>
                </a:lnTo>
                <a:close/>
              </a:path>
              <a:path w="259079" h="350520">
                <a:moveTo>
                  <a:pt x="166369" y="162306"/>
                </a:moveTo>
                <a:lnTo>
                  <a:pt x="146812" y="162306"/>
                </a:lnTo>
                <a:lnTo>
                  <a:pt x="129921" y="178562"/>
                </a:lnTo>
                <a:lnTo>
                  <a:pt x="148302" y="178562"/>
                </a:lnTo>
                <a:lnTo>
                  <a:pt x="155956" y="171196"/>
                </a:lnTo>
                <a:lnTo>
                  <a:pt x="167431" y="171196"/>
                </a:lnTo>
                <a:lnTo>
                  <a:pt x="166369" y="162306"/>
                </a:lnTo>
                <a:close/>
              </a:path>
              <a:path w="259079" h="350520">
                <a:moveTo>
                  <a:pt x="257175" y="150495"/>
                </a:moveTo>
                <a:lnTo>
                  <a:pt x="1905" y="150495"/>
                </a:lnTo>
                <a:lnTo>
                  <a:pt x="1905" y="151257"/>
                </a:lnTo>
                <a:lnTo>
                  <a:pt x="1270" y="151257"/>
                </a:lnTo>
                <a:lnTo>
                  <a:pt x="1270" y="152019"/>
                </a:lnTo>
                <a:lnTo>
                  <a:pt x="257810" y="152019"/>
                </a:lnTo>
                <a:lnTo>
                  <a:pt x="257810" y="151257"/>
                </a:lnTo>
                <a:lnTo>
                  <a:pt x="257175" y="150495"/>
                </a:lnTo>
                <a:close/>
              </a:path>
              <a:path w="259079" h="350520">
                <a:moveTo>
                  <a:pt x="256412" y="149860"/>
                </a:moveTo>
                <a:lnTo>
                  <a:pt x="2666" y="149860"/>
                </a:lnTo>
                <a:lnTo>
                  <a:pt x="2666" y="150495"/>
                </a:lnTo>
                <a:lnTo>
                  <a:pt x="256412" y="150495"/>
                </a:lnTo>
                <a:lnTo>
                  <a:pt x="256412" y="149860"/>
                </a:lnTo>
                <a:close/>
              </a:path>
              <a:path w="259079" h="350520">
                <a:moveTo>
                  <a:pt x="211322" y="133604"/>
                </a:moveTo>
                <a:lnTo>
                  <a:pt x="170941" y="133604"/>
                </a:lnTo>
                <a:lnTo>
                  <a:pt x="214757" y="149098"/>
                </a:lnTo>
                <a:lnTo>
                  <a:pt x="3937" y="149098"/>
                </a:lnTo>
                <a:lnTo>
                  <a:pt x="3301" y="149860"/>
                </a:lnTo>
                <a:lnTo>
                  <a:pt x="255778" y="149860"/>
                </a:lnTo>
                <a:lnTo>
                  <a:pt x="255142" y="149098"/>
                </a:lnTo>
                <a:lnTo>
                  <a:pt x="211322" y="133604"/>
                </a:lnTo>
                <a:close/>
              </a:path>
              <a:path w="259079" h="350520">
                <a:moveTo>
                  <a:pt x="173609" y="120269"/>
                </a:moveTo>
                <a:lnTo>
                  <a:pt x="85471" y="120269"/>
                </a:lnTo>
                <a:lnTo>
                  <a:pt x="4572" y="149098"/>
                </a:lnTo>
                <a:lnTo>
                  <a:pt x="44323" y="149098"/>
                </a:lnTo>
                <a:lnTo>
                  <a:pt x="88137" y="133604"/>
                </a:lnTo>
                <a:lnTo>
                  <a:pt x="211322" y="133604"/>
                </a:lnTo>
                <a:lnTo>
                  <a:pt x="173609" y="120269"/>
                </a:lnTo>
                <a:close/>
              </a:path>
              <a:path w="259079" h="350520">
                <a:moveTo>
                  <a:pt x="105663" y="133604"/>
                </a:moveTo>
                <a:lnTo>
                  <a:pt x="93980" y="133604"/>
                </a:lnTo>
                <a:lnTo>
                  <a:pt x="92710" y="149098"/>
                </a:lnTo>
                <a:lnTo>
                  <a:pt x="117475" y="149098"/>
                </a:lnTo>
                <a:lnTo>
                  <a:pt x="120433" y="145415"/>
                </a:lnTo>
                <a:lnTo>
                  <a:pt x="105028" y="145415"/>
                </a:lnTo>
                <a:lnTo>
                  <a:pt x="105663" y="133604"/>
                </a:lnTo>
                <a:close/>
              </a:path>
              <a:path w="259079" h="350520">
                <a:moveTo>
                  <a:pt x="144907" y="133604"/>
                </a:moveTo>
                <a:lnTo>
                  <a:pt x="129921" y="133604"/>
                </a:lnTo>
                <a:lnTo>
                  <a:pt x="141605" y="149098"/>
                </a:lnTo>
                <a:lnTo>
                  <a:pt x="165100" y="149098"/>
                </a:lnTo>
                <a:lnTo>
                  <a:pt x="164272" y="142367"/>
                </a:lnTo>
                <a:lnTo>
                  <a:pt x="152019" y="142367"/>
                </a:lnTo>
                <a:lnTo>
                  <a:pt x="144907" y="133604"/>
                </a:lnTo>
                <a:close/>
              </a:path>
              <a:path w="259079" h="350520">
                <a:moveTo>
                  <a:pt x="129921" y="133604"/>
                </a:moveTo>
                <a:lnTo>
                  <a:pt x="114173" y="133604"/>
                </a:lnTo>
                <a:lnTo>
                  <a:pt x="105028" y="145415"/>
                </a:lnTo>
                <a:lnTo>
                  <a:pt x="120433" y="145415"/>
                </a:lnTo>
                <a:lnTo>
                  <a:pt x="129921" y="133604"/>
                </a:lnTo>
                <a:close/>
              </a:path>
              <a:path w="259079" h="350520">
                <a:moveTo>
                  <a:pt x="163194" y="133604"/>
                </a:moveTo>
                <a:lnTo>
                  <a:pt x="151384" y="133604"/>
                </a:lnTo>
                <a:lnTo>
                  <a:pt x="152019" y="142367"/>
                </a:lnTo>
                <a:lnTo>
                  <a:pt x="164272" y="142367"/>
                </a:lnTo>
                <a:lnTo>
                  <a:pt x="163194" y="133604"/>
                </a:lnTo>
                <a:close/>
              </a:path>
              <a:path w="259079" h="350520">
                <a:moveTo>
                  <a:pt x="121412" y="50165"/>
                </a:moveTo>
                <a:lnTo>
                  <a:pt x="103124" y="50165"/>
                </a:lnTo>
                <a:lnTo>
                  <a:pt x="95885" y="120269"/>
                </a:lnTo>
                <a:lnTo>
                  <a:pt x="107696" y="120269"/>
                </a:lnTo>
                <a:lnTo>
                  <a:pt x="108965" y="107696"/>
                </a:lnTo>
                <a:lnTo>
                  <a:pt x="124514" y="107696"/>
                </a:lnTo>
                <a:lnTo>
                  <a:pt x="117475" y="98933"/>
                </a:lnTo>
                <a:lnTo>
                  <a:pt x="126517" y="87122"/>
                </a:lnTo>
                <a:lnTo>
                  <a:pt x="110998" y="87122"/>
                </a:lnTo>
                <a:lnTo>
                  <a:pt x="114173" y="61214"/>
                </a:lnTo>
                <a:lnTo>
                  <a:pt x="129372" y="61214"/>
                </a:lnTo>
                <a:lnTo>
                  <a:pt x="121412" y="50165"/>
                </a:lnTo>
                <a:close/>
              </a:path>
              <a:path w="259079" h="350520">
                <a:moveTo>
                  <a:pt x="124514" y="107696"/>
                </a:moveTo>
                <a:lnTo>
                  <a:pt x="108965" y="107696"/>
                </a:lnTo>
                <a:lnTo>
                  <a:pt x="118110" y="120269"/>
                </a:lnTo>
                <a:lnTo>
                  <a:pt x="140970" y="120269"/>
                </a:lnTo>
                <a:lnTo>
                  <a:pt x="145799" y="114427"/>
                </a:lnTo>
                <a:lnTo>
                  <a:pt x="129921" y="114427"/>
                </a:lnTo>
                <a:lnTo>
                  <a:pt x="124514" y="107696"/>
                </a:lnTo>
                <a:close/>
              </a:path>
              <a:path w="259079" h="350520">
                <a:moveTo>
                  <a:pt x="160110" y="110744"/>
                </a:moveTo>
                <a:lnTo>
                  <a:pt x="148844" y="110744"/>
                </a:lnTo>
                <a:lnTo>
                  <a:pt x="149478" y="120269"/>
                </a:lnTo>
                <a:lnTo>
                  <a:pt x="161162" y="120269"/>
                </a:lnTo>
                <a:lnTo>
                  <a:pt x="160110" y="110744"/>
                </a:lnTo>
                <a:close/>
              </a:path>
              <a:path w="259079" h="350520">
                <a:moveTo>
                  <a:pt x="144961" y="82677"/>
                </a:moveTo>
                <a:lnTo>
                  <a:pt x="129921" y="82677"/>
                </a:lnTo>
                <a:lnTo>
                  <a:pt x="141605" y="98933"/>
                </a:lnTo>
                <a:lnTo>
                  <a:pt x="129921" y="114427"/>
                </a:lnTo>
                <a:lnTo>
                  <a:pt x="145799" y="114427"/>
                </a:lnTo>
                <a:lnTo>
                  <a:pt x="148844" y="110744"/>
                </a:lnTo>
                <a:lnTo>
                  <a:pt x="160110" y="110744"/>
                </a:lnTo>
                <a:lnTo>
                  <a:pt x="157093" y="83439"/>
                </a:lnTo>
                <a:lnTo>
                  <a:pt x="145541" y="83439"/>
                </a:lnTo>
                <a:lnTo>
                  <a:pt x="144961" y="82677"/>
                </a:lnTo>
                <a:close/>
              </a:path>
              <a:path w="259079" h="350520">
                <a:moveTo>
                  <a:pt x="129372" y="61214"/>
                </a:moveTo>
                <a:lnTo>
                  <a:pt x="114173" y="61214"/>
                </a:lnTo>
                <a:lnTo>
                  <a:pt x="122047" y="72263"/>
                </a:lnTo>
                <a:lnTo>
                  <a:pt x="110998" y="87122"/>
                </a:lnTo>
                <a:lnTo>
                  <a:pt x="126517" y="87122"/>
                </a:lnTo>
                <a:lnTo>
                  <a:pt x="129921" y="82677"/>
                </a:lnTo>
                <a:lnTo>
                  <a:pt x="144961" y="82677"/>
                </a:lnTo>
                <a:lnTo>
                  <a:pt x="137033" y="72263"/>
                </a:lnTo>
                <a:lnTo>
                  <a:pt x="142875" y="64135"/>
                </a:lnTo>
                <a:lnTo>
                  <a:pt x="154959" y="64135"/>
                </a:lnTo>
                <a:lnTo>
                  <a:pt x="154721" y="61976"/>
                </a:lnTo>
                <a:lnTo>
                  <a:pt x="129921" y="61976"/>
                </a:lnTo>
                <a:lnTo>
                  <a:pt x="129372" y="61214"/>
                </a:lnTo>
                <a:close/>
              </a:path>
              <a:path w="259079" h="350520">
                <a:moveTo>
                  <a:pt x="154959" y="64135"/>
                </a:moveTo>
                <a:lnTo>
                  <a:pt x="142875" y="64135"/>
                </a:lnTo>
                <a:lnTo>
                  <a:pt x="145541" y="83439"/>
                </a:lnTo>
                <a:lnTo>
                  <a:pt x="157093" y="83439"/>
                </a:lnTo>
                <a:lnTo>
                  <a:pt x="154959" y="64135"/>
                </a:lnTo>
                <a:close/>
              </a:path>
              <a:path w="259079" h="350520">
                <a:moveTo>
                  <a:pt x="215391" y="42037"/>
                </a:moveTo>
                <a:lnTo>
                  <a:pt x="43687" y="42037"/>
                </a:lnTo>
                <a:lnTo>
                  <a:pt x="43687" y="76708"/>
                </a:lnTo>
                <a:lnTo>
                  <a:pt x="46355" y="79756"/>
                </a:lnTo>
                <a:lnTo>
                  <a:pt x="52832" y="79756"/>
                </a:lnTo>
                <a:lnTo>
                  <a:pt x="55499" y="76708"/>
                </a:lnTo>
                <a:lnTo>
                  <a:pt x="55499" y="50165"/>
                </a:lnTo>
                <a:lnTo>
                  <a:pt x="215391" y="50165"/>
                </a:lnTo>
                <a:lnTo>
                  <a:pt x="215391" y="42037"/>
                </a:lnTo>
                <a:close/>
              </a:path>
              <a:path w="259079" h="350520">
                <a:moveTo>
                  <a:pt x="215391" y="50165"/>
                </a:moveTo>
                <a:lnTo>
                  <a:pt x="203581" y="50165"/>
                </a:lnTo>
                <a:lnTo>
                  <a:pt x="203581" y="76708"/>
                </a:lnTo>
                <a:lnTo>
                  <a:pt x="206247" y="79756"/>
                </a:lnTo>
                <a:lnTo>
                  <a:pt x="212725" y="79756"/>
                </a:lnTo>
                <a:lnTo>
                  <a:pt x="215391" y="76708"/>
                </a:lnTo>
                <a:lnTo>
                  <a:pt x="215391" y="50165"/>
                </a:lnTo>
                <a:close/>
              </a:path>
              <a:path w="259079" h="350520">
                <a:moveTo>
                  <a:pt x="153415" y="50165"/>
                </a:moveTo>
                <a:lnTo>
                  <a:pt x="137668" y="50165"/>
                </a:lnTo>
                <a:lnTo>
                  <a:pt x="129921" y="61976"/>
                </a:lnTo>
                <a:lnTo>
                  <a:pt x="154721" y="61976"/>
                </a:lnTo>
                <a:lnTo>
                  <a:pt x="153415" y="50165"/>
                </a:lnTo>
                <a:close/>
              </a:path>
              <a:path w="259079" h="350520">
                <a:moveTo>
                  <a:pt x="213994" y="39116"/>
                </a:moveTo>
                <a:lnTo>
                  <a:pt x="45085" y="39116"/>
                </a:lnTo>
                <a:lnTo>
                  <a:pt x="45085" y="40640"/>
                </a:lnTo>
                <a:lnTo>
                  <a:pt x="44323" y="40640"/>
                </a:lnTo>
                <a:lnTo>
                  <a:pt x="44323" y="42037"/>
                </a:lnTo>
                <a:lnTo>
                  <a:pt x="214757" y="42037"/>
                </a:lnTo>
                <a:lnTo>
                  <a:pt x="214757" y="39878"/>
                </a:lnTo>
                <a:lnTo>
                  <a:pt x="213994" y="39878"/>
                </a:lnTo>
                <a:lnTo>
                  <a:pt x="213994" y="39116"/>
                </a:lnTo>
                <a:close/>
              </a:path>
              <a:path w="259079" h="350520">
                <a:moveTo>
                  <a:pt x="114173" y="0"/>
                </a:moveTo>
                <a:lnTo>
                  <a:pt x="100457" y="0"/>
                </a:lnTo>
                <a:lnTo>
                  <a:pt x="95250" y="5207"/>
                </a:lnTo>
                <a:lnTo>
                  <a:pt x="93980" y="11811"/>
                </a:lnTo>
                <a:lnTo>
                  <a:pt x="46989" y="37592"/>
                </a:lnTo>
                <a:lnTo>
                  <a:pt x="46989" y="38354"/>
                </a:lnTo>
                <a:lnTo>
                  <a:pt x="46355" y="38354"/>
                </a:lnTo>
                <a:lnTo>
                  <a:pt x="45720" y="39116"/>
                </a:lnTo>
                <a:lnTo>
                  <a:pt x="213360" y="39116"/>
                </a:lnTo>
                <a:lnTo>
                  <a:pt x="212089" y="37592"/>
                </a:lnTo>
                <a:lnTo>
                  <a:pt x="210935" y="36957"/>
                </a:lnTo>
                <a:lnTo>
                  <a:pt x="75057" y="36957"/>
                </a:lnTo>
                <a:lnTo>
                  <a:pt x="97282" y="25146"/>
                </a:lnTo>
                <a:lnTo>
                  <a:pt x="117992" y="25146"/>
                </a:lnTo>
                <a:lnTo>
                  <a:pt x="120014" y="22860"/>
                </a:lnTo>
                <a:lnTo>
                  <a:pt x="120014" y="6604"/>
                </a:lnTo>
                <a:lnTo>
                  <a:pt x="114173" y="0"/>
                </a:lnTo>
                <a:close/>
              </a:path>
              <a:path w="259079" h="350520">
                <a:moveTo>
                  <a:pt x="185298" y="22860"/>
                </a:moveTo>
                <a:lnTo>
                  <a:pt x="157987" y="22860"/>
                </a:lnTo>
                <a:lnTo>
                  <a:pt x="184022" y="36957"/>
                </a:lnTo>
                <a:lnTo>
                  <a:pt x="210935" y="36957"/>
                </a:lnTo>
                <a:lnTo>
                  <a:pt x="185298" y="22860"/>
                </a:lnTo>
                <a:close/>
              </a:path>
              <a:path w="259079" h="350520">
                <a:moveTo>
                  <a:pt x="117992" y="25146"/>
                </a:moveTo>
                <a:lnTo>
                  <a:pt x="97282" y="25146"/>
                </a:lnTo>
                <a:lnTo>
                  <a:pt x="99187" y="28067"/>
                </a:lnTo>
                <a:lnTo>
                  <a:pt x="103124" y="29464"/>
                </a:lnTo>
                <a:lnTo>
                  <a:pt x="114173" y="29464"/>
                </a:lnTo>
                <a:lnTo>
                  <a:pt x="117992" y="25146"/>
                </a:lnTo>
                <a:close/>
              </a:path>
              <a:path w="259079" h="350520">
                <a:moveTo>
                  <a:pt x="152019" y="0"/>
                </a:moveTo>
                <a:lnTo>
                  <a:pt x="139700" y="0"/>
                </a:lnTo>
                <a:lnTo>
                  <a:pt x="133731" y="6604"/>
                </a:lnTo>
                <a:lnTo>
                  <a:pt x="133731" y="22860"/>
                </a:lnTo>
                <a:lnTo>
                  <a:pt x="139700" y="29464"/>
                </a:lnTo>
                <a:lnTo>
                  <a:pt x="151384" y="29464"/>
                </a:lnTo>
                <a:lnTo>
                  <a:pt x="155321" y="27305"/>
                </a:lnTo>
                <a:lnTo>
                  <a:pt x="157987" y="22860"/>
                </a:lnTo>
                <a:lnTo>
                  <a:pt x="185298" y="22860"/>
                </a:lnTo>
                <a:lnTo>
                  <a:pt x="159893" y="8890"/>
                </a:lnTo>
                <a:lnTo>
                  <a:pt x="158623" y="8890"/>
                </a:lnTo>
                <a:lnTo>
                  <a:pt x="156590" y="3683"/>
                </a:lnTo>
                <a:lnTo>
                  <a:pt x="152019" y="0"/>
                </a:lnTo>
                <a:close/>
              </a:path>
            </a:pathLst>
          </a:custGeom>
          <a:solidFill>
            <a:srgbClr val="A9A9A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609331" y="3779520"/>
            <a:ext cx="329184" cy="3032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509759" y="3755135"/>
            <a:ext cx="281940" cy="3505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4623815" y="3802379"/>
            <a:ext cx="340995" cy="257810"/>
            <a:chOff x="4623815" y="3802379"/>
            <a:chExt cx="340995" cy="257810"/>
          </a:xfrm>
        </p:grpSpPr>
        <p:sp>
          <p:nvSpPr>
            <p:cNvPr id="35" name="object 35"/>
            <p:cNvSpPr/>
            <p:nvPr/>
          </p:nvSpPr>
          <p:spPr>
            <a:xfrm>
              <a:off x="4830317" y="3802379"/>
              <a:ext cx="133985" cy="25755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23815" y="3803903"/>
              <a:ext cx="224154" cy="256540"/>
            </a:xfrm>
            <a:custGeom>
              <a:avLst/>
              <a:gdLst/>
              <a:ahLst/>
              <a:cxnLst/>
              <a:rect l="l" t="t" r="r" b="b"/>
              <a:pathLst>
                <a:path w="224154" h="256539">
                  <a:moveTo>
                    <a:pt x="98956" y="216662"/>
                  </a:moveTo>
                  <a:lnTo>
                    <a:pt x="73660" y="216662"/>
                  </a:lnTo>
                  <a:lnTo>
                    <a:pt x="81280" y="220218"/>
                  </a:lnTo>
                  <a:lnTo>
                    <a:pt x="85217" y="221996"/>
                  </a:lnTo>
                  <a:lnTo>
                    <a:pt x="85979" y="248158"/>
                  </a:lnTo>
                  <a:lnTo>
                    <a:pt x="85979" y="252476"/>
                  </a:lnTo>
                  <a:lnTo>
                    <a:pt x="89026" y="256032"/>
                  </a:lnTo>
                  <a:lnTo>
                    <a:pt x="92837" y="256032"/>
                  </a:lnTo>
                  <a:lnTo>
                    <a:pt x="133476" y="255143"/>
                  </a:lnTo>
                  <a:lnTo>
                    <a:pt x="137287" y="255143"/>
                  </a:lnTo>
                  <a:lnTo>
                    <a:pt x="140462" y="251714"/>
                  </a:lnTo>
                  <a:lnTo>
                    <a:pt x="140462" y="240284"/>
                  </a:lnTo>
                  <a:lnTo>
                    <a:pt x="99695" y="240284"/>
                  </a:lnTo>
                  <a:lnTo>
                    <a:pt x="98956" y="216662"/>
                  </a:lnTo>
                  <a:close/>
                </a:path>
                <a:path w="224154" h="256539">
                  <a:moveTo>
                    <a:pt x="153416" y="197485"/>
                  </a:moveTo>
                  <a:lnTo>
                    <a:pt x="150368" y="197485"/>
                  </a:lnTo>
                  <a:lnTo>
                    <a:pt x="148082" y="199263"/>
                  </a:lnTo>
                  <a:lnTo>
                    <a:pt x="142748" y="202692"/>
                  </a:lnTo>
                  <a:lnTo>
                    <a:pt x="137287" y="205359"/>
                  </a:lnTo>
                  <a:lnTo>
                    <a:pt x="131953" y="207137"/>
                  </a:lnTo>
                  <a:lnTo>
                    <a:pt x="128905" y="208026"/>
                  </a:lnTo>
                  <a:lnTo>
                    <a:pt x="126619" y="211455"/>
                  </a:lnTo>
                  <a:lnTo>
                    <a:pt x="126619" y="239395"/>
                  </a:lnTo>
                  <a:lnTo>
                    <a:pt x="99695" y="240284"/>
                  </a:lnTo>
                  <a:lnTo>
                    <a:pt x="140462" y="240284"/>
                  </a:lnTo>
                  <a:lnTo>
                    <a:pt x="140462" y="220218"/>
                  </a:lnTo>
                  <a:lnTo>
                    <a:pt x="144272" y="219329"/>
                  </a:lnTo>
                  <a:lnTo>
                    <a:pt x="147320" y="217551"/>
                  </a:lnTo>
                  <a:lnTo>
                    <a:pt x="150368" y="215900"/>
                  </a:lnTo>
                  <a:lnTo>
                    <a:pt x="171140" y="215900"/>
                  </a:lnTo>
                  <a:lnTo>
                    <a:pt x="164211" y="208026"/>
                  </a:lnTo>
                  <a:lnTo>
                    <a:pt x="164211" y="207137"/>
                  </a:lnTo>
                  <a:lnTo>
                    <a:pt x="163449" y="207137"/>
                  </a:lnTo>
                  <a:lnTo>
                    <a:pt x="155701" y="200152"/>
                  </a:lnTo>
                  <a:lnTo>
                    <a:pt x="153416" y="197485"/>
                  </a:lnTo>
                  <a:close/>
                </a:path>
                <a:path w="224154" h="256539">
                  <a:moveTo>
                    <a:pt x="43757" y="159893"/>
                  </a:moveTo>
                  <a:lnTo>
                    <a:pt x="29210" y="159893"/>
                  </a:lnTo>
                  <a:lnTo>
                    <a:pt x="30734" y="165100"/>
                  </a:lnTo>
                  <a:lnTo>
                    <a:pt x="32258" y="169545"/>
                  </a:lnTo>
                  <a:lnTo>
                    <a:pt x="34544" y="173863"/>
                  </a:lnTo>
                  <a:lnTo>
                    <a:pt x="32258" y="176530"/>
                  </a:lnTo>
                  <a:lnTo>
                    <a:pt x="19176" y="191389"/>
                  </a:lnTo>
                  <a:lnTo>
                    <a:pt x="17653" y="193167"/>
                  </a:lnTo>
                  <a:lnTo>
                    <a:pt x="16891" y="194818"/>
                  </a:lnTo>
                  <a:lnTo>
                    <a:pt x="16891" y="199263"/>
                  </a:lnTo>
                  <a:lnTo>
                    <a:pt x="17653" y="201041"/>
                  </a:lnTo>
                  <a:lnTo>
                    <a:pt x="19176" y="202692"/>
                  </a:lnTo>
                  <a:lnTo>
                    <a:pt x="48387" y="235966"/>
                  </a:lnTo>
                  <a:lnTo>
                    <a:pt x="50673" y="238506"/>
                  </a:lnTo>
                  <a:lnTo>
                    <a:pt x="55245" y="238506"/>
                  </a:lnTo>
                  <a:lnTo>
                    <a:pt x="57531" y="235966"/>
                  </a:lnTo>
                  <a:lnTo>
                    <a:pt x="70612" y="220218"/>
                  </a:lnTo>
                  <a:lnTo>
                    <a:pt x="72136" y="218440"/>
                  </a:lnTo>
                  <a:lnTo>
                    <a:pt x="52959" y="218440"/>
                  </a:lnTo>
                  <a:lnTo>
                    <a:pt x="33782" y="196596"/>
                  </a:lnTo>
                  <a:lnTo>
                    <a:pt x="41401" y="187833"/>
                  </a:lnTo>
                  <a:lnTo>
                    <a:pt x="49149" y="179959"/>
                  </a:lnTo>
                  <a:lnTo>
                    <a:pt x="52197" y="176530"/>
                  </a:lnTo>
                  <a:lnTo>
                    <a:pt x="49149" y="171323"/>
                  </a:lnTo>
                  <a:lnTo>
                    <a:pt x="45212" y="164338"/>
                  </a:lnTo>
                  <a:lnTo>
                    <a:pt x="43757" y="159893"/>
                  </a:lnTo>
                  <a:close/>
                </a:path>
                <a:path w="224154" h="256539">
                  <a:moveTo>
                    <a:pt x="171140" y="215900"/>
                  </a:moveTo>
                  <a:lnTo>
                    <a:pt x="150368" y="215900"/>
                  </a:lnTo>
                  <a:lnTo>
                    <a:pt x="154939" y="219329"/>
                  </a:lnTo>
                  <a:lnTo>
                    <a:pt x="168021" y="234188"/>
                  </a:lnTo>
                  <a:lnTo>
                    <a:pt x="168783" y="235077"/>
                  </a:lnTo>
                  <a:lnTo>
                    <a:pt x="171069" y="235966"/>
                  </a:lnTo>
                  <a:lnTo>
                    <a:pt x="174117" y="235966"/>
                  </a:lnTo>
                  <a:lnTo>
                    <a:pt x="176403" y="235077"/>
                  </a:lnTo>
                  <a:lnTo>
                    <a:pt x="177292" y="234188"/>
                  </a:lnTo>
                  <a:lnTo>
                    <a:pt x="191889" y="217551"/>
                  </a:lnTo>
                  <a:lnTo>
                    <a:pt x="172593" y="217551"/>
                  </a:lnTo>
                  <a:lnTo>
                    <a:pt x="171140" y="215900"/>
                  </a:lnTo>
                  <a:close/>
                </a:path>
                <a:path w="224154" h="256539">
                  <a:moveTo>
                    <a:pt x="72898" y="198374"/>
                  </a:moveTo>
                  <a:lnTo>
                    <a:pt x="69087" y="199263"/>
                  </a:lnTo>
                  <a:lnTo>
                    <a:pt x="67563" y="201803"/>
                  </a:lnTo>
                  <a:lnTo>
                    <a:pt x="60579" y="209677"/>
                  </a:lnTo>
                  <a:lnTo>
                    <a:pt x="52959" y="218440"/>
                  </a:lnTo>
                  <a:lnTo>
                    <a:pt x="72136" y="218440"/>
                  </a:lnTo>
                  <a:lnTo>
                    <a:pt x="73660" y="216662"/>
                  </a:lnTo>
                  <a:lnTo>
                    <a:pt x="98956" y="216662"/>
                  </a:lnTo>
                  <a:lnTo>
                    <a:pt x="98933" y="212344"/>
                  </a:lnTo>
                  <a:lnTo>
                    <a:pt x="97409" y="208788"/>
                  </a:lnTo>
                  <a:lnTo>
                    <a:pt x="87503" y="206248"/>
                  </a:lnTo>
                  <a:lnTo>
                    <a:pt x="81280" y="203581"/>
                  </a:lnTo>
                  <a:lnTo>
                    <a:pt x="75946" y="200152"/>
                  </a:lnTo>
                  <a:lnTo>
                    <a:pt x="72898" y="198374"/>
                  </a:lnTo>
                  <a:close/>
                </a:path>
                <a:path w="224154" h="256539">
                  <a:moveTo>
                    <a:pt x="190246" y="36703"/>
                  </a:moveTo>
                  <a:lnTo>
                    <a:pt x="171069" y="36703"/>
                  </a:lnTo>
                  <a:lnTo>
                    <a:pt x="190246" y="58547"/>
                  </a:lnTo>
                  <a:lnTo>
                    <a:pt x="181863" y="68199"/>
                  </a:lnTo>
                  <a:lnTo>
                    <a:pt x="175641" y="76073"/>
                  </a:lnTo>
                  <a:lnTo>
                    <a:pt x="173355" y="78613"/>
                  </a:lnTo>
                  <a:lnTo>
                    <a:pt x="172593" y="82169"/>
                  </a:lnTo>
                  <a:lnTo>
                    <a:pt x="174117" y="85598"/>
                  </a:lnTo>
                  <a:lnTo>
                    <a:pt x="178054" y="91694"/>
                  </a:lnTo>
                  <a:lnTo>
                    <a:pt x="180339" y="98679"/>
                  </a:lnTo>
                  <a:lnTo>
                    <a:pt x="181863" y="104902"/>
                  </a:lnTo>
                  <a:lnTo>
                    <a:pt x="182625" y="108331"/>
                  </a:lnTo>
                  <a:lnTo>
                    <a:pt x="184912" y="110998"/>
                  </a:lnTo>
                  <a:lnTo>
                    <a:pt x="210185" y="110998"/>
                  </a:lnTo>
                  <a:lnTo>
                    <a:pt x="210185" y="142367"/>
                  </a:lnTo>
                  <a:lnTo>
                    <a:pt x="185674" y="142367"/>
                  </a:lnTo>
                  <a:lnTo>
                    <a:pt x="182625" y="145034"/>
                  </a:lnTo>
                  <a:lnTo>
                    <a:pt x="181863" y="147701"/>
                  </a:lnTo>
                  <a:lnTo>
                    <a:pt x="180339" y="154686"/>
                  </a:lnTo>
                  <a:lnTo>
                    <a:pt x="178054" y="161671"/>
                  </a:lnTo>
                  <a:lnTo>
                    <a:pt x="174879" y="167767"/>
                  </a:lnTo>
                  <a:lnTo>
                    <a:pt x="173355" y="171323"/>
                  </a:lnTo>
                  <a:lnTo>
                    <a:pt x="174117" y="174752"/>
                  </a:lnTo>
                  <a:lnTo>
                    <a:pt x="176403" y="177419"/>
                  </a:lnTo>
                  <a:lnTo>
                    <a:pt x="178816" y="179959"/>
                  </a:lnTo>
                  <a:lnTo>
                    <a:pt x="183387" y="185293"/>
                  </a:lnTo>
                  <a:lnTo>
                    <a:pt x="191770" y="194818"/>
                  </a:lnTo>
                  <a:lnTo>
                    <a:pt x="172593" y="217551"/>
                  </a:lnTo>
                  <a:lnTo>
                    <a:pt x="191889" y="217551"/>
                  </a:lnTo>
                  <a:lnTo>
                    <a:pt x="206375" y="201041"/>
                  </a:lnTo>
                  <a:lnTo>
                    <a:pt x="209423" y="197485"/>
                  </a:lnTo>
                  <a:lnTo>
                    <a:pt x="209423" y="192278"/>
                  </a:lnTo>
                  <a:lnTo>
                    <a:pt x="206375" y="189611"/>
                  </a:lnTo>
                  <a:lnTo>
                    <a:pt x="193294" y="174752"/>
                  </a:lnTo>
                  <a:lnTo>
                    <a:pt x="191770" y="172085"/>
                  </a:lnTo>
                  <a:lnTo>
                    <a:pt x="189484" y="170434"/>
                  </a:lnTo>
                  <a:lnTo>
                    <a:pt x="191008" y="165989"/>
                  </a:lnTo>
                  <a:lnTo>
                    <a:pt x="192532" y="162560"/>
                  </a:lnTo>
                  <a:lnTo>
                    <a:pt x="194056" y="158115"/>
                  </a:lnTo>
                  <a:lnTo>
                    <a:pt x="218694" y="158115"/>
                  </a:lnTo>
                  <a:lnTo>
                    <a:pt x="220980" y="157353"/>
                  </a:lnTo>
                  <a:lnTo>
                    <a:pt x="221742" y="155575"/>
                  </a:lnTo>
                  <a:lnTo>
                    <a:pt x="223266" y="153797"/>
                  </a:lnTo>
                  <a:lnTo>
                    <a:pt x="224028" y="152019"/>
                  </a:lnTo>
                  <a:lnTo>
                    <a:pt x="224028" y="101346"/>
                  </a:lnTo>
                  <a:lnTo>
                    <a:pt x="223266" y="98679"/>
                  </a:lnTo>
                  <a:lnTo>
                    <a:pt x="221742" y="97917"/>
                  </a:lnTo>
                  <a:lnTo>
                    <a:pt x="220980" y="96139"/>
                  </a:lnTo>
                  <a:lnTo>
                    <a:pt x="218694" y="95250"/>
                  </a:lnTo>
                  <a:lnTo>
                    <a:pt x="193294" y="95250"/>
                  </a:lnTo>
                  <a:lnTo>
                    <a:pt x="192532" y="90932"/>
                  </a:lnTo>
                  <a:lnTo>
                    <a:pt x="191008" y="86487"/>
                  </a:lnTo>
                  <a:lnTo>
                    <a:pt x="188722" y="83058"/>
                  </a:lnTo>
                  <a:lnTo>
                    <a:pt x="191770" y="79502"/>
                  </a:lnTo>
                  <a:lnTo>
                    <a:pt x="204850" y="64643"/>
                  </a:lnTo>
                  <a:lnTo>
                    <a:pt x="207899" y="61214"/>
                  </a:lnTo>
                  <a:lnTo>
                    <a:pt x="207899" y="55880"/>
                  </a:lnTo>
                  <a:lnTo>
                    <a:pt x="204850" y="53340"/>
                  </a:lnTo>
                  <a:lnTo>
                    <a:pt x="190246" y="36703"/>
                  </a:lnTo>
                  <a:close/>
                </a:path>
                <a:path w="224154" h="256539">
                  <a:moveTo>
                    <a:pt x="54483" y="20066"/>
                  </a:moveTo>
                  <a:lnTo>
                    <a:pt x="47625" y="20066"/>
                  </a:lnTo>
                  <a:lnTo>
                    <a:pt x="45974" y="21844"/>
                  </a:lnTo>
                  <a:lnTo>
                    <a:pt x="16129" y="56769"/>
                  </a:lnTo>
                  <a:lnTo>
                    <a:pt x="15367" y="58547"/>
                  </a:lnTo>
                  <a:lnTo>
                    <a:pt x="15367" y="62865"/>
                  </a:lnTo>
                  <a:lnTo>
                    <a:pt x="16129" y="64643"/>
                  </a:lnTo>
                  <a:lnTo>
                    <a:pt x="17653" y="66421"/>
                  </a:lnTo>
                  <a:lnTo>
                    <a:pt x="33020" y="83947"/>
                  </a:lnTo>
                  <a:lnTo>
                    <a:pt x="30734" y="88265"/>
                  </a:lnTo>
                  <a:lnTo>
                    <a:pt x="29210" y="92583"/>
                  </a:lnTo>
                  <a:lnTo>
                    <a:pt x="28448" y="97917"/>
                  </a:lnTo>
                  <a:lnTo>
                    <a:pt x="3048" y="97917"/>
                  </a:lnTo>
                  <a:lnTo>
                    <a:pt x="0" y="101346"/>
                  </a:lnTo>
                  <a:lnTo>
                    <a:pt x="0" y="157353"/>
                  </a:lnTo>
                  <a:lnTo>
                    <a:pt x="3048" y="160782"/>
                  </a:lnTo>
                  <a:lnTo>
                    <a:pt x="6858" y="160782"/>
                  </a:lnTo>
                  <a:lnTo>
                    <a:pt x="29210" y="159893"/>
                  </a:lnTo>
                  <a:lnTo>
                    <a:pt x="43757" y="159893"/>
                  </a:lnTo>
                  <a:lnTo>
                    <a:pt x="40639" y="150241"/>
                  </a:lnTo>
                  <a:lnTo>
                    <a:pt x="39878" y="146812"/>
                  </a:lnTo>
                  <a:lnTo>
                    <a:pt x="37846" y="145034"/>
                  </a:lnTo>
                  <a:lnTo>
                    <a:pt x="13843" y="145034"/>
                  </a:lnTo>
                  <a:lnTo>
                    <a:pt x="13843" y="113665"/>
                  </a:lnTo>
                  <a:lnTo>
                    <a:pt x="36830" y="113665"/>
                  </a:lnTo>
                  <a:lnTo>
                    <a:pt x="39116" y="110998"/>
                  </a:lnTo>
                  <a:lnTo>
                    <a:pt x="39878" y="107442"/>
                  </a:lnTo>
                  <a:lnTo>
                    <a:pt x="41401" y="99568"/>
                  </a:lnTo>
                  <a:lnTo>
                    <a:pt x="44450" y="92583"/>
                  </a:lnTo>
                  <a:lnTo>
                    <a:pt x="47625" y="85598"/>
                  </a:lnTo>
                  <a:lnTo>
                    <a:pt x="49149" y="83058"/>
                  </a:lnTo>
                  <a:lnTo>
                    <a:pt x="48387" y="78613"/>
                  </a:lnTo>
                  <a:lnTo>
                    <a:pt x="45974" y="76073"/>
                  </a:lnTo>
                  <a:lnTo>
                    <a:pt x="39878" y="69850"/>
                  </a:lnTo>
                  <a:lnTo>
                    <a:pt x="32258" y="60325"/>
                  </a:lnTo>
                  <a:lnTo>
                    <a:pt x="51435" y="38481"/>
                  </a:lnTo>
                  <a:lnTo>
                    <a:pt x="70865" y="38481"/>
                  </a:lnTo>
                  <a:lnTo>
                    <a:pt x="69850" y="36703"/>
                  </a:lnTo>
                  <a:lnTo>
                    <a:pt x="56007" y="21844"/>
                  </a:lnTo>
                  <a:lnTo>
                    <a:pt x="54483" y="20066"/>
                  </a:lnTo>
                  <a:close/>
                </a:path>
                <a:path w="224154" h="256539">
                  <a:moveTo>
                    <a:pt x="36830" y="144145"/>
                  </a:moveTo>
                  <a:lnTo>
                    <a:pt x="33782" y="144145"/>
                  </a:lnTo>
                  <a:lnTo>
                    <a:pt x="25273" y="145034"/>
                  </a:lnTo>
                  <a:lnTo>
                    <a:pt x="37846" y="145034"/>
                  </a:lnTo>
                  <a:lnTo>
                    <a:pt x="36830" y="144145"/>
                  </a:lnTo>
                  <a:close/>
                </a:path>
                <a:path w="224154" h="256539">
                  <a:moveTo>
                    <a:pt x="70865" y="38481"/>
                  </a:moveTo>
                  <a:lnTo>
                    <a:pt x="51435" y="38481"/>
                  </a:lnTo>
                  <a:lnTo>
                    <a:pt x="59817" y="48006"/>
                  </a:lnTo>
                  <a:lnTo>
                    <a:pt x="64388" y="54229"/>
                  </a:lnTo>
                  <a:lnTo>
                    <a:pt x="66801" y="56769"/>
                  </a:lnTo>
                  <a:lnTo>
                    <a:pt x="70612" y="57658"/>
                  </a:lnTo>
                  <a:lnTo>
                    <a:pt x="73660" y="55880"/>
                  </a:lnTo>
                  <a:lnTo>
                    <a:pt x="78994" y="51562"/>
                  </a:lnTo>
                  <a:lnTo>
                    <a:pt x="85217" y="48895"/>
                  </a:lnTo>
                  <a:lnTo>
                    <a:pt x="92075" y="46355"/>
                  </a:lnTo>
                  <a:lnTo>
                    <a:pt x="95123" y="45466"/>
                  </a:lnTo>
                  <a:lnTo>
                    <a:pt x="97409" y="42799"/>
                  </a:lnTo>
                  <a:lnTo>
                    <a:pt x="97409" y="39370"/>
                  </a:lnTo>
                  <a:lnTo>
                    <a:pt x="71374" y="39370"/>
                  </a:lnTo>
                  <a:lnTo>
                    <a:pt x="70865" y="38481"/>
                  </a:lnTo>
                  <a:close/>
                </a:path>
                <a:path w="224154" h="256539">
                  <a:moveTo>
                    <a:pt x="138049" y="15748"/>
                  </a:moveTo>
                  <a:lnTo>
                    <a:pt x="124333" y="15748"/>
                  </a:lnTo>
                  <a:lnTo>
                    <a:pt x="124333" y="42799"/>
                  </a:lnTo>
                  <a:lnTo>
                    <a:pt x="126619" y="45466"/>
                  </a:lnTo>
                  <a:lnTo>
                    <a:pt x="129667" y="46355"/>
                  </a:lnTo>
                  <a:lnTo>
                    <a:pt x="135762" y="48006"/>
                  </a:lnTo>
                  <a:lnTo>
                    <a:pt x="142748" y="51562"/>
                  </a:lnTo>
                  <a:lnTo>
                    <a:pt x="148082" y="54991"/>
                  </a:lnTo>
                  <a:lnTo>
                    <a:pt x="151130" y="57658"/>
                  </a:lnTo>
                  <a:lnTo>
                    <a:pt x="154939" y="56769"/>
                  </a:lnTo>
                  <a:lnTo>
                    <a:pt x="157225" y="54229"/>
                  </a:lnTo>
                  <a:lnTo>
                    <a:pt x="162687" y="46355"/>
                  </a:lnTo>
                  <a:lnTo>
                    <a:pt x="169524" y="38481"/>
                  </a:lnTo>
                  <a:lnTo>
                    <a:pt x="150368" y="38481"/>
                  </a:lnTo>
                  <a:lnTo>
                    <a:pt x="142748" y="34925"/>
                  </a:lnTo>
                  <a:lnTo>
                    <a:pt x="138049" y="33147"/>
                  </a:lnTo>
                  <a:lnTo>
                    <a:pt x="138049" y="15748"/>
                  </a:lnTo>
                  <a:close/>
                </a:path>
                <a:path w="224154" h="256539">
                  <a:moveTo>
                    <a:pt x="133476" y="0"/>
                  </a:moveTo>
                  <a:lnTo>
                    <a:pt x="86741" y="0"/>
                  </a:lnTo>
                  <a:lnTo>
                    <a:pt x="83566" y="3556"/>
                  </a:lnTo>
                  <a:lnTo>
                    <a:pt x="83566" y="33147"/>
                  </a:lnTo>
                  <a:lnTo>
                    <a:pt x="78994" y="34925"/>
                  </a:lnTo>
                  <a:lnTo>
                    <a:pt x="75184" y="36703"/>
                  </a:lnTo>
                  <a:lnTo>
                    <a:pt x="71374" y="39370"/>
                  </a:lnTo>
                  <a:lnTo>
                    <a:pt x="97409" y="39370"/>
                  </a:lnTo>
                  <a:lnTo>
                    <a:pt x="97409" y="15748"/>
                  </a:lnTo>
                  <a:lnTo>
                    <a:pt x="138049" y="15748"/>
                  </a:lnTo>
                  <a:lnTo>
                    <a:pt x="138049" y="6096"/>
                  </a:lnTo>
                  <a:lnTo>
                    <a:pt x="137287" y="4318"/>
                  </a:lnTo>
                  <a:lnTo>
                    <a:pt x="136525" y="2667"/>
                  </a:lnTo>
                  <a:lnTo>
                    <a:pt x="135000" y="889"/>
                  </a:lnTo>
                  <a:lnTo>
                    <a:pt x="133476" y="0"/>
                  </a:lnTo>
                  <a:close/>
                </a:path>
                <a:path w="224154" h="256539">
                  <a:moveTo>
                    <a:pt x="173355" y="17526"/>
                  </a:moveTo>
                  <a:lnTo>
                    <a:pt x="168783" y="17526"/>
                  </a:lnTo>
                  <a:lnTo>
                    <a:pt x="165735" y="20066"/>
                  </a:lnTo>
                  <a:lnTo>
                    <a:pt x="152654" y="34925"/>
                  </a:lnTo>
                  <a:lnTo>
                    <a:pt x="152654" y="35814"/>
                  </a:lnTo>
                  <a:lnTo>
                    <a:pt x="150368" y="38481"/>
                  </a:lnTo>
                  <a:lnTo>
                    <a:pt x="169524" y="38481"/>
                  </a:lnTo>
                  <a:lnTo>
                    <a:pt x="171069" y="36703"/>
                  </a:lnTo>
                  <a:lnTo>
                    <a:pt x="190246" y="36703"/>
                  </a:lnTo>
                  <a:lnTo>
                    <a:pt x="175641" y="20066"/>
                  </a:lnTo>
                  <a:lnTo>
                    <a:pt x="173355" y="17526"/>
                  </a:lnTo>
                  <a:close/>
                </a:path>
                <a:path w="224154" h="256539">
                  <a:moveTo>
                    <a:pt x="51435" y="19177"/>
                  </a:moveTo>
                  <a:lnTo>
                    <a:pt x="49149" y="20066"/>
                  </a:lnTo>
                  <a:lnTo>
                    <a:pt x="52959" y="20066"/>
                  </a:lnTo>
                  <a:lnTo>
                    <a:pt x="51435" y="19177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77155" y="3864863"/>
              <a:ext cx="117348" cy="132587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97432" y="1830551"/>
            <a:ext cx="1358900" cy="10674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Public</a:t>
            </a:r>
            <a:r>
              <a:rPr sz="1400" spc="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sector</a:t>
            </a:r>
            <a:endParaRPr sz="1400">
              <a:latin typeface="Arial"/>
              <a:cs typeface="Arial"/>
            </a:endParaRPr>
          </a:p>
          <a:p>
            <a:pPr marL="129539" indent="-117475">
              <a:lnSpc>
                <a:spcPct val="100000"/>
              </a:lnSpc>
              <a:spcBef>
                <a:spcPts val="640"/>
              </a:spcBef>
              <a:buChar char="•"/>
              <a:tabLst>
                <a:tab pos="130175" algn="l"/>
              </a:tabLst>
            </a:pP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Safe</a:t>
            </a: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City</a:t>
            </a:r>
            <a:endParaRPr sz="1050">
              <a:latin typeface="Arial"/>
              <a:cs typeface="Arial"/>
            </a:endParaRPr>
          </a:p>
          <a:p>
            <a:pPr marL="129539" indent="-117475">
              <a:lnSpc>
                <a:spcPct val="100000"/>
              </a:lnSpc>
              <a:spcBef>
                <a:spcPts val="635"/>
              </a:spcBef>
              <a:buChar char="•"/>
              <a:tabLst>
                <a:tab pos="130175" algn="l"/>
              </a:tabLst>
            </a:pP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Intelligent</a:t>
            </a: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transport</a:t>
            </a:r>
            <a:endParaRPr sz="1050">
              <a:latin typeface="Arial"/>
              <a:cs typeface="Arial"/>
            </a:endParaRPr>
          </a:p>
          <a:p>
            <a:pPr marL="129539" indent="-117475">
              <a:lnSpc>
                <a:spcPct val="100000"/>
              </a:lnSpc>
              <a:spcBef>
                <a:spcPts val="625"/>
              </a:spcBef>
              <a:buChar char="•"/>
              <a:tabLst>
                <a:tab pos="130175" algn="l"/>
              </a:tabLst>
            </a:pP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Disaster </a:t>
            </a: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prediction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91232" y="1830551"/>
            <a:ext cx="1075055" cy="13087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5" dirty="0">
                <a:solidFill>
                  <a:srgbClr val="404040"/>
                </a:solidFill>
                <a:latin typeface="Arial"/>
                <a:cs typeface="Arial"/>
              </a:rPr>
              <a:t>Education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-70" dirty="0">
                <a:solidFill>
                  <a:srgbClr val="404040"/>
                </a:solidFill>
                <a:latin typeface="Arial"/>
                <a:cs typeface="Arial"/>
              </a:rPr>
              <a:t>Pe</a:t>
            </a: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rso</a:t>
            </a: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na</a:t>
            </a:r>
            <a:r>
              <a:rPr sz="1050" spc="45" dirty="0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sz="1050" spc="35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z</a:t>
            </a:r>
            <a:r>
              <a:rPr sz="1050" spc="-3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1050" spc="55" dirty="0">
                <a:solidFill>
                  <a:srgbClr val="404040"/>
                </a:solidFill>
                <a:latin typeface="Arial"/>
                <a:cs typeface="Arial"/>
              </a:rPr>
              <a:t>ti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  <a:p>
            <a:pPr marL="135890" marR="118745" indent="-123825">
              <a:lnSpc>
                <a:spcPct val="149500"/>
              </a:lnSpc>
              <a:spcBef>
                <a:spcPts val="10"/>
              </a:spcBef>
              <a:buChar char="•"/>
              <a:tabLst>
                <a:tab pos="136525" algn="l"/>
              </a:tabLst>
            </a:pPr>
            <a:r>
              <a:rPr sz="1050" spc="35" dirty="0">
                <a:solidFill>
                  <a:srgbClr val="404040"/>
                </a:solidFill>
                <a:latin typeface="Arial"/>
                <a:cs typeface="Arial"/>
              </a:rPr>
              <a:t>Attention  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050" spc="80" dirty="0">
                <a:solidFill>
                  <a:srgbClr val="404040"/>
                </a:solidFill>
                <a:latin typeface="Arial"/>
                <a:cs typeface="Arial"/>
              </a:rPr>
              <a:t>m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p</a:t>
            </a:r>
            <a:r>
              <a:rPr sz="1050" spc="35" dirty="0">
                <a:solidFill>
                  <a:srgbClr val="404040"/>
                </a:solidFill>
                <a:latin typeface="Arial"/>
                <a:cs typeface="Arial"/>
              </a:rPr>
              <a:t>ro</a:t>
            </a: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050" spc="-30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1050" spc="70" dirty="0">
                <a:solidFill>
                  <a:srgbClr val="404040"/>
                </a:solidFill>
                <a:latin typeface="Arial"/>
                <a:cs typeface="Arial"/>
              </a:rPr>
              <a:t>m</a:t>
            </a:r>
            <a:r>
              <a:rPr sz="1050" spc="-35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1050" spc="90" dirty="0">
                <a:solidFill>
                  <a:srgbClr val="404040"/>
                </a:solidFill>
                <a:latin typeface="Arial"/>
                <a:cs typeface="Arial"/>
              </a:rPr>
              <a:t>t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Robot</a:t>
            </a: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teacher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68673" y="1830551"/>
            <a:ext cx="1381125" cy="10674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15" dirty="0">
                <a:solidFill>
                  <a:srgbClr val="404040"/>
                </a:solidFill>
                <a:latin typeface="Arial"/>
                <a:cs typeface="Arial"/>
              </a:rPr>
              <a:t>Healthcare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-10" dirty="0">
                <a:solidFill>
                  <a:srgbClr val="404040"/>
                </a:solidFill>
                <a:latin typeface="Arial"/>
                <a:cs typeface="Arial"/>
              </a:rPr>
              <a:t>Early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prevention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35"/>
              </a:spcBef>
              <a:buChar char="•"/>
              <a:tabLst>
                <a:tab pos="136525" algn="l"/>
              </a:tabLst>
            </a:pP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Diagnosis</a:t>
            </a:r>
            <a:r>
              <a:rPr sz="105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assistance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5"/>
              </a:spcBef>
              <a:buChar char="•"/>
              <a:tabLst>
                <a:tab pos="136525" algn="l"/>
              </a:tabLst>
            </a:pPr>
            <a:r>
              <a:rPr sz="1050" spc="-15" dirty="0">
                <a:solidFill>
                  <a:srgbClr val="404040"/>
                </a:solidFill>
                <a:latin typeface="Arial"/>
                <a:cs typeface="Arial"/>
              </a:rPr>
              <a:t>Precision</a:t>
            </a: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 cure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43473" y="1830551"/>
            <a:ext cx="843280" cy="13087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25" dirty="0">
                <a:solidFill>
                  <a:srgbClr val="404040"/>
                </a:solidFill>
                <a:latin typeface="Arial"/>
                <a:cs typeface="Arial"/>
              </a:rPr>
              <a:t>Media</a:t>
            </a:r>
            <a:endParaRPr sz="1400">
              <a:latin typeface="Arial"/>
              <a:cs typeface="Arial"/>
            </a:endParaRPr>
          </a:p>
          <a:p>
            <a:pPr marL="135890" marR="41910" indent="-123825">
              <a:lnSpc>
                <a:spcPct val="150500"/>
              </a:lnSpc>
              <a:spcBef>
                <a:spcPts val="5"/>
              </a:spcBef>
              <a:buChar char="•"/>
              <a:tabLst>
                <a:tab pos="136525" algn="l"/>
              </a:tabLst>
            </a:pP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Real-time  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tr</a:t>
            </a:r>
            <a:r>
              <a:rPr sz="1050" spc="65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s</a:t>
            </a:r>
            <a:r>
              <a:rPr sz="1050" spc="-15" dirty="0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1050" spc="55" dirty="0">
                <a:solidFill>
                  <a:srgbClr val="404040"/>
                </a:solidFill>
                <a:latin typeface="Arial"/>
                <a:cs typeface="Arial"/>
              </a:rPr>
              <a:t>ti</a:t>
            </a: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0"/>
              </a:spcBef>
              <a:buChar char="•"/>
              <a:tabLst>
                <a:tab pos="136525" algn="l"/>
              </a:tabLst>
            </a:pP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Abstraction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Inspection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04656" y="1830551"/>
            <a:ext cx="1192530" cy="10674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Logistics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Routing</a:t>
            </a:r>
            <a:r>
              <a:rPr sz="105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planning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35"/>
              </a:spcBef>
              <a:buChar char="•"/>
              <a:tabLst>
                <a:tab pos="136525" algn="l"/>
              </a:tabLst>
            </a:pPr>
            <a:r>
              <a:rPr sz="1050" spc="40" dirty="0">
                <a:solidFill>
                  <a:srgbClr val="404040"/>
                </a:solidFill>
                <a:latin typeface="Arial"/>
                <a:cs typeface="Arial"/>
              </a:rPr>
              <a:t>Monitoring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5"/>
              </a:spcBef>
              <a:buChar char="•"/>
              <a:tabLst>
                <a:tab pos="136525" algn="l"/>
              </a:tabLst>
            </a:pP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Auto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sorting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755885" y="1830551"/>
            <a:ext cx="1102360" cy="13087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-15" dirty="0">
                <a:solidFill>
                  <a:srgbClr val="404040"/>
                </a:solidFill>
                <a:latin typeface="Arial"/>
                <a:cs typeface="Arial"/>
              </a:rPr>
              <a:t>Finance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Doc </a:t>
            </a: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process</a:t>
            </a:r>
            <a:endParaRPr sz="1050">
              <a:latin typeface="Arial"/>
              <a:cs typeface="Arial"/>
            </a:endParaRPr>
          </a:p>
          <a:p>
            <a:pPr marL="135890" marR="5080" indent="-123825">
              <a:lnSpc>
                <a:spcPct val="149500"/>
              </a:lnSpc>
              <a:spcBef>
                <a:spcPts val="10"/>
              </a:spcBef>
              <a:buChar char="•"/>
              <a:tabLst>
                <a:tab pos="136525" algn="l"/>
              </a:tabLst>
            </a:pP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Real-time</a:t>
            </a:r>
            <a:r>
              <a:rPr sz="105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fraud 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prevention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Up-sell</a:t>
            </a:r>
            <a:endParaRPr sz="10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16979" y="1830551"/>
            <a:ext cx="1274445" cy="10674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Pharmacy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Fast</a:t>
            </a: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R&amp;D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35"/>
              </a:spcBef>
              <a:buChar char="•"/>
              <a:tabLst>
                <a:tab pos="136525" algn="l"/>
              </a:tabLst>
            </a:pPr>
            <a:r>
              <a:rPr sz="1050" spc="-35" dirty="0">
                <a:solidFill>
                  <a:srgbClr val="404040"/>
                </a:solidFill>
                <a:latin typeface="Arial"/>
                <a:cs typeface="Arial"/>
              </a:rPr>
              <a:t>Precise</a:t>
            </a: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40" dirty="0">
                <a:solidFill>
                  <a:srgbClr val="404040"/>
                </a:solidFill>
                <a:latin typeface="Arial"/>
                <a:cs typeface="Arial"/>
              </a:rPr>
              <a:t>trial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5"/>
              </a:spcBef>
              <a:buChar char="•"/>
              <a:tabLst>
                <a:tab pos="136525" algn="l"/>
              </a:tabLst>
            </a:pP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Targeted</a:t>
            </a:r>
            <a:r>
              <a:rPr sz="105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medicine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45513" y="4187936"/>
            <a:ext cx="1217295" cy="10668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Insurance</a:t>
            </a:r>
            <a:endParaRPr sz="1400">
              <a:latin typeface="Arial"/>
              <a:cs typeface="Arial"/>
            </a:endParaRPr>
          </a:p>
          <a:p>
            <a:pPr marL="170815" indent="-158750">
              <a:lnSpc>
                <a:spcPct val="100000"/>
              </a:lnSpc>
              <a:spcBef>
                <a:spcPts val="640"/>
              </a:spcBef>
              <a:buChar char="•"/>
              <a:tabLst>
                <a:tab pos="171450" algn="l"/>
              </a:tabLst>
            </a:pP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Auto</a:t>
            </a: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detection</a:t>
            </a:r>
            <a:endParaRPr sz="1050">
              <a:latin typeface="Arial"/>
              <a:cs typeface="Arial"/>
            </a:endParaRPr>
          </a:p>
          <a:p>
            <a:pPr marL="129539" indent="-117475">
              <a:lnSpc>
                <a:spcPct val="100000"/>
              </a:lnSpc>
              <a:spcBef>
                <a:spcPts val="640"/>
              </a:spcBef>
              <a:buChar char="•"/>
              <a:tabLst>
                <a:tab pos="130175" algn="l"/>
              </a:tabLst>
            </a:pP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Fraud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prevention</a:t>
            </a:r>
            <a:endParaRPr sz="1050">
              <a:latin typeface="Arial"/>
              <a:cs typeface="Arial"/>
            </a:endParaRPr>
          </a:p>
          <a:p>
            <a:pPr marL="129539" indent="-117475">
              <a:lnSpc>
                <a:spcPct val="100000"/>
              </a:lnSpc>
              <a:spcBef>
                <a:spcPts val="620"/>
              </a:spcBef>
              <a:buChar char="•"/>
              <a:tabLst>
                <a:tab pos="130175" algn="l"/>
              </a:tabLst>
            </a:pP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Innovative</a:t>
            </a:r>
            <a:r>
              <a:rPr sz="105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service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72485" y="4110455"/>
            <a:ext cx="1343025" cy="13087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5" dirty="0">
                <a:solidFill>
                  <a:srgbClr val="404040"/>
                </a:solidFill>
                <a:latin typeface="Arial"/>
                <a:cs typeface="Arial"/>
              </a:rPr>
              <a:t>Retail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Staff-less</a:t>
            </a:r>
            <a:r>
              <a:rPr sz="105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shops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35"/>
              </a:spcBef>
              <a:buChar char="•"/>
              <a:tabLst>
                <a:tab pos="136525" algn="l"/>
              </a:tabLst>
            </a:pP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Real-time</a:t>
            </a:r>
            <a:r>
              <a:rPr sz="1050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inventory</a:t>
            </a:r>
            <a:endParaRPr sz="1050">
              <a:latin typeface="Arial"/>
              <a:cs typeface="Arial"/>
            </a:endParaRPr>
          </a:p>
          <a:p>
            <a:pPr marL="135890" marR="106680" indent="-123825">
              <a:lnSpc>
                <a:spcPts val="1900"/>
              </a:lnSpc>
              <a:spcBef>
                <a:spcPts val="155"/>
              </a:spcBef>
              <a:buChar char="•"/>
              <a:tabLst>
                <a:tab pos="136525" algn="l"/>
              </a:tabLst>
            </a:pPr>
            <a:r>
              <a:rPr sz="1050" spc="-35" dirty="0">
                <a:solidFill>
                  <a:srgbClr val="404040"/>
                </a:solidFill>
                <a:latin typeface="Arial"/>
                <a:cs typeface="Arial"/>
              </a:rPr>
              <a:t>Precise  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recommendations</a:t>
            </a:r>
            <a:endParaRPr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85842" y="4061444"/>
            <a:ext cx="1560830" cy="10668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spc="40" dirty="0">
                <a:solidFill>
                  <a:srgbClr val="404040"/>
                </a:solidFill>
                <a:latin typeface="Arial"/>
                <a:cs typeface="Arial"/>
              </a:rPr>
              <a:t>Manufacturing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Defect</a:t>
            </a: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detection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Industrial</a:t>
            </a: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internet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0"/>
              </a:spcBef>
              <a:buChar char="•"/>
              <a:tabLst>
                <a:tab pos="136525" algn="l"/>
              </a:tabLst>
            </a:pP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Predictive</a:t>
            </a:r>
            <a:r>
              <a:rPr sz="1050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maintenance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11265" y="4063211"/>
            <a:ext cx="1179195" cy="82867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Telecom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Customer</a:t>
            </a:r>
            <a:r>
              <a:rPr sz="1050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service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Auto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55" dirty="0">
                <a:solidFill>
                  <a:srgbClr val="404040"/>
                </a:solidFill>
                <a:latin typeface="Arial"/>
                <a:cs typeface="Arial"/>
              </a:rPr>
              <a:t>O&amp;M</a:t>
            </a:r>
            <a:endParaRPr sz="1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11265" y="4944236"/>
            <a:ext cx="12471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890" indent="-123825">
              <a:lnSpc>
                <a:spcPct val="100000"/>
              </a:lnSpc>
              <a:spcBef>
                <a:spcPts val="105"/>
              </a:spcBef>
              <a:buChar char="•"/>
              <a:tabLst>
                <a:tab pos="136525" algn="l"/>
              </a:tabLst>
            </a:pP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Auto</a:t>
            </a:r>
            <a:r>
              <a:rPr sz="105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optimization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490329" y="4074744"/>
            <a:ext cx="1715770" cy="98933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400" spc="30" dirty="0">
                <a:solidFill>
                  <a:srgbClr val="404040"/>
                </a:solidFill>
                <a:latin typeface="Arial"/>
                <a:cs typeface="Arial"/>
              </a:rPr>
              <a:t>Agriculture</a:t>
            </a:r>
            <a:endParaRPr sz="1400">
              <a:latin typeface="Arial"/>
              <a:cs typeface="Arial"/>
            </a:endParaRPr>
          </a:p>
          <a:p>
            <a:pPr marL="135890" marR="508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Fertilization</a:t>
            </a:r>
            <a:r>
              <a:rPr sz="1050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improvement  </a:t>
            </a: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Remote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operation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35"/>
              </a:spcBef>
              <a:buChar char="•"/>
              <a:tabLst>
                <a:tab pos="136525" algn="l"/>
              </a:tabLst>
            </a:pPr>
            <a:r>
              <a:rPr sz="1050" spc="-55" dirty="0">
                <a:solidFill>
                  <a:srgbClr val="404040"/>
                </a:solidFill>
                <a:latin typeface="Arial"/>
                <a:cs typeface="Arial"/>
              </a:rPr>
              <a:t>Seeds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development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652131" y="4063211"/>
            <a:ext cx="1565275" cy="10674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40" dirty="0">
                <a:solidFill>
                  <a:srgbClr val="404040"/>
                </a:solidFill>
                <a:latin typeface="Arial"/>
                <a:cs typeface="Arial"/>
              </a:rPr>
              <a:t>Oil </a:t>
            </a:r>
            <a:r>
              <a:rPr sz="1400" spc="15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1400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404040"/>
                </a:solidFill>
                <a:latin typeface="Arial"/>
                <a:cs typeface="Arial"/>
              </a:rPr>
              <a:t>gas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Localization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Remote</a:t>
            </a:r>
            <a:r>
              <a:rPr sz="105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maintenance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0"/>
              </a:spcBef>
              <a:buChar char="•"/>
              <a:tabLst>
                <a:tab pos="136525" algn="l"/>
              </a:tabLst>
            </a:pP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Operation</a:t>
            </a:r>
            <a:r>
              <a:rPr sz="105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optimization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659111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82356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710171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303520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845052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429255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51916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401556" y="3755135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536180" y="37795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272784" y="37795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527803" y="37795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811779" y="37795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400555" y="37795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38227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AI: </a:t>
            </a:r>
            <a:r>
              <a:rPr spc="55" dirty="0"/>
              <a:t>Still </a:t>
            </a:r>
            <a:r>
              <a:rPr spc="95" dirty="0"/>
              <a:t>in </a:t>
            </a:r>
            <a:r>
              <a:rPr spc="15" dirty="0"/>
              <a:t>Its</a:t>
            </a:r>
            <a:r>
              <a:rPr spc="290" dirty="0"/>
              <a:t> </a:t>
            </a:r>
            <a:r>
              <a:rPr spc="30" dirty="0"/>
              <a:t>Infancy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40214" y="3394075"/>
            <a:ext cx="15201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As-is </a:t>
            </a:r>
            <a:r>
              <a:rPr sz="1800" spc="80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AI:  </a:t>
            </a:r>
            <a:r>
              <a:rPr sz="1800" spc="65" dirty="0">
                <a:solidFill>
                  <a:srgbClr val="404040"/>
                </a:solidFill>
                <a:latin typeface="Arial"/>
                <a:cs typeface="Arial"/>
              </a:rPr>
              <a:t>initial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stage </a:t>
            </a:r>
            <a:r>
              <a:rPr sz="1800" spc="75" dirty="0">
                <a:solidFill>
                  <a:srgbClr val="404040"/>
                </a:solidFill>
                <a:latin typeface="Arial"/>
                <a:cs typeface="Arial"/>
              </a:rPr>
              <a:t>of  </a:t>
            </a:r>
            <a:r>
              <a:rPr sz="1800" b="1" spc="10" dirty="0">
                <a:solidFill>
                  <a:srgbClr val="404040"/>
                </a:solidFill>
                <a:latin typeface="Arial"/>
                <a:cs typeface="Arial"/>
              </a:rPr>
              <a:t>perceptual  </a:t>
            </a:r>
            <a:r>
              <a:rPr sz="1800" b="1" spc="20" dirty="0">
                <a:solidFill>
                  <a:srgbClr val="404040"/>
                </a:solidFill>
                <a:latin typeface="Arial"/>
                <a:cs typeface="Arial"/>
              </a:rPr>
              <a:t>intelligence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9744" y="1528572"/>
            <a:ext cx="1051560" cy="4447540"/>
          </a:xfrm>
          <a:custGeom>
            <a:avLst/>
            <a:gdLst/>
            <a:ahLst/>
            <a:cxnLst/>
            <a:rect l="l" t="t" r="r" b="b"/>
            <a:pathLst>
              <a:path w="1051560" h="4447540">
                <a:moveTo>
                  <a:pt x="0" y="3921252"/>
                </a:moveTo>
                <a:lnTo>
                  <a:pt x="262890" y="3921252"/>
                </a:lnTo>
                <a:lnTo>
                  <a:pt x="262890" y="0"/>
                </a:lnTo>
                <a:lnTo>
                  <a:pt x="788669" y="0"/>
                </a:lnTo>
                <a:lnTo>
                  <a:pt x="788669" y="3921252"/>
                </a:lnTo>
                <a:lnTo>
                  <a:pt x="1051560" y="3921252"/>
                </a:lnTo>
                <a:lnTo>
                  <a:pt x="525780" y="4447032"/>
                </a:lnTo>
                <a:lnTo>
                  <a:pt x="0" y="3921252"/>
                </a:lnTo>
                <a:close/>
              </a:path>
            </a:pathLst>
          </a:custGeom>
          <a:ln w="1524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48922" y="2323774"/>
            <a:ext cx="382905" cy="25990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05"/>
              </a:lnSpc>
            </a:pPr>
            <a:r>
              <a:rPr sz="2400" spc="-20" dirty="0">
                <a:solidFill>
                  <a:srgbClr val="404040"/>
                </a:solidFill>
                <a:latin typeface="Arial"/>
                <a:cs typeface="Arial"/>
              </a:rPr>
              <a:t>Three </a:t>
            </a:r>
            <a:r>
              <a:rPr sz="2400" spc="-105" dirty="0">
                <a:solidFill>
                  <a:srgbClr val="404040"/>
                </a:solidFill>
                <a:latin typeface="Arial"/>
                <a:cs typeface="Arial"/>
              </a:rPr>
              <a:t>Phases </a:t>
            </a:r>
            <a:r>
              <a:rPr sz="2400" spc="105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2400" spc="2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/>
                <a:cs typeface="Arial"/>
              </a:rPr>
              <a:t>AI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3307" y="1732788"/>
            <a:ext cx="1108075" cy="1129665"/>
          </a:xfrm>
          <a:custGeom>
            <a:avLst/>
            <a:gdLst/>
            <a:ahLst/>
            <a:cxnLst/>
            <a:rect l="l" t="t" r="r" b="b"/>
            <a:pathLst>
              <a:path w="1108075" h="1129664">
                <a:moveTo>
                  <a:pt x="1107948" y="0"/>
                </a:moveTo>
                <a:lnTo>
                  <a:pt x="0" y="0"/>
                </a:lnTo>
                <a:lnTo>
                  <a:pt x="0" y="942721"/>
                </a:lnTo>
                <a:lnTo>
                  <a:pt x="550418" y="1129284"/>
                </a:lnTo>
                <a:lnTo>
                  <a:pt x="1107948" y="942721"/>
                </a:lnTo>
                <a:lnTo>
                  <a:pt x="11079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28520" y="2253233"/>
            <a:ext cx="10337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5"/>
              </a:spcBef>
            </a:pPr>
            <a:r>
              <a:rPr sz="1400" b="1" spc="10" dirty="0">
                <a:solidFill>
                  <a:srgbClr val="404040"/>
                </a:solidFill>
                <a:latin typeface="Arial"/>
                <a:cs typeface="Arial"/>
              </a:rPr>
              <a:t>Computing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15" dirty="0">
                <a:solidFill>
                  <a:srgbClr val="404040"/>
                </a:solidFill>
                <a:latin typeface="Arial"/>
                <a:cs typeface="Arial"/>
              </a:rPr>
              <a:t>intelligence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16835" y="1862327"/>
            <a:ext cx="1109980" cy="2573020"/>
            <a:chOff x="2116835" y="1862327"/>
            <a:chExt cx="1109980" cy="2573020"/>
          </a:xfrm>
        </p:grpSpPr>
        <p:sp>
          <p:nvSpPr>
            <p:cNvPr id="9" name="object 9"/>
            <p:cNvSpPr/>
            <p:nvPr/>
          </p:nvSpPr>
          <p:spPr>
            <a:xfrm>
              <a:off x="2470403" y="1862327"/>
              <a:ext cx="401320" cy="378460"/>
            </a:xfrm>
            <a:custGeom>
              <a:avLst/>
              <a:gdLst/>
              <a:ahLst/>
              <a:cxnLst/>
              <a:rect l="l" t="t" r="r" b="b"/>
              <a:pathLst>
                <a:path w="401319" h="378460">
                  <a:moveTo>
                    <a:pt x="210312" y="11302"/>
                  </a:moveTo>
                  <a:lnTo>
                    <a:pt x="184022" y="11302"/>
                  </a:lnTo>
                  <a:lnTo>
                    <a:pt x="184022" y="43434"/>
                  </a:lnTo>
                  <a:lnTo>
                    <a:pt x="131575" y="52824"/>
                  </a:lnTo>
                  <a:lnTo>
                    <a:pt x="86399" y="74913"/>
                  </a:lnTo>
                  <a:lnTo>
                    <a:pt x="51014" y="107432"/>
                  </a:lnTo>
                  <a:lnTo>
                    <a:pt x="27936" y="148114"/>
                  </a:lnTo>
                  <a:lnTo>
                    <a:pt x="19684" y="194691"/>
                  </a:lnTo>
                  <a:lnTo>
                    <a:pt x="24070" y="228101"/>
                  </a:lnTo>
                  <a:lnTo>
                    <a:pt x="36671" y="259381"/>
                  </a:lnTo>
                  <a:lnTo>
                    <a:pt x="56653" y="287113"/>
                  </a:lnTo>
                  <a:lnTo>
                    <a:pt x="83184" y="309880"/>
                  </a:lnTo>
                  <a:lnTo>
                    <a:pt x="63500" y="359029"/>
                  </a:lnTo>
                  <a:lnTo>
                    <a:pt x="61340" y="366649"/>
                  </a:lnTo>
                  <a:lnTo>
                    <a:pt x="65658" y="372237"/>
                  </a:lnTo>
                  <a:lnTo>
                    <a:pt x="72262" y="374142"/>
                  </a:lnTo>
                  <a:lnTo>
                    <a:pt x="76707" y="376047"/>
                  </a:lnTo>
                  <a:lnTo>
                    <a:pt x="83184" y="377951"/>
                  </a:lnTo>
                  <a:lnTo>
                    <a:pt x="89788" y="376047"/>
                  </a:lnTo>
                  <a:lnTo>
                    <a:pt x="94233" y="370332"/>
                  </a:lnTo>
                  <a:lnTo>
                    <a:pt x="116077" y="328802"/>
                  </a:lnTo>
                  <a:lnTo>
                    <a:pt x="315611" y="328802"/>
                  </a:lnTo>
                  <a:lnTo>
                    <a:pt x="310901" y="315595"/>
                  </a:lnTo>
                  <a:lnTo>
                    <a:pt x="194944" y="315595"/>
                  </a:lnTo>
                  <a:lnTo>
                    <a:pt x="140676" y="305990"/>
                  </a:lnTo>
                  <a:lnTo>
                    <a:pt x="96075" y="279908"/>
                  </a:lnTo>
                  <a:lnTo>
                    <a:pt x="65857" y="241442"/>
                  </a:lnTo>
                  <a:lnTo>
                    <a:pt x="54737" y="194691"/>
                  </a:lnTo>
                  <a:lnTo>
                    <a:pt x="65857" y="147062"/>
                  </a:lnTo>
                  <a:lnTo>
                    <a:pt x="96075" y="108648"/>
                  </a:lnTo>
                  <a:lnTo>
                    <a:pt x="140676" y="82998"/>
                  </a:lnTo>
                  <a:lnTo>
                    <a:pt x="194944" y="73660"/>
                  </a:lnTo>
                  <a:lnTo>
                    <a:pt x="300263" y="73660"/>
                  </a:lnTo>
                  <a:lnTo>
                    <a:pt x="261419" y="53739"/>
                  </a:lnTo>
                  <a:lnTo>
                    <a:pt x="210312" y="43434"/>
                  </a:lnTo>
                  <a:lnTo>
                    <a:pt x="210312" y="11302"/>
                  </a:lnTo>
                  <a:close/>
                </a:path>
                <a:path w="401319" h="378460">
                  <a:moveTo>
                    <a:pt x="315611" y="328802"/>
                  </a:moveTo>
                  <a:lnTo>
                    <a:pt x="273812" y="328802"/>
                  </a:lnTo>
                  <a:lnTo>
                    <a:pt x="297814" y="370332"/>
                  </a:lnTo>
                  <a:lnTo>
                    <a:pt x="300100" y="376047"/>
                  </a:lnTo>
                  <a:lnTo>
                    <a:pt x="308863" y="377951"/>
                  </a:lnTo>
                  <a:lnTo>
                    <a:pt x="315340" y="376047"/>
                  </a:lnTo>
                  <a:lnTo>
                    <a:pt x="319785" y="374142"/>
                  </a:lnTo>
                  <a:lnTo>
                    <a:pt x="326389" y="372237"/>
                  </a:lnTo>
                  <a:lnTo>
                    <a:pt x="328548" y="366649"/>
                  </a:lnTo>
                  <a:lnTo>
                    <a:pt x="326389" y="359029"/>
                  </a:lnTo>
                  <a:lnTo>
                    <a:pt x="315611" y="328802"/>
                  </a:lnTo>
                  <a:close/>
                </a:path>
                <a:path w="401319" h="378460">
                  <a:moveTo>
                    <a:pt x="273812" y="328802"/>
                  </a:moveTo>
                  <a:lnTo>
                    <a:pt x="116077" y="328802"/>
                  </a:lnTo>
                  <a:lnTo>
                    <a:pt x="134580" y="336230"/>
                  </a:lnTo>
                  <a:lnTo>
                    <a:pt x="153892" y="341550"/>
                  </a:lnTo>
                  <a:lnTo>
                    <a:pt x="174013" y="344751"/>
                  </a:lnTo>
                  <a:lnTo>
                    <a:pt x="194944" y="345821"/>
                  </a:lnTo>
                  <a:lnTo>
                    <a:pt x="215876" y="344751"/>
                  </a:lnTo>
                  <a:lnTo>
                    <a:pt x="235997" y="341550"/>
                  </a:lnTo>
                  <a:lnTo>
                    <a:pt x="255309" y="336230"/>
                  </a:lnTo>
                  <a:lnTo>
                    <a:pt x="273812" y="328802"/>
                  </a:lnTo>
                  <a:close/>
                </a:path>
                <a:path w="401319" h="378460">
                  <a:moveTo>
                    <a:pt x="300263" y="73660"/>
                  </a:moveTo>
                  <a:lnTo>
                    <a:pt x="194944" y="73660"/>
                  </a:lnTo>
                  <a:lnTo>
                    <a:pt x="249160" y="82998"/>
                  </a:lnTo>
                  <a:lnTo>
                    <a:pt x="293766" y="108648"/>
                  </a:lnTo>
                  <a:lnTo>
                    <a:pt x="324014" y="147062"/>
                  </a:lnTo>
                  <a:lnTo>
                    <a:pt x="335152" y="194691"/>
                  </a:lnTo>
                  <a:lnTo>
                    <a:pt x="324014" y="241442"/>
                  </a:lnTo>
                  <a:lnTo>
                    <a:pt x="293766" y="279908"/>
                  </a:lnTo>
                  <a:lnTo>
                    <a:pt x="249160" y="305990"/>
                  </a:lnTo>
                  <a:lnTo>
                    <a:pt x="194944" y="315595"/>
                  </a:lnTo>
                  <a:lnTo>
                    <a:pt x="310901" y="315595"/>
                  </a:lnTo>
                  <a:lnTo>
                    <a:pt x="308863" y="309880"/>
                  </a:lnTo>
                  <a:lnTo>
                    <a:pt x="334146" y="286309"/>
                  </a:lnTo>
                  <a:lnTo>
                    <a:pt x="353488" y="258667"/>
                  </a:lnTo>
                  <a:lnTo>
                    <a:pt x="365853" y="227834"/>
                  </a:lnTo>
                  <a:lnTo>
                    <a:pt x="370204" y="194691"/>
                  </a:lnTo>
                  <a:lnTo>
                    <a:pt x="362195" y="149028"/>
                  </a:lnTo>
                  <a:lnTo>
                    <a:pt x="339781" y="108804"/>
                  </a:lnTo>
                  <a:lnTo>
                    <a:pt x="305383" y="76285"/>
                  </a:lnTo>
                  <a:lnTo>
                    <a:pt x="300263" y="73660"/>
                  </a:lnTo>
                  <a:close/>
                </a:path>
                <a:path w="401319" h="378460">
                  <a:moveTo>
                    <a:pt x="215082" y="213487"/>
                  </a:moveTo>
                  <a:lnTo>
                    <a:pt x="203707" y="213487"/>
                  </a:lnTo>
                  <a:lnTo>
                    <a:pt x="227837" y="247523"/>
                  </a:lnTo>
                  <a:lnTo>
                    <a:pt x="232156" y="251333"/>
                  </a:lnTo>
                  <a:lnTo>
                    <a:pt x="234314" y="249427"/>
                  </a:lnTo>
                  <a:lnTo>
                    <a:pt x="236600" y="247523"/>
                  </a:lnTo>
                  <a:lnTo>
                    <a:pt x="238759" y="245618"/>
                  </a:lnTo>
                  <a:lnTo>
                    <a:pt x="236600" y="243839"/>
                  </a:lnTo>
                  <a:lnTo>
                    <a:pt x="215082" y="213487"/>
                  </a:lnTo>
                  <a:close/>
                </a:path>
                <a:path w="401319" h="378460">
                  <a:moveTo>
                    <a:pt x="197103" y="100202"/>
                  </a:moveTo>
                  <a:lnTo>
                    <a:pt x="192785" y="100202"/>
                  </a:lnTo>
                  <a:lnTo>
                    <a:pt x="190500" y="102108"/>
                  </a:lnTo>
                  <a:lnTo>
                    <a:pt x="190500" y="173862"/>
                  </a:lnTo>
                  <a:lnTo>
                    <a:pt x="182816" y="176313"/>
                  </a:lnTo>
                  <a:lnTo>
                    <a:pt x="176561" y="180705"/>
                  </a:lnTo>
                  <a:lnTo>
                    <a:pt x="172354" y="186882"/>
                  </a:lnTo>
                  <a:lnTo>
                    <a:pt x="170814" y="194691"/>
                  </a:lnTo>
                  <a:lnTo>
                    <a:pt x="172727" y="202693"/>
                  </a:lnTo>
                  <a:lnTo>
                    <a:pt x="177926" y="209280"/>
                  </a:lnTo>
                  <a:lnTo>
                    <a:pt x="185602" y="213746"/>
                  </a:lnTo>
                  <a:lnTo>
                    <a:pt x="194944" y="215392"/>
                  </a:lnTo>
                  <a:lnTo>
                    <a:pt x="201548" y="215392"/>
                  </a:lnTo>
                  <a:lnTo>
                    <a:pt x="203707" y="213487"/>
                  </a:lnTo>
                  <a:lnTo>
                    <a:pt x="215082" y="213487"/>
                  </a:lnTo>
                  <a:lnTo>
                    <a:pt x="212470" y="209804"/>
                  </a:lnTo>
                  <a:lnTo>
                    <a:pt x="216788" y="205994"/>
                  </a:lnTo>
                  <a:lnTo>
                    <a:pt x="219075" y="200279"/>
                  </a:lnTo>
                  <a:lnTo>
                    <a:pt x="219075" y="194691"/>
                  </a:lnTo>
                  <a:lnTo>
                    <a:pt x="217533" y="186882"/>
                  </a:lnTo>
                  <a:lnTo>
                    <a:pt x="213312" y="180705"/>
                  </a:lnTo>
                  <a:lnTo>
                    <a:pt x="207019" y="176313"/>
                  </a:lnTo>
                  <a:lnTo>
                    <a:pt x="199262" y="173862"/>
                  </a:lnTo>
                  <a:lnTo>
                    <a:pt x="199262" y="102108"/>
                  </a:lnTo>
                  <a:lnTo>
                    <a:pt x="197103" y="100202"/>
                  </a:lnTo>
                  <a:close/>
                </a:path>
                <a:path w="401319" h="378460">
                  <a:moveTo>
                    <a:pt x="321944" y="20827"/>
                  </a:moveTo>
                  <a:lnTo>
                    <a:pt x="304341" y="22502"/>
                  </a:lnTo>
                  <a:lnTo>
                    <a:pt x="287988" y="27177"/>
                  </a:lnTo>
                  <a:lnTo>
                    <a:pt x="273278" y="34329"/>
                  </a:lnTo>
                  <a:lnTo>
                    <a:pt x="260603" y="43434"/>
                  </a:lnTo>
                  <a:lnTo>
                    <a:pt x="297783" y="59894"/>
                  </a:lnTo>
                  <a:lnTo>
                    <a:pt x="329628" y="82915"/>
                  </a:lnTo>
                  <a:lnTo>
                    <a:pt x="354901" y="111246"/>
                  </a:lnTo>
                  <a:lnTo>
                    <a:pt x="372363" y="143637"/>
                  </a:lnTo>
                  <a:lnTo>
                    <a:pt x="384202" y="132718"/>
                  </a:lnTo>
                  <a:lnTo>
                    <a:pt x="393160" y="120014"/>
                  </a:lnTo>
                  <a:lnTo>
                    <a:pt x="398834" y="105858"/>
                  </a:lnTo>
                  <a:lnTo>
                    <a:pt x="400812" y="90677"/>
                  </a:lnTo>
                  <a:lnTo>
                    <a:pt x="394650" y="63851"/>
                  </a:lnTo>
                  <a:lnTo>
                    <a:pt x="377809" y="41608"/>
                  </a:lnTo>
                  <a:lnTo>
                    <a:pt x="352752" y="26437"/>
                  </a:lnTo>
                  <a:lnTo>
                    <a:pt x="321944" y="20827"/>
                  </a:lnTo>
                  <a:close/>
                </a:path>
                <a:path w="401319" h="378460">
                  <a:moveTo>
                    <a:pt x="78866" y="20827"/>
                  </a:moveTo>
                  <a:lnTo>
                    <a:pt x="48059" y="26437"/>
                  </a:lnTo>
                  <a:lnTo>
                    <a:pt x="23002" y="41608"/>
                  </a:lnTo>
                  <a:lnTo>
                    <a:pt x="6161" y="63851"/>
                  </a:lnTo>
                  <a:lnTo>
                    <a:pt x="0" y="90677"/>
                  </a:lnTo>
                  <a:lnTo>
                    <a:pt x="1236" y="103381"/>
                  </a:lnTo>
                  <a:lnTo>
                    <a:pt x="4937" y="115728"/>
                  </a:lnTo>
                  <a:lnTo>
                    <a:pt x="11090" y="127361"/>
                  </a:lnTo>
                  <a:lnTo>
                    <a:pt x="19684" y="137922"/>
                  </a:lnTo>
                  <a:lnTo>
                    <a:pt x="38733" y="105858"/>
                  </a:lnTo>
                  <a:lnTo>
                    <a:pt x="65389" y="78390"/>
                  </a:lnTo>
                  <a:lnTo>
                    <a:pt x="98212" y="56590"/>
                  </a:lnTo>
                  <a:lnTo>
                    <a:pt x="135762" y="41529"/>
                  </a:lnTo>
                  <a:lnTo>
                    <a:pt x="124426" y="32722"/>
                  </a:lnTo>
                  <a:lnTo>
                    <a:pt x="110601" y="26225"/>
                  </a:lnTo>
                  <a:lnTo>
                    <a:pt x="95132" y="22205"/>
                  </a:lnTo>
                  <a:lnTo>
                    <a:pt x="78866" y="20827"/>
                  </a:lnTo>
                  <a:close/>
                </a:path>
                <a:path w="401319" h="378460">
                  <a:moveTo>
                    <a:pt x="219075" y="0"/>
                  </a:moveTo>
                  <a:lnTo>
                    <a:pt x="175259" y="0"/>
                  </a:lnTo>
                  <a:lnTo>
                    <a:pt x="170814" y="1905"/>
                  </a:lnTo>
                  <a:lnTo>
                    <a:pt x="170814" y="9398"/>
                  </a:lnTo>
                  <a:lnTo>
                    <a:pt x="175259" y="11302"/>
                  </a:lnTo>
                  <a:lnTo>
                    <a:pt x="219075" y="11302"/>
                  </a:lnTo>
                  <a:lnTo>
                    <a:pt x="223393" y="9398"/>
                  </a:lnTo>
                  <a:lnTo>
                    <a:pt x="223393" y="1905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16835" y="3305555"/>
              <a:ext cx="1109980" cy="1129665"/>
            </a:xfrm>
            <a:custGeom>
              <a:avLst/>
              <a:gdLst/>
              <a:ahLst/>
              <a:cxnLst/>
              <a:rect l="l" t="t" r="r" b="b"/>
              <a:pathLst>
                <a:path w="1109980" h="1129664">
                  <a:moveTo>
                    <a:pt x="1109471" y="0"/>
                  </a:moveTo>
                  <a:lnTo>
                    <a:pt x="0" y="0"/>
                  </a:lnTo>
                  <a:lnTo>
                    <a:pt x="0" y="942721"/>
                  </a:lnTo>
                  <a:lnTo>
                    <a:pt x="551180" y="1129284"/>
                  </a:lnTo>
                  <a:lnTo>
                    <a:pt x="1109471" y="942721"/>
                  </a:lnTo>
                  <a:lnTo>
                    <a:pt x="1109471" y="0"/>
                  </a:lnTo>
                  <a:close/>
                </a:path>
              </a:pathLst>
            </a:custGeom>
            <a:solidFill>
              <a:srgbClr val="46A8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53792" y="3826509"/>
            <a:ext cx="10318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81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404040"/>
                </a:solidFill>
                <a:latin typeface="Arial"/>
                <a:cs typeface="Arial"/>
              </a:rPr>
              <a:t>Perceptual  </a:t>
            </a:r>
            <a:r>
              <a:rPr sz="1400" b="1" spc="35" dirty="0">
                <a:solidFill>
                  <a:srgbClr val="404040"/>
                </a:solidFill>
                <a:latin typeface="Arial"/>
                <a:cs typeface="Arial"/>
              </a:rPr>
              <a:t>int</a:t>
            </a:r>
            <a:r>
              <a:rPr sz="1400" b="1" spc="50" dirty="0">
                <a:solidFill>
                  <a:srgbClr val="404040"/>
                </a:solidFill>
                <a:latin typeface="Arial"/>
                <a:cs typeface="Arial"/>
              </a:rPr>
              <a:t>el</a:t>
            </a:r>
            <a:r>
              <a:rPr sz="1400" b="1" spc="45" dirty="0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sz="1400" b="1" spc="10" dirty="0">
                <a:solidFill>
                  <a:srgbClr val="404040"/>
                </a:solidFill>
                <a:latin typeface="Arial"/>
                <a:cs typeface="Arial"/>
              </a:rPr>
              <a:t>ige</a:t>
            </a:r>
            <a:r>
              <a:rPr sz="1400" b="1" spc="15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1400" b="1" spc="-50" dirty="0">
                <a:solidFill>
                  <a:srgbClr val="404040"/>
                </a:solidFill>
                <a:latin typeface="Arial"/>
                <a:cs typeface="Arial"/>
              </a:rPr>
              <a:t>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16835" y="3435096"/>
            <a:ext cx="1109980" cy="2573020"/>
            <a:chOff x="2116835" y="3435096"/>
            <a:chExt cx="1109980" cy="2573020"/>
          </a:xfrm>
        </p:grpSpPr>
        <p:sp>
          <p:nvSpPr>
            <p:cNvPr id="13" name="object 13"/>
            <p:cNvSpPr/>
            <p:nvPr/>
          </p:nvSpPr>
          <p:spPr>
            <a:xfrm>
              <a:off x="2503931" y="3435096"/>
              <a:ext cx="402590" cy="378460"/>
            </a:xfrm>
            <a:custGeom>
              <a:avLst/>
              <a:gdLst/>
              <a:ahLst/>
              <a:cxnLst/>
              <a:rect l="l" t="t" r="r" b="b"/>
              <a:pathLst>
                <a:path w="402589" h="378460">
                  <a:moveTo>
                    <a:pt x="211074" y="11302"/>
                  </a:moveTo>
                  <a:lnTo>
                    <a:pt x="184657" y="11302"/>
                  </a:lnTo>
                  <a:lnTo>
                    <a:pt x="184657" y="43433"/>
                  </a:lnTo>
                  <a:lnTo>
                    <a:pt x="132059" y="52824"/>
                  </a:lnTo>
                  <a:lnTo>
                    <a:pt x="86746" y="74913"/>
                  </a:lnTo>
                  <a:lnTo>
                    <a:pt x="51247" y="107432"/>
                  </a:lnTo>
                  <a:lnTo>
                    <a:pt x="28092" y="148114"/>
                  </a:lnTo>
                  <a:lnTo>
                    <a:pt x="19812" y="194690"/>
                  </a:lnTo>
                  <a:lnTo>
                    <a:pt x="24201" y="228101"/>
                  </a:lnTo>
                  <a:lnTo>
                    <a:pt x="36830" y="259381"/>
                  </a:lnTo>
                  <a:lnTo>
                    <a:pt x="56888" y="287113"/>
                  </a:lnTo>
                  <a:lnTo>
                    <a:pt x="83566" y="309879"/>
                  </a:lnTo>
                  <a:lnTo>
                    <a:pt x="63754" y="359028"/>
                  </a:lnTo>
                  <a:lnTo>
                    <a:pt x="61594" y="366648"/>
                  </a:lnTo>
                  <a:lnTo>
                    <a:pt x="65912" y="372236"/>
                  </a:lnTo>
                  <a:lnTo>
                    <a:pt x="72517" y="374141"/>
                  </a:lnTo>
                  <a:lnTo>
                    <a:pt x="76962" y="376046"/>
                  </a:lnTo>
                  <a:lnTo>
                    <a:pt x="83566" y="377951"/>
                  </a:lnTo>
                  <a:lnTo>
                    <a:pt x="90169" y="376046"/>
                  </a:lnTo>
                  <a:lnTo>
                    <a:pt x="94487" y="370331"/>
                  </a:lnTo>
                  <a:lnTo>
                    <a:pt x="116586" y="328802"/>
                  </a:lnTo>
                  <a:lnTo>
                    <a:pt x="316754" y="328802"/>
                  </a:lnTo>
                  <a:lnTo>
                    <a:pt x="312044" y="315594"/>
                  </a:lnTo>
                  <a:lnTo>
                    <a:pt x="195706" y="315594"/>
                  </a:lnTo>
                  <a:lnTo>
                    <a:pt x="141251" y="305990"/>
                  </a:lnTo>
                  <a:lnTo>
                    <a:pt x="96488" y="279907"/>
                  </a:lnTo>
                  <a:lnTo>
                    <a:pt x="66155" y="241442"/>
                  </a:lnTo>
                  <a:lnTo>
                    <a:pt x="54991" y="194690"/>
                  </a:lnTo>
                  <a:lnTo>
                    <a:pt x="66155" y="147062"/>
                  </a:lnTo>
                  <a:lnTo>
                    <a:pt x="96488" y="108648"/>
                  </a:lnTo>
                  <a:lnTo>
                    <a:pt x="141251" y="82998"/>
                  </a:lnTo>
                  <a:lnTo>
                    <a:pt x="195706" y="73659"/>
                  </a:lnTo>
                  <a:lnTo>
                    <a:pt x="301393" y="73659"/>
                  </a:lnTo>
                  <a:lnTo>
                    <a:pt x="262394" y="53739"/>
                  </a:lnTo>
                  <a:lnTo>
                    <a:pt x="211074" y="43433"/>
                  </a:lnTo>
                  <a:lnTo>
                    <a:pt x="211074" y="11302"/>
                  </a:lnTo>
                  <a:close/>
                </a:path>
                <a:path w="402589" h="378460">
                  <a:moveTo>
                    <a:pt x="316754" y="328802"/>
                  </a:moveTo>
                  <a:lnTo>
                    <a:pt x="274828" y="328802"/>
                  </a:lnTo>
                  <a:lnTo>
                    <a:pt x="298957" y="370331"/>
                  </a:lnTo>
                  <a:lnTo>
                    <a:pt x="301244" y="376046"/>
                  </a:lnTo>
                  <a:lnTo>
                    <a:pt x="310006" y="377951"/>
                  </a:lnTo>
                  <a:lnTo>
                    <a:pt x="316611" y="376046"/>
                  </a:lnTo>
                  <a:lnTo>
                    <a:pt x="320929" y="374141"/>
                  </a:lnTo>
                  <a:lnTo>
                    <a:pt x="327532" y="372236"/>
                  </a:lnTo>
                  <a:lnTo>
                    <a:pt x="329819" y="366648"/>
                  </a:lnTo>
                  <a:lnTo>
                    <a:pt x="327532" y="359028"/>
                  </a:lnTo>
                  <a:lnTo>
                    <a:pt x="316754" y="328802"/>
                  </a:lnTo>
                  <a:close/>
                </a:path>
                <a:path w="402589" h="378460">
                  <a:moveTo>
                    <a:pt x="274828" y="328802"/>
                  </a:moveTo>
                  <a:lnTo>
                    <a:pt x="116586" y="328802"/>
                  </a:lnTo>
                  <a:lnTo>
                    <a:pt x="135110" y="336230"/>
                  </a:lnTo>
                  <a:lnTo>
                    <a:pt x="154479" y="341550"/>
                  </a:lnTo>
                  <a:lnTo>
                    <a:pt x="174682" y="344751"/>
                  </a:lnTo>
                  <a:lnTo>
                    <a:pt x="195706" y="345820"/>
                  </a:lnTo>
                  <a:lnTo>
                    <a:pt x="216731" y="344751"/>
                  </a:lnTo>
                  <a:lnTo>
                    <a:pt x="236934" y="341550"/>
                  </a:lnTo>
                  <a:lnTo>
                    <a:pt x="256303" y="336230"/>
                  </a:lnTo>
                  <a:lnTo>
                    <a:pt x="274828" y="328802"/>
                  </a:lnTo>
                  <a:close/>
                </a:path>
                <a:path w="402589" h="378460">
                  <a:moveTo>
                    <a:pt x="301393" y="73659"/>
                  </a:moveTo>
                  <a:lnTo>
                    <a:pt x="195706" y="73659"/>
                  </a:lnTo>
                  <a:lnTo>
                    <a:pt x="250162" y="82998"/>
                  </a:lnTo>
                  <a:lnTo>
                    <a:pt x="294925" y="108648"/>
                  </a:lnTo>
                  <a:lnTo>
                    <a:pt x="325258" y="147062"/>
                  </a:lnTo>
                  <a:lnTo>
                    <a:pt x="336423" y="194690"/>
                  </a:lnTo>
                  <a:lnTo>
                    <a:pt x="325258" y="241442"/>
                  </a:lnTo>
                  <a:lnTo>
                    <a:pt x="294925" y="279907"/>
                  </a:lnTo>
                  <a:lnTo>
                    <a:pt x="250162" y="305990"/>
                  </a:lnTo>
                  <a:lnTo>
                    <a:pt x="195706" y="315594"/>
                  </a:lnTo>
                  <a:lnTo>
                    <a:pt x="312044" y="315594"/>
                  </a:lnTo>
                  <a:lnTo>
                    <a:pt x="310006" y="309879"/>
                  </a:lnTo>
                  <a:lnTo>
                    <a:pt x="335383" y="286309"/>
                  </a:lnTo>
                  <a:lnTo>
                    <a:pt x="354806" y="258667"/>
                  </a:lnTo>
                  <a:lnTo>
                    <a:pt x="367228" y="227834"/>
                  </a:lnTo>
                  <a:lnTo>
                    <a:pt x="371601" y="194690"/>
                  </a:lnTo>
                  <a:lnTo>
                    <a:pt x="363563" y="149028"/>
                  </a:lnTo>
                  <a:lnTo>
                    <a:pt x="341065" y="108804"/>
                  </a:lnTo>
                  <a:lnTo>
                    <a:pt x="306533" y="76285"/>
                  </a:lnTo>
                  <a:lnTo>
                    <a:pt x="301393" y="73659"/>
                  </a:lnTo>
                  <a:close/>
                </a:path>
                <a:path w="402589" h="378460">
                  <a:moveTo>
                    <a:pt x="215857" y="213486"/>
                  </a:moveTo>
                  <a:lnTo>
                    <a:pt x="204469" y="213486"/>
                  </a:lnTo>
                  <a:lnTo>
                    <a:pt x="228600" y="247522"/>
                  </a:lnTo>
                  <a:lnTo>
                    <a:pt x="230886" y="249427"/>
                  </a:lnTo>
                  <a:lnTo>
                    <a:pt x="233044" y="251332"/>
                  </a:lnTo>
                  <a:lnTo>
                    <a:pt x="235204" y="249427"/>
                  </a:lnTo>
                  <a:lnTo>
                    <a:pt x="237490" y="247522"/>
                  </a:lnTo>
                  <a:lnTo>
                    <a:pt x="239649" y="245617"/>
                  </a:lnTo>
                  <a:lnTo>
                    <a:pt x="237490" y="243839"/>
                  </a:lnTo>
                  <a:lnTo>
                    <a:pt x="215857" y="213486"/>
                  </a:lnTo>
                  <a:close/>
                </a:path>
                <a:path w="402589" h="378460">
                  <a:moveTo>
                    <a:pt x="197866" y="100202"/>
                  </a:moveTo>
                  <a:lnTo>
                    <a:pt x="193420" y="100202"/>
                  </a:lnTo>
                  <a:lnTo>
                    <a:pt x="191262" y="102107"/>
                  </a:lnTo>
                  <a:lnTo>
                    <a:pt x="191262" y="173862"/>
                  </a:lnTo>
                  <a:lnTo>
                    <a:pt x="183558" y="176313"/>
                  </a:lnTo>
                  <a:lnTo>
                    <a:pt x="177260" y="180705"/>
                  </a:lnTo>
                  <a:lnTo>
                    <a:pt x="173009" y="186882"/>
                  </a:lnTo>
                  <a:lnTo>
                    <a:pt x="171450" y="194690"/>
                  </a:lnTo>
                  <a:lnTo>
                    <a:pt x="173382" y="202693"/>
                  </a:lnTo>
                  <a:lnTo>
                    <a:pt x="178625" y="209280"/>
                  </a:lnTo>
                  <a:lnTo>
                    <a:pt x="186344" y="213746"/>
                  </a:lnTo>
                  <a:lnTo>
                    <a:pt x="195706" y="215391"/>
                  </a:lnTo>
                  <a:lnTo>
                    <a:pt x="202311" y="215391"/>
                  </a:lnTo>
                  <a:lnTo>
                    <a:pt x="204469" y="213486"/>
                  </a:lnTo>
                  <a:lnTo>
                    <a:pt x="215857" y="213486"/>
                  </a:lnTo>
                  <a:lnTo>
                    <a:pt x="213232" y="209803"/>
                  </a:lnTo>
                  <a:lnTo>
                    <a:pt x="217678" y="205993"/>
                  </a:lnTo>
                  <a:lnTo>
                    <a:pt x="219837" y="200278"/>
                  </a:lnTo>
                  <a:lnTo>
                    <a:pt x="219837" y="194690"/>
                  </a:lnTo>
                  <a:lnTo>
                    <a:pt x="218295" y="186882"/>
                  </a:lnTo>
                  <a:lnTo>
                    <a:pt x="214074" y="180705"/>
                  </a:lnTo>
                  <a:lnTo>
                    <a:pt x="207781" y="176313"/>
                  </a:lnTo>
                  <a:lnTo>
                    <a:pt x="200025" y="173862"/>
                  </a:lnTo>
                  <a:lnTo>
                    <a:pt x="200025" y="102107"/>
                  </a:lnTo>
                  <a:lnTo>
                    <a:pt x="197866" y="100202"/>
                  </a:lnTo>
                  <a:close/>
                </a:path>
                <a:path w="402589" h="378460">
                  <a:moveTo>
                    <a:pt x="323215" y="20827"/>
                  </a:moveTo>
                  <a:lnTo>
                    <a:pt x="305518" y="22502"/>
                  </a:lnTo>
                  <a:lnTo>
                    <a:pt x="289083" y="27177"/>
                  </a:lnTo>
                  <a:lnTo>
                    <a:pt x="274316" y="34329"/>
                  </a:lnTo>
                  <a:lnTo>
                    <a:pt x="261619" y="43433"/>
                  </a:lnTo>
                  <a:lnTo>
                    <a:pt x="298948" y="59894"/>
                  </a:lnTo>
                  <a:lnTo>
                    <a:pt x="330882" y="82915"/>
                  </a:lnTo>
                  <a:lnTo>
                    <a:pt x="356221" y="111246"/>
                  </a:lnTo>
                  <a:lnTo>
                    <a:pt x="373761" y="143637"/>
                  </a:lnTo>
                  <a:lnTo>
                    <a:pt x="385619" y="132718"/>
                  </a:lnTo>
                  <a:lnTo>
                    <a:pt x="394620" y="120014"/>
                  </a:lnTo>
                  <a:lnTo>
                    <a:pt x="400338" y="105858"/>
                  </a:lnTo>
                  <a:lnTo>
                    <a:pt x="402336" y="90677"/>
                  </a:lnTo>
                  <a:lnTo>
                    <a:pt x="396152" y="63851"/>
                  </a:lnTo>
                  <a:lnTo>
                    <a:pt x="379253" y="41608"/>
                  </a:lnTo>
                  <a:lnTo>
                    <a:pt x="354115" y="26437"/>
                  </a:lnTo>
                  <a:lnTo>
                    <a:pt x="323215" y="20827"/>
                  </a:lnTo>
                  <a:close/>
                </a:path>
                <a:path w="402589" h="378460">
                  <a:moveTo>
                    <a:pt x="79120" y="20827"/>
                  </a:moveTo>
                  <a:lnTo>
                    <a:pt x="48220" y="26437"/>
                  </a:lnTo>
                  <a:lnTo>
                    <a:pt x="23082" y="41608"/>
                  </a:lnTo>
                  <a:lnTo>
                    <a:pt x="6183" y="63851"/>
                  </a:lnTo>
                  <a:lnTo>
                    <a:pt x="0" y="90677"/>
                  </a:lnTo>
                  <a:lnTo>
                    <a:pt x="1238" y="103381"/>
                  </a:lnTo>
                  <a:lnTo>
                    <a:pt x="4952" y="115728"/>
                  </a:lnTo>
                  <a:lnTo>
                    <a:pt x="11144" y="127361"/>
                  </a:lnTo>
                  <a:lnTo>
                    <a:pt x="19812" y="137921"/>
                  </a:lnTo>
                  <a:lnTo>
                    <a:pt x="38955" y="105858"/>
                  </a:lnTo>
                  <a:lnTo>
                    <a:pt x="65706" y="78390"/>
                  </a:lnTo>
                  <a:lnTo>
                    <a:pt x="98625" y="56590"/>
                  </a:lnTo>
                  <a:lnTo>
                    <a:pt x="136270" y="41528"/>
                  </a:lnTo>
                  <a:lnTo>
                    <a:pt x="124858" y="32722"/>
                  </a:lnTo>
                  <a:lnTo>
                    <a:pt x="110982" y="26225"/>
                  </a:lnTo>
                  <a:lnTo>
                    <a:pt x="95462" y="22205"/>
                  </a:lnTo>
                  <a:lnTo>
                    <a:pt x="79120" y="20827"/>
                  </a:lnTo>
                  <a:close/>
                </a:path>
                <a:path w="402589" h="378460">
                  <a:moveTo>
                    <a:pt x="219837" y="0"/>
                  </a:moveTo>
                  <a:lnTo>
                    <a:pt x="175894" y="0"/>
                  </a:lnTo>
                  <a:lnTo>
                    <a:pt x="171450" y="1904"/>
                  </a:lnTo>
                  <a:lnTo>
                    <a:pt x="171450" y="9398"/>
                  </a:lnTo>
                  <a:lnTo>
                    <a:pt x="175894" y="11302"/>
                  </a:lnTo>
                  <a:lnTo>
                    <a:pt x="219837" y="11302"/>
                  </a:lnTo>
                  <a:lnTo>
                    <a:pt x="224281" y="9398"/>
                  </a:lnTo>
                  <a:lnTo>
                    <a:pt x="224281" y="1904"/>
                  </a:lnTo>
                  <a:lnTo>
                    <a:pt x="21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16835" y="4878324"/>
              <a:ext cx="1109980" cy="1129665"/>
            </a:xfrm>
            <a:custGeom>
              <a:avLst/>
              <a:gdLst/>
              <a:ahLst/>
              <a:cxnLst/>
              <a:rect l="l" t="t" r="r" b="b"/>
              <a:pathLst>
                <a:path w="1109980" h="1129664">
                  <a:moveTo>
                    <a:pt x="1109471" y="0"/>
                  </a:moveTo>
                  <a:lnTo>
                    <a:pt x="0" y="0"/>
                  </a:lnTo>
                  <a:lnTo>
                    <a:pt x="0" y="942784"/>
                  </a:lnTo>
                  <a:lnTo>
                    <a:pt x="551180" y="1129284"/>
                  </a:lnTo>
                  <a:lnTo>
                    <a:pt x="1109471" y="942784"/>
                  </a:lnTo>
                  <a:lnTo>
                    <a:pt x="1109471" y="0"/>
                  </a:lnTo>
                  <a:close/>
                </a:path>
              </a:pathLst>
            </a:custGeom>
            <a:solidFill>
              <a:srgbClr val="9CB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71192" y="5390769"/>
            <a:ext cx="10318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155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404040"/>
                </a:solidFill>
                <a:latin typeface="Arial"/>
                <a:cs typeface="Arial"/>
              </a:rPr>
              <a:t>Cognitive  </a:t>
            </a:r>
            <a:r>
              <a:rPr sz="1400" b="1" spc="35" dirty="0">
                <a:solidFill>
                  <a:srgbClr val="404040"/>
                </a:solidFill>
                <a:latin typeface="Arial"/>
                <a:cs typeface="Arial"/>
              </a:rPr>
              <a:t>int</a:t>
            </a:r>
            <a:r>
              <a:rPr sz="1400" b="1" spc="50" dirty="0">
                <a:solidFill>
                  <a:srgbClr val="404040"/>
                </a:solidFill>
                <a:latin typeface="Arial"/>
                <a:cs typeface="Arial"/>
              </a:rPr>
              <a:t>el</a:t>
            </a:r>
            <a:r>
              <a:rPr sz="1400" b="1" spc="45" dirty="0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sz="1400" b="1" spc="10" dirty="0">
                <a:solidFill>
                  <a:srgbClr val="404040"/>
                </a:solidFill>
                <a:latin typeface="Arial"/>
                <a:cs typeface="Arial"/>
              </a:rPr>
              <a:t>ige</a:t>
            </a:r>
            <a:r>
              <a:rPr sz="1400" b="1" spc="15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1400" b="1" spc="-50" dirty="0">
                <a:solidFill>
                  <a:srgbClr val="404040"/>
                </a:solidFill>
                <a:latin typeface="Arial"/>
                <a:cs typeface="Arial"/>
              </a:rPr>
              <a:t>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03932" y="5007864"/>
            <a:ext cx="402590" cy="378460"/>
          </a:xfrm>
          <a:custGeom>
            <a:avLst/>
            <a:gdLst/>
            <a:ahLst/>
            <a:cxnLst/>
            <a:rect l="l" t="t" r="r" b="b"/>
            <a:pathLst>
              <a:path w="402589" h="378460">
                <a:moveTo>
                  <a:pt x="211074" y="11303"/>
                </a:moveTo>
                <a:lnTo>
                  <a:pt x="184657" y="11303"/>
                </a:lnTo>
                <a:lnTo>
                  <a:pt x="184657" y="43434"/>
                </a:lnTo>
                <a:lnTo>
                  <a:pt x="132059" y="52824"/>
                </a:lnTo>
                <a:lnTo>
                  <a:pt x="86746" y="74913"/>
                </a:lnTo>
                <a:lnTo>
                  <a:pt x="51247" y="107432"/>
                </a:lnTo>
                <a:lnTo>
                  <a:pt x="28092" y="148114"/>
                </a:lnTo>
                <a:lnTo>
                  <a:pt x="19812" y="194691"/>
                </a:lnTo>
                <a:lnTo>
                  <a:pt x="24201" y="228101"/>
                </a:lnTo>
                <a:lnTo>
                  <a:pt x="36830" y="259381"/>
                </a:lnTo>
                <a:lnTo>
                  <a:pt x="56888" y="287113"/>
                </a:lnTo>
                <a:lnTo>
                  <a:pt x="83566" y="309880"/>
                </a:lnTo>
                <a:lnTo>
                  <a:pt x="63754" y="359029"/>
                </a:lnTo>
                <a:lnTo>
                  <a:pt x="61594" y="366649"/>
                </a:lnTo>
                <a:lnTo>
                  <a:pt x="65912" y="372237"/>
                </a:lnTo>
                <a:lnTo>
                  <a:pt x="72517" y="374142"/>
                </a:lnTo>
                <a:lnTo>
                  <a:pt x="76962" y="376047"/>
                </a:lnTo>
                <a:lnTo>
                  <a:pt x="83566" y="377952"/>
                </a:lnTo>
                <a:lnTo>
                  <a:pt x="90169" y="376047"/>
                </a:lnTo>
                <a:lnTo>
                  <a:pt x="94487" y="370332"/>
                </a:lnTo>
                <a:lnTo>
                  <a:pt x="116586" y="328803"/>
                </a:lnTo>
                <a:lnTo>
                  <a:pt x="316754" y="328803"/>
                </a:lnTo>
                <a:lnTo>
                  <a:pt x="312044" y="315595"/>
                </a:lnTo>
                <a:lnTo>
                  <a:pt x="195706" y="315595"/>
                </a:lnTo>
                <a:lnTo>
                  <a:pt x="141251" y="305990"/>
                </a:lnTo>
                <a:lnTo>
                  <a:pt x="96488" y="279908"/>
                </a:lnTo>
                <a:lnTo>
                  <a:pt x="66155" y="241442"/>
                </a:lnTo>
                <a:lnTo>
                  <a:pt x="54991" y="194691"/>
                </a:lnTo>
                <a:lnTo>
                  <a:pt x="66155" y="147062"/>
                </a:lnTo>
                <a:lnTo>
                  <a:pt x="96488" y="108648"/>
                </a:lnTo>
                <a:lnTo>
                  <a:pt x="141251" y="82998"/>
                </a:lnTo>
                <a:lnTo>
                  <a:pt x="195706" y="73660"/>
                </a:lnTo>
                <a:lnTo>
                  <a:pt x="301393" y="73660"/>
                </a:lnTo>
                <a:lnTo>
                  <a:pt x="262394" y="53739"/>
                </a:lnTo>
                <a:lnTo>
                  <a:pt x="211074" y="43434"/>
                </a:lnTo>
                <a:lnTo>
                  <a:pt x="211074" y="11303"/>
                </a:lnTo>
                <a:close/>
              </a:path>
              <a:path w="402589" h="378460">
                <a:moveTo>
                  <a:pt x="316754" y="328803"/>
                </a:moveTo>
                <a:lnTo>
                  <a:pt x="274828" y="328803"/>
                </a:lnTo>
                <a:lnTo>
                  <a:pt x="298957" y="370332"/>
                </a:lnTo>
                <a:lnTo>
                  <a:pt x="301244" y="376047"/>
                </a:lnTo>
                <a:lnTo>
                  <a:pt x="310006" y="377952"/>
                </a:lnTo>
                <a:lnTo>
                  <a:pt x="316611" y="376047"/>
                </a:lnTo>
                <a:lnTo>
                  <a:pt x="320929" y="374142"/>
                </a:lnTo>
                <a:lnTo>
                  <a:pt x="327532" y="372237"/>
                </a:lnTo>
                <a:lnTo>
                  <a:pt x="329819" y="366649"/>
                </a:lnTo>
                <a:lnTo>
                  <a:pt x="327532" y="359029"/>
                </a:lnTo>
                <a:lnTo>
                  <a:pt x="316754" y="328803"/>
                </a:lnTo>
                <a:close/>
              </a:path>
              <a:path w="402589" h="378460">
                <a:moveTo>
                  <a:pt x="274828" y="328803"/>
                </a:moveTo>
                <a:lnTo>
                  <a:pt x="116586" y="328803"/>
                </a:lnTo>
                <a:lnTo>
                  <a:pt x="135110" y="336230"/>
                </a:lnTo>
                <a:lnTo>
                  <a:pt x="154479" y="341550"/>
                </a:lnTo>
                <a:lnTo>
                  <a:pt x="174682" y="344751"/>
                </a:lnTo>
                <a:lnTo>
                  <a:pt x="195706" y="345821"/>
                </a:lnTo>
                <a:lnTo>
                  <a:pt x="216731" y="344751"/>
                </a:lnTo>
                <a:lnTo>
                  <a:pt x="236934" y="341550"/>
                </a:lnTo>
                <a:lnTo>
                  <a:pt x="256303" y="336230"/>
                </a:lnTo>
                <a:lnTo>
                  <a:pt x="274828" y="328803"/>
                </a:lnTo>
                <a:close/>
              </a:path>
              <a:path w="402589" h="378460">
                <a:moveTo>
                  <a:pt x="301393" y="73660"/>
                </a:moveTo>
                <a:lnTo>
                  <a:pt x="195706" y="73660"/>
                </a:lnTo>
                <a:lnTo>
                  <a:pt x="250162" y="82998"/>
                </a:lnTo>
                <a:lnTo>
                  <a:pt x="294925" y="108648"/>
                </a:lnTo>
                <a:lnTo>
                  <a:pt x="325258" y="147062"/>
                </a:lnTo>
                <a:lnTo>
                  <a:pt x="336423" y="194691"/>
                </a:lnTo>
                <a:lnTo>
                  <a:pt x="325258" y="241442"/>
                </a:lnTo>
                <a:lnTo>
                  <a:pt x="294925" y="279908"/>
                </a:lnTo>
                <a:lnTo>
                  <a:pt x="250162" y="305990"/>
                </a:lnTo>
                <a:lnTo>
                  <a:pt x="195706" y="315595"/>
                </a:lnTo>
                <a:lnTo>
                  <a:pt x="312044" y="315595"/>
                </a:lnTo>
                <a:lnTo>
                  <a:pt x="310006" y="309880"/>
                </a:lnTo>
                <a:lnTo>
                  <a:pt x="335383" y="286309"/>
                </a:lnTo>
                <a:lnTo>
                  <a:pt x="354806" y="258667"/>
                </a:lnTo>
                <a:lnTo>
                  <a:pt x="367228" y="227834"/>
                </a:lnTo>
                <a:lnTo>
                  <a:pt x="371601" y="194691"/>
                </a:lnTo>
                <a:lnTo>
                  <a:pt x="363563" y="149028"/>
                </a:lnTo>
                <a:lnTo>
                  <a:pt x="341065" y="108804"/>
                </a:lnTo>
                <a:lnTo>
                  <a:pt x="306533" y="76285"/>
                </a:lnTo>
                <a:lnTo>
                  <a:pt x="301393" y="73660"/>
                </a:lnTo>
                <a:close/>
              </a:path>
              <a:path w="402589" h="378460">
                <a:moveTo>
                  <a:pt x="215857" y="213487"/>
                </a:moveTo>
                <a:lnTo>
                  <a:pt x="204469" y="213487"/>
                </a:lnTo>
                <a:lnTo>
                  <a:pt x="228600" y="247523"/>
                </a:lnTo>
                <a:lnTo>
                  <a:pt x="230886" y="249428"/>
                </a:lnTo>
                <a:lnTo>
                  <a:pt x="233044" y="251333"/>
                </a:lnTo>
                <a:lnTo>
                  <a:pt x="235204" y="249428"/>
                </a:lnTo>
                <a:lnTo>
                  <a:pt x="237490" y="247523"/>
                </a:lnTo>
                <a:lnTo>
                  <a:pt x="239649" y="245618"/>
                </a:lnTo>
                <a:lnTo>
                  <a:pt x="237490" y="243840"/>
                </a:lnTo>
                <a:lnTo>
                  <a:pt x="215857" y="213487"/>
                </a:lnTo>
                <a:close/>
              </a:path>
              <a:path w="402589" h="378460">
                <a:moveTo>
                  <a:pt x="197866" y="100203"/>
                </a:moveTo>
                <a:lnTo>
                  <a:pt x="193420" y="100203"/>
                </a:lnTo>
                <a:lnTo>
                  <a:pt x="191262" y="102108"/>
                </a:lnTo>
                <a:lnTo>
                  <a:pt x="191262" y="173862"/>
                </a:lnTo>
                <a:lnTo>
                  <a:pt x="183558" y="176313"/>
                </a:lnTo>
                <a:lnTo>
                  <a:pt x="177260" y="180705"/>
                </a:lnTo>
                <a:lnTo>
                  <a:pt x="173009" y="186882"/>
                </a:lnTo>
                <a:lnTo>
                  <a:pt x="171450" y="194691"/>
                </a:lnTo>
                <a:lnTo>
                  <a:pt x="173382" y="202693"/>
                </a:lnTo>
                <a:lnTo>
                  <a:pt x="178625" y="209280"/>
                </a:lnTo>
                <a:lnTo>
                  <a:pt x="186344" y="213746"/>
                </a:lnTo>
                <a:lnTo>
                  <a:pt x="195706" y="215392"/>
                </a:lnTo>
                <a:lnTo>
                  <a:pt x="202311" y="215392"/>
                </a:lnTo>
                <a:lnTo>
                  <a:pt x="204469" y="213487"/>
                </a:lnTo>
                <a:lnTo>
                  <a:pt x="215857" y="213487"/>
                </a:lnTo>
                <a:lnTo>
                  <a:pt x="213232" y="209804"/>
                </a:lnTo>
                <a:lnTo>
                  <a:pt x="217678" y="205994"/>
                </a:lnTo>
                <a:lnTo>
                  <a:pt x="219837" y="200279"/>
                </a:lnTo>
                <a:lnTo>
                  <a:pt x="219837" y="194691"/>
                </a:lnTo>
                <a:lnTo>
                  <a:pt x="218295" y="186882"/>
                </a:lnTo>
                <a:lnTo>
                  <a:pt x="214074" y="180705"/>
                </a:lnTo>
                <a:lnTo>
                  <a:pt x="207781" y="176313"/>
                </a:lnTo>
                <a:lnTo>
                  <a:pt x="200025" y="173862"/>
                </a:lnTo>
                <a:lnTo>
                  <a:pt x="200025" y="102108"/>
                </a:lnTo>
                <a:lnTo>
                  <a:pt x="197866" y="100203"/>
                </a:lnTo>
                <a:close/>
              </a:path>
              <a:path w="402589" h="378460">
                <a:moveTo>
                  <a:pt x="323215" y="20828"/>
                </a:moveTo>
                <a:lnTo>
                  <a:pt x="305518" y="22502"/>
                </a:lnTo>
                <a:lnTo>
                  <a:pt x="289083" y="27178"/>
                </a:lnTo>
                <a:lnTo>
                  <a:pt x="274316" y="34329"/>
                </a:lnTo>
                <a:lnTo>
                  <a:pt x="261619" y="43434"/>
                </a:lnTo>
                <a:lnTo>
                  <a:pt x="298948" y="59894"/>
                </a:lnTo>
                <a:lnTo>
                  <a:pt x="330882" y="82915"/>
                </a:lnTo>
                <a:lnTo>
                  <a:pt x="356221" y="111246"/>
                </a:lnTo>
                <a:lnTo>
                  <a:pt x="373761" y="143637"/>
                </a:lnTo>
                <a:lnTo>
                  <a:pt x="385619" y="132718"/>
                </a:lnTo>
                <a:lnTo>
                  <a:pt x="394620" y="120014"/>
                </a:lnTo>
                <a:lnTo>
                  <a:pt x="400338" y="105858"/>
                </a:lnTo>
                <a:lnTo>
                  <a:pt x="402336" y="90678"/>
                </a:lnTo>
                <a:lnTo>
                  <a:pt x="396152" y="63851"/>
                </a:lnTo>
                <a:lnTo>
                  <a:pt x="379253" y="41608"/>
                </a:lnTo>
                <a:lnTo>
                  <a:pt x="354115" y="26437"/>
                </a:lnTo>
                <a:lnTo>
                  <a:pt x="323215" y="20828"/>
                </a:lnTo>
                <a:close/>
              </a:path>
              <a:path w="402589" h="378460">
                <a:moveTo>
                  <a:pt x="79120" y="20828"/>
                </a:moveTo>
                <a:lnTo>
                  <a:pt x="48220" y="26437"/>
                </a:lnTo>
                <a:lnTo>
                  <a:pt x="23082" y="41608"/>
                </a:lnTo>
                <a:lnTo>
                  <a:pt x="6183" y="63851"/>
                </a:lnTo>
                <a:lnTo>
                  <a:pt x="0" y="90678"/>
                </a:lnTo>
                <a:lnTo>
                  <a:pt x="1238" y="103381"/>
                </a:lnTo>
                <a:lnTo>
                  <a:pt x="4952" y="115728"/>
                </a:lnTo>
                <a:lnTo>
                  <a:pt x="11144" y="127361"/>
                </a:lnTo>
                <a:lnTo>
                  <a:pt x="19812" y="137922"/>
                </a:lnTo>
                <a:lnTo>
                  <a:pt x="38955" y="105858"/>
                </a:lnTo>
                <a:lnTo>
                  <a:pt x="65706" y="78390"/>
                </a:lnTo>
                <a:lnTo>
                  <a:pt x="98625" y="56590"/>
                </a:lnTo>
                <a:lnTo>
                  <a:pt x="136270" y="41529"/>
                </a:lnTo>
                <a:lnTo>
                  <a:pt x="124858" y="32722"/>
                </a:lnTo>
                <a:lnTo>
                  <a:pt x="110982" y="26225"/>
                </a:lnTo>
                <a:lnTo>
                  <a:pt x="95462" y="22205"/>
                </a:lnTo>
                <a:lnTo>
                  <a:pt x="79120" y="20828"/>
                </a:lnTo>
                <a:close/>
              </a:path>
              <a:path w="402589" h="378460">
                <a:moveTo>
                  <a:pt x="219837" y="0"/>
                </a:moveTo>
                <a:lnTo>
                  <a:pt x="175894" y="0"/>
                </a:lnTo>
                <a:lnTo>
                  <a:pt x="171450" y="1905"/>
                </a:lnTo>
                <a:lnTo>
                  <a:pt x="171450" y="9398"/>
                </a:lnTo>
                <a:lnTo>
                  <a:pt x="175894" y="11303"/>
                </a:lnTo>
                <a:lnTo>
                  <a:pt x="219837" y="11303"/>
                </a:lnTo>
                <a:lnTo>
                  <a:pt x="224281" y="9398"/>
                </a:lnTo>
                <a:lnTo>
                  <a:pt x="224281" y="1905"/>
                </a:lnTo>
                <a:lnTo>
                  <a:pt x="2198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54908" y="1815083"/>
            <a:ext cx="1915795" cy="4192904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51435" marR="29845">
              <a:lnSpc>
                <a:spcPct val="100000"/>
              </a:lnSpc>
              <a:spcBef>
                <a:spcPts val="395"/>
              </a:spcBef>
            </a:pPr>
            <a:r>
              <a:rPr sz="1200" b="1" spc="-5" dirty="0">
                <a:solidFill>
                  <a:srgbClr val="404040"/>
                </a:solidFill>
                <a:latin typeface="Arial"/>
                <a:cs typeface="Arial"/>
              </a:rPr>
              <a:t>Capable </a:t>
            </a:r>
            <a:r>
              <a:rPr sz="1200" b="1" spc="1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200" b="1" spc="-5" dirty="0">
                <a:solidFill>
                  <a:srgbClr val="404040"/>
                </a:solidFill>
                <a:latin typeface="Arial"/>
                <a:cs typeface="Arial"/>
              </a:rPr>
              <a:t>storage </a:t>
            </a:r>
            <a:r>
              <a:rPr sz="1200" b="1" spc="5" dirty="0">
                <a:solidFill>
                  <a:srgbClr val="404040"/>
                </a:solidFill>
                <a:latin typeface="Arial"/>
                <a:cs typeface="Arial"/>
              </a:rPr>
              <a:t>and  </a:t>
            </a:r>
            <a:r>
              <a:rPr sz="1200" b="1" spc="-5" dirty="0">
                <a:solidFill>
                  <a:srgbClr val="404040"/>
                </a:solidFill>
                <a:latin typeface="Arial"/>
                <a:cs typeface="Arial"/>
              </a:rPr>
              <a:t>computing: </a:t>
            </a:r>
            <a:r>
              <a:rPr sz="1200" dirty="0">
                <a:solidFill>
                  <a:srgbClr val="404040"/>
                </a:solidFill>
                <a:latin typeface="Arial"/>
                <a:cs typeface="Arial"/>
              </a:rPr>
              <a:t>Machines </a:t>
            </a:r>
            <a:r>
              <a:rPr sz="1200" spc="-10" dirty="0">
                <a:solidFill>
                  <a:srgbClr val="404040"/>
                </a:solidFill>
                <a:latin typeface="Arial"/>
                <a:cs typeface="Arial"/>
              </a:rPr>
              <a:t>can  </a:t>
            </a:r>
            <a:r>
              <a:rPr sz="1200" spc="20" dirty="0">
                <a:solidFill>
                  <a:srgbClr val="404040"/>
                </a:solidFill>
                <a:latin typeface="Arial"/>
                <a:cs typeface="Arial"/>
              </a:rPr>
              <a:t>compute </a:t>
            </a:r>
            <a:r>
              <a:rPr sz="1200" spc="10" dirty="0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transfer  </a:t>
            </a:r>
            <a:r>
              <a:rPr sz="1200" spc="40" dirty="0">
                <a:solidFill>
                  <a:srgbClr val="404040"/>
                </a:solidFill>
                <a:latin typeface="Arial"/>
                <a:cs typeface="Arial"/>
              </a:rPr>
              <a:t>information </a:t>
            </a:r>
            <a:r>
              <a:rPr sz="1200" spc="-55" dirty="0">
                <a:solidFill>
                  <a:srgbClr val="404040"/>
                </a:solidFill>
                <a:latin typeface="Arial"/>
                <a:cs typeface="Arial"/>
              </a:rPr>
              <a:t>as </a:t>
            </a:r>
            <a:r>
              <a:rPr sz="1200" spc="30" dirty="0">
                <a:solidFill>
                  <a:srgbClr val="404040"/>
                </a:solidFill>
                <a:latin typeface="Arial"/>
                <a:cs typeface="Arial"/>
              </a:rPr>
              <a:t>human  </a:t>
            </a:r>
            <a:r>
              <a:rPr sz="1200" spc="-10" dirty="0">
                <a:solidFill>
                  <a:srgbClr val="404040"/>
                </a:solidFill>
                <a:latin typeface="Arial"/>
                <a:cs typeface="Arial"/>
              </a:rPr>
              <a:t>beings</a:t>
            </a:r>
            <a:r>
              <a:rPr sz="1200" spc="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Arial"/>
                <a:cs typeface="Arial"/>
              </a:rPr>
              <a:t>do.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51435" marR="56515">
              <a:lnSpc>
                <a:spcPct val="100000"/>
              </a:lnSpc>
              <a:spcBef>
                <a:spcPts val="1025"/>
              </a:spcBef>
            </a:pPr>
            <a:r>
              <a:rPr sz="1200" b="1" spc="-5" dirty="0">
                <a:solidFill>
                  <a:srgbClr val="404040"/>
                </a:solidFill>
                <a:latin typeface="Arial"/>
                <a:cs typeface="Arial"/>
              </a:rPr>
              <a:t>Capable </a:t>
            </a:r>
            <a:r>
              <a:rPr sz="1200" b="1" spc="1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200" b="1" dirty="0">
                <a:solidFill>
                  <a:srgbClr val="404040"/>
                </a:solidFill>
                <a:latin typeface="Arial"/>
                <a:cs typeface="Arial"/>
              </a:rPr>
              <a:t>listening </a:t>
            </a:r>
            <a:r>
              <a:rPr sz="1200" b="1" spc="5" dirty="0">
                <a:solidFill>
                  <a:srgbClr val="404040"/>
                </a:solidFill>
                <a:latin typeface="Arial"/>
                <a:cs typeface="Arial"/>
              </a:rPr>
              <a:t>and  </a:t>
            </a:r>
            <a:r>
              <a:rPr sz="1200" b="1" spc="-35" dirty="0">
                <a:solidFill>
                  <a:srgbClr val="404040"/>
                </a:solidFill>
                <a:latin typeface="Arial"/>
                <a:cs typeface="Arial"/>
              </a:rPr>
              <a:t>seeing: </a:t>
            </a:r>
            <a:r>
              <a:rPr sz="1200" dirty="0">
                <a:solidFill>
                  <a:srgbClr val="404040"/>
                </a:solidFill>
                <a:latin typeface="Arial"/>
                <a:cs typeface="Arial"/>
              </a:rPr>
              <a:t>Machines </a:t>
            </a:r>
            <a:r>
              <a:rPr sz="1200" spc="-10" dirty="0">
                <a:solidFill>
                  <a:srgbClr val="404040"/>
                </a:solidFill>
                <a:latin typeface="Arial"/>
                <a:cs typeface="Arial"/>
              </a:rPr>
              <a:t>can  </a:t>
            </a:r>
            <a:r>
              <a:rPr sz="1200" spc="10" dirty="0">
                <a:solidFill>
                  <a:srgbClr val="404040"/>
                </a:solidFill>
                <a:latin typeface="Arial"/>
                <a:cs typeface="Arial"/>
              </a:rPr>
              <a:t>listen and </a:t>
            </a:r>
            <a:r>
              <a:rPr sz="1200" spc="-55" dirty="0">
                <a:solidFill>
                  <a:srgbClr val="404040"/>
                </a:solidFill>
                <a:latin typeface="Arial"/>
                <a:cs typeface="Arial"/>
              </a:rPr>
              <a:t>see,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make  </a:t>
            </a:r>
            <a:r>
              <a:rPr sz="1200" spc="10" dirty="0">
                <a:solidFill>
                  <a:srgbClr val="404040"/>
                </a:solidFill>
                <a:latin typeface="Arial"/>
                <a:cs typeface="Arial"/>
              </a:rPr>
              <a:t>judgments, and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take  </a:t>
            </a:r>
            <a:r>
              <a:rPr sz="1200" spc="5" dirty="0">
                <a:solidFill>
                  <a:srgbClr val="404040"/>
                </a:solidFill>
                <a:latin typeface="Arial"/>
                <a:cs typeface="Arial"/>
              </a:rPr>
              <a:t>simple</a:t>
            </a:r>
            <a:r>
              <a:rPr sz="1200" spc="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Arial"/>
                <a:cs typeface="Arial"/>
              </a:rPr>
              <a:t>actions.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51435" marR="198755">
              <a:lnSpc>
                <a:spcPct val="100000"/>
              </a:lnSpc>
            </a:pPr>
            <a:r>
              <a:rPr sz="1200" b="1" spc="-5" dirty="0">
                <a:solidFill>
                  <a:srgbClr val="404040"/>
                </a:solidFill>
                <a:latin typeface="Arial"/>
                <a:cs typeface="Arial"/>
              </a:rPr>
              <a:t>Capable </a:t>
            </a:r>
            <a:r>
              <a:rPr sz="1200" b="1" spc="15" dirty="0">
                <a:solidFill>
                  <a:srgbClr val="404040"/>
                </a:solidFill>
                <a:latin typeface="Arial"/>
                <a:cs typeface="Arial"/>
              </a:rPr>
              <a:t>of  </a:t>
            </a:r>
            <a:r>
              <a:rPr sz="1200" b="1" dirty="0">
                <a:solidFill>
                  <a:srgbClr val="404040"/>
                </a:solidFill>
                <a:latin typeface="Arial"/>
                <a:cs typeface="Arial"/>
              </a:rPr>
              <a:t>understanding </a:t>
            </a:r>
            <a:r>
              <a:rPr sz="1200" b="1" spc="5" dirty="0">
                <a:solidFill>
                  <a:srgbClr val="404040"/>
                </a:solidFill>
                <a:latin typeface="Arial"/>
                <a:cs typeface="Arial"/>
              </a:rPr>
              <a:t>and  </a:t>
            </a:r>
            <a:r>
              <a:rPr sz="1200" b="1" spc="10" dirty="0">
                <a:solidFill>
                  <a:srgbClr val="404040"/>
                </a:solidFill>
                <a:latin typeface="Arial"/>
                <a:cs typeface="Arial"/>
              </a:rPr>
              <a:t>thinking: </a:t>
            </a:r>
            <a:r>
              <a:rPr sz="1200" dirty="0">
                <a:solidFill>
                  <a:srgbClr val="404040"/>
                </a:solidFill>
                <a:latin typeface="Arial"/>
                <a:cs typeface="Arial"/>
              </a:rPr>
              <a:t>Machines </a:t>
            </a:r>
            <a:r>
              <a:rPr sz="1200" spc="-10" dirty="0">
                <a:solidFill>
                  <a:srgbClr val="404040"/>
                </a:solidFill>
                <a:latin typeface="Arial"/>
                <a:cs typeface="Arial"/>
              </a:rPr>
              <a:t>can  </a:t>
            </a:r>
            <a:r>
              <a:rPr sz="1200" dirty="0">
                <a:solidFill>
                  <a:srgbClr val="404040"/>
                </a:solidFill>
                <a:latin typeface="Arial"/>
                <a:cs typeface="Arial"/>
              </a:rPr>
              <a:t>understand, </a:t>
            </a:r>
            <a:r>
              <a:rPr sz="1200" spc="25" dirty="0">
                <a:solidFill>
                  <a:srgbClr val="404040"/>
                </a:solidFill>
                <a:latin typeface="Arial"/>
                <a:cs typeface="Arial"/>
              </a:rPr>
              <a:t>think, </a:t>
            </a:r>
            <a:r>
              <a:rPr sz="1200" spc="10" dirty="0">
                <a:solidFill>
                  <a:srgbClr val="404040"/>
                </a:solidFill>
                <a:latin typeface="Arial"/>
                <a:cs typeface="Arial"/>
              </a:rPr>
              <a:t>and 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make </a:t>
            </a:r>
            <a:r>
              <a:rPr sz="1200" spc="-20" dirty="0">
                <a:solidFill>
                  <a:srgbClr val="404040"/>
                </a:solidFill>
                <a:latin typeface="Arial"/>
                <a:cs typeface="Arial"/>
              </a:rPr>
              <a:t>decisions </a:t>
            </a:r>
            <a:r>
              <a:rPr sz="1200" spc="20" dirty="0">
                <a:solidFill>
                  <a:srgbClr val="404040"/>
                </a:solidFill>
                <a:latin typeface="Arial"/>
                <a:cs typeface="Arial"/>
              </a:rPr>
              <a:t>like  </a:t>
            </a:r>
            <a:r>
              <a:rPr sz="1200" spc="30" dirty="0">
                <a:solidFill>
                  <a:srgbClr val="404040"/>
                </a:solidFill>
                <a:latin typeface="Arial"/>
                <a:cs typeface="Arial"/>
              </a:rPr>
              <a:t>human </a:t>
            </a:r>
            <a:r>
              <a:rPr sz="1200" spc="-15" dirty="0">
                <a:solidFill>
                  <a:srgbClr val="404040"/>
                </a:solidFill>
                <a:latin typeface="Arial"/>
                <a:cs typeface="Arial"/>
              </a:rPr>
              <a:t>beings.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454908" y="1237488"/>
            <a:ext cx="1915795" cy="391795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630555">
              <a:lnSpc>
                <a:spcPct val="100000"/>
              </a:lnSpc>
              <a:spcBef>
                <a:spcPts val="440"/>
              </a:spcBef>
            </a:pPr>
            <a:r>
              <a:rPr sz="1800" spc="45" dirty="0">
                <a:solidFill>
                  <a:srgbClr val="404040"/>
                </a:solidFill>
                <a:latin typeface="Arial"/>
                <a:cs typeface="Arial"/>
              </a:rPr>
              <a:t>Ability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4896" y="1828800"/>
            <a:ext cx="1915795" cy="4178935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47625" marR="307975">
              <a:lnSpc>
                <a:spcPct val="100000"/>
              </a:lnSpc>
              <a:spcBef>
                <a:spcPts val="285"/>
              </a:spcBef>
            </a:pP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Distributed </a:t>
            </a:r>
            <a:r>
              <a:rPr sz="1200" spc="25" dirty="0">
                <a:solidFill>
                  <a:srgbClr val="404040"/>
                </a:solidFill>
                <a:latin typeface="Arial"/>
                <a:cs typeface="Arial"/>
              </a:rPr>
              <a:t>computing  </a:t>
            </a:r>
            <a:r>
              <a:rPr sz="1200" spc="10" dirty="0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neural</a:t>
            </a:r>
            <a:r>
              <a:rPr sz="1200" spc="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200" spc="35" dirty="0">
                <a:solidFill>
                  <a:srgbClr val="404040"/>
                </a:solidFill>
                <a:latin typeface="Arial"/>
                <a:cs typeface="Arial"/>
              </a:rPr>
              <a:t>network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Arial"/>
              <a:cs typeface="Arial"/>
            </a:endParaRPr>
          </a:p>
          <a:p>
            <a:pPr marL="47625" marR="67310"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solidFill>
                  <a:srgbClr val="404040"/>
                </a:solidFill>
                <a:latin typeface="Arial"/>
                <a:cs typeface="Arial"/>
              </a:rPr>
              <a:t>Cameras </a:t>
            </a:r>
            <a:r>
              <a:rPr sz="1200" spc="-5" dirty="0">
                <a:solidFill>
                  <a:srgbClr val="404040"/>
                </a:solidFill>
                <a:latin typeface="Arial"/>
                <a:cs typeface="Arial"/>
              </a:rPr>
              <a:t>capable </a:t>
            </a:r>
            <a:r>
              <a:rPr sz="1200" spc="5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facial  </a:t>
            </a:r>
            <a:r>
              <a:rPr sz="1200" spc="20" dirty="0">
                <a:solidFill>
                  <a:srgbClr val="404040"/>
                </a:solidFill>
                <a:latin typeface="Arial"/>
                <a:cs typeface="Arial"/>
              </a:rPr>
              <a:t>recognition </a:t>
            </a:r>
            <a:r>
              <a:rPr sz="1200" spc="10" dirty="0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200" spc="-25" dirty="0">
                <a:solidFill>
                  <a:srgbClr val="404040"/>
                </a:solidFill>
                <a:latin typeface="Arial"/>
                <a:cs typeface="Arial"/>
              </a:rPr>
              <a:t>speakers  </a:t>
            </a:r>
            <a:r>
              <a:rPr sz="1200" spc="5" dirty="0">
                <a:solidFill>
                  <a:srgbClr val="404040"/>
                </a:solidFill>
                <a:latin typeface="Arial"/>
                <a:cs typeface="Arial"/>
              </a:rPr>
              <a:t>able </a:t>
            </a:r>
            <a:r>
              <a:rPr sz="1200" spc="60" dirty="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200" spc="5" dirty="0">
                <a:solidFill>
                  <a:srgbClr val="404040"/>
                </a:solidFill>
                <a:latin typeface="Arial"/>
                <a:cs typeface="Arial"/>
              </a:rPr>
              <a:t>understand  </a:t>
            </a:r>
            <a:r>
              <a:rPr sz="1200" spc="-40" dirty="0">
                <a:solidFill>
                  <a:srgbClr val="404040"/>
                </a:solidFill>
                <a:latin typeface="Arial"/>
                <a:cs typeface="Arial"/>
              </a:rPr>
              <a:t>speeches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Arial"/>
              <a:cs typeface="Arial"/>
            </a:endParaRPr>
          </a:p>
          <a:p>
            <a:pPr marL="47625" marR="123825">
              <a:lnSpc>
                <a:spcPct val="100000"/>
              </a:lnSpc>
            </a:pP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Unmanned </a:t>
            </a:r>
            <a:r>
              <a:rPr sz="1200" spc="-15" dirty="0">
                <a:solidFill>
                  <a:srgbClr val="404040"/>
                </a:solidFill>
                <a:latin typeface="Arial"/>
                <a:cs typeface="Arial"/>
              </a:rPr>
              <a:t>vehicles 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enabling </a:t>
            </a:r>
            <a:r>
              <a:rPr sz="1200" spc="20" dirty="0">
                <a:solidFill>
                  <a:srgbClr val="404040"/>
                </a:solidFill>
                <a:latin typeface="Arial"/>
                <a:cs typeface="Arial"/>
              </a:rPr>
              <a:t>autonomous  driving </a:t>
            </a:r>
            <a:r>
              <a:rPr sz="1200" spc="10" dirty="0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robots acting  </a:t>
            </a:r>
            <a:r>
              <a:rPr sz="1200" spc="20" dirty="0">
                <a:solidFill>
                  <a:srgbClr val="404040"/>
                </a:solidFill>
                <a:latin typeface="Arial"/>
                <a:cs typeface="Arial"/>
              </a:rPr>
              <a:t>autonomously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4896" y="1237488"/>
            <a:ext cx="1915795" cy="391795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440"/>
              </a:spcBef>
            </a:pP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Example</a:t>
            </a:r>
            <a:r>
              <a:rPr sz="1800" spc="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Value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96783" y="1237488"/>
            <a:ext cx="1923414" cy="391795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54737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Benefits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04404" y="1827276"/>
            <a:ext cx="1915795" cy="4180840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57785" marR="64135">
              <a:lnSpc>
                <a:spcPct val="100000"/>
              </a:lnSpc>
              <a:spcBef>
                <a:spcPts val="775"/>
              </a:spcBef>
            </a:pP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Help </a:t>
            </a:r>
            <a:r>
              <a:rPr sz="1200" spc="30" dirty="0">
                <a:solidFill>
                  <a:srgbClr val="404040"/>
                </a:solidFill>
                <a:latin typeface="Arial"/>
                <a:cs typeface="Arial"/>
              </a:rPr>
              <a:t>human </a:t>
            </a:r>
            <a:r>
              <a:rPr sz="1200" spc="-10" dirty="0">
                <a:solidFill>
                  <a:srgbClr val="404040"/>
                </a:solidFill>
                <a:latin typeface="Arial"/>
                <a:cs typeface="Arial"/>
              </a:rPr>
              <a:t>beings </a:t>
            </a:r>
            <a:r>
              <a:rPr sz="1200" dirty="0">
                <a:solidFill>
                  <a:srgbClr val="404040"/>
                </a:solidFill>
                <a:latin typeface="Arial"/>
                <a:cs typeface="Arial"/>
              </a:rPr>
              <a:t>store  </a:t>
            </a:r>
            <a:r>
              <a:rPr sz="1200" spc="10" dirty="0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quickly </a:t>
            </a:r>
            <a:r>
              <a:rPr sz="1200" spc="-30" dirty="0">
                <a:solidFill>
                  <a:srgbClr val="404040"/>
                </a:solidFill>
                <a:latin typeface="Arial"/>
                <a:cs typeface="Arial"/>
              </a:rPr>
              <a:t>process  </a:t>
            </a:r>
            <a:r>
              <a:rPr sz="1200" spc="-25" dirty="0">
                <a:solidFill>
                  <a:srgbClr val="404040"/>
                </a:solidFill>
                <a:latin typeface="Arial"/>
                <a:cs typeface="Arial"/>
              </a:rPr>
              <a:t>massive </a:t>
            </a:r>
            <a:r>
              <a:rPr sz="1200" spc="5" dirty="0">
                <a:solidFill>
                  <a:srgbClr val="404040"/>
                </a:solidFill>
                <a:latin typeface="Arial"/>
                <a:cs typeface="Arial"/>
              </a:rPr>
              <a:t>data,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laying </a:t>
            </a:r>
            <a:r>
              <a:rPr sz="1200" spc="-5" dirty="0">
                <a:solidFill>
                  <a:srgbClr val="404040"/>
                </a:solidFill>
                <a:latin typeface="Arial"/>
                <a:cs typeface="Arial"/>
              </a:rPr>
              <a:t>a  </a:t>
            </a:r>
            <a:r>
              <a:rPr sz="1200" spc="30" dirty="0">
                <a:solidFill>
                  <a:srgbClr val="404040"/>
                </a:solidFill>
                <a:latin typeface="Arial"/>
                <a:cs typeface="Arial"/>
              </a:rPr>
              <a:t>foundation </a:t>
            </a:r>
            <a:r>
              <a:rPr sz="1200" spc="50" dirty="0">
                <a:solidFill>
                  <a:srgbClr val="404040"/>
                </a:solidFill>
                <a:latin typeface="Arial"/>
                <a:cs typeface="Arial"/>
              </a:rPr>
              <a:t>for </a:t>
            </a:r>
            <a:r>
              <a:rPr sz="1200" spc="10" dirty="0">
                <a:solidFill>
                  <a:srgbClr val="404040"/>
                </a:solidFill>
                <a:latin typeface="Arial"/>
                <a:cs typeface="Arial"/>
              </a:rPr>
              <a:t>perception  and</a:t>
            </a:r>
            <a:r>
              <a:rPr sz="1200" spc="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cognition.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57785" marR="233045">
              <a:lnSpc>
                <a:spcPct val="100000"/>
              </a:lnSpc>
            </a:pP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Help </a:t>
            </a:r>
            <a:r>
              <a:rPr sz="1200" spc="30" dirty="0">
                <a:solidFill>
                  <a:srgbClr val="404040"/>
                </a:solidFill>
                <a:latin typeface="Arial"/>
                <a:cs typeface="Arial"/>
              </a:rPr>
              <a:t>human </a:t>
            </a:r>
            <a:r>
              <a:rPr sz="1200" spc="-10" dirty="0">
                <a:solidFill>
                  <a:srgbClr val="404040"/>
                </a:solidFill>
                <a:latin typeface="Arial"/>
                <a:cs typeface="Arial"/>
              </a:rPr>
              <a:t>beings  </a:t>
            </a:r>
            <a:r>
              <a:rPr sz="1200" spc="25" dirty="0">
                <a:solidFill>
                  <a:srgbClr val="404040"/>
                </a:solidFill>
                <a:latin typeface="Arial"/>
                <a:cs typeface="Arial"/>
              </a:rPr>
              <a:t>efficiently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finish </a:t>
            </a:r>
            <a:r>
              <a:rPr sz="1200" spc="40" dirty="0">
                <a:solidFill>
                  <a:srgbClr val="404040"/>
                </a:solidFill>
                <a:latin typeface="Arial"/>
                <a:cs typeface="Arial"/>
              </a:rPr>
              <a:t>work 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related </a:t>
            </a:r>
            <a:r>
              <a:rPr sz="1200" spc="60" dirty="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200" spc="15" dirty="0">
                <a:solidFill>
                  <a:srgbClr val="404040"/>
                </a:solidFill>
                <a:latin typeface="Arial"/>
                <a:cs typeface="Arial"/>
              </a:rPr>
              <a:t>listening </a:t>
            </a:r>
            <a:r>
              <a:rPr sz="1200" spc="10" dirty="0">
                <a:solidFill>
                  <a:srgbClr val="404040"/>
                </a:solidFill>
                <a:latin typeface="Arial"/>
                <a:cs typeface="Arial"/>
              </a:rPr>
              <a:t>and  </a:t>
            </a:r>
            <a:r>
              <a:rPr sz="1200" spc="-25" dirty="0">
                <a:solidFill>
                  <a:srgbClr val="404040"/>
                </a:solidFill>
                <a:latin typeface="Arial"/>
                <a:cs typeface="Arial"/>
              </a:rPr>
              <a:t>seeing.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Arial"/>
              <a:cs typeface="Arial"/>
            </a:endParaRPr>
          </a:p>
          <a:p>
            <a:pPr marL="57785" marR="189865">
              <a:lnSpc>
                <a:spcPct val="100000"/>
              </a:lnSpc>
            </a:pPr>
            <a:r>
              <a:rPr sz="1200" spc="5" dirty="0">
                <a:solidFill>
                  <a:srgbClr val="404040"/>
                </a:solidFill>
                <a:latin typeface="Arial"/>
                <a:cs typeface="Arial"/>
              </a:rPr>
              <a:t>Fully </a:t>
            </a:r>
            <a:r>
              <a:rPr sz="1200" spc="-30" dirty="0">
                <a:solidFill>
                  <a:srgbClr val="404040"/>
                </a:solidFill>
                <a:latin typeface="Arial"/>
                <a:cs typeface="Arial"/>
              </a:rPr>
              <a:t>assist </a:t>
            </a:r>
            <a:r>
              <a:rPr sz="1200" spc="30" dirty="0">
                <a:solidFill>
                  <a:srgbClr val="404040"/>
                </a:solidFill>
                <a:latin typeface="Arial"/>
                <a:cs typeface="Arial"/>
              </a:rPr>
              <a:t>in or </a:t>
            </a:r>
            <a:r>
              <a:rPr sz="1200" spc="-10" dirty="0">
                <a:solidFill>
                  <a:srgbClr val="404040"/>
                </a:solidFill>
                <a:latin typeface="Arial"/>
                <a:cs typeface="Arial"/>
              </a:rPr>
              <a:t>replace  </a:t>
            </a:r>
            <a:r>
              <a:rPr sz="1200" spc="30" dirty="0">
                <a:solidFill>
                  <a:srgbClr val="404040"/>
                </a:solidFill>
                <a:latin typeface="Arial"/>
                <a:cs typeface="Arial"/>
              </a:rPr>
              <a:t>partial </a:t>
            </a:r>
            <a:r>
              <a:rPr sz="1200" spc="40" dirty="0">
                <a:solidFill>
                  <a:srgbClr val="404040"/>
                </a:solidFill>
                <a:latin typeface="Arial"/>
                <a:cs typeface="Arial"/>
              </a:rPr>
              <a:t>work </a:t>
            </a:r>
            <a:r>
              <a:rPr sz="1200" spc="5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200" spc="30" dirty="0">
                <a:solidFill>
                  <a:srgbClr val="404040"/>
                </a:solidFill>
                <a:latin typeface="Arial"/>
                <a:cs typeface="Arial"/>
              </a:rPr>
              <a:t>human  </a:t>
            </a:r>
            <a:r>
              <a:rPr sz="1200" spc="-15" dirty="0">
                <a:solidFill>
                  <a:srgbClr val="404040"/>
                </a:solidFill>
                <a:latin typeface="Arial"/>
                <a:cs typeface="Arial"/>
              </a:rPr>
              <a:t>beings.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>
                <a:moveTo>
                  <a:pt x="2015997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20726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" dirty="0">
                <a:solidFill>
                  <a:srgbClr val="404040"/>
                </a:solidFill>
              </a:rPr>
              <a:t>Conte</a:t>
            </a:r>
            <a:r>
              <a:rPr sz="4000" spc="15" dirty="0">
                <a:solidFill>
                  <a:srgbClr val="404040"/>
                </a:solidFill>
              </a:rPr>
              <a:t>n</a:t>
            </a:r>
            <a:r>
              <a:rPr sz="4000" spc="10" dirty="0">
                <a:solidFill>
                  <a:srgbClr val="404040"/>
                </a:solidFill>
              </a:rPr>
              <a:t>ts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36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09393"/>
            <a:ext cx="6064885" cy="2639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r>
              <a:rPr sz="2200" spc="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Arial"/>
                <a:cs typeface="Arial"/>
              </a:rPr>
              <a:t>Overview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5" dirty="0">
                <a:solidFill>
                  <a:srgbClr val="7E7E7E"/>
                </a:solidFill>
                <a:latin typeface="Arial"/>
                <a:cs typeface="Arial"/>
              </a:rPr>
              <a:t>Technical </a:t>
            </a:r>
            <a:r>
              <a:rPr sz="2200" spc="-40" dirty="0">
                <a:solidFill>
                  <a:srgbClr val="7E7E7E"/>
                </a:solidFill>
                <a:latin typeface="Arial"/>
                <a:cs typeface="Arial"/>
              </a:rPr>
              <a:t>Fields </a:t>
            </a:r>
            <a:r>
              <a:rPr sz="2200" spc="25" dirty="0">
                <a:solidFill>
                  <a:srgbClr val="7E7E7E"/>
                </a:solidFill>
                <a:latin typeface="Arial"/>
                <a:cs typeface="Arial"/>
              </a:rPr>
              <a:t>and </a:t>
            </a:r>
            <a:r>
              <a:rPr sz="2200" spc="40" dirty="0">
                <a:solidFill>
                  <a:srgbClr val="7E7E7E"/>
                </a:solidFill>
                <a:latin typeface="Arial"/>
                <a:cs typeface="Arial"/>
              </a:rPr>
              <a:t>Application </a:t>
            </a:r>
            <a:r>
              <a:rPr sz="2200" spc="-40" dirty="0">
                <a:solidFill>
                  <a:srgbClr val="7E7E7E"/>
                </a:solidFill>
                <a:latin typeface="Arial"/>
                <a:cs typeface="Arial"/>
              </a:rPr>
              <a:t>Fields </a:t>
            </a:r>
            <a:r>
              <a:rPr sz="2200" spc="95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2200" spc="5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4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b="1" spc="20" dirty="0">
                <a:latin typeface="Arial"/>
                <a:cs typeface="Arial"/>
              </a:rPr>
              <a:t>Huawei's </a:t>
            </a:r>
            <a:r>
              <a:rPr sz="2200" b="1" spc="5" dirty="0">
                <a:latin typeface="Arial"/>
                <a:cs typeface="Arial"/>
              </a:rPr>
              <a:t>AI </a:t>
            </a:r>
            <a:r>
              <a:rPr sz="2200" b="1" spc="30" dirty="0">
                <a:latin typeface="Arial"/>
                <a:cs typeface="Arial"/>
              </a:rPr>
              <a:t>Development</a:t>
            </a:r>
            <a:r>
              <a:rPr sz="2200" b="1" spc="245" dirty="0">
                <a:latin typeface="Arial"/>
                <a:cs typeface="Arial"/>
              </a:rPr>
              <a:t> </a:t>
            </a:r>
            <a:r>
              <a:rPr sz="2200" b="1" spc="10" dirty="0">
                <a:latin typeface="Arial"/>
                <a:cs typeface="Arial"/>
              </a:rPr>
              <a:t>Strategy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39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r>
              <a:rPr sz="2200" spc="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7E7E7E"/>
                </a:solidFill>
                <a:latin typeface="Arial"/>
                <a:cs typeface="Arial"/>
              </a:rPr>
              <a:t>Disputes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20" dirty="0">
                <a:solidFill>
                  <a:srgbClr val="7E7E7E"/>
                </a:solidFill>
                <a:latin typeface="Arial"/>
                <a:cs typeface="Arial"/>
              </a:rPr>
              <a:t>Future </a:t>
            </a:r>
            <a:r>
              <a:rPr sz="2200" spc="-50" dirty="0">
                <a:solidFill>
                  <a:srgbClr val="7E7E7E"/>
                </a:solidFill>
                <a:latin typeface="Arial"/>
                <a:cs typeface="Arial"/>
              </a:rPr>
              <a:t>Prospects </a:t>
            </a:r>
            <a:r>
              <a:rPr sz="2200" spc="90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2200" spc="2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83248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0" dirty="0"/>
              <a:t>Huawei's </a:t>
            </a:r>
            <a:r>
              <a:rPr dirty="0"/>
              <a:t>Full-Stack, </a:t>
            </a:r>
            <a:r>
              <a:rPr spc="15" dirty="0"/>
              <a:t>All-Scenario </a:t>
            </a:r>
            <a:r>
              <a:rPr spc="-10" dirty="0"/>
              <a:t>AI</a:t>
            </a:r>
            <a:r>
              <a:rPr spc="385" dirty="0"/>
              <a:t> </a:t>
            </a:r>
            <a:r>
              <a:rPr spc="80" dirty="0"/>
              <a:t>Portfolio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46897" y="1225422"/>
            <a:ext cx="3274695" cy="2106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244475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Application </a:t>
            </a:r>
            <a:r>
              <a:rPr sz="1200" b="1" spc="15" dirty="0">
                <a:latin typeface="Arial"/>
                <a:cs typeface="Arial"/>
              </a:rPr>
              <a:t>enablement</a:t>
            </a:r>
            <a:r>
              <a:rPr sz="1200" spc="15" dirty="0">
                <a:latin typeface="Arial"/>
                <a:cs typeface="Arial"/>
              </a:rPr>
              <a:t>: </a:t>
            </a:r>
            <a:r>
              <a:rPr sz="1200" spc="-5" dirty="0">
                <a:latin typeface="Arial"/>
                <a:cs typeface="Arial"/>
              </a:rPr>
              <a:t>provides </a:t>
            </a:r>
            <a:r>
              <a:rPr sz="1200" spc="35" dirty="0">
                <a:latin typeface="Arial"/>
                <a:cs typeface="Arial"/>
              </a:rPr>
              <a:t>end-to-  </a:t>
            </a:r>
            <a:r>
              <a:rPr sz="1200" dirty="0">
                <a:latin typeface="Arial"/>
                <a:cs typeface="Arial"/>
              </a:rPr>
              <a:t>end </a:t>
            </a:r>
            <a:r>
              <a:rPr sz="1200" spc="-35" dirty="0">
                <a:latin typeface="Arial"/>
                <a:cs typeface="Arial"/>
              </a:rPr>
              <a:t>services </a:t>
            </a:r>
            <a:r>
              <a:rPr sz="1200" spc="25" dirty="0">
                <a:latin typeface="Arial"/>
                <a:cs typeface="Arial"/>
              </a:rPr>
              <a:t>(ModelArts), </a:t>
            </a:r>
            <a:r>
              <a:rPr sz="1200" dirty="0">
                <a:latin typeface="Arial"/>
                <a:cs typeface="Arial"/>
              </a:rPr>
              <a:t>layered </a:t>
            </a:r>
            <a:r>
              <a:rPr sz="1200" spc="-60" dirty="0">
                <a:latin typeface="Arial"/>
                <a:cs typeface="Arial"/>
              </a:rPr>
              <a:t>APIs, </a:t>
            </a:r>
            <a:r>
              <a:rPr sz="1200" spc="10" dirty="0">
                <a:latin typeface="Arial"/>
                <a:cs typeface="Arial"/>
              </a:rPr>
              <a:t>and  </a:t>
            </a:r>
            <a:r>
              <a:rPr sz="1200" spc="20" dirty="0">
                <a:latin typeface="Arial"/>
                <a:cs typeface="Arial"/>
              </a:rPr>
              <a:t>pre-integrated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solutions.</a:t>
            </a:r>
            <a:endParaRPr sz="1200">
              <a:latin typeface="Arial"/>
              <a:cs typeface="Arial"/>
            </a:endParaRPr>
          </a:p>
          <a:p>
            <a:pPr marL="18415" marR="90170">
              <a:lnSpc>
                <a:spcPct val="100000"/>
              </a:lnSpc>
              <a:spcBef>
                <a:spcPts val="570"/>
              </a:spcBef>
            </a:pPr>
            <a:r>
              <a:rPr sz="1200" b="1" spc="-5" dirty="0">
                <a:latin typeface="Arial"/>
                <a:cs typeface="Arial"/>
              </a:rPr>
              <a:t>MindSpore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dirty="0">
                <a:latin typeface="Arial"/>
                <a:cs typeface="Arial"/>
              </a:rPr>
              <a:t>supports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25" dirty="0">
                <a:latin typeface="Arial"/>
                <a:cs typeface="Arial"/>
              </a:rPr>
              <a:t>unified </a:t>
            </a:r>
            <a:r>
              <a:rPr sz="1200" spc="30" dirty="0">
                <a:latin typeface="Arial"/>
                <a:cs typeface="Arial"/>
              </a:rPr>
              <a:t>training </a:t>
            </a:r>
            <a:r>
              <a:rPr sz="1200" spc="10" dirty="0">
                <a:latin typeface="Arial"/>
                <a:cs typeface="Arial"/>
              </a:rPr>
              <a:t>and  </a:t>
            </a:r>
            <a:r>
              <a:rPr sz="1200" dirty="0">
                <a:latin typeface="Arial"/>
                <a:cs typeface="Arial"/>
              </a:rPr>
              <a:t>inference </a:t>
            </a:r>
            <a:r>
              <a:rPr sz="1200" spc="35" dirty="0">
                <a:latin typeface="Arial"/>
                <a:cs typeface="Arial"/>
              </a:rPr>
              <a:t>framework </a:t>
            </a:r>
            <a:r>
              <a:rPr sz="1200" spc="55" dirty="0">
                <a:latin typeface="Arial"/>
                <a:cs typeface="Arial"/>
              </a:rPr>
              <a:t>that </a:t>
            </a:r>
            <a:r>
              <a:rPr sz="1200" spc="-35" dirty="0">
                <a:latin typeface="Arial"/>
                <a:cs typeface="Arial"/>
              </a:rPr>
              <a:t>is </a:t>
            </a:r>
            <a:r>
              <a:rPr sz="1200" spc="10" dirty="0">
                <a:latin typeface="Arial"/>
                <a:cs typeface="Arial"/>
              </a:rPr>
              <a:t>independent </a:t>
            </a:r>
            <a:r>
              <a:rPr sz="1200" spc="55" dirty="0">
                <a:latin typeface="Arial"/>
                <a:cs typeface="Arial"/>
              </a:rPr>
              <a:t>of 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-20" dirty="0">
                <a:latin typeface="Arial"/>
                <a:cs typeface="Arial"/>
              </a:rPr>
              <a:t>device, edge, </a:t>
            </a:r>
            <a:r>
              <a:rPr sz="1200" spc="10" dirty="0">
                <a:latin typeface="Arial"/>
                <a:cs typeface="Arial"/>
              </a:rPr>
              <a:t>and</a:t>
            </a:r>
            <a:r>
              <a:rPr sz="1200" spc="1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cloud.</a:t>
            </a:r>
            <a:endParaRPr sz="1200">
              <a:latin typeface="Arial"/>
              <a:cs typeface="Arial"/>
            </a:endParaRPr>
          </a:p>
          <a:p>
            <a:pPr marL="12700" marR="404495">
              <a:lnSpc>
                <a:spcPct val="100000"/>
              </a:lnSpc>
              <a:spcBef>
                <a:spcPts val="414"/>
              </a:spcBef>
            </a:pPr>
            <a:r>
              <a:rPr sz="1200" b="1" spc="-10" dirty="0">
                <a:latin typeface="Arial"/>
                <a:cs typeface="Arial"/>
              </a:rPr>
              <a:t>CANN</a:t>
            </a:r>
            <a:r>
              <a:rPr sz="1200" spc="-10" dirty="0">
                <a:latin typeface="Arial"/>
                <a:cs typeface="Arial"/>
              </a:rPr>
              <a:t>: </a:t>
            </a:r>
            <a:r>
              <a:rPr sz="1200" spc="-5" dirty="0">
                <a:latin typeface="Arial"/>
                <a:cs typeface="Arial"/>
              </a:rPr>
              <a:t>a </a:t>
            </a:r>
            <a:r>
              <a:rPr sz="1200" spc="5" dirty="0">
                <a:latin typeface="Arial"/>
                <a:cs typeface="Arial"/>
              </a:rPr>
              <a:t>chip </a:t>
            </a:r>
            <a:r>
              <a:rPr sz="1200" spc="20" dirty="0">
                <a:latin typeface="Arial"/>
                <a:cs typeface="Arial"/>
              </a:rPr>
              <a:t>operator library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25" dirty="0">
                <a:latin typeface="Arial"/>
                <a:cs typeface="Arial"/>
              </a:rPr>
              <a:t>highly  </a:t>
            </a:r>
            <a:r>
              <a:rPr sz="1200" spc="30" dirty="0">
                <a:latin typeface="Arial"/>
                <a:cs typeface="Arial"/>
              </a:rPr>
              <a:t>automated </a:t>
            </a:r>
            <a:r>
              <a:rPr sz="1200" spc="25" dirty="0">
                <a:latin typeface="Arial"/>
                <a:cs typeface="Arial"/>
              </a:rPr>
              <a:t>operator </a:t>
            </a:r>
            <a:r>
              <a:rPr sz="1200" spc="15" dirty="0">
                <a:latin typeface="Arial"/>
                <a:cs typeface="Arial"/>
              </a:rPr>
              <a:t>development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spc="25" dirty="0">
                <a:latin typeface="Arial"/>
                <a:cs typeface="Arial"/>
              </a:rPr>
              <a:t>tool.</a:t>
            </a:r>
            <a:endParaRPr sz="1200">
              <a:latin typeface="Arial"/>
              <a:cs typeface="Arial"/>
            </a:endParaRPr>
          </a:p>
          <a:p>
            <a:pPr marL="18415" marR="5080">
              <a:lnSpc>
                <a:spcPct val="100000"/>
              </a:lnSpc>
              <a:spcBef>
                <a:spcPts val="994"/>
              </a:spcBef>
            </a:pPr>
            <a:r>
              <a:rPr sz="1200" b="1" spc="-45" dirty="0">
                <a:latin typeface="Arial"/>
                <a:cs typeface="Arial"/>
              </a:rPr>
              <a:t>Ascend</a:t>
            </a:r>
            <a:r>
              <a:rPr sz="1200" spc="-45" dirty="0">
                <a:latin typeface="Arial"/>
                <a:cs typeface="Arial"/>
              </a:rPr>
              <a:t>: </a:t>
            </a:r>
            <a:r>
              <a:rPr sz="1200" spc="-5" dirty="0">
                <a:latin typeface="Arial"/>
                <a:cs typeface="Arial"/>
              </a:rPr>
              <a:t>provides a </a:t>
            </a:r>
            <a:r>
              <a:rPr sz="1200" spc="-35" dirty="0">
                <a:latin typeface="Arial"/>
                <a:cs typeface="Arial"/>
              </a:rPr>
              <a:t>series </a:t>
            </a:r>
            <a:r>
              <a:rPr sz="1200" spc="55" dirty="0">
                <a:latin typeface="Arial"/>
                <a:cs typeface="Arial"/>
              </a:rPr>
              <a:t>of </a:t>
            </a:r>
            <a:r>
              <a:rPr sz="1200" spc="-25" dirty="0">
                <a:latin typeface="Arial"/>
                <a:cs typeface="Arial"/>
              </a:rPr>
              <a:t>NPU </a:t>
            </a:r>
            <a:r>
              <a:rPr sz="1200" spc="-75" dirty="0">
                <a:latin typeface="Arial"/>
                <a:cs typeface="Arial"/>
              </a:rPr>
              <a:t>IPs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-15" dirty="0">
                <a:latin typeface="Arial"/>
                <a:cs typeface="Arial"/>
              </a:rPr>
              <a:t>chips  </a:t>
            </a:r>
            <a:r>
              <a:rPr sz="1200" spc="-25" dirty="0">
                <a:latin typeface="Arial"/>
                <a:cs typeface="Arial"/>
              </a:rPr>
              <a:t>based </a:t>
            </a:r>
            <a:r>
              <a:rPr sz="1200" spc="25" dirty="0">
                <a:latin typeface="Arial"/>
                <a:cs typeface="Arial"/>
              </a:rPr>
              <a:t>on </a:t>
            </a:r>
            <a:r>
              <a:rPr sz="1200" spc="-5" dirty="0">
                <a:latin typeface="Arial"/>
                <a:cs typeface="Arial"/>
              </a:rPr>
              <a:t>a </a:t>
            </a:r>
            <a:r>
              <a:rPr sz="1200" spc="10" dirty="0">
                <a:latin typeface="Arial"/>
                <a:cs typeface="Arial"/>
              </a:rPr>
              <a:t>unified, </a:t>
            </a:r>
            <a:r>
              <a:rPr sz="1200" spc="-10" dirty="0">
                <a:latin typeface="Arial"/>
                <a:cs typeface="Arial"/>
              </a:rPr>
              <a:t>scalable</a:t>
            </a:r>
            <a:r>
              <a:rPr sz="1200" spc="24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architecture.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65847" y="1399032"/>
            <a:ext cx="542925" cy="218440"/>
            <a:chOff x="7165847" y="1399032"/>
            <a:chExt cx="542925" cy="218440"/>
          </a:xfrm>
        </p:grpSpPr>
        <p:sp>
          <p:nvSpPr>
            <p:cNvPr id="5" name="object 5"/>
            <p:cNvSpPr/>
            <p:nvPr/>
          </p:nvSpPr>
          <p:spPr>
            <a:xfrm>
              <a:off x="7165847" y="1399032"/>
              <a:ext cx="218440" cy="218440"/>
            </a:xfrm>
            <a:custGeom>
              <a:avLst/>
              <a:gdLst/>
              <a:ahLst/>
              <a:cxnLst/>
              <a:rect l="l" t="t" r="r" b="b"/>
              <a:pathLst>
                <a:path w="218440" h="218440">
                  <a:moveTo>
                    <a:pt x="108966" y="0"/>
                  </a:moveTo>
                  <a:lnTo>
                    <a:pt x="0" y="0"/>
                  </a:lnTo>
                  <a:lnTo>
                    <a:pt x="108966" y="108965"/>
                  </a:lnTo>
                  <a:lnTo>
                    <a:pt x="0" y="217931"/>
                  </a:lnTo>
                  <a:lnTo>
                    <a:pt x="108966" y="217931"/>
                  </a:lnTo>
                  <a:lnTo>
                    <a:pt x="217931" y="108965"/>
                  </a:lnTo>
                  <a:lnTo>
                    <a:pt x="108966" y="0"/>
                  </a:lnTo>
                  <a:close/>
                </a:path>
              </a:pathLst>
            </a:custGeom>
            <a:solidFill>
              <a:srgbClr val="2D75B6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27391" y="1399032"/>
              <a:ext cx="218440" cy="218440"/>
            </a:xfrm>
            <a:custGeom>
              <a:avLst/>
              <a:gdLst/>
              <a:ahLst/>
              <a:cxnLst/>
              <a:rect l="l" t="t" r="r" b="b"/>
              <a:pathLst>
                <a:path w="218440" h="218440">
                  <a:moveTo>
                    <a:pt x="108965" y="0"/>
                  </a:moveTo>
                  <a:lnTo>
                    <a:pt x="0" y="0"/>
                  </a:lnTo>
                  <a:lnTo>
                    <a:pt x="108965" y="108965"/>
                  </a:lnTo>
                  <a:lnTo>
                    <a:pt x="0" y="217931"/>
                  </a:lnTo>
                  <a:lnTo>
                    <a:pt x="108965" y="217931"/>
                  </a:lnTo>
                  <a:lnTo>
                    <a:pt x="217931" y="108965"/>
                  </a:lnTo>
                  <a:lnTo>
                    <a:pt x="108965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88935" y="1399032"/>
              <a:ext cx="219710" cy="218440"/>
            </a:xfrm>
            <a:custGeom>
              <a:avLst/>
              <a:gdLst/>
              <a:ahLst/>
              <a:cxnLst/>
              <a:rect l="l" t="t" r="r" b="b"/>
              <a:pathLst>
                <a:path w="219709" h="218440">
                  <a:moveTo>
                    <a:pt x="110490" y="0"/>
                  </a:moveTo>
                  <a:lnTo>
                    <a:pt x="0" y="0"/>
                  </a:lnTo>
                  <a:lnTo>
                    <a:pt x="108966" y="108965"/>
                  </a:lnTo>
                  <a:lnTo>
                    <a:pt x="0" y="217931"/>
                  </a:lnTo>
                  <a:lnTo>
                    <a:pt x="110490" y="217931"/>
                  </a:lnTo>
                  <a:lnTo>
                    <a:pt x="219456" y="108965"/>
                  </a:lnTo>
                  <a:lnTo>
                    <a:pt x="110490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165847" y="1976627"/>
            <a:ext cx="542925" cy="216535"/>
            <a:chOff x="7165847" y="1976627"/>
            <a:chExt cx="542925" cy="216535"/>
          </a:xfrm>
        </p:grpSpPr>
        <p:sp>
          <p:nvSpPr>
            <p:cNvPr id="9" name="object 9"/>
            <p:cNvSpPr/>
            <p:nvPr/>
          </p:nvSpPr>
          <p:spPr>
            <a:xfrm>
              <a:off x="7165847" y="1976627"/>
              <a:ext cx="218440" cy="216535"/>
            </a:xfrm>
            <a:custGeom>
              <a:avLst/>
              <a:gdLst/>
              <a:ahLst/>
              <a:cxnLst/>
              <a:rect l="l" t="t" r="r" b="b"/>
              <a:pathLst>
                <a:path w="218440" h="216535">
                  <a:moveTo>
                    <a:pt x="109727" y="0"/>
                  </a:moveTo>
                  <a:lnTo>
                    <a:pt x="0" y="0"/>
                  </a:lnTo>
                  <a:lnTo>
                    <a:pt x="108203" y="108204"/>
                  </a:lnTo>
                  <a:lnTo>
                    <a:pt x="0" y="216408"/>
                  </a:lnTo>
                  <a:lnTo>
                    <a:pt x="109727" y="216408"/>
                  </a:lnTo>
                  <a:lnTo>
                    <a:pt x="217931" y="108204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2D75B6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27391" y="1976627"/>
              <a:ext cx="218440" cy="216535"/>
            </a:xfrm>
            <a:custGeom>
              <a:avLst/>
              <a:gdLst/>
              <a:ahLst/>
              <a:cxnLst/>
              <a:rect l="l" t="t" r="r" b="b"/>
              <a:pathLst>
                <a:path w="218440" h="216535">
                  <a:moveTo>
                    <a:pt x="109727" y="0"/>
                  </a:moveTo>
                  <a:lnTo>
                    <a:pt x="0" y="0"/>
                  </a:lnTo>
                  <a:lnTo>
                    <a:pt x="108203" y="108204"/>
                  </a:lnTo>
                  <a:lnTo>
                    <a:pt x="0" y="216408"/>
                  </a:lnTo>
                  <a:lnTo>
                    <a:pt x="109727" y="216408"/>
                  </a:lnTo>
                  <a:lnTo>
                    <a:pt x="217931" y="108204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88935" y="1976627"/>
              <a:ext cx="219710" cy="216535"/>
            </a:xfrm>
            <a:custGeom>
              <a:avLst/>
              <a:gdLst/>
              <a:ahLst/>
              <a:cxnLst/>
              <a:rect l="l" t="t" r="r" b="b"/>
              <a:pathLst>
                <a:path w="219709" h="216535">
                  <a:moveTo>
                    <a:pt x="111252" y="0"/>
                  </a:moveTo>
                  <a:lnTo>
                    <a:pt x="0" y="0"/>
                  </a:lnTo>
                  <a:lnTo>
                    <a:pt x="108204" y="108204"/>
                  </a:lnTo>
                  <a:lnTo>
                    <a:pt x="0" y="216408"/>
                  </a:lnTo>
                  <a:lnTo>
                    <a:pt x="111252" y="216408"/>
                  </a:lnTo>
                  <a:lnTo>
                    <a:pt x="219456" y="108204"/>
                  </a:lnTo>
                  <a:lnTo>
                    <a:pt x="111252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188707" y="2526792"/>
            <a:ext cx="528955" cy="283845"/>
            <a:chOff x="7188707" y="2526792"/>
            <a:chExt cx="528955" cy="283845"/>
          </a:xfrm>
        </p:grpSpPr>
        <p:sp>
          <p:nvSpPr>
            <p:cNvPr id="13" name="object 13"/>
            <p:cNvSpPr/>
            <p:nvPr/>
          </p:nvSpPr>
          <p:spPr>
            <a:xfrm>
              <a:off x="7188707" y="2526792"/>
              <a:ext cx="212090" cy="283845"/>
            </a:xfrm>
            <a:custGeom>
              <a:avLst/>
              <a:gdLst/>
              <a:ahLst/>
              <a:cxnLst/>
              <a:rect l="l" t="t" r="r" b="b"/>
              <a:pathLst>
                <a:path w="212090" h="283844">
                  <a:moveTo>
                    <a:pt x="105918" y="0"/>
                  </a:moveTo>
                  <a:lnTo>
                    <a:pt x="0" y="0"/>
                  </a:lnTo>
                  <a:lnTo>
                    <a:pt x="105918" y="141732"/>
                  </a:lnTo>
                  <a:lnTo>
                    <a:pt x="0" y="283463"/>
                  </a:lnTo>
                  <a:lnTo>
                    <a:pt x="105918" y="283463"/>
                  </a:lnTo>
                  <a:lnTo>
                    <a:pt x="211836" y="141732"/>
                  </a:lnTo>
                  <a:lnTo>
                    <a:pt x="105918" y="0"/>
                  </a:lnTo>
                  <a:close/>
                </a:path>
              </a:pathLst>
            </a:custGeom>
            <a:solidFill>
              <a:srgbClr val="2D75B6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45679" y="2526792"/>
              <a:ext cx="213360" cy="283845"/>
            </a:xfrm>
            <a:custGeom>
              <a:avLst/>
              <a:gdLst/>
              <a:ahLst/>
              <a:cxnLst/>
              <a:rect l="l" t="t" r="r" b="b"/>
              <a:pathLst>
                <a:path w="213359" h="283844">
                  <a:moveTo>
                    <a:pt x="106679" y="0"/>
                  </a:moveTo>
                  <a:lnTo>
                    <a:pt x="0" y="0"/>
                  </a:lnTo>
                  <a:lnTo>
                    <a:pt x="106679" y="141732"/>
                  </a:lnTo>
                  <a:lnTo>
                    <a:pt x="0" y="283463"/>
                  </a:lnTo>
                  <a:lnTo>
                    <a:pt x="106679" y="283463"/>
                  </a:lnTo>
                  <a:lnTo>
                    <a:pt x="213360" y="141732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04175" y="2526792"/>
              <a:ext cx="213360" cy="283845"/>
            </a:xfrm>
            <a:custGeom>
              <a:avLst/>
              <a:gdLst/>
              <a:ahLst/>
              <a:cxnLst/>
              <a:rect l="l" t="t" r="r" b="b"/>
              <a:pathLst>
                <a:path w="213359" h="283844">
                  <a:moveTo>
                    <a:pt x="106679" y="0"/>
                  </a:moveTo>
                  <a:lnTo>
                    <a:pt x="0" y="0"/>
                  </a:lnTo>
                  <a:lnTo>
                    <a:pt x="106679" y="141732"/>
                  </a:lnTo>
                  <a:lnTo>
                    <a:pt x="0" y="283463"/>
                  </a:lnTo>
                  <a:lnTo>
                    <a:pt x="106679" y="283463"/>
                  </a:lnTo>
                  <a:lnTo>
                    <a:pt x="213359" y="141732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165847" y="3060192"/>
            <a:ext cx="542925" cy="218440"/>
            <a:chOff x="7165847" y="3060192"/>
            <a:chExt cx="542925" cy="218440"/>
          </a:xfrm>
        </p:grpSpPr>
        <p:sp>
          <p:nvSpPr>
            <p:cNvPr id="17" name="object 17"/>
            <p:cNvSpPr/>
            <p:nvPr/>
          </p:nvSpPr>
          <p:spPr>
            <a:xfrm>
              <a:off x="7165847" y="3060192"/>
              <a:ext cx="218440" cy="218440"/>
            </a:xfrm>
            <a:custGeom>
              <a:avLst/>
              <a:gdLst/>
              <a:ahLst/>
              <a:cxnLst/>
              <a:rect l="l" t="t" r="r" b="b"/>
              <a:pathLst>
                <a:path w="218440" h="218439">
                  <a:moveTo>
                    <a:pt x="108966" y="0"/>
                  </a:moveTo>
                  <a:lnTo>
                    <a:pt x="0" y="0"/>
                  </a:lnTo>
                  <a:lnTo>
                    <a:pt x="108966" y="108966"/>
                  </a:lnTo>
                  <a:lnTo>
                    <a:pt x="0" y="217932"/>
                  </a:lnTo>
                  <a:lnTo>
                    <a:pt x="108966" y="217932"/>
                  </a:lnTo>
                  <a:lnTo>
                    <a:pt x="217931" y="108966"/>
                  </a:lnTo>
                  <a:lnTo>
                    <a:pt x="108966" y="0"/>
                  </a:lnTo>
                  <a:close/>
                </a:path>
              </a:pathLst>
            </a:custGeom>
            <a:solidFill>
              <a:srgbClr val="2D75B6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27391" y="3060192"/>
              <a:ext cx="218440" cy="218440"/>
            </a:xfrm>
            <a:custGeom>
              <a:avLst/>
              <a:gdLst/>
              <a:ahLst/>
              <a:cxnLst/>
              <a:rect l="l" t="t" r="r" b="b"/>
              <a:pathLst>
                <a:path w="218440" h="218439">
                  <a:moveTo>
                    <a:pt x="108965" y="0"/>
                  </a:moveTo>
                  <a:lnTo>
                    <a:pt x="0" y="0"/>
                  </a:lnTo>
                  <a:lnTo>
                    <a:pt x="108965" y="108966"/>
                  </a:lnTo>
                  <a:lnTo>
                    <a:pt x="0" y="217932"/>
                  </a:lnTo>
                  <a:lnTo>
                    <a:pt x="108965" y="217932"/>
                  </a:lnTo>
                  <a:lnTo>
                    <a:pt x="217931" y="108966"/>
                  </a:lnTo>
                  <a:lnTo>
                    <a:pt x="108965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88935" y="3060192"/>
              <a:ext cx="219710" cy="218440"/>
            </a:xfrm>
            <a:custGeom>
              <a:avLst/>
              <a:gdLst/>
              <a:ahLst/>
              <a:cxnLst/>
              <a:rect l="l" t="t" r="r" b="b"/>
              <a:pathLst>
                <a:path w="219709" h="218439">
                  <a:moveTo>
                    <a:pt x="110490" y="0"/>
                  </a:moveTo>
                  <a:lnTo>
                    <a:pt x="0" y="0"/>
                  </a:lnTo>
                  <a:lnTo>
                    <a:pt x="108966" y="108966"/>
                  </a:lnTo>
                  <a:lnTo>
                    <a:pt x="0" y="217932"/>
                  </a:lnTo>
                  <a:lnTo>
                    <a:pt x="110490" y="217932"/>
                  </a:lnTo>
                  <a:lnTo>
                    <a:pt x="219456" y="108966"/>
                  </a:lnTo>
                  <a:lnTo>
                    <a:pt x="110490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985252" y="3791204"/>
            <a:ext cx="33909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latin typeface="Arial"/>
                <a:cs typeface="Arial"/>
              </a:rPr>
              <a:t>Atlas</a:t>
            </a:r>
            <a:r>
              <a:rPr sz="1200" spc="-15" dirty="0">
                <a:latin typeface="Arial"/>
                <a:cs typeface="Arial"/>
              </a:rPr>
              <a:t>: enables </a:t>
            </a:r>
            <a:r>
              <a:rPr sz="1200" spc="10" dirty="0">
                <a:latin typeface="Arial"/>
                <a:cs typeface="Arial"/>
              </a:rPr>
              <a:t>an </a:t>
            </a:r>
            <a:r>
              <a:rPr sz="1200" spc="5" dirty="0">
                <a:latin typeface="Arial"/>
                <a:cs typeface="Arial"/>
              </a:rPr>
              <a:t>all-scenario </a:t>
            </a:r>
            <a:r>
              <a:rPr sz="1200" spc="-10" dirty="0">
                <a:latin typeface="Arial"/>
                <a:cs typeface="Arial"/>
              </a:rPr>
              <a:t>AI </a:t>
            </a:r>
            <a:r>
              <a:rPr sz="1200" spc="20" dirty="0">
                <a:latin typeface="Arial"/>
                <a:cs typeface="Arial"/>
              </a:rPr>
              <a:t>infrastructure  solution </a:t>
            </a:r>
            <a:r>
              <a:rPr sz="1200" spc="55" dirty="0">
                <a:latin typeface="Arial"/>
                <a:cs typeface="Arial"/>
              </a:rPr>
              <a:t>that </a:t>
            </a:r>
            <a:r>
              <a:rPr sz="1200" spc="-35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oriented </a:t>
            </a:r>
            <a:r>
              <a:rPr sz="1200" spc="60" dirty="0">
                <a:latin typeface="Arial"/>
                <a:cs typeface="Arial"/>
              </a:rPr>
              <a:t>to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-20" dirty="0">
                <a:latin typeface="Arial"/>
                <a:cs typeface="Arial"/>
              </a:rPr>
              <a:t>device, edge, </a:t>
            </a:r>
            <a:r>
              <a:rPr sz="1200" spc="10" dirty="0">
                <a:latin typeface="Arial"/>
                <a:cs typeface="Arial"/>
              </a:rPr>
              <a:t>and  </a:t>
            </a:r>
            <a:r>
              <a:rPr sz="1200" spc="15" dirty="0">
                <a:latin typeface="Arial"/>
                <a:cs typeface="Arial"/>
              </a:rPr>
              <a:t>cloud </a:t>
            </a:r>
            <a:r>
              <a:rPr sz="1200" spc="-25" dirty="0">
                <a:latin typeface="Arial"/>
                <a:cs typeface="Arial"/>
              </a:rPr>
              <a:t>based </a:t>
            </a:r>
            <a:r>
              <a:rPr sz="1200" spc="25" dirty="0">
                <a:latin typeface="Arial"/>
                <a:cs typeface="Arial"/>
              </a:rPr>
              <a:t>on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-30" dirty="0">
                <a:latin typeface="Arial"/>
                <a:cs typeface="Arial"/>
              </a:rPr>
              <a:t>Ascend </a:t>
            </a:r>
            <a:r>
              <a:rPr sz="1200" spc="-35" dirty="0">
                <a:latin typeface="Arial"/>
                <a:cs typeface="Arial"/>
              </a:rPr>
              <a:t>series </a:t>
            </a:r>
            <a:r>
              <a:rPr sz="1200" spc="-10" dirty="0">
                <a:latin typeface="Arial"/>
                <a:cs typeface="Arial"/>
              </a:rPr>
              <a:t>AI </a:t>
            </a:r>
            <a:r>
              <a:rPr sz="1200" spc="-25" dirty="0">
                <a:latin typeface="Arial"/>
                <a:cs typeface="Arial"/>
              </a:rPr>
              <a:t>processors 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-5" dirty="0">
                <a:latin typeface="Arial"/>
                <a:cs typeface="Arial"/>
              </a:rPr>
              <a:t>various </a:t>
            </a:r>
            <a:r>
              <a:rPr sz="1200" spc="20" dirty="0">
                <a:latin typeface="Arial"/>
                <a:cs typeface="Arial"/>
              </a:rPr>
              <a:t>product</a:t>
            </a:r>
            <a:r>
              <a:rPr sz="1200" spc="13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forms.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197852" y="3982211"/>
            <a:ext cx="542925" cy="216535"/>
            <a:chOff x="7197852" y="3982211"/>
            <a:chExt cx="542925" cy="216535"/>
          </a:xfrm>
        </p:grpSpPr>
        <p:sp>
          <p:nvSpPr>
            <p:cNvPr id="22" name="object 22"/>
            <p:cNvSpPr/>
            <p:nvPr/>
          </p:nvSpPr>
          <p:spPr>
            <a:xfrm>
              <a:off x="7197852" y="3982211"/>
              <a:ext cx="218440" cy="216535"/>
            </a:xfrm>
            <a:custGeom>
              <a:avLst/>
              <a:gdLst/>
              <a:ahLst/>
              <a:cxnLst/>
              <a:rect l="l" t="t" r="r" b="b"/>
              <a:pathLst>
                <a:path w="218440" h="216535">
                  <a:moveTo>
                    <a:pt x="109727" y="0"/>
                  </a:moveTo>
                  <a:lnTo>
                    <a:pt x="0" y="0"/>
                  </a:lnTo>
                  <a:lnTo>
                    <a:pt x="108203" y="108204"/>
                  </a:lnTo>
                  <a:lnTo>
                    <a:pt x="0" y="216407"/>
                  </a:lnTo>
                  <a:lnTo>
                    <a:pt x="109727" y="216407"/>
                  </a:lnTo>
                  <a:lnTo>
                    <a:pt x="217931" y="108204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2D75B6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59396" y="3982211"/>
              <a:ext cx="219710" cy="216535"/>
            </a:xfrm>
            <a:custGeom>
              <a:avLst/>
              <a:gdLst/>
              <a:ahLst/>
              <a:cxnLst/>
              <a:rect l="l" t="t" r="r" b="b"/>
              <a:pathLst>
                <a:path w="219709" h="216535">
                  <a:moveTo>
                    <a:pt x="111251" y="0"/>
                  </a:moveTo>
                  <a:lnTo>
                    <a:pt x="0" y="0"/>
                  </a:lnTo>
                  <a:lnTo>
                    <a:pt x="108203" y="108204"/>
                  </a:lnTo>
                  <a:lnTo>
                    <a:pt x="0" y="216407"/>
                  </a:lnTo>
                  <a:lnTo>
                    <a:pt x="111251" y="216407"/>
                  </a:lnTo>
                  <a:lnTo>
                    <a:pt x="219455" y="108204"/>
                  </a:lnTo>
                  <a:lnTo>
                    <a:pt x="111251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22464" y="3982211"/>
              <a:ext cx="218440" cy="216535"/>
            </a:xfrm>
            <a:custGeom>
              <a:avLst/>
              <a:gdLst/>
              <a:ahLst/>
              <a:cxnLst/>
              <a:rect l="l" t="t" r="r" b="b"/>
              <a:pathLst>
                <a:path w="218440" h="216535">
                  <a:moveTo>
                    <a:pt x="109727" y="0"/>
                  </a:moveTo>
                  <a:lnTo>
                    <a:pt x="0" y="0"/>
                  </a:lnTo>
                  <a:lnTo>
                    <a:pt x="108203" y="108204"/>
                  </a:lnTo>
                  <a:lnTo>
                    <a:pt x="0" y="216407"/>
                  </a:lnTo>
                  <a:lnTo>
                    <a:pt x="109727" y="216407"/>
                  </a:lnTo>
                  <a:lnTo>
                    <a:pt x="217931" y="108204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493519" y="3886200"/>
            <a:ext cx="5242560" cy="803275"/>
            <a:chOff x="1493519" y="3886200"/>
            <a:chExt cx="5242560" cy="803275"/>
          </a:xfrm>
        </p:grpSpPr>
        <p:sp>
          <p:nvSpPr>
            <p:cNvPr id="26" name="object 26"/>
            <p:cNvSpPr/>
            <p:nvPr/>
          </p:nvSpPr>
          <p:spPr>
            <a:xfrm>
              <a:off x="1537716" y="3886199"/>
              <a:ext cx="5158740" cy="515620"/>
            </a:xfrm>
            <a:custGeom>
              <a:avLst/>
              <a:gdLst/>
              <a:ahLst/>
              <a:cxnLst/>
              <a:rect l="l" t="t" r="r" b="b"/>
              <a:pathLst>
                <a:path w="5158740" h="515620">
                  <a:moveTo>
                    <a:pt x="1440180" y="77216"/>
                  </a:moveTo>
                  <a:lnTo>
                    <a:pt x="1434109" y="47155"/>
                  </a:lnTo>
                  <a:lnTo>
                    <a:pt x="1417574" y="22606"/>
                  </a:lnTo>
                  <a:lnTo>
                    <a:pt x="1393024" y="6070"/>
                  </a:lnTo>
                  <a:lnTo>
                    <a:pt x="1362964" y="0"/>
                  </a:lnTo>
                  <a:lnTo>
                    <a:pt x="77216" y="0"/>
                  </a:lnTo>
                  <a:lnTo>
                    <a:pt x="47142" y="6070"/>
                  </a:lnTo>
                  <a:lnTo>
                    <a:pt x="22606" y="22606"/>
                  </a:lnTo>
                  <a:lnTo>
                    <a:pt x="6057" y="47155"/>
                  </a:lnTo>
                  <a:lnTo>
                    <a:pt x="0" y="77216"/>
                  </a:lnTo>
                  <a:lnTo>
                    <a:pt x="0" y="437896"/>
                  </a:lnTo>
                  <a:lnTo>
                    <a:pt x="6057" y="467969"/>
                  </a:lnTo>
                  <a:lnTo>
                    <a:pt x="22593" y="492506"/>
                  </a:lnTo>
                  <a:lnTo>
                    <a:pt x="47142" y="509054"/>
                  </a:lnTo>
                  <a:lnTo>
                    <a:pt x="77216" y="515112"/>
                  </a:lnTo>
                  <a:lnTo>
                    <a:pt x="1362964" y="515112"/>
                  </a:lnTo>
                  <a:lnTo>
                    <a:pt x="1393024" y="509054"/>
                  </a:lnTo>
                  <a:lnTo>
                    <a:pt x="1417574" y="492506"/>
                  </a:lnTo>
                  <a:lnTo>
                    <a:pt x="1434109" y="467969"/>
                  </a:lnTo>
                  <a:lnTo>
                    <a:pt x="1440180" y="437896"/>
                  </a:lnTo>
                  <a:lnTo>
                    <a:pt x="1440180" y="77216"/>
                  </a:lnTo>
                  <a:close/>
                </a:path>
                <a:path w="5158740" h="515620">
                  <a:moveTo>
                    <a:pt x="4155948" y="77216"/>
                  </a:moveTo>
                  <a:lnTo>
                    <a:pt x="4149877" y="47155"/>
                  </a:lnTo>
                  <a:lnTo>
                    <a:pt x="4133342" y="22606"/>
                  </a:lnTo>
                  <a:lnTo>
                    <a:pt x="4108793" y="6070"/>
                  </a:lnTo>
                  <a:lnTo>
                    <a:pt x="4078732" y="0"/>
                  </a:lnTo>
                  <a:lnTo>
                    <a:pt x="1561592" y="0"/>
                  </a:lnTo>
                  <a:lnTo>
                    <a:pt x="1531518" y="6070"/>
                  </a:lnTo>
                  <a:lnTo>
                    <a:pt x="1506982" y="22606"/>
                  </a:lnTo>
                  <a:lnTo>
                    <a:pt x="1490433" y="47155"/>
                  </a:lnTo>
                  <a:lnTo>
                    <a:pt x="1484376" y="77216"/>
                  </a:lnTo>
                  <a:lnTo>
                    <a:pt x="1484376" y="437896"/>
                  </a:lnTo>
                  <a:lnTo>
                    <a:pt x="1490433" y="467969"/>
                  </a:lnTo>
                  <a:lnTo>
                    <a:pt x="1506982" y="492506"/>
                  </a:lnTo>
                  <a:lnTo>
                    <a:pt x="1531518" y="509054"/>
                  </a:lnTo>
                  <a:lnTo>
                    <a:pt x="1561592" y="515112"/>
                  </a:lnTo>
                  <a:lnTo>
                    <a:pt x="4078732" y="515112"/>
                  </a:lnTo>
                  <a:lnTo>
                    <a:pt x="4108793" y="509054"/>
                  </a:lnTo>
                  <a:lnTo>
                    <a:pt x="4133329" y="492506"/>
                  </a:lnTo>
                  <a:lnTo>
                    <a:pt x="4149877" y="467969"/>
                  </a:lnTo>
                  <a:lnTo>
                    <a:pt x="4155948" y="437896"/>
                  </a:lnTo>
                  <a:lnTo>
                    <a:pt x="4155948" y="77216"/>
                  </a:lnTo>
                  <a:close/>
                </a:path>
                <a:path w="5158740" h="515620">
                  <a:moveTo>
                    <a:pt x="5158740" y="77216"/>
                  </a:moveTo>
                  <a:lnTo>
                    <a:pt x="5152669" y="47155"/>
                  </a:lnTo>
                  <a:lnTo>
                    <a:pt x="5136134" y="22606"/>
                  </a:lnTo>
                  <a:lnTo>
                    <a:pt x="5111585" y="6070"/>
                  </a:lnTo>
                  <a:lnTo>
                    <a:pt x="5081524" y="0"/>
                  </a:lnTo>
                  <a:lnTo>
                    <a:pt x="4277360" y="0"/>
                  </a:lnTo>
                  <a:lnTo>
                    <a:pt x="4247286" y="6070"/>
                  </a:lnTo>
                  <a:lnTo>
                    <a:pt x="4222750" y="22606"/>
                  </a:lnTo>
                  <a:lnTo>
                    <a:pt x="4206202" y="47155"/>
                  </a:lnTo>
                  <a:lnTo>
                    <a:pt x="4200144" y="77216"/>
                  </a:lnTo>
                  <a:lnTo>
                    <a:pt x="4200144" y="437896"/>
                  </a:lnTo>
                  <a:lnTo>
                    <a:pt x="4206202" y="467969"/>
                  </a:lnTo>
                  <a:lnTo>
                    <a:pt x="4222750" y="492506"/>
                  </a:lnTo>
                  <a:lnTo>
                    <a:pt x="4247286" y="509054"/>
                  </a:lnTo>
                  <a:lnTo>
                    <a:pt x="4277360" y="515112"/>
                  </a:lnTo>
                  <a:lnTo>
                    <a:pt x="5081524" y="515112"/>
                  </a:lnTo>
                  <a:lnTo>
                    <a:pt x="5111585" y="509054"/>
                  </a:lnTo>
                  <a:lnTo>
                    <a:pt x="5136134" y="492506"/>
                  </a:lnTo>
                  <a:lnTo>
                    <a:pt x="5152669" y="467969"/>
                  </a:lnTo>
                  <a:lnTo>
                    <a:pt x="5158740" y="437896"/>
                  </a:lnTo>
                  <a:lnTo>
                    <a:pt x="5158740" y="77216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93520" y="4404359"/>
              <a:ext cx="5242560" cy="285115"/>
            </a:xfrm>
            <a:custGeom>
              <a:avLst/>
              <a:gdLst/>
              <a:ahLst/>
              <a:cxnLst/>
              <a:rect l="l" t="t" r="r" b="b"/>
              <a:pathLst>
                <a:path w="5242559" h="285114">
                  <a:moveTo>
                    <a:pt x="153162" y="88392"/>
                  </a:moveTo>
                  <a:lnTo>
                    <a:pt x="51816" y="139065"/>
                  </a:lnTo>
                  <a:lnTo>
                    <a:pt x="51816" y="89916"/>
                  </a:lnTo>
                  <a:lnTo>
                    <a:pt x="51816" y="87312"/>
                  </a:lnTo>
                  <a:lnTo>
                    <a:pt x="38862" y="89916"/>
                  </a:lnTo>
                  <a:lnTo>
                    <a:pt x="51803" y="87312"/>
                  </a:lnTo>
                  <a:lnTo>
                    <a:pt x="51816" y="51054"/>
                  </a:lnTo>
                  <a:lnTo>
                    <a:pt x="51816" y="87312"/>
                  </a:lnTo>
                  <a:lnTo>
                    <a:pt x="53987" y="86868"/>
                  </a:lnTo>
                  <a:lnTo>
                    <a:pt x="66332" y="78536"/>
                  </a:lnTo>
                  <a:lnTo>
                    <a:pt x="74663" y="66192"/>
                  </a:lnTo>
                  <a:lnTo>
                    <a:pt x="77724" y="51054"/>
                  </a:lnTo>
                  <a:lnTo>
                    <a:pt x="74663" y="35928"/>
                  </a:lnTo>
                  <a:lnTo>
                    <a:pt x="66332" y="23583"/>
                  </a:lnTo>
                  <a:lnTo>
                    <a:pt x="53987" y="15252"/>
                  </a:lnTo>
                  <a:lnTo>
                    <a:pt x="38862" y="12192"/>
                  </a:lnTo>
                  <a:lnTo>
                    <a:pt x="23723" y="15252"/>
                  </a:lnTo>
                  <a:lnTo>
                    <a:pt x="11379" y="23583"/>
                  </a:lnTo>
                  <a:lnTo>
                    <a:pt x="3048" y="35928"/>
                  </a:lnTo>
                  <a:lnTo>
                    <a:pt x="0" y="51054"/>
                  </a:lnTo>
                  <a:lnTo>
                    <a:pt x="3048" y="66192"/>
                  </a:lnTo>
                  <a:lnTo>
                    <a:pt x="11379" y="78536"/>
                  </a:lnTo>
                  <a:lnTo>
                    <a:pt x="23723" y="86868"/>
                  </a:lnTo>
                  <a:lnTo>
                    <a:pt x="25908" y="87312"/>
                  </a:lnTo>
                  <a:lnTo>
                    <a:pt x="25908" y="209880"/>
                  </a:lnTo>
                  <a:lnTo>
                    <a:pt x="23723" y="210324"/>
                  </a:lnTo>
                  <a:lnTo>
                    <a:pt x="11379" y="218655"/>
                  </a:lnTo>
                  <a:lnTo>
                    <a:pt x="3048" y="231000"/>
                  </a:lnTo>
                  <a:lnTo>
                    <a:pt x="0" y="246126"/>
                  </a:lnTo>
                  <a:lnTo>
                    <a:pt x="3048" y="261264"/>
                  </a:lnTo>
                  <a:lnTo>
                    <a:pt x="11379" y="273608"/>
                  </a:lnTo>
                  <a:lnTo>
                    <a:pt x="23723" y="281940"/>
                  </a:lnTo>
                  <a:lnTo>
                    <a:pt x="38862" y="284988"/>
                  </a:lnTo>
                  <a:lnTo>
                    <a:pt x="53987" y="281940"/>
                  </a:lnTo>
                  <a:lnTo>
                    <a:pt x="66332" y="273608"/>
                  </a:lnTo>
                  <a:lnTo>
                    <a:pt x="74663" y="261264"/>
                  </a:lnTo>
                  <a:lnTo>
                    <a:pt x="77724" y="246126"/>
                  </a:lnTo>
                  <a:lnTo>
                    <a:pt x="74663" y="231000"/>
                  </a:lnTo>
                  <a:lnTo>
                    <a:pt x="66332" y="218655"/>
                  </a:lnTo>
                  <a:lnTo>
                    <a:pt x="53987" y="210324"/>
                  </a:lnTo>
                  <a:lnTo>
                    <a:pt x="51816" y="209880"/>
                  </a:lnTo>
                  <a:lnTo>
                    <a:pt x="51816" y="207264"/>
                  </a:lnTo>
                  <a:lnTo>
                    <a:pt x="51816" y="152019"/>
                  </a:lnTo>
                  <a:lnTo>
                    <a:pt x="153162" y="202692"/>
                  </a:lnTo>
                  <a:lnTo>
                    <a:pt x="153162" y="152412"/>
                  </a:lnTo>
                  <a:lnTo>
                    <a:pt x="153162" y="138684"/>
                  </a:lnTo>
                  <a:lnTo>
                    <a:pt x="153162" y="88392"/>
                  </a:lnTo>
                  <a:close/>
                </a:path>
                <a:path w="5242559" h="285114">
                  <a:moveTo>
                    <a:pt x="189992" y="145542"/>
                  </a:moveTo>
                  <a:lnTo>
                    <a:pt x="188493" y="138125"/>
                  </a:lnTo>
                  <a:lnTo>
                    <a:pt x="184416" y="132067"/>
                  </a:lnTo>
                  <a:lnTo>
                    <a:pt x="178358" y="127990"/>
                  </a:lnTo>
                  <a:lnTo>
                    <a:pt x="170942" y="126492"/>
                  </a:lnTo>
                  <a:lnTo>
                    <a:pt x="170815" y="126492"/>
                  </a:lnTo>
                  <a:lnTo>
                    <a:pt x="163436" y="127990"/>
                  </a:lnTo>
                  <a:lnTo>
                    <a:pt x="157378" y="132067"/>
                  </a:lnTo>
                  <a:lnTo>
                    <a:pt x="153276" y="138125"/>
                  </a:lnTo>
                  <a:lnTo>
                    <a:pt x="153276" y="152971"/>
                  </a:lnTo>
                  <a:lnTo>
                    <a:pt x="157378" y="159029"/>
                  </a:lnTo>
                  <a:lnTo>
                    <a:pt x="163436" y="163106"/>
                  </a:lnTo>
                  <a:lnTo>
                    <a:pt x="170815" y="164592"/>
                  </a:lnTo>
                  <a:lnTo>
                    <a:pt x="170942" y="164592"/>
                  </a:lnTo>
                  <a:lnTo>
                    <a:pt x="178358" y="163106"/>
                  </a:lnTo>
                  <a:lnTo>
                    <a:pt x="184416" y="159029"/>
                  </a:lnTo>
                  <a:lnTo>
                    <a:pt x="188493" y="152971"/>
                  </a:lnTo>
                  <a:lnTo>
                    <a:pt x="189992" y="145542"/>
                  </a:lnTo>
                  <a:close/>
                </a:path>
                <a:path w="5242559" h="285114">
                  <a:moveTo>
                    <a:pt x="304292" y="145542"/>
                  </a:moveTo>
                  <a:lnTo>
                    <a:pt x="302793" y="138125"/>
                  </a:lnTo>
                  <a:lnTo>
                    <a:pt x="298716" y="132067"/>
                  </a:lnTo>
                  <a:lnTo>
                    <a:pt x="292658" y="127990"/>
                  </a:lnTo>
                  <a:lnTo>
                    <a:pt x="285242" y="126492"/>
                  </a:lnTo>
                  <a:lnTo>
                    <a:pt x="277812" y="127990"/>
                  </a:lnTo>
                  <a:lnTo>
                    <a:pt x="271754" y="132067"/>
                  </a:lnTo>
                  <a:lnTo>
                    <a:pt x="267677" y="138125"/>
                  </a:lnTo>
                  <a:lnTo>
                    <a:pt x="266192" y="145542"/>
                  </a:lnTo>
                  <a:lnTo>
                    <a:pt x="267677" y="152971"/>
                  </a:lnTo>
                  <a:lnTo>
                    <a:pt x="271754" y="159029"/>
                  </a:lnTo>
                  <a:lnTo>
                    <a:pt x="277812" y="163106"/>
                  </a:lnTo>
                  <a:lnTo>
                    <a:pt x="285242" y="164592"/>
                  </a:lnTo>
                  <a:lnTo>
                    <a:pt x="292658" y="163106"/>
                  </a:lnTo>
                  <a:lnTo>
                    <a:pt x="298716" y="159029"/>
                  </a:lnTo>
                  <a:lnTo>
                    <a:pt x="302793" y="152971"/>
                  </a:lnTo>
                  <a:lnTo>
                    <a:pt x="304292" y="145542"/>
                  </a:lnTo>
                  <a:close/>
                </a:path>
                <a:path w="5242559" h="285114">
                  <a:moveTo>
                    <a:pt x="418592" y="145542"/>
                  </a:moveTo>
                  <a:lnTo>
                    <a:pt x="417093" y="138125"/>
                  </a:lnTo>
                  <a:lnTo>
                    <a:pt x="413016" y="132067"/>
                  </a:lnTo>
                  <a:lnTo>
                    <a:pt x="406958" y="127990"/>
                  </a:lnTo>
                  <a:lnTo>
                    <a:pt x="399542" y="126492"/>
                  </a:lnTo>
                  <a:lnTo>
                    <a:pt x="392112" y="127990"/>
                  </a:lnTo>
                  <a:lnTo>
                    <a:pt x="386054" y="132067"/>
                  </a:lnTo>
                  <a:lnTo>
                    <a:pt x="381977" y="138125"/>
                  </a:lnTo>
                  <a:lnTo>
                    <a:pt x="380492" y="145542"/>
                  </a:lnTo>
                  <a:lnTo>
                    <a:pt x="381977" y="152971"/>
                  </a:lnTo>
                  <a:lnTo>
                    <a:pt x="386054" y="159029"/>
                  </a:lnTo>
                  <a:lnTo>
                    <a:pt x="392112" y="163106"/>
                  </a:lnTo>
                  <a:lnTo>
                    <a:pt x="399542" y="164592"/>
                  </a:lnTo>
                  <a:lnTo>
                    <a:pt x="406958" y="163106"/>
                  </a:lnTo>
                  <a:lnTo>
                    <a:pt x="413016" y="159029"/>
                  </a:lnTo>
                  <a:lnTo>
                    <a:pt x="417093" y="152971"/>
                  </a:lnTo>
                  <a:lnTo>
                    <a:pt x="418592" y="145542"/>
                  </a:lnTo>
                  <a:close/>
                </a:path>
                <a:path w="5242559" h="285114">
                  <a:moveTo>
                    <a:pt x="533019" y="145542"/>
                  </a:moveTo>
                  <a:lnTo>
                    <a:pt x="531520" y="138125"/>
                  </a:lnTo>
                  <a:lnTo>
                    <a:pt x="527443" y="132067"/>
                  </a:lnTo>
                  <a:lnTo>
                    <a:pt x="521385" y="127990"/>
                  </a:lnTo>
                  <a:lnTo>
                    <a:pt x="513969" y="126492"/>
                  </a:lnTo>
                  <a:lnTo>
                    <a:pt x="513842" y="126492"/>
                  </a:lnTo>
                  <a:lnTo>
                    <a:pt x="506463" y="127990"/>
                  </a:lnTo>
                  <a:lnTo>
                    <a:pt x="500405" y="132067"/>
                  </a:lnTo>
                  <a:lnTo>
                    <a:pt x="496303" y="138125"/>
                  </a:lnTo>
                  <a:lnTo>
                    <a:pt x="494792" y="145542"/>
                  </a:lnTo>
                  <a:lnTo>
                    <a:pt x="496303" y="152971"/>
                  </a:lnTo>
                  <a:lnTo>
                    <a:pt x="500405" y="159029"/>
                  </a:lnTo>
                  <a:lnTo>
                    <a:pt x="506463" y="163106"/>
                  </a:lnTo>
                  <a:lnTo>
                    <a:pt x="513842" y="164592"/>
                  </a:lnTo>
                  <a:lnTo>
                    <a:pt x="513969" y="164592"/>
                  </a:lnTo>
                  <a:lnTo>
                    <a:pt x="521385" y="163106"/>
                  </a:lnTo>
                  <a:lnTo>
                    <a:pt x="527443" y="159029"/>
                  </a:lnTo>
                  <a:lnTo>
                    <a:pt x="531520" y="152971"/>
                  </a:lnTo>
                  <a:lnTo>
                    <a:pt x="533019" y="145542"/>
                  </a:lnTo>
                  <a:close/>
                </a:path>
                <a:path w="5242559" h="285114">
                  <a:moveTo>
                    <a:pt x="647319" y="145542"/>
                  </a:moveTo>
                  <a:lnTo>
                    <a:pt x="645820" y="138125"/>
                  </a:lnTo>
                  <a:lnTo>
                    <a:pt x="641743" y="132067"/>
                  </a:lnTo>
                  <a:lnTo>
                    <a:pt x="635685" y="127990"/>
                  </a:lnTo>
                  <a:lnTo>
                    <a:pt x="628269" y="126492"/>
                  </a:lnTo>
                  <a:lnTo>
                    <a:pt x="620839" y="127990"/>
                  </a:lnTo>
                  <a:lnTo>
                    <a:pt x="614781" y="132067"/>
                  </a:lnTo>
                  <a:lnTo>
                    <a:pt x="610704" y="138125"/>
                  </a:lnTo>
                  <a:lnTo>
                    <a:pt x="609219" y="145542"/>
                  </a:lnTo>
                  <a:lnTo>
                    <a:pt x="610704" y="152971"/>
                  </a:lnTo>
                  <a:lnTo>
                    <a:pt x="614781" y="159029"/>
                  </a:lnTo>
                  <a:lnTo>
                    <a:pt x="620839" y="163106"/>
                  </a:lnTo>
                  <a:lnTo>
                    <a:pt x="628269" y="164592"/>
                  </a:lnTo>
                  <a:lnTo>
                    <a:pt x="635685" y="163106"/>
                  </a:lnTo>
                  <a:lnTo>
                    <a:pt x="641743" y="159029"/>
                  </a:lnTo>
                  <a:lnTo>
                    <a:pt x="645820" y="152971"/>
                  </a:lnTo>
                  <a:lnTo>
                    <a:pt x="647319" y="145542"/>
                  </a:lnTo>
                  <a:close/>
                </a:path>
                <a:path w="5242559" h="285114">
                  <a:moveTo>
                    <a:pt x="761619" y="145542"/>
                  </a:moveTo>
                  <a:lnTo>
                    <a:pt x="760120" y="138125"/>
                  </a:lnTo>
                  <a:lnTo>
                    <a:pt x="756043" y="132067"/>
                  </a:lnTo>
                  <a:lnTo>
                    <a:pt x="749985" y="127990"/>
                  </a:lnTo>
                  <a:lnTo>
                    <a:pt x="742569" y="126492"/>
                  </a:lnTo>
                  <a:lnTo>
                    <a:pt x="735139" y="127990"/>
                  </a:lnTo>
                  <a:lnTo>
                    <a:pt x="729081" y="132067"/>
                  </a:lnTo>
                  <a:lnTo>
                    <a:pt x="725004" y="138125"/>
                  </a:lnTo>
                  <a:lnTo>
                    <a:pt x="723519" y="145542"/>
                  </a:lnTo>
                  <a:lnTo>
                    <a:pt x="725004" y="152971"/>
                  </a:lnTo>
                  <a:lnTo>
                    <a:pt x="729081" y="159029"/>
                  </a:lnTo>
                  <a:lnTo>
                    <a:pt x="735139" y="163106"/>
                  </a:lnTo>
                  <a:lnTo>
                    <a:pt x="742569" y="164592"/>
                  </a:lnTo>
                  <a:lnTo>
                    <a:pt x="749985" y="163106"/>
                  </a:lnTo>
                  <a:lnTo>
                    <a:pt x="756043" y="159029"/>
                  </a:lnTo>
                  <a:lnTo>
                    <a:pt x="760120" y="152971"/>
                  </a:lnTo>
                  <a:lnTo>
                    <a:pt x="761619" y="145542"/>
                  </a:lnTo>
                  <a:close/>
                </a:path>
                <a:path w="5242559" h="285114">
                  <a:moveTo>
                    <a:pt x="876046" y="145542"/>
                  </a:moveTo>
                  <a:lnTo>
                    <a:pt x="874522" y="138125"/>
                  </a:lnTo>
                  <a:lnTo>
                    <a:pt x="870419" y="132067"/>
                  </a:lnTo>
                  <a:lnTo>
                    <a:pt x="864362" y="127990"/>
                  </a:lnTo>
                  <a:lnTo>
                    <a:pt x="856996" y="126492"/>
                  </a:lnTo>
                  <a:lnTo>
                    <a:pt x="856869" y="126492"/>
                  </a:lnTo>
                  <a:lnTo>
                    <a:pt x="849439" y="127990"/>
                  </a:lnTo>
                  <a:lnTo>
                    <a:pt x="843381" y="132067"/>
                  </a:lnTo>
                  <a:lnTo>
                    <a:pt x="839304" y="138125"/>
                  </a:lnTo>
                  <a:lnTo>
                    <a:pt x="837819" y="145542"/>
                  </a:lnTo>
                  <a:lnTo>
                    <a:pt x="839304" y="152971"/>
                  </a:lnTo>
                  <a:lnTo>
                    <a:pt x="843381" y="159029"/>
                  </a:lnTo>
                  <a:lnTo>
                    <a:pt x="849439" y="163106"/>
                  </a:lnTo>
                  <a:lnTo>
                    <a:pt x="856869" y="164592"/>
                  </a:lnTo>
                  <a:lnTo>
                    <a:pt x="856996" y="164592"/>
                  </a:lnTo>
                  <a:lnTo>
                    <a:pt x="864362" y="163106"/>
                  </a:lnTo>
                  <a:lnTo>
                    <a:pt x="870419" y="159029"/>
                  </a:lnTo>
                  <a:lnTo>
                    <a:pt x="874522" y="152971"/>
                  </a:lnTo>
                  <a:lnTo>
                    <a:pt x="876046" y="145542"/>
                  </a:lnTo>
                  <a:close/>
                </a:path>
                <a:path w="5242559" h="285114">
                  <a:moveTo>
                    <a:pt x="990346" y="145542"/>
                  </a:moveTo>
                  <a:lnTo>
                    <a:pt x="988847" y="138125"/>
                  </a:lnTo>
                  <a:lnTo>
                    <a:pt x="984770" y="132067"/>
                  </a:lnTo>
                  <a:lnTo>
                    <a:pt x="978712" y="127990"/>
                  </a:lnTo>
                  <a:lnTo>
                    <a:pt x="971296" y="126492"/>
                  </a:lnTo>
                  <a:lnTo>
                    <a:pt x="963866" y="127990"/>
                  </a:lnTo>
                  <a:lnTo>
                    <a:pt x="957808" y="132067"/>
                  </a:lnTo>
                  <a:lnTo>
                    <a:pt x="953731" y="138125"/>
                  </a:lnTo>
                  <a:lnTo>
                    <a:pt x="952246" y="145542"/>
                  </a:lnTo>
                  <a:lnTo>
                    <a:pt x="953731" y="152971"/>
                  </a:lnTo>
                  <a:lnTo>
                    <a:pt x="957808" y="159029"/>
                  </a:lnTo>
                  <a:lnTo>
                    <a:pt x="963866" y="163106"/>
                  </a:lnTo>
                  <a:lnTo>
                    <a:pt x="971296" y="164592"/>
                  </a:lnTo>
                  <a:lnTo>
                    <a:pt x="978712" y="163106"/>
                  </a:lnTo>
                  <a:lnTo>
                    <a:pt x="984770" y="159029"/>
                  </a:lnTo>
                  <a:lnTo>
                    <a:pt x="988847" y="152971"/>
                  </a:lnTo>
                  <a:lnTo>
                    <a:pt x="990346" y="145542"/>
                  </a:lnTo>
                  <a:close/>
                </a:path>
                <a:path w="5242559" h="285114">
                  <a:moveTo>
                    <a:pt x="1104646" y="145542"/>
                  </a:moveTo>
                  <a:lnTo>
                    <a:pt x="1103147" y="138125"/>
                  </a:lnTo>
                  <a:lnTo>
                    <a:pt x="1099070" y="132067"/>
                  </a:lnTo>
                  <a:lnTo>
                    <a:pt x="1093012" y="127990"/>
                  </a:lnTo>
                  <a:lnTo>
                    <a:pt x="1085596" y="126492"/>
                  </a:lnTo>
                  <a:lnTo>
                    <a:pt x="1078166" y="127990"/>
                  </a:lnTo>
                  <a:lnTo>
                    <a:pt x="1072108" y="132067"/>
                  </a:lnTo>
                  <a:lnTo>
                    <a:pt x="1068031" y="138125"/>
                  </a:lnTo>
                  <a:lnTo>
                    <a:pt x="1066546" y="145542"/>
                  </a:lnTo>
                  <a:lnTo>
                    <a:pt x="1068031" y="152971"/>
                  </a:lnTo>
                  <a:lnTo>
                    <a:pt x="1072108" y="159029"/>
                  </a:lnTo>
                  <a:lnTo>
                    <a:pt x="1078166" y="163106"/>
                  </a:lnTo>
                  <a:lnTo>
                    <a:pt x="1085596" y="164592"/>
                  </a:lnTo>
                  <a:lnTo>
                    <a:pt x="1093012" y="163106"/>
                  </a:lnTo>
                  <a:lnTo>
                    <a:pt x="1099070" y="159029"/>
                  </a:lnTo>
                  <a:lnTo>
                    <a:pt x="1103147" y="152971"/>
                  </a:lnTo>
                  <a:lnTo>
                    <a:pt x="1104646" y="145542"/>
                  </a:lnTo>
                  <a:close/>
                </a:path>
                <a:path w="5242559" h="285114">
                  <a:moveTo>
                    <a:pt x="1218946" y="145542"/>
                  </a:moveTo>
                  <a:lnTo>
                    <a:pt x="1217447" y="138125"/>
                  </a:lnTo>
                  <a:lnTo>
                    <a:pt x="1213370" y="132067"/>
                  </a:lnTo>
                  <a:lnTo>
                    <a:pt x="1207312" y="127990"/>
                  </a:lnTo>
                  <a:lnTo>
                    <a:pt x="1199896" y="126492"/>
                  </a:lnTo>
                  <a:lnTo>
                    <a:pt x="1192466" y="127990"/>
                  </a:lnTo>
                  <a:lnTo>
                    <a:pt x="1186408" y="132067"/>
                  </a:lnTo>
                  <a:lnTo>
                    <a:pt x="1182331" y="138125"/>
                  </a:lnTo>
                  <a:lnTo>
                    <a:pt x="1180846" y="145542"/>
                  </a:lnTo>
                  <a:lnTo>
                    <a:pt x="1182331" y="152971"/>
                  </a:lnTo>
                  <a:lnTo>
                    <a:pt x="1186408" y="159029"/>
                  </a:lnTo>
                  <a:lnTo>
                    <a:pt x="1192466" y="163106"/>
                  </a:lnTo>
                  <a:lnTo>
                    <a:pt x="1199896" y="164592"/>
                  </a:lnTo>
                  <a:lnTo>
                    <a:pt x="1207312" y="163106"/>
                  </a:lnTo>
                  <a:lnTo>
                    <a:pt x="1213370" y="159029"/>
                  </a:lnTo>
                  <a:lnTo>
                    <a:pt x="1217447" y="152971"/>
                  </a:lnTo>
                  <a:lnTo>
                    <a:pt x="1218946" y="145542"/>
                  </a:lnTo>
                  <a:close/>
                </a:path>
                <a:path w="5242559" h="285114">
                  <a:moveTo>
                    <a:pt x="1333373" y="145542"/>
                  </a:moveTo>
                  <a:lnTo>
                    <a:pt x="1331874" y="138125"/>
                  </a:lnTo>
                  <a:lnTo>
                    <a:pt x="1327797" y="132067"/>
                  </a:lnTo>
                  <a:lnTo>
                    <a:pt x="1321739" y="127990"/>
                  </a:lnTo>
                  <a:lnTo>
                    <a:pt x="1314323" y="126492"/>
                  </a:lnTo>
                  <a:lnTo>
                    <a:pt x="1314196" y="126492"/>
                  </a:lnTo>
                  <a:lnTo>
                    <a:pt x="1306817" y="127990"/>
                  </a:lnTo>
                  <a:lnTo>
                    <a:pt x="1300759" y="132067"/>
                  </a:lnTo>
                  <a:lnTo>
                    <a:pt x="1296657" y="138125"/>
                  </a:lnTo>
                  <a:lnTo>
                    <a:pt x="1295146" y="145542"/>
                  </a:lnTo>
                  <a:lnTo>
                    <a:pt x="1296657" y="152971"/>
                  </a:lnTo>
                  <a:lnTo>
                    <a:pt x="1300759" y="159029"/>
                  </a:lnTo>
                  <a:lnTo>
                    <a:pt x="1306817" y="163106"/>
                  </a:lnTo>
                  <a:lnTo>
                    <a:pt x="1314196" y="164592"/>
                  </a:lnTo>
                  <a:lnTo>
                    <a:pt x="1314323" y="164592"/>
                  </a:lnTo>
                  <a:lnTo>
                    <a:pt x="1321739" y="163106"/>
                  </a:lnTo>
                  <a:lnTo>
                    <a:pt x="1327797" y="159029"/>
                  </a:lnTo>
                  <a:lnTo>
                    <a:pt x="1331874" y="152971"/>
                  </a:lnTo>
                  <a:lnTo>
                    <a:pt x="1333373" y="145542"/>
                  </a:lnTo>
                  <a:close/>
                </a:path>
                <a:path w="5242559" h="285114">
                  <a:moveTo>
                    <a:pt x="1447673" y="145542"/>
                  </a:moveTo>
                  <a:lnTo>
                    <a:pt x="1446174" y="138125"/>
                  </a:lnTo>
                  <a:lnTo>
                    <a:pt x="1442097" y="132067"/>
                  </a:lnTo>
                  <a:lnTo>
                    <a:pt x="1436039" y="127990"/>
                  </a:lnTo>
                  <a:lnTo>
                    <a:pt x="1428623" y="126492"/>
                  </a:lnTo>
                  <a:lnTo>
                    <a:pt x="1421193" y="127990"/>
                  </a:lnTo>
                  <a:lnTo>
                    <a:pt x="1415135" y="132067"/>
                  </a:lnTo>
                  <a:lnTo>
                    <a:pt x="1411058" y="138125"/>
                  </a:lnTo>
                  <a:lnTo>
                    <a:pt x="1409573" y="145542"/>
                  </a:lnTo>
                  <a:lnTo>
                    <a:pt x="1411058" y="152971"/>
                  </a:lnTo>
                  <a:lnTo>
                    <a:pt x="1415135" y="159029"/>
                  </a:lnTo>
                  <a:lnTo>
                    <a:pt x="1421193" y="163106"/>
                  </a:lnTo>
                  <a:lnTo>
                    <a:pt x="1428623" y="164592"/>
                  </a:lnTo>
                  <a:lnTo>
                    <a:pt x="1436039" y="163106"/>
                  </a:lnTo>
                  <a:lnTo>
                    <a:pt x="1442097" y="159029"/>
                  </a:lnTo>
                  <a:lnTo>
                    <a:pt x="1446174" y="152971"/>
                  </a:lnTo>
                  <a:lnTo>
                    <a:pt x="1447673" y="145542"/>
                  </a:lnTo>
                  <a:close/>
                </a:path>
                <a:path w="5242559" h="285114">
                  <a:moveTo>
                    <a:pt x="1561973" y="145542"/>
                  </a:moveTo>
                  <a:lnTo>
                    <a:pt x="1560474" y="138125"/>
                  </a:lnTo>
                  <a:lnTo>
                    <a:pt x="1556397" y="132067"/>
                  </a:lnTo>
                  <a:lnTo>
                    <a:pt x="1550339" y="127990"/>
                  </a:lnTo>
                  <a:lnTo>
                    <a:pt x="1542923" y="126492"/>
                  </a:lnTo>
                  <a:lnTo>
                    <a:pt x="1535493" y="127990"/>
                  </a:lnTo>
                  <a:lnTo>
                    <a:pt x="1529435" y="132067"/>
                  </a:lnTo>
                  <a:lnTo>
                    <a:pt x="1525358" y="138125"/>
                  </a:lnTo>
                  <a:lnTo>
                    <a:pt x="1523873" y="145542"/>
                  </a:lnTo>
                  <a:lnTo>
                    <a:pt x="1525358" y="152971"/>
                  </a:lnTo>
                  <a:lnTo>
                    <a:pt x="1529435" y="159029"/>
                  </a:lnTo>
                  <a:lnTo>
                    <a:pt x="1535493" y="163106"/>
                  </a:lnTo>
                  <a:lnTo>
                    <a:pt x="1542923" y="164592"/>
                  </a:lnTo>
                  <a:lnTo>
                    <a:pt x="1550339" y="163106"/>
                  </a:lnTo>
                  <a:lnTo>
                    <a:pt x="1556397" y="159029"/>
                  </a:lnTo>
                  <a:lnTo>
                    <a:pt x="1560474" y="152971"/>
                  </a:lnTo>
                  <a:lnTo>
                    <a:pt x="1561973" y="145542"/>
                  </a:lnTo>
                  <a:close/>
                </a:path>
                <a:path w="5242559" h="285114">
                  <a:moveTo>
                    <a:pt x="1676400" y="145542"/>
                  </a:moveTo>
                  <a:lnTo>
                    <a:pt x="1674901" y="138125"/>
                  </a:lnTo>
                  <a:lnTo>
                    <a:pt x="1670824" y="132067"/>
                  </a:lnTo>
                  <a:lnTo>
                    <a:pt x="1664766" y="127990"/>
                  </a:lnTo>
                  <a:lnTo>
                    <a:pt x="1657350" y="126492"/>
                  </a:lnTo>
                  <a:lnTo>
                    <a:pt x="1657223" y="126492"/>
                  </a:lnTo>
                  <a:lnTo>
                    <a:pt x="1649844" y="127990"/>
                  </a:lnTo>
                  <a:lnTo>
                    <a:pt x="1643786" y="132067"/>
                  </a:lnTo>
                  <a:lnTo>
                    <a:pt x="1639684" y="138125"/>
                  </a:lnTo>
                  <a:lnTo>
                    <a:pt x="1638173" y="145542"/>
                  </a:lnTo>
                  <a:lnTo>
                    <a:pt x="1639684" y="152971"/>
                  </a:lnTo>
                  <a:lnTo>
                    <a:pt x="1643786" y="159029"/>
                  </a:lnTo>
                  <a:lnTo>
                    <a:pt x="1649844" y="163106"/>
                  </a:lnTo>
                  <a:lnTo>
                    <a:pt x="1657223" y="164592"/>
                  </a:lnTo>
                  <a:lnTo>
                    <a:pt x="1657350" y="164592"/>
                  </a:lnTo>
                  <a:lnTo>
                    <a:pt x="1664766" y="163106"/>
                  </a:lnTo>
                  <a:lnTo>
                    <a:pt x="1670824" y="159029"/>
                  </a:lnTo>
                  <a:lnTo>
                    <a:pt x="1674901" y="152971"/>
                  </a:lnTo>
                  <a:lnTo>
                    <a:pt x="1676400" y="145542"/>
                  </a:lnTo>
                  <a:close/>
                </a:path>
                <a:path w="5242559" h="285114">
                  <a:moveTo>
                    <a:pt x="1790700" y="145542"/>
                  </a:moveTo>
                  <a:lnTo>
                    <a:pt x="1789201" y="138125"/>
                  </a:lnTo>
                  <a:lnTo>
                    <a:pt x="1785124" y="132067"/>
                  </a:lnTo>
                  <a:lnTo>
                    <a:pt x="1779066" y="127990"/>
                  </a:lnTo>
                  <a:lnTo>
                    <a:pt x="1771650" y="126492"/>
                  </a:lnTo>
                  <a:lnTo>
                    <a:pt x="1764220" y="127990"/>
                  </a:lnTo>
                  <a:lnTo>
                    <a:pt x="1758162" y="132067"/>
                  </a:lnTo>
                  <a:lnTo>
                    <a:pt x="1754085" y="138125"/>
                  </a:lnTo>
                  <a:lnTo>
                    <a:pt x="1752600" y="145542"/>
                  </a:lnTo>
                  <a:lnTo>
                    <a:pt x="1754085" y="152971"/>
                  </a:lnTo>
                  <a:lnTo>
                    <a:pt x="1758162" y="159029"/>
                  </a:lnTo>
                  <a:lnTo>
                    <a:pt x="1764220" y="163106"/>
                  </a:lnTo>
                  <a:lnTo>
                    <a:pt x="1771650" y="164592"/>
                  </a:lnTo>
                  <a:lnTo>
                    <a:pt x="1779066" y="163106"/>
                  </a:lnTo>
                  <a:lnTo>
                    <a:pt x="1785124" y="159029"/>
                  </a:lnTo>
                  <a:lnTo>
                    <a:pt x="1789201" y="152971"/>
                  </a:lnTo>
                  <a:lnTo>
                    <a:pt x="1790700" y="145542"/>
                  </a:lnTo>
                  <a:close/>
                </a:path>
                <a:path w="5242559" h="285114">
                  <a:moveTo>
                    <a:pt x="3326892" y="151638"/>
                  </a:moveTo>
                  <a:lnTo>
                    <a:pt x="3325393" y="144221"/>
                  </a:lnTo>
                  <a:lnTo>
                    <a:pt x="3321316" y="138163"/>
                  </a:lnTo>
                  <a:lnTo>
                    <a:pt x="3315258" y="134086"/>
                  </a:lnTo>
                  <a:lnTo>
                    <a:pt x="3307842" y="132588"/>
                  </a:lnTo>
                  <a:lnTo>
                    <a:pt x="3300412" y="134086"/>
                  </a:lnTo>
                  <a:lnTo>
                    <a:pt x="3294354" y="138163"/>
                  </a:lnTo>
                  <a:lnTo>
                    <a:pt x="3290278" y="144221"/>
                  </a:lnTo>
                  <a:lnTo>
                    <a:pt x="3288792" y="151638"/>
                  </a:lnTo>
                  <a:lnTo>
                    <a:pt x="3290278" y="159067"/>
                  </a:lnTo>
                  <a:lnTo>
                    <a:pt x="3294354" y="165125"/>
                  </a:lnTo>
                  <a:lnTo>
                    <a:pt x="3300412" y="169202"/>
                  </a:lnTo>
                  <a:lnTo>
                    <a:pt x="3307842" y="170688"/>
                  </a:lnTo>
                  <a:lnTo>
                    <a:pt x="3315258" y="169202"/>
                  </a:lnTo>
                  <a:lnTo>
                    <a:pt x="3321316" y="165125"/>
                  </a:lnTo>
                  <a:lnTo>
                    <a:pt x="3325393" y="159067"/>
                  </a:lnTo>
                  <a:lnTo>
                    <a:pt x="3326892" y="151638"/>
                  </a:lnTo>
                  <a:close/>
                </a:path>
                <a:path w="5242559" h="285114">
                  <a:moveTo>
                    <a:pt x="3441319" y="151638"/>
                  </a:moveTo>
                  <a:lnTo>
                    <a:pt x="3439795" y="144221"/>
                  </a:lnTo>
                  <a:lnTo>
                    <a:pt x="3435693" y="138163"/>
                  </a:lnTo>
                  <a:lnTo>
                    <a:pt x="3429635" y="134086"/>
                  </a:lnTo>
                  <a:lnTo>
                    <a:pt x="3422269" y="132588"/>
                  </a:lnTo>
                  <a:lnTo>
                    <a:pt x="3422142" y="132588"/>
                  </a:lnTo>
                  <a:lnTo>
                    <a:pt x="3414712" y="134086"/>
                  </a:lnTo>
                  <a:lnTo>
                    <a:pt x="3408654" y="138163"/>
                  </a:lnTo>
                  <a:lnTo>
                    <a:pt x="3404578" y="144221"/>
                  </a:lnTo>
                  <a:lnTo>
                    <a:pt x="3403092" y="151638"/>
                  </a:lnTo>
                  <a:lnTo>
                    <a:pt x="3404578" y="159067"/>
                  </a:lnTo>
                  <a:lnTo>
                    <a:pt x="3408654" y="165125"/>
                  </a:lnTo>
                  <a:lnTo>
                    <a:pt x="3414712" y="169202"/>
                  </a:lnTo>
                  <a:lnTo>
                    <a:pt x="3422142" y="170688"/>
                  </a:lnTo>
                  <a:lnTo>
                    <a:pt x="3422269" y="170688"/>
                  </a:lnTo>
                  <a:lnTo>
                    <a:pt x="3429635" y="169202"/>
                  </a:lnTo>
                  <a:lnTo>
                    <a:pt x="3435693" y="165125"/>
                  </a:lnTo>
                  <a:lnTo>
                    <a:pt x="3439795" y="159067"/>
                  </a:lnTo>
                  <a:lnTo>
                    <a:pt x="3441319" y="151638"/>
                  </a:lnTo>
                  <a:close/>
                </a:path>
                <a:path w="5242559" h="285114">
                  <a:moveTo>
                    <a:pt x="3555619" y="151638"/>
                  </a:moveTo>
                  <a:lnTo>
                    <a:pt x="3554120" y="144221"/>
                  </a:lnTo>
                  <a:lnTo>
                    <a:pt x="3550043" y="138163"/>
                  </a:lnTo>
                  <a:lnTo>
                    <a:pt x="3543985" y="134086"/>
                  </a:lnTo>
                  <a:lnTo>
                    <a:pt x="3536569" y="132588"/>
                  </a:lnTo>
                  <a:lnTo>
                    <a:pt x="3529139" y="134086"/>
                  </a:lnTo>
                  <a:lnTo>
                    <a:pt x="3523081" y="138163"/>
                  </a:lnTo>
                  <a:lnTo>
                    <a:pt x="3519005" y="144221"/>
                  </a:lnTo>
                  <a:lnTo>
                    <a:pt x="3517519" y="151638"/>
                  </a:lnTo>
                  <a:lnTo>
                    <a:pt x="3519005" y="159067"/>
                  </a:lnTo>
                  <a:lnTo>
                    <a:pt x="3523081" y="165125"/>
                  </a:lnTo>
                  <a:lnTo>
                    <a:pt x="3529139" y="169202"/>
                  </a:lnTo>
                  <a:lnTo>
                    <a:pt x="3536569" y="170688"/>
                  </a:lnTo>
                  <a:lnTo>
                    <a:pt x="3543985" y="169202"/>
                  </a:lnTo>
                  <a:lnTo>
                    <a:pt x="3550043" y="165125"/>
                  </a:lnTo>
                  <a:lnTo>
                    <a:pt x="3554120" y="159067"/>
                  </a:lnTo>
                  <a:lnTo>
                    <a:pt x="3555619" y="151638"/>
                  </a:lnTo>
                  <a:close/>
                </a:path>
                <a:path w="5242559" h="285114">
                  <a:moveTo>
                    <a:pt x="3669919" y="151638"/>
                  </a:moveTo>
                  <a:lnTo>
                    <a:pt x="3668420" y="144221"/>
                  </a:lnTo>
                  <a:lnTo>
                    <a:pt x="3664343" y="138163"/>
                  </a:lnTo>
                  <a:lnTo>
                    <a:pt x="3658285" y="134086"/>
                  </a:lnTo>
                  <a:lnTo>
                    <a:pt x="3650869" y="132588"/>
                  </a:lnTo>
                  <a:lnTo>
                    <a:pt x="3643439" y="134086"/>
                  </a:lnTo>
                  <a:lnTo>
                    <a:pt x="3637381" y="138163"/>
                  </a:lnTo>
                  <a:lnTo>
                    <a:pt x="3633305" y="144221"/>
                  </a:lnTo>
                  <a:lnTo>
                    <a:pt x="3631819" y="151638"/>
                  </a:lnTo>
                  <a:lnTo>
                    <a:pt x="3633305" y="159067"/>
                  </a:lnTo>
                  <a:lnTo>
                    <a:pt x="3637381" y="165125"/>
                  </a:lnTo>
                  <a:lnTo>
                    <a:pt x="3643439" y="169202"/>
                  </a:lnTo>
                  <a:lnTo>
                    <a:pt x="3650869" y="170688"/>
                  </a:lnTo>
                  <a:lnTo>
                    <a:pt x="3658285" y="169202"/>
                  </a:lnTo>
                  <a:lnTo>
                    <a:pt x="3664343" y="165125"/>
                  </a:lnTo>
                  <a:lnTo>
                    <a:pt x="3668420" y="159067"/>
                  </a:lnTo>
                  <a:lnTo>
                    <a:pt x="3669919" y="151638"/>
                  </a:lnTo>
                  <a:close/>
                </a:path>
                <a:path w="5242559" h="285114">
                  <a:moveTo>
                    <a:pt x="3784219" y="151638"/>
                  </a:moveTo>
                  <a:lnTo>
                    <a:pt x="3782720" y="144221"/>
                  </a:lnTo>
                  <a:lnTo>
                    <a:pt x="3778643" y="138163"/>
                  </a:lnTo>
                  <a:lnTo>
                    <a:pt x="3772585" y="134086"/>
                  </a:lnTo>
                  <a:lnTo>
                    <a:pt x="3765169" y="132588"/>
                  </a:lnTo>
                  <a:lnTo>
                    <a:pt x="3757739" y="134086"/>
                  </a:lnTo>
                  <a:lnTo>
                    <a:pt x="3751681" y="138163"/>
                  </a:lnTo>
                  <a:lnTo>
                    <a:pt x="3747605" y="144221"/>
                  </a:lnTo>
                  <a:lnTo>
                    <a:pt x="3746119" y="151638"/>
                  </a:lnTo>
                  <a:lnTo>
                    <a:pt x="3747605" y="159067"/>
                  </a:lnTo>
                  <a:lnTo>
                    <a:pt x="3751681" y="165125"/>
                  </a:lnTo>
                  <a:lnTo>
                    <a:pt x="3757739" y="169202"/>
                  </a:lnTo>
                  <a:lnTo>
                    <a:pt x="3765169" y="170688"/>
                  </a:lnTo>
                  <a:lnTo>
                    <a:pt x="3772585" y="169202"/>
                  </a:lnTo>
                  <a:lnTo>
                    <a:pt x="3778643" y="165125"/>
                  </a:lnTo>
                  <a:lnTo>
                    <a:pt x="3782720" y="159067"/>
                  </a:lnTo>
                  <a:lnTo>
                    <a:pt x="3784219" y="151638"/>
                  </a:lnTo>
                  <a:close/>
                </a:path>
                <a:path w="5242559" h="285114">
                  <a:moveTo>
                    <a:pt x="3898646" y="151638"/>
                  </a:moveTo>
                  <a:lnTo>
                    <a:pt x="3897147" y="144221"/>
                  </a:lnTo>
                  <a:lnTo>
                    <a:pt x="3893070" y="138163"/>
                  </a:lnTo>
                  <a:lnTo>
                    <a:pt x="3887012" y="134086"/>
                  </a:lnTo>
                  <a:lnTo>
                    <a:pt x="3879596" y="132588"/>
                  </a:lnTo>
                  <a:lnTo>
                    <a:pt x="3879469" y="132588"/>
                  </a:lnTo>
                  <a:lnTo>
                    <a:pt x="3872090" y="134086"/>
                  </a:lnTo>
                  <a:lnTo>
                    <a:pt x="3866032" y="138163"/>
                  </a:lnTo>
                  <a:lnTo>
                    <a:pt x="3861930" y="144221"/>
                  </a:lnTo>
                  <a:lnTo>
                    <a:pt x="3860419" y="151638"/>
                  </a:lnTo>
                  <a:lnTo>
                    <a:pt x="3861930" y="159067"/>
                  </a:lnTo>
                  <a:lnTo>
                    <a:pt x="3866032" y="165125"/>
                  </a:lnTo>
                  <a:lnTo>
                    <a:pt x="3872090" y="169202"/>
                  </a:lnTo>
                  <a:lnTo>
                    <a:pt x="3879469" y="170688"/>
                  </a:lnTo>
                  <a:lnTo>
                    <a:pt x="3879596" y="170688"/>
                  </a:lnTo>
                  <a:lnTo>
                    <a:pt x="3887012" y="169202"/>
                  </a:lnTo>
                  <a:lnTo>
                    <a:pt x="3893070" y="165125"/>
                  </a:lnTo>
                  <a:lnTo>
                    <a:pt x="3897147" y="159067"/>
                  </a:lnTo>
                  <a:lnTo>
                    <a:pt x="3898646" y="151638"/>
                  </a:lnTo>
                  <a:close/>
                </a:path>
                <a:path w="5242559" h="285114">
                  <a:moveTo>
                    <a:pt x="4012946" y="151638"/>
                  </a:moveTo>
                  <a:lnTo>
                    <a:pt x="4011447" y="144221"/>
                  </a:lnTo>
                  <a:lnTo>
                    <a:pt x="4007370" y="138163"/>
                  </a:lnTo>
                  <a:lnTo>
                    <a:pt x="4001312" y="134086"/>
                  </a:lnTo>
                  <a:lnTo>
                    <a:pt x="3993896" y="132588"/>
                  </a:lnTo>
                  <a:lnTo>
                    <a:pt x="3986466" y="134086"/>
                  </a:lnTo>
                  <a:lnTo>
                    <a:pt x="3980408" y="138163"/>
                  </a:lnTo>
                  <a:lnTo>
                    <a:pt x="3976332" y="144221"/>
                  </a:lnTo>
                  <a:lnTo>
                    <a:pt x="3974846" y="151638"/>
                  </a:lnTo>
                  <a:lnTo>
                    <a:pt x="3976332" y="159067"/>
                  </a:lnTo>
                  <a:lnTo>
                    <a:pt x="3980408" y="165125"/>
                  </a:lnTo>
                  <a:lnTo>
                    <a:pt x="3986466" y="169202"/>
                  </a:lnTo>
                  <a:lnTo>
                    <a:pt x="3993896" y="170688"/>
                  </a:lnTo>
                  <a:lnTo>
                    <a:pt x="4001312" y="169202"/>
                  </a:lnTo>
                  <a:lnTo>
                    <a:pt x="4007370" y="165125"/>
                  </a:lnTo>
                  <a:lnTo>
                    <a:pt x="4011447" y="159067"/>
                  </a:lnTo>
                  <a:lnTo>
                    <a:pt x="4012946" y="151638"/>
                  </a:lnTo>
                  <a:close/>
                </a:path>
                <a:path w="5242559" h="285114">
                  <a:moveTo>
                    <a:pt x="4127246" y="151638"/>
                  </a:moveTo>
                  <a:lnTo>
                    <a:pt x="4125747" y="144221"/>
                  </a:lnTo>
                  <a:lnTo>
                    <a:pt x="4121670" y="138163"/>
                  </a:lnTo>
                  <a:lnTo>
                    <a:pt x="4115612" y="134086"/>
                  </a:lnTo>
                  <a:lnTo>
                    <a:pt x="4108196" y="132588"/>
                  </a:lnTo>
                  <a:lnTo>
                    <a:pt x="4100766" y="134086"/>
                  </a:lnTo>
                  <a:lnTo>
                    <a:pt x="4094708" y="138163"/>
                  </a:lnTo>
                  <a:lnTo>
                    <a:pt x="4090632" y="144221"/>
                  </a:lnTo>
                  <a:lnTo>
                    <a:pt x="4089146" y="151638"/>
                  </a:lnTo>
                  <a:lnTo>
                    <a:pt x="4090632" y="159067"/>
                  </a:lnTo>
                  <a:lnTo>
                    <a:pt x="4094708" y="165125"/>
                  </a:lnTo>
                  <a:lnTo>
                    <a:pt x="4100766" y="169202"/>
                  </a:lnTo>
                  <a:lnTo>
                    <a:pt x="4108196" y="170688"/>
                  </a:lnTo>
                  <a:lnTo>
                    <a:pt x="4115612" y="169202"/>
                  </a:lnTo>
                  <a:lnTo>
                    <a:pt x="4121670" y="165125"/>
                  </a:lnTo>
                  <a:lnTo>
                    <a:pt x="4125747" y="159067"/>
                  </a:lnTo>
                  <a:lnTo>
                    <a:pt x="4127246" y="151638"/>
                  </a:lnTo>
                  <a:close/>
                </a:path>
                <a:path w="5242559" h="285114">
                  <a:moveTo>
                    <a:pt x="4241673" y="151638"/>
                  </a:moveTo>
                  <a:lnTo>
                    <a:pt x="4240174" y="144221"/>
                  </a:lnTo>
                  <a:lnTo>
                    <a:pt x="4236097" y="138163"/>
                  </a:lnTo>
                  <a:lnTo>
                    <a:pt x="4230040" y="134086"/>
                  </a:lnTo>
                  <a:lnTo>
                    <a:pt x="4222623" y="132588"/>
                  </a:lnTo>
                  <a:lnTo>
                    <a:pt x="4222496" y="132588"/>
                  </a:lnTo>
                  <a:lnTo>
                    <a:pt x="4215117" y="134086"/>
                  </a:lnTo>
                  <a:lnTo>
                    <a:pt x="4209059" y="138163"/>
                  </a:lnTo>
                  <a:lnTo>
                    <a:pt x="4204957" y="144221"/>
                  </a:lnTo>
                  <a:lnTo>
                    <a:pt x="4203446" y="151638"/>
                  </a:lnTo>
                  <a:lnTo>
                    <a:pt x="4204957" y="159067"/>
                  </a:lnTo>
                  <a:lnTo>
                    <a:pt x="4209059" y="165125"/>
                  </a:lnTo>
                  <a:lnTo>
                    <a:pt x="4215117" y="169202"/>
                  </a:lnTo>
                  <a:lnTo>
                    <a:pt x="4222496" y="170688"/>
                  </a:lnTo>
                  <a:lnTo>
                    <a:pt x="4222623" y="170688"/>
                  </a:lnTo>
                  <a:lnTo>
                    <a:pt x="4230040" y="169202"/>
                  </a:lnTo>
                  <a:lnTo>
                    <a:pt x="4236097" y="165125"/>
                  </a:lnTo>
                  <a:lnTo>
                    <a:pt x="4240174" y="159067"/>
                  </a:lnTo>
                  <a:lnTo>
                    <a:pt x="4241673" y="151638"/>
                  </a:lnTo>
                  <a:close/>
                </a:path>
                <a:path w="5242559" h="285114">
                  <a:moveTo>
                    <a:pt x="4355973" y="151638"/>
                  </a:moveTo>
                  <a:lnTo>
                    <a:pt x="4354474" y="144221"/>
                  </a:lnTo>
                  <a:lnTo>
                    <a:pt x="4350397" y="138163"/>
                  </a:lnTo>
                  <a:lnTo>
                    <a:pt x="4344340" y="134086"/>
                  </a:lnTo>
                  <a:lnTo>
                    <a:pt x="4336923" y="132588"/>
                  </a:lnTo>
                  <a:lnTo>
                    <a:pt x="4329493" y="134086"/>
                  </a:lnTo>
                  <a:lnTo>
                    <a:pt x="4323435" y="138163"/>
                  </a:lnTo>
                  <a:lnTo>
                    <a:pt x="4319359" y="144221"/>
                  </a:lnTo>
                  <a:lnTo>
                    <a:pt x="4317873" y="151638"/>
                  </a:lnTo>
                  <a:lnTo>
                    <a:pt x="4319359" y="159067"/>
                  </a:lnTo>
                  <a:lnTo>
                    <a:pt x="4323435" y="165125"/>
                  </a:lnTo>
                  <a:lnTo>
                    <a:pt x="4329493" y="169202"/>
                  </a:lnTo>
                  <a:lnTo>
                    <a:pt x="4336923" y="170688"/>
                  </a:lnTo>
                  <a:lnTo>
                    <a:pt x="4344340" y="169202"/>
                  </a:lnTo>
                  <a:lnTo>
                    <a:pt x="4350397" y="165125"/>
                  </a:lnTo>
                  <a:lnTo>
                    <a:pt x="4354474" y="159067"/>
                  </a:lnTo>
                  <a:lnTo>
                    <a:pt x="4355973" y="151638"/>
                  </a:lnTo>
                  <a:close/>
                </a:path>
                <a:path w="5242559" h="285114">
                  <a:moveTo>
                    <a:pt x="4470273" y="151638"/>
                  </a:moveTo>
                  <a:lnTo>
                    <a:pt x="4468774" y="144221"/>
                  </a:lnTo>
                  <a:lnTo>
                    <a:pt x="4464697" y="138163"/>
                  </a:lnTo>
                  <a:lnTo>
                    <a:pt x="4458640" y="134086"/>
                  </a:lnTo>
                  <a:lnTo>
                    <a:pt x="4451223" y="132588"/>
                  </a:lnTo>
                  <a:lnTo>
                    <a:pt x="4443793" y="134086"/>
                  </a:lnTo>
                  <a:lnTo>
                    <a:pt x="4437735" y="138163"/>
                  </a:lnTo>
                  <a:lnTo>
                    <a:pt x="4433659" y="144221"/>
                  </a:lnTo>
                  <a:lnTo>
                    <a:pt x="4432173" y="151638"/>
                  </a:lnTo>
                  <a:lnTo>
                    <a:pt x="4433659" y="159067"/>
                  </a:lnTo>
                  <a:lnTo>
                    <a:pt x="4437735" y="165125"/>
                  </a:lnTo>
                  <a:lnTo>
                    <a:pt x="4443793" y="169202"/>
                  </a:lnTo>
                  <a:lnTo>
                    <a:pt x="4451223" y="170688"/>
                  </a:lnTo>
                  <a:lnTo>
                    <a:pt x="4458640" y="169202"/>
                  </a:lnTo>
                  <a:lnTo>
                    <a:pt x="4464697" y="165125"/>
                  </a:lnTo>
                  <a:lnTo>
                    <a:pt x="4468774" y="159067"/>
                  </a:lnTo>
                  <a:lnTo>
                    <a:pt x="4470273" y="151638"/>
                  </a:lnTo>
                  <a:close/>
                </a:path>
                <a:path w="5242559" h="285114">
                  <a:moveTo>
                    <a:pt x="4584700" y="151638"/>
                  </a:moveTo>
                  <a:lnTo>
                    <a:pt x="4583176" y="144221"/>
                  </a:lnTo>
                  <a:lnTo>
                    <a:pt x="4579074" y="138163"/>
                  </a:lnTo>
                  <a:lnTo>
                    <a:pt x="4573016" y="134086"/>
                  </a:lnTo>
                  <a:lnTo>
                    <a:pt x="4565650" y="132588"/>
                  </a:lnTo>
                  <a:lnTo>
                    <a:pt x="4565523" y="132588"/>
                  </a:lnTo>
                  <a:lnTo>
                    <a:pt x="4558093" y="134086"/>
                  </a:lnTo>
                  <a:lnTo>
                    <a:pt x="4552035" y="138163"/>
                  </a:lnTo>
                  <a:lnTo>
                    <a:pt x="4547959" y="144221"/>
                  </a:lnTo>
                  <a:lnTo>
                    <a:pt x="4546473" y="151638"/>
                  </a:lnTo>
                  <a:lnTo>
                    <a:pt x="4547959" y="159067"/>
                  </a:lnTo>
                  <a:lnTo>
                    <a:pt x="4552035" y="165125"/>
                  </a:lnTo>
                  <a:lnTo>
                    <a:pt x="4558093" y="169202"/>
                  </a:lnTo>
                  <a:lnTo>
                    <a:pt x="4565523" y="170688"/>
                  </a:lnTo>
                  <a:lnTo>
                    <a:pt x="4565650" y="170688"/>
                  </a:lnTo>
                  <a:lnTo>
                    <a:pt x="4573016" y="169202"/>
                  </a:lnTo>
                  <a:lnTo>
                    <a:pt x="4579074" y="165125"/>
                  </a:lnTo>
                  <a:lnTo>
                    <a:pt x="4583176" y="159067"/>
                  </a:lnTo>
                  <a:lnTo>
                    <a:pt x="4584700" y="151638"/>
                  </a:lnTo>
                  <a:close/>
                </a:path>
                <a:path w="5242559" h="285114">
                  <a:moveTo>
                    <a:pt x="4699000" y="151638"/>
                  </a:moveTo>
                  <a:lnTo>
                    <a:pt x="4697501" y="144221"/>
                  </a:lnTo>
                  <a:lnTo>
                    <a:pt x="4693424" y="138163"/>
                  </a:lnTo>
                  <a:lnTo>
                    <a:pt x="4687367" y="134086"/>
                  </a:lnTo>
                  <a:lnTo>
                    <a:pt x="4679950" y="132588"/>
                  </a:lnTo>
                  <a:lnTo>
                    <a:pt x="4672520" y="134086"/>
                  </a:lnTo>
                  <a:lnTo>
                    <a:pt x="4666462" y="138163"/>
                  </a:lnTo>
                  <a:lnTo>
                    <a:pt x="4662386" y="144221"/>
                  </a:lnTo>
                  <a:lnTo>
                    <a:pt x="4660900" y="151638"/>
                  </a:lnTo>
                  <a:lnTo>
                    <a:pt x="4662386" y="159067"/>
                  </a:lnTo>
                  <a:lnTo>
                    <a:pt x="4666462" y="165125"/>
                  </a:lnTo>
                  <a:lnTo>
                    <a:pt x="4672520" y="169202"/>
                  </a:lnTo>
                  <a:lnTo>
                    <a:pt x="4679950" y="170688"/>
                  </a:lnTo>
                  <a:lnTo>
                    <a:pt x="4687367" y="169202"/>
                  </a:lnTo>
                  <a:lnTo>
                    <a:pt x="4693424" y="165125"/>
                  </a:lnTo>
                  <a:lnTo>
                    <a:pt x="4697501" y="159067"/>
                  </a:lnTo>
                  <a:lnTo>
                    <a:pt x="4699000" y="151638"/>
                  </a:lnTo>
                  <a:close/>
                </a:path>
                <a:path w="5242559" h="285114">
                  <a:moveTo>
                    <a:pt x="4813300" y="151638"/>
                  </a:moveTo>
                  <a:lnTo>
                    <a:pt x="4811801" y="144221"/>
                  </a:lnTo>
                  <a:lnTo>
                    <a:pt x="4807724" y="138163"/>
                  </a:lnTo>
                  <a:lnTo>
                    <a:pt x="4801667" y="134086"/>
                  </a:lnTo>
                  <a:lnTo>
                    <a:pt x="4794250" y="132588"/>
                  </a:lnTo>
                  <a:lnTo>
                    <a:pt x="4786820" y="134086"/>
                  </a:lnTo>
                  <a:lnTo>
                    <a:pt x="4780762" y="138163"/>
                  </a:lnTo>
                  <a:lnTo>
                    <a:pt x="4776686" y="144221"/>
                  </a:lnTo>
                  <a:lnTo>
                    <a:pt x="4775200" y="151638"/>
                  </a:lnTo>
                  <a:lnTo>
                    <a:pt x="4776686" y="159067"/>
                  </a:lnTo>
                  <a:lnTo>
                    <a:pt x="4780762" y="165125"/>
                  </a:lnTo>
                  <a:lnTo>
                    <a:pt x="4786820" y="169202"/>
                  </a:lnTo>
                  <a:lnTo>
                    <a:pt x="4794250" y="170688"/>
                  </a:lnTo>
                  <a:lnTo>
                    <a:pt x="4801667" y="169202"/>
                  </a:lnTo>
                  <a:lnTo>
                    <a:pt x="4807724" y="165125"/>
                  </a:lnTo>
                  <a:lnTo>
                    <a:pt x="4811801" y="159067"/>
                  </a:lnTo>
                  <a:lnTo>
                    <a:pt x="4813300" y="151638"/>
                  </a:lnTo>
                  <a:close/>
                </a:path>
                <a:path w="5242559" h="285114">
                  <a:moveTo>
                    <a:pt x="4927600" y="151638"/>
                  </a:moveTo>
                  <a:lnTo>
                    <a:pt x="4926101" y="144221"/>
                  </a:lnTo>
                  <a:lnTo>
                    <a:pt x="4922024" y="138163"/>
                  </a:lnTo>
                  <a:lnTo>
                    <a:pt x="4915967" y="134086"/>
                  </a:lnTo>
                  <a:lnTo>
                    <a:pt x="4908550" y="132588"/>
                  </a:lnTo>
                  <a:lnTo>
                    <a:pt x="4901120" y="134086"/>
                  </a:lnTo>
                  <a:lnTo>
                    <a:pt x="4895062" y="138163"/>
                  </a:lnTo>
                  <a:lnTo>
                    <a:pt x="4890986" y="144221"/>
                  </a:lnTo>
                  <a:lnTo>
                    <a:pt x="4889500" y="151638"/>
                  </a:lnTo>
                  <a:lnTo>
                    <a:pt x="4890986" y="159067"/>
                  </a:lnTo>
                  <a:lnTo>
                    <a:pt x="4895062" y="165125"/>
                  </a:lnTo>
                  <a:lnTo>
                    <a:pt x="4901120" y="169202"/>
                  </a:lnTo>
                  <a:lnTo>
                    <a:pt x="4908550" y="170688"/>
                  </a:lnTo>
                  <a:lnTo>
                    <a:pt x="4915967" y="169202"/>
                  </a:lnTo>
                  <a:lnTo>
                    <a:pt x="4922024" y="165125"/>
                  </a:lnTo>
                  <a:lnTo>
                    <a:pt x="4926101" y="159067"/>
                  </a:lnTo>
                  <a:lnTo>
                    <a:pt x="4927600" y="151638"/>
                  </a:lnTo>
                  <a:close/>
                </a:path>
                <a:path w="5242559" h="285114">
                  <a:moveTo>
                    <a:pt x="5042027" y="151638"/>
                  </a:moveTo>
                  <a:lnTo>
                    <a:pt x="5040528" y="144221"/>
                  </a:lnTo>
                  <a:lnTo>
                    <a:pt x="5036451" y="138163"/>
                  </a:lnTo>
                  <a:lnTo>
                    <a:pt x="5030394" y="134086"/>
                  </a:lnTo>
                  <a:lnTo>
                    <a:pt x="5022977" y="132588"/>
                  </a:lnTo>
                  <a:lnTo>
                    <a:pt x="5022850" y="132588"/>
                  </a:lnTo>
                  <a:lnTo>
                    <a:pt x="5015471" y="134086"/>
                  </a:lnTo>
                  <a:lnTo>
                    <a:pt x="5009413" y="138163"/>
                  </a:lnTo>
                  <a:lnTo>
                    <a:pt x="5005311" y="144221"/>
                  </a:lnTo>
                  <a:lnTo>
                    <a:pt x="5003800" y="151638"/>
                  </a:lnTo>
                  <a:lnTo>
                    <a:pt x="5005311" y="159067"/>
                  </a:lnTo>
                  <a:lnTo>
                    <a:pt x="5009413" y="165125"/>
                  </a:lnTo>
                  <a:lnTo>
                    <a:pt x="5015471" y="169202"/>
                  </a:lnTo>
                  <a:lnTo>
                    <a:pt x="5022850" y="170688"/>
                  </a:lnTo>
                  <a:lnTo>
                    <a:pt x="5022977" y="170688"/>
                  </a:lnTo>
                  <a:lnTo>
                    <a:pt x="5030394" y="169202"/>
                  </a:lnTo>
                  <a:lnTo>
                    <a:pt x="5036451" y="165125"/>
                  </a:lnTo>
                  <a:lnTo>
                    <a:pt x="5040528" y="159067"/>
                  </a:lnTo>
                  <a:lnTo>
                    <a:pt x="5042027" y="151638"/>
                  </a:lnTo>
                  <a:close/>
                </a:path>
                <a:path w="5242559" h="285114">
                  <a:moveTo>
                    <a:pt x="5242560" y="38862"/>
                  </a:moveTo>
                  <a:lnTo>
                    <a:pt x="5239499" y="23736"/>
                  </a:lnTo>
                  <a:lnTo>
                    <a:pt x="5231168" y="11391"/>
                  </a:lnTo>
                  <a:lnTo>
                    <a:pt x="5218823" y="3060"/>
                  </a:lnTo>
                  <a:lnTo>
                    <a:pt x="5203698" y="0"/>
                  </a:lnTo>
                  <a:lnTo>
                    <a:pt x="5188559" y="3060"/>
                  </a:lnTo>
                  <a:lnTo>
                    <a:pt x="5176215" y="11391"/>
                  </a:lnTo>
                  <a:lnTo>
                    <a:pt x="5167884" y="23736"/>
                  </a:lnTo>
                  <a:lnTo>
                    <a:pt x="5164836" y="38862"/>
                  </a:lnTo>
                  <a:lnTo>
                    <a:pt x="5167884" y="54000"/>
                  </a:lnTo>
                  <a:lnTo>
                    <a:pt x="5176215" y="66344"/>
                  </a:lnTo>
                  <a:lnTo>
                    <a:pt x="5188559" y="74676"/>
                  </a:lnTo>
                  <a:lnTo>
                    <a:pt x="5190744" y="75120"/>
                  </a:lnTo>
                  <a:lnTo>
                    <a:pt x="5190744" y="145161"/>
                  </a:lnTo>
                  <a:lnTo>
                    <a:pt x="5089398" y="94488"/>
                  </a:lnTo>
                  <a:lnTo>
                    <a:pt x="5089398" y="208788"/>
                  </a:lnTo>
                  <a:lnTo>
                    <a:pt x="5190744" y="158115"/>
                  </a:lnTo>
                  <a:lnTo>
                    <a:pt x="5190744" y="199212"/>
                  </a:lnTo>
                  <a:lnTo>
                    <a:pt x="5188559" y="199656"/>
                  </a:lnTo>
                  <a:lnTo>
                    <a:pt x="5176215" y="207987"/>
                  </a:lnTo>
                  <a:lnTo>
                    <a:pt x="5167884" y="220332"/>
                  </a:lnTo>
                  <a:lnTo>
                    <a:pt x="5164836" y="235458"/>
                  </a:lnTo>
                  <a:lnTo>
                    <a:pt x="5167884" y="250596"/>
                  </a:lnTo>
                  <a:lnTo>
                    <a:pt x="5176215" y="262940"/>
                  </a:lnTo>
                  <a:lnTo>
                    <a:pt x="5188559" y="271272"/>
                  </a:lnTo>
                  <a:lnTo>
                    <a:pt x="5203698" y="274320"/>
                  </a:lnTo>
                  <a:lnTo>
                    <a:pt x="5218823" y="271272"/>
                  </a:lnTo>
                  <a:lnTo>
                    <a:pt x="5231168" y="262940"/>
                  </a:lnTo>
                  <a:lnTo>
                    <a:pt x="5239499" y="250596"/>
                  </a:lnTo>
                  <a:lnTo>
                    <a:pt x="5242560" y="235458"/>
                  </a:lnTo>
                  <a:lnTo>
                    <a:pt x="5239499" y="220332"/>
                  </a:lnTo>
                  <a:lnTo>
                    <a:pt x="5231168" y="207987"/>
                  </a:lnTo>
                  <a:lnTo>
                    <a:pt x="5218823" y="199656"/>
                  </a:lnTo>
                  <a:lnTo>
                    <a:pt x="5216652" y="199212"/>
                  </a:lnTo>
                  <a:lnTo>
                    <a:pt x="5216652" y="196596"/>
                  </a:lnTo>
                  <a:lnTo>
                    <a:pt x="5216652" y="77724"/>
                  </a:lnTo>
                  <a:lnTo>
                    <a:pt x="5216652" y="75120"/>
                  </a:lnTo>
                  <a:lnTo>
                    <a:pt x="5218823" y="74676"/>
                  </a:lnTo>
                  <a:lnTo>
                    <a:pt x="5231168" y="66344"/>
                  </a:lnTo>
                  <a:lnTo>
                    <a:pt x="5239499" y="54000"/>
                  </a:lnTo>
                  <a:lnTo>
                    <a:pt x="5242560" y="3886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295400" y="4777740"/>
            <a:ext cx="4351020" cy="318770"/>
            <a:chOff x="1295400" y="4777740"/>
            <a:chExt cx="4351020" cy="318770"/>
          </a:xfrm>
        </p:grpSpPr>
        <p:sp>
          <p:nvSpPr>
            <p:cNvPr id="29" name="object 29"/>
            <p:cNvSpPr/>
            <p:nvPr/>
          </p:nvSpPr>
          <p:spPr>
            <a:xfrm>
              <a:off x="1295400" y="4779264"/>
              <a:ext cx="2670048" cy="3169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96867" y="4777740"/>
              <a:ext cx="1749552" cy="3185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5715000" y="4779264"/>
            <a:ext cx="999744" cy="3169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882520" y="4854955"/>
            <a:ext cx="8274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1D1D1A"/>
                </a:solidFill>
                <a:latin typeface="Arial"/>
                <a:cs typeface="Arial"/>
              </a:rPr>
              <a:t>Consumer</a:t>
            </a:r>
            <a:r>
              <a:rPr sz="800" spc="-3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800" spc="-15" dirty="0">
                <a:solidFill>
                  <a:srgbClr val="1D1D1A"/>
                </a:solidFill>
                <a:latin typeface="Arial"/>
                <a:cs typeface="Arial"/>
              </a:rPr>
              <a:t>Device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88589" y="4498975"/>
            <a:ext cx="1374140" cy="504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61009">
              <a:lnSpc>
                <a:spcPct val="100000"/>
              </a:lnSpc>
              <a:spcBef>
                <a:spcPts val="114"/>
              </a:spcBef>
            </a:pPr>
            <a:r>
              <a:rPr sz="1050" spc="35" dirty="0">
                <a:solidFill>
                  <a:srgbClr val="1D1D1A"/>
                </a:solidFill>
                <a:latin typeface="Arial"/>
                <a:cs typeface="Arial"/>
              </a:rPr>
              <a:t>All</a:t>
            </a:r>
            <a:r>
              <a:rPr sz="1050" spc="1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050" spc="-15" dirty="0">
                <a:solidFill>
                  <a:srgbClr val="1D1D1A"/>
                </a:solidFill>
                <a:latin typeface="Arial"/>
                <a:cs typeface="Arial"/>
              </a:rPr>
              <a:t>Scenarios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45490" algn="l"/>
              </a:tabLst>
            </a:pPr>
            <a:r>
              <a:rPr sz="800" spc="-5" dirty="0">
                <a:solidFill>
                  <a:srgbClr val="1D1D1A"/>
                </a:solidFill>
                <a:latin typeface="Arial"/>
                <a:cs typeface="Arial"/>
              </a:rPr>
              <a:t>Public</a:t>
            </a:r>
            <a:r>
              <a:rPr sz="800" spc="1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D1D1A"/>
                </a:solidFill>
                <a:latin typeface="Arial"/>
                <a:cs typeface="Arial"/>
              </a:rPr>
              <a:t>Cloud	</a:t>
            </a:r>
            <a:r>
              <a:rPr sz="800" spc="-5" dirty="0">
                <a:solidFill>
                  <a:srgbClr val="1D1D1A"/>
                </a:solidFill>
                <a:latin typeface="Arial"/>
                <a:cs typeface="Arial"/>
              </a:rPr>
              <a:t>Private</a:t>
            </a:r>
            <a:r>
              <a:rPr sz="800" spc="-3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D1D1A"/>
                </a:solidFill>
                <a:latin typeface="Arial"/>
                <a:cs typeface="Arial"/>
              </a:rPr>
              <a:t>Cloud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34303" y="4854955"/>
            <a:ext cx="9709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1D1D1A"/>
                </a:solidFill>
                <a:latin typeface="Arial"/>
                <a:cs typeface="Arial"/>
              </a:rPr>
              <a:t>Industrial </a:t>
            </a:r>
            <a:r>
              <a:rPr sz="800" spc="-5" dirty="0">
                <a:solidFill>
                  <a:srgbClr val="1D1D1A"/>
                </a:solidFill>
                <a:latin typeface="Arial"/>
                <a:cs typeface="Arial"/>
              </a:rPr>
              <a:t>IoT</a:t>
            </a:r>
            <a:r>
              <a:rPr sz="800" spc="-4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800" spc="-15" dirty="0">
                <a:solidFill>
                  <a:srgbClr val="1D1D1A"/>
                </a:solidFill>
                <a:latin typeface="Arial"/>
                <a:cs typeface="Arial"/>
              </a:rPr>
              <a:t>Device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76342" y="4854955"/>
            <a:ext cx="7969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1D1D1A"/>
                </a:solidFill>
                <a:latin typeface="Arial"/>
                <a:cs typeface="Arial"/>
              </a:rPr>
              <a:t>Edge</a:t>
            </a:r>
            <a:r>
              <a:rPr sz="800" spc="-4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1D1D1A"/>
                </a:solidFill>
                <a:latin typeface="Arial"/>
                <a:cs typeface="Arial"/>
              </a:rPr>
              <a:t>Computing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095755" y="1438655"/>
            <a:ext cx="5564505" cy="1879600"/>
            <a:chOff x="1095755" y="1438655"/>
            <a:chExt cx="5564505" cy="1879600"/>
          </a:xfrm>
        </p:grpSpPr>
        <p:sp>
          <p:nvSpPr>
            <p:cNvPr id="37" name="object 37"/>
            <p:cNvSpPr/>
            <p:nvPr/>
          </p:nvSpPr>
          <p:spPr>
            <a:xfrm>
              <a:off x="1501139" y="1473707"/>
              <a:ext cx="5158740" cy="18440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95755" y="1438655"/>
              <a:ext cx="342900" cy="78105"/>
            </a:xfrm>
            <a:custGeom>
              <a:avLst/>
              <a:gdLst/>
              <a:ahLst/>
              <a:cxnLst/>
              <a:rect l="l" t="t" r="r" b="b"/>
              <a:pathLst>
                <a:path w="342900" h="78105">
                  <a:moveTo>
                    <a:pt x="38862" y="0"/>
                  </a:moveTo>
                  <a:lnTo>
                    <a:pt x="23735" y="3053"/>
                  </a:lnTo>
                  <a:lnTo>
                    <a:pt x="11382" y="11382"/>
                  </a:lnTo>
                  <a:lnTo>
                    <a:pt x="3053" y="23735"/>
                  </a:lnTo>
                  <a:lnTo>
                    <a:pt x="0" y="38862"/>
                  </a:lnTo>
                  <a:lnTo>
                    <a:pt x="3053" y="53988"/>
                  </a:lnTo>
                  <a:lnTo>
                    <a:pt x="11382" y="66341"/>
                  </a:lnTo>
                  <a:lnTo>
                    <a:pt x="23735" y="74670"/>
                  </a:lnTo>
                  <a:lnTo>
                    <a:pt x="38862" y="77724"/>
                  </a:lnTo>
                  <a:lnTo>
                    <a:pt x="53988" y="74670"/>
                  </a:lnTo>
                  <a:lnTo>
                    <a:pt x="66341" y="66341"/>
                  </a:lnTo>
                  <a:lnTo>
                    <a:pt x="74670" y="53988"/>
                  </a:lnTo>
                  <a:lnTo>
                    <a:pt x="75108" y="51816"/>
                  </a:lnTo>
                  <a:lnTo>
                    <a:pt x="38862" y="51816"/>
                  </a:lnTo>
                  <a:lnTo>
                    <a:pt x="38862" y="25908"/>
                  </a:lnTo>
                  <a:lnTo>
                    <a:pt x="75108" y="25908"/>
                  </a:lnTo>
                  <a:lnTo>
                    <a:pt x="74670" y="23735"/>
                  </a:lnTo>
                  <a:lnTo>
                    <a:pt x="66341" y="11382"/>
                  </a:lnTo>
                  <a:lnTo>
                    <a:pt x="53988" y="3053"/>
                  </a:lnTo>
                  <a:lnTo>
                    <a:pt x="38862" y="0"/>
                  </a:lnTo>
                  <a:close/>
                </a:path>
                <a:path w="342900" h="78105">
                  <a:moveTo>
                    <a:pt x="304038" y="0"/>
                  </a:moveTo>
                  <a:lnTo>
                    <a:pt x="288911" y="3053"/>
                  </a:lnTo>
                  <a:lnTo>
                    <a:pt x="276558" y="11382"/>
                  </a:lnTo>
                  <a:lnTo>
                    <a:pt x="268229" y="23735"/>
                  </a:lnTo>
                  <a:lnTo>
                    <a:pt x="265175" y="38862"/>
                  </a:lnTo>
                  <a:lnTo>
                    <a:pt x="268229" y="53988"/>
                  </a:lnTo>
                  <a:lnTo>
                    <a:pt x="276558" y="66341"/>
                  </a:lnTo>
                  <a:lnTo>
                    <a:pt x="288911" y="74670"/>
                  </a:lnTo>
                  <a:lnTo>
                    <a:pt x="304038" y="77724"/>
                  </a:lnTo>
                  <a:lnTo>
                    <a:pt x="319164" y="74670"/>
                  </a:lnTo>
                  <a:lnTo>
                    <a:pt x="331517" y="66341"/>
                  </a:lnTo>
                  <a:lnTo>
                    <a:pt x="339846" y="53988"/>
                  </a:lnTo>
                  <a:lnTo>
                    <a:pt x="340284" y="51816"/>
                  </a:lnTo>
                  <a:lnTo>
                    <a:pt x="304038" y="51816"/>
                  </a:lnTo>
                  <a:lnTo>
                    <a:pt x="304038" y="25908"/>
                  </a:lnTo>
                  <a:lnTo>
                    <a:pt x="340284" y="25908"/>
                  </a:lnTo>
                  <a:lnTo>
                    <a:pt x="339846" y="23735"/>
                  </a:lnTo>
                  <a:lnTo>
                    <a:pt x="331517" y="11382"/>
                  </a:lnTo>
                  <a:lnTo>
                    <a:pt x="319164" y="3053"/>
                  </a:lnTo>
                  <a:lnTo>
                    <a:pt x="304038" y="0"/>
                  </a:lnTo>
                  <a:close/>
                </a:path>
                <a:path w="342900" h="78105">
                  <a:moveTo>
                    <a:pt x="75108" y="25908"/>
                  </a:moveTo>
                  <a:lnTo>
                    <a:pt x="38862" y="25908"/>
                  </a:lnTo>
                  <a:lnTo>
                    <a:pt x="38862" y="51816"/>
                  </a:lnTo>
                  <a:lnTo>
                    <a:pt x="75108" y="51816"/>
                  </a:lnTo>
                  <a:lnTo>
                    <a:pt x="77724" y="38862"/>
                  </a:lnTo>
                  <a:lnTo>
                    <a:pt x="75108" y="25908"/>
                  </a:lnTo>
                  <a:close/>
                </a:path>
                <a:path w="342900" h="78105">
                  <a:moveTo>
                    <a:pt x="267791" y="25908"/>
                  </a:moveTo>
                  <a:lnTo>
                    <a:pt x="75108" y="25908"/>
                  </a:lnTo>
                  <a:lnTo>
                    <a:pt x="77724" y="38862"/>
                  </a:lnTo>
                  <a:lnTo>
                    <a:pt x="75108" y="51816"/>
                  </a:lnTo>
                  <a:lnTo>
                    <a:pt x="267791" y="51816"/>
                  </a:lnTo>
                  <a:lnTo>
                    <a:pt x="265175" y="38862"/>
                  </a:lnTo>
                  <a:lnTo>
                    <a:pt x="267791" y="25908"/>
                  </a:lnTo>
                  <a:close/>
                </a:path>
                <a:path w="342900" h="78105">
                  <a:moveTo>
                    <a:pt x="340284" y="25908"/>
                  </a:moveTo>
                  <a:lnTo>
                    <a:pt x="304038" y="25908"/>
                  </a:lnTo>
                  <a:lnTo>
                    <a:pt x="304038" y="51816"/>
                  </a:lnTo>
                  <a:lnTo>
                    <a:pt x="340284" y="51816"/>
                  </a:lnTo>
                  <a:lnTo>
                    <a:pt x="342900" y="38862"/>
                  </a:lnTo>
                  <a:lnTo>
                    <a:pt x="340284" y="259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5954" y="2456814"/>
            <a:ext cx="69215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25" dirty="0">
                <a:solidFill>
                  <a:srgbClr val="1D1D1A"/>
                </a:solidFill>
                <a:latin typeface="Arial"/>
                <a:cs typeface="Arial"/>
              </a:rPr>
              <a:t>Full</a:t>
            </a:r>
            <a:r>
              <a:rPr sz="1150" spc="-1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1D1D1A"/>
                </a:solidFill>
                <a:latin typeface="Arial"/>
                <a:cs typeface="Arial"/>
              </a:rPr>
              <a:t>Stack</a:t>
            </a:r>
            <a:endParaRPr sz="115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217676" y="1480565"/>
            <a:ext cx="114300" cy="1836420"/>
          </a:xfrm>
          <a:custGeom>
            <a:avLst/>
            <a:gdLst/>
            <a:ahLst/>
            <a:cxnLst/>
            <a:rect l="l" t="t" r="r" b="b"/>
            <a:pathLst>
              <a:path w="114300" h="1836420">
                <a:moveTo>
                  <a:pt x="76200" y="1652143"/>
                </a:moveTo>
                <a:lnTo>
                  <a:pt x="74701" y="1644726"/>
                </a:lnTo>
                <a:lnTo>
                  <a:pt x="70624" y="1638668"/>
                </a:lnTo>
                <a:lnTo>
                  <a:pt x="64566" y="1634591"/>
                </a:lnTo>
                <a:lnTo>
                  <a:pt x="57150" y="1633093"/>
                </a:lnTo>
                <a:lnTo>
                  <a:pt x="49733" y="1634591"/>
                </a:lnTo>
                <a:lnTo>
                  <a:pt x="43675" y="1638668"/>
                </a:lnTo>
                <a:lnTo>
                  <a:pt x="39585" y="1644726"/>
                </a:lnTo>
                <a:lnTo>
                  <a:pt x="38100" y="1652143"/>
                </a:lnTo>
                <a:lnTo>
                  <a:pt x="39585" y="1659572"/>
                </a:lnTo>
                <a:lnTo>
                  <a:pt x="43675" y="1665630"/>
                </a:lnTo>
                <a:lnTo>
                  <a:pt x="49733" y="1669707"/>
                </a:lnTo>
                <a:lnTo>
                  <a:pt x="57150" y="1671193"/>
                </a:lnTo>
                <a:lnTo>
                  <a:pt x="64566" y="1669707"/>
                </a:lnTo>
                <a:lnTo>
                  <a:pt x="70624" y="1665630"/>
                </a:lnTo>
                <a:lnTo>
                  <a:pt x="74701" y="1659572"/>
                </a:lnTo>
                <a:lnTo>
                  <a:pt x="76200" y="1652143"/>
                </a:lnTo>
                <a:close/>
              </a:path>
              <a:path w="114300" h="1836420">
                <a:moveTo>
                  <a:pt x="76200" y="1537843"/>
                </a:moveTo>
                <a:lnTo>
                  <a:pt x="74701" y="1530426"/>
                </a:lnTo>
                <a:lnTo>
                  <a:pt x="70624" y="1524368"/>
                </a:lnTo>
                <a:lnTo>
                  <a:pt x="64566" y="1520291"/>
                </a:lnTo>
                <a:lnTo>
                  <a:pt x="57150" y="1518793"/>
                </a:lnTo>
                <a:lnTo>
                  <a:pt x="49733" y="1520291"/>
                </a:lnTo>
                <a:lnTo>
                  <a:pt x="43675" y="1524368"/>
                </a:lnTo>
                <a:lnTo>
                  <a:pt x="39585" y="1530426"/>
                </a:lnTo>
                <a:lnTo>
                  <a:pt x="38100" y="1537843"/>
                </a:lnTo>
                <a:lnTo>
                  <a:pt x="39585" y="1545272"/>
                </a:lnTo>
                <a:lnTo>
                  <a:pt x="43675" y="1551330"/>
                </a:lnTo>
                <a:lnTo>
                  <a:pt x="49733" y="1555407"/>
                </a:lnTo>
                <a:lnTo>
                  <a:pt x="57150" y="1556893"/>
                </a:lnTo>
                <a:lnTo>
                  <a:pt x="64566" y="1555407"/>
                </a:lnTo>
                <a:lnTo>
                  <a:pt x="70624" y="1551330"/>
                </a:lnTo>
                <a:lnTo>
                  <a:pt x="74701" y="1545272"/>
                </a:lnTo>
                <a:lnTo>
                  <a:pt x="76200" y="1537843"/>
                </a:lnTo>
                <a:close/>
              </a:path>
              <a:path w="114300" h="1836420">
                <a:moveTo>
                  <a:pt x="76200" y="1423416"/>
                </a:moveTo>
                <a:lnTo>
                  <a:pt x="74701" y="1415999"/>
                </a:lnTo>
                <a:lnTo>
                  <a:pt x="70624" y="1409941"/>
                </a:lnTo>
                <a:lnTo>
                  <a:pt x="64566" y="1405864"/>
                </a:lnTo>
                <a:lnTo>
                  <a:pt x="57150" y="1404366"/>
                </a:lnTo>
                <a:lnTo>
                  <a:pt x="49733" y="1405864"/>
                </a:lnTo>
                <a:lnTo>
                  <a:pt x="43675" y="1409941"/>
                </a:lnTo>
                <a:lnTo>
                  <a:pt x="39585" y="1415999"/>
                </a:lnTo>
                <a:lnTo>
                  <a:pt x="38100" y="1423416"/>
                </a:lnTo>
                <a:lnTo>
                  <a:pt x="38100" y="1423543"/>
                </a:lnTo>
                <a:lnTo>
                  <a:pt x="39585" y="1430921"/>
                </a:lnTo>
                <a:lnTo>
                  <a:pt x="43675" y="1436979"/>
                </a:lnTo>
                <a:lnTo>
                  <a:pt x="49733" y="1441081"/>
                </a:lnTo>
                <a:lnTo>
                  <a:pt x="57150" y="1442593"/>
                </a:lnTo>
                <a:lnTo>
                  <a:pt x="64566" y="1441081"/>
                </a:lnTo>
                <a:lnTo>
                  <a:pt x="70624" y="1436979"/>
                </a:lnTo>
                <a:lnTo>
                  <a:pt x="74701" y="1430921"/>
                </a:lnTo>
                <a:lnTo>
                  <a:pt x="76200" y="1423543"/>
                </a:lnTo>
                <a:lnTo>
                  <a:pt x="76200" y="1423416"/>
                </a:lnTo>
                <a:close/>
              </a:path>
              <a:path w="114300" h="1836420">
                <a:moveTo>
                  <a:pt x="76200" y="1309116"/>
                </a:moveTo>
                <a:lnTo>
                  <a:pt x="74701" y="1301699"/>
                </a:lnTo>
                <a:lnTo>
                  <a:pt x="70624" y="1295641"/>
                </a:lnTo>
                <a:lnTo>
                  <a:pt x="64566" y="1291564"/>
                </a:lnTo>
                <a:lnTo>
                  <a:pt x="57150" y="1290066"/>
                </a:lnTo>
                <a:lnTo>
                  <a:pt x="49733" y="1291564"/>
                </a:lnTo>
                <a:lnTo>
                  <a:pt x="43675" y="1295641"/>
                </a:lnTo>
                <a:lnTo>
                  <a:pt x="39585" y="1301699"/>
                </a:lnTo>
                <a:lnTo>
                  <a:pt x="38100" y="1309116"/>
                </a:lnTo>
                <a:lnTo>
                  <a:pt x="39585" y="1316545"/>
                </a:lnTo>
                <a:lnTo>
                  <a:pt x="43675" y="1322603"/>
                </a:lnTo>
                <a:lnTo>
                  <a:pt x="49733" y="1326680"/>
                </a:lnTo>
                <a:lnTo>
                  <a:pt x="57150" y="1328166"/>
                </a:lnTo>
                <a:lnTo>
                  <a:pt x="64566" y="1326680"/>
                </a:lnTo>
                <a:lnTo>
                  <a:pt x="70624" y="1322603"/>
                </a:lnTo>
                <a:lnTo>
                  <a:pt x="74701" y="1316545"/>
                </a:lnTo>
                <a:lnTo>
                  <a:pt x="76200" y="1309116"/>
                </a:lnTo>
                <a:close/>
              </a:path>
              <a:path w="114300" h="1836420">
                <a:moveTo>
                  <a:pt x="76200" y="646176"/>
                </a:moveTo>
                <a:lnTo>
                  <a:pt x="74701" y="638759"/>
                </a:lnTo>
                <a:lnTo>
                  <a:pt x="70624" y="632701"/>
                </a:lnTo>
                <a:lnTo>
                  <a:pt x="64566" y="628624"/>
                </a:lnTo>
                <a:lnTo>
                  <a:pt x="57150" y="627126"/>
                </a:lnTo>
                <a:lnTo>
                  <a:pt x="49733" y="628624"/>
                </a:lnTo>
                <a:lnTo>
                  <a:pt x="43675" y="632701"/>
                </a:lnTo>
                <a:lnTo>
                  <a:pt x="39585" y="638759"/>
                </a:lnTo>
                <a:lnTo>
                  <a:pt x="38100" y="646176"/>
                </a:lnTo>
                <a:lnTo>
                  <a:pt x="39585" y="653605"/>
                </a:lnTo>
                <a:lnTo>
                  <a:pt x="43675" y="659663"/>
                </a:lnTo>
                <a:lnTo>
                  <a:pt x="49733" y="663740"/>
                </a:lnTo>
                <a:lnTo>
                  <a:pt x="57150" y="665226"/>
                </a:lnTo>
                <a:lnTo>
                  <a:pt x="64566" y="663740"/>
                </a:lnTo>
                <a:lnTo>
                  <a:pt x="70624" y="659663"/>
                </a:lnTo>
                <a:lnTo>
                  <a:pt x="74701" y="653605"/>
                </a:lnTo>
                <a:lnTo>
                  <a:pt x="76200" y="646176"/>
                </a:lnTo>
                <a:close/>
              </a:path>
              <a:path w="114300" h="1836420">
                <a:moveTo>
                  <a:pt x="76200" y="531749"/>
                </a:moveTo>
                <a:lnTo>
                  <a:pt x="74701" y="524383"/>
                </a:lnTo>
                <a:lnTo>
                  <a:pt x="70624" y="518325"/>
                </a:lnTo>
                <a:lnTo>
                  <a:pt x="64566" y="514223"/>
                </a:lnTo>
                <a:lnTo>
                  <a:pt x="57150" y="512699"/>
                </a:lnTo>
                <a:lnTo>
                  <a:pt x="49733" y="514223"/>
                </a:lnTo>
                <a:lnTo>
                  <a:pt x="43675" y="518325"/>
                </a:lnTo>
                <a:lnTo>
                  <a:pt x="39585" y="524383"/>
                </a:lnTo>
                <a:lnTo>
                  <a:pt x="38100" y="531749"/>
                </a:lnTo>
                <a:lnTo>
                  <a:pt x="38100" y="531876"/>
                </a:lnTo>
                <a:lnTo>
                  <a:pt x="39585" y="539305"/>
                </a:lnTo>
                <a:lnTo>
                  <a:pt x="43675" y="545363"/>
                </a:lnTo>
                <a:lnTo>
                  <a:pt x="49733" y="549440"/>
                </a:lnTo>
                <a:lnTo>
                  <a:pt x="57150" y="550926"/>
                </a:lnTo>
                <a:lnTo>
                  <a:pt x="64566" y="549440"/>
                </a:lnTo>
                <a:lnTo>
                  <a:pt x="70624" y="545363"/>
                </a:lnTo>
                <a:lnTo>
                  <a:pt x="74701" y="539305"/>
                </a:lnTo>
                <a:lnTo>
                  <a:pt x="76200" y="531876"/>
                </a:lnTo>
                <a:lnTo>
                  <a:pt x="76200" y="531749"/>
                </a:lnTo>
                <a:close/>
              </a:path>
              <a:path w="114300" h="1836420">
                <a:moveTo>
                  <a:pt x="76200" y="417449"/>
                </a:moveTo>
                <a:lnTo>
                  <a:pt x="74701" y="410032"/>
                </a:lnTo>
                <a:lnTo>
                  <a:pt x="70624" y="403974"/>
                </a:lnTo>
                <a:lnTo>
                  <a:pt x="64566" y="399897"/>
                </a:lnTo>
                <a:lnTo>
                  <a:pt x="57150" y="398399"/>
                </a:lnTo>
                <a:lnTo>
                  <a:pt x="49733" y="399897"/>
                </a:lnTo>
                <a:lnTo>
                  <a:pt x="43675" y="403974"/>
                </a:lnTo>
                <a:lnTo>
                  <a:pt x="39585" y="410032"/>
                </a:lnTo>
                <a:lnTo>
                  <a:pt x="38100" y="417449"/>
                </a:lnTo>
                <a:lnTo>
                  <a:pt x="39585" y="424878"/>
                </a:lnTo>
                <a:lnTo>
                  <a:pt x="43675" y="430936"/>
                </a:lnTo>
                <a:lnTo>
                  <a:pt x="49733" y="435013"/>
                </a:lnTo>
                <a:lnTo>
                  <a:pt x="57150" y="436499"/>
                </a:lnTo>
                <a:lnTo>
                  <a:pt x="64566" y="435013"/>
                </a:lnTo>
                <a:lnTo>
                  <a:pt x="70624" y="430936"/>
                </a:lnTo>
                <a:lnTo>
                  <a:pt x="74701" y="424878"/>
                </a:lnTo>
                <a:lnTo>
                  <a:pt x="76200" y="417449"/>
                </a:lnTo>
                <a:close/>
              </a:path>
              <a:path w="114300" h="1836420">
                <a:moveTo>
                  <a:pt x="76200" y="303149"/>
                </a:moveTo>
                <a:lnTo>
                  <a:pt x="74701" y="295732"/>
                </a:lnTo>
                <a:lnTo>
                  <a:pt x="70624" y="289674"/>
                </a:lnTo>
                <a:lnTo>
                  <a:pt x="64566" y="285597"/>
                </a:lnTo>
                <a:lnTo>
                  <a:pt x="57150" y="284099"/>
                </a:lnTo>
                <a:lnTo>
                  <a:pt x="49733" y="285597"/>
                </a:lnTo>
                <a:lnTo>
                  <a:pt x="43675" y="289674"/>
                </a:lnTo>
                <a:lnTo>
                  <a:pt x="39585" y="295732"/>
                </a:lnTo>
                <a:lnTo>
                  <a:pt x="38100" y="303149"/>
                </a:lnTo>
                <a:lnTo>
                  <a:pt x="39585" y="310578"/>
                </a:lnTo>
                <a:lnTo>
                  <a:pt x="43675" y="316636"/>
                </a:lnTo>
                <a:lnTo>
                  <a:pt x="49733" y="320713"/>
                </a:lnTo>
                <a:lnTo>
                  <a:pt x="57150" y="322199"/>
                </a:lnTo>
                <a:lnTo>
                  <a:pt x="64566" y="320713"/>
                </a:lnTo>
                <a:lnTo>
                  <a:pt x="70624" y="316636"/>
                </a:lnTo>
                <a:lnTo>
                  <a:pt x="74701" y="310578"/>
                </a:lnTo>
                <a:lnTo>
                  <a:pt x="76200" y="303149"/>
                </a:lnTo>
                <a:close/>
              </a:path>
              <a:path w="114300" h="1836420">
                <a:moveTo>
                  <a:pt x="76200" y="188849"/>
                </a:moveTo>
                <a:lnTo>
                  <a:pt x="74701" y="181432"/>
                </a:lnTo>
                <a:lnTo>
                  <a:pt x="70624" y="175374"/>
                </a:lnTo>
                <a:lnTo>
                  <a:pt x="64566" y="171297"/>
                </a:lnTo>
                <a:lnTo>
                  <a:pt x="57150" y="169799"/>
                </a:lnTo>
                <a:lnTo>
                  <a:pt x="49733" y="171297"/>
                </a:lnTo>
                <a:lnTo>
                  <a:pt x="43675" y="175374"/>
                </a:lnTo>
                <a:lnTo>
                  <a:pt x="39585" y="181432"/>
                </a:lnTo>
                <a:lnTo>
                  <a:pt x="38100" y="188849"/>
                </a:lnTo>
                <a:lnTo>
                  <a:pt x="39585" y="196278"/>
                </a:lnTo>
                <a:lnTo>
                  <a:pt x="43675" y="202336"/>
                </a:lnTo>
                <a:lnTo>
                  <a:pt x="49733" y="206413"/>
                </a:lnTo>
                <a:lnTo>
                  <a:pt x="57150" y="207899"/>
                </a:lnTo>
                <a:lnTo>
                  <a:pt x="64566" y="206413"/>
                </a:lnTo>
                <a:lnTo>
                  <a:pt x="70624" y="202336"/>
                </a:lnTo>
                <a:lnTo>
                  <a:pt x="74701" y="196278"/>
                </a:lnTo>
                <a:lnTo>
                  <a:pt x="76200" y="188849"/>
                </a:lnTo>
                <a:close/>
              </a:path>
              <a:path w="114300" h="1836420">
                <a:moveTo>
                  <a:pt x="114300" y="1722120"/>
                </a:moveTo>
                <a:lnTo>
                  <a:pt x="0" y="1722120"/>
                </a:lnTo>
                <a:lnTo>
                  <a:pt x="57150" y="1836420"/>
                </a:lnTo>
                <a:lnTo>
                  <a:pt x="114300" y="1722120"/>
                </a:lnTo>
                <a:close/>
              </a:path>
              <a:path w="114300" h="1836420">
                <a:moveTo>
                  <a:pt x="114300" y="114300"/>
                </a:moveTo>
                <a:lnTo>
                  <a:pt x="57150" y="0"/>
                </a:lnTo>
                <a:lnTo>
                  <a:pt x="0" y="11430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814953" y="2456180"/>
            <a:ext cx="544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30" dirty="0">
                <a:solidFill>
                  <a:srgbClr val="EC6C00"/>
                </a:solidFill>
                <a:latin typeface="Arial"/>
                <a:cs typeface="Arial"/>
              </a:rPr>
              <a:t>C</a:t>
            </a:r>
            <a:r>
              <a:rPr sz="1400" b="1" spc="30" dirty="0">
                <a:solidFill>
                  <a:srgbClr val="EC6C00"/>
                </a:solidFill>
                <a:latin typeface="Arial"/>
                <a:cs typeface="Arial"/>
              </a:rPr>
              <a:t>AN</a:t>
            </a:r>
            <a:r>
              <a:rPr sz="1400" b="1" spc="95" dirty="0">
                <a:solidFill>
                  <a:srgbClr val="EC6C00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71646" y="2963926"/>
            <a:ext cx="6350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75" dirty="0">
                <a:solidFill>
                  <a:srgbClr val="EC6C00"/>
                </a:solidFill>
                <a:latin typeface="Arial"/>
                <a:cs typeface="Arial"/>
              </a:rPr>
              <a:t>Asc</a:t>
            </a:r>
            <a:r>
              <a:rPr sz="1400" b="1" spc="-60" dirty="0">
                <a:solidFill>
                  <a:srgbClr val="EC6C00"/>
                </a:solidFill>
                <a:latin typeface="Arial"/>
                <a:cs typeface="Arial"/>
              </a:rPr>
              <a:t>e</a:t>
            </a:r>
            <a:r>
              <a:rPr sz="1400" b="1" spc="20" dirty="0">
                <a:solidFill>
                  <a:srgbClr val="EC6C00"/>
                </a:solidFill>
                <a:latin typeface="Arial"/>
                <a:cs typeface="Arial"/>
              </a:rPr>
              <a:t>n</a:t>
            </a:r>
            <a:r>
              <a:rPr sz="1400" b="1" spc="-5" dirty="0">
                <a:solidFill>
                  <a:srgbClr val="EC6C00"/>
                </a:solidFill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38265" y="1518564"/>
            <a:ext cx="506730" cy="26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240">
              <a:lnSpc>
                <a:spcPct val="110000"/>
              </a:lnSpc>
              <a:spcBef>
                <a:spcPts val="100"/>
              </a:spcBef>
            </a:pPr>
            <a:r>
              <a:rPr sz="700" spc="-5" dirty="0">
                <a:solidFill>
                  <a:srgbClr val="1D1D1A"/>
                </a:solidFill>
                <a:latin typeface="Arial"/>
                <a:cs typeface="Arial"/>
              </a:rPr>
              <a:t>A</a:t>
            </a:r>
            <a:r>
              <a:rPr sz="700" spc="-10" dirty="0">
                <a:solidFill>
                  <a:srgbClr val="1D1D1A"/>
                </a:solidFill>
                <a:latin typeface="Arial"/>
                <a:cs typeface="Arial"/>
              </a:rPr>
              <a:t>p</a:t>
            </a:r>
            <a:r>
              <a:rPr sz="700" spc="5" dirty="0">
                <a:solidFill>
                  <a:srgbClr val="1D1D1A"/>
                </a:solidFill>
                <a:latin typeface="Arial"/>
                <a:cs typeface="Arial"/>
              </a:rPr>
              <a:t>p</a:t>
            </a:r>
            <a:r>
              <a:rPr sz="700" spc="25" dirty="0">
                <a:solidFill>
                  <a:srgbClr val="1D1D1A"/>
                </a:solidFill>
                <a:latin typeface="Arial"/>
                <a:cs typeface="Arial"/>
              </a:rPr>
              <a:t>li</a:t>
            </a:r>
            <a:r>
              <a:rPr sz="700" spc="-30" dirty="0">
                <a:solidFill>
                  <a:srgbClr val="1D1D1A"/>
                </a:solidFill>
                <a:latin typeface="Arial"/>
                <a:cs typeface="Arial"/>
              </a:rPr>
              <a:t>c</a:t>
            </a:r>
            <a:r>
              <a:rPr sz="700" spc="15" dirty="0">
                <a:solidFill>
                  <a:srgbClr val="1D1D1A"/>
                </a:solidFill>
                <a:latin typeface="Arial"/>
                <a:cs typeface="Arial"/>
              </a:rPr>
              <a:t>atio</a:t>
            </a:r>
            <a:r>
              <a:rPr sz="700" spc="10" dirty="0">
                <a:solidFill>
                  <a:srgbClr val="1D1D1A"/>
                </a:solidFill>
                <a:latin typeface="Arial"/>
                <a:cs typeface="Arial"/>
              </a:rPr>
              <a:t>n  </a:t>
            </a:r>
            <a:r>
              <a:rPr sz="700" spc="-90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dirty="0">
                <a:solidFill>
                  <a:srgbClr val="1D1D1A"/>
                </a:solidFill>
                <a:latin typeface="Arial"/>
                <a:cs typeface="Arial"/>
              </a:rPr>
              <a:t>nabl</a:t>
            </a:r>
            <a:r>
              <a:rPr sz="700" spc="10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spc="35" dirty="0">
                <a:solidFill>
                  <a:srgbClr val="1D1D1A"/>
                </a:solidFill>
                <a:latin typeface="Arial"/>
                <a:cs typeface="Arial"/>
              </a:rPr>
              <a:t>m</a:t>
            </a:r>
            <a:r>
              <a:rPr sz="700" spc="-25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spc="30" dirty="0">
                <a:solidFill>
                  <a:srgbClr val="1D1D1A"/>
                </a:solidFill>
                <a:latin typeface="Arial"/>
                <a:cs typeface="Arial"/>
              </a:rPr>
              <a:t>nt</a:t>
            </a:r>
            <a:endParaRPr sz="7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59855" y="2023998"/>
            <a:ext cx="4819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5" dirty="0">
                <a:solidFill>
                  <a:srgbClr val="1D1D1A"/>
                </a:solidFill>
                <a:latin typeface="Arial"/>
                <a:cs typeface="Arial"/>
              </a:rPr>
              <a:t>Framework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936107" y="2386101"/>
            <a:ext cx="506730" cy="26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0495">
              <a:lnSpc>
                <a:spcPct val="110000"/>
              </a:lnSpc>
              <a:spcBef>
                <a:spcPts val="100"/>
              </a:spcBef>
            </a:pPr>
            <a:r>
              <a:rPr sz="700" spc="-15" dirty="0">
                <a:solidFill>
                  <a:srgbClr val="1D1D1A"/>
                </a:solidFill>
                <a:latin typeface="Arial"/>
                <a:cs typeface="Arial"/>
              </a:rPr>
              <a:t>Chip  </a:t>
            </a:r>
            <a:r>
              <a:rPr sz="700" spc="-90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dirty="0">
                <a:solidFill>
                  <a:srgbClr val="1D1D1A"/>
                </a:solidFill>
                <a:latin typeface="Arial"/>
                <a:cs typeface="Arial"/>
              </a:rPr>
              <a:t>nabl</a:t>
            </a:r>
            <a:r>
              <a:rPr sz="700" spc="10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spc="35" dirty="0">
                <a:solidFill>
                  <a:srgbClr val="1D1D1A"/>
                </a:solidFill>
                <a:latin typeface="Arial"/>
                <a:cs typeface="Arial"/>
              </a:rPr>
              <a:t>m</a:t>
            </a:r>
            <a:r>
              <a:rPr sz="700" spc="-25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spc="30" dirty="0">
                <a:solidFill>
                  <a:srgbClr val="1D1D1A"/>
                </a:solidFill>
                <a:latin typeface="Arial"/>
                <a:cs typeface="Arial"/>
              </a:rPr>
              <a:t>nt</a:t>
            </a:r>
            <a:endParaRPr sz="7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64682" y="2930804"/>
            <a:ext cx="486409" cy="26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815">
              <a:lnSpc>
                <a:spcPct val="110000"/>
              </a:lnSpc>
              <a:spcBef>
                <a:spcPts val="100"/>
              </a:spcBef>
            </a:pPr>
            <a:r>
              <a:rPr sz="700" spc="-35" dirty="0">
                <a:solidFill>
                  <a:srgbClr val="1D1D1A"/>
                </a:solidFill>
                <a:latin typeface="Arial"/>
                <a:cs typeface="Arial"/>
              </a:rPr>
              <a:t>IP </a:t>
            </a:r>
            <a:r>
              <a:rPr sz="700" spc="30" dirty="0">
                <a:solidFill>
                  <a:srgbClr val="1D1D1A"/>
                </a:solidFill>
                <a:latin typeface="Arial"/>
                <a:cs typeface="Arial"/>
              </a:rPr>
              <a:t>&amp; </a:t>
            </a:r>
            <a:r>
              <a:rPr sz="700" spc="-15" dirty="0">
                <a:solidFill>
                  <a:srgbClr val="1D1D1A"/>
                </a:solidFill>
                <a:latin typeface="Arial"/>
                <a:cs typeface="Arial"/>
              </a:rPr>
              <a:t>Chip  </a:t>
            </a:r>
            <a:r>
              <a:rPr sz="700" spc="-35" dirty="0">
                <a:solidFill>
                  <a:srgbClr val="1D1D1A"/>
                </a:solidFill>
                <a:latin typeface="Arial"/>
                <a:cs typeface="Arial"/>
              </a:rPr>
              <a:t>IP </a:t>
            </a:r>
            <a:r>
              <a:rPr sz="700" dirty="0">
                <a:solidFill>
                  <a:srgbClr val="1D1D1A"/>
                </a:solidFill>
                <a:latin typeface="Arial"/>
                <a:cs typeface="Arial"/>
              </a:rPr>
              <a:t>and</a:t>
            </a:r>
            <a:r>
              <a:rPr sz="700" spc="1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700" spc="-15" dirty="0">
                <a:solidFill>
                  <a:srgbClr val="1D1D1A"/>
                </a:solidFill>
                <a:latin typeface="Arial"/>
                <a:cs typeface="Arial"/>
              </a:rPr>
              <a:t>Chip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107947" y="1441703"/>
            <a:ext cx="5617845" cy="1932939"/>
            <a:chOff x="1107947" y="1441703"/>
            <a:chExt cx="5617845" cy="1932939"/>
          </a:xfrm>
        </p:grpSpPr>
        <p:sp>
          <p:nvSpPr>
            <p:cNvPr id="48" name="object 48"/>
            <p:cNvSpPr/>
            <p:nvPr/>
          </p:nvSpPr>
          <p:spPr>
            <a:xfrm>
              <a:off x="1475231" y="1441703"/>
              <a:ext cx="5250180" cy="78105"/>
            </a:xfrm>
            <a:custGeom>
              <a:avLst/>
              <a:gdLst/>
              <a:ahLst/>
              <a:cxnLst/>
              <a:rect l="l" t="t" r="r" b="b"/>
              <a:pathLst>
                <a:path w="5250180" h="78105">
                  <a:moveTo>
                    <a:pt x="38862" y="0"/>
                  </a:moveTo>
                  <a:lnTo>
                    <a:pt x="23735" y="3053"/>
                  </a:lnTo>
                  <a:lnTo>
                    <a:pt x="11382" y="11382"/>
                  </a:lnTo>
                  <a:lnTo>
                    <a:pt x="3053" y="23735"/>
                  </a:lnTo>
                  <a:lnTo>
                    <a:pt x="0" y="38862"/>
                  </a:lnTo>
                  <a:lnTo>
                    <a:pt x="3053" y="53988"/>
                  </a:lnTo>
                  <a:lnTo>
                    <a:pt x="11382" y="66341"/>
                  </a:lnTo>
                  <a:lnTo>
                    <a:pt x="23735" y="74670"/>
                  </a:lnTo>
                  <a:lnTo>
                    <a:pt x="38862" y="77724"/>
                  </a:lnTo>
                  <a:lnTo>
                    <a:pt x="53988" y="74670"/>
                  </a:lnTo>
                  <a:lnTo>
                    <a:pt x="66341" y="66341"/>
                  </a:lnTo>
                  <a:lnTo>
                    <a:pt x="74670" y="53988"/>
                  </a:lnTo>
                  <a:lnTo>
                    <a:pt x="75108" y="51816"/>
                  </a:lnTo>
                  <a:lnTo>
                    <a:pt x="38862" y="51816"/>
                  </a:lnTo>
                  <a:lnTo>
                    <a:pt x="38862" y="25908"/>
                  </a:lnTo>
                  <a:lnTo>
                    <a:pt x="75108" y="25908"/>
                  </a:lnTo>
                  <a:lnTo>
                    <a:pt x="74670" y="23735"/>
                  </a:lnTo>
                  <a:lnTo>
                    <a:pt x="66341" y="11382"/>
                  </a:lnTo>
                  <a:lnTo>
                    <a:pt x="53988" y="3053"/>
                  </a:lnTo>
                  <a:lnTo>
                    <a:pt x="38862" y="0"/>
                  </a:lnTo>
                  <a:close/>
                </a:path>
                <a:path w="5250180" h="78105">
                  <a:moveTo>
                    <a:pt x="5211318" y="0"/>
                  </a:moveTo>
                  <a:lnTo>
                    <a:pt x="5196191" y="3053"/>
                  </a:lnTo>
                  <a:lnTo>
                    <a:pt x="5183838" y="11382"/>
                  </a:lnTo>
                  <a:lnTo>
                    <a:pt x="5175509" y="23735"/>
                  </a:lnTo>
                  <a:lnTo>
                    <a:pt x="5172456" y="38862"/>
                  </a:lnTo>
                  <a:lnTo>
                    <a:pt x="5175509" y="53988"/>
                  </a:lnTo>
                  <a:lnTo>
                    <a:pt x="5183838" y="66341"/>
                  </a:lnTo>
                  <a:lnTo>
                    <a:pt x="5196191" y="74670"/>
                  </a:lnTo>
                  <a:lnTo>
                    <a:pt x="5211318" y="77724"/>
                  </a:lnTo>
                  <a:lnTo>
                    <a:pt x="5226444" y="74670"/>
                  </a:lnTo>
                  <a:lnTo>
                    <a:pt x="5238797" y="66341"/>
                  </a:lnTo>
                  <a:lnTo>
                    <a:pt x="5247126" y="53988"/>
                  </a:lnTo>
                  <a:lnTo>
                    <a:pt x="5247564" y="51816"/>
                  </a:lnTo>
                  <a:lnTo>
                    <a:pt x="5211318" y="51816"/>
                  </a:lnTo>
                  <a:lnTo>
                    <a:pt x="5211318" y="25908"/>
                  </a:lnTo>
                  <a:lnTo>
                    <a:pt x="5247564" y="25908"/>
                  </a:lnTo>
                  <a:lnTo>
                    <a:pt x="5247126" y="23735"/>
                  </a:lnTo>
                  <a:lnTo>
                    <a:pt x="5238797" y="11382"/>
                  </a:lnTo>
                  <a:lnTo>
                    <a:pt x="5226444" y="3053"/>
                  </a:lnTo>
                  <a:lnTo>
                    <a:pt x="5211318" y="0"/>
                  </a:lnTo>
                  <a:close/>
                </a:path>
                <a:path w="5250180" h="78105">
                  <a:moveTo>
                    <a:pt x="75108" y="25908"/>
                  </a:moveTo>
                  <a:lnTo>
                    <a:pt x="38862" y="25908"/>
                  </a:lnTo>
                  <a:lnTo>
                    <a:pt x="38862" y="51816"/>
                  </a:lnTo>
                  <a:lnTo>
                    <a:pt x="75108" y="51816"/>
                  </a:lnTo>
                  <a:lnTo>
                    <a:pt x="77724" y="38862"/>
                  </a:lnTo>
                  <a:lnTo>
                    <a:pt x="75108" y="25908"/>
                  </a:lnTo>
                  <a:close/>
                </a:path>
                <a:path w="5250180" h="78105">
                  <a:moveTo>
                    <a:pt x="5175071" y="25908"/>
                  </a:moveTo>
                  <a:lnTo>
                    <a:pt x="75108" y="25908"/>
                  </a:lnTo>
                  <a:lnTo>
                    <a:pt x="77724" y="38862"/>
                  </a:lnTo>
                  <a:lnTo>
                    <a:pt x="75108" y="51816"/>
                  </a:lnTo>
                  <a:lnTo>
                    <a:pt x="5175071" y="51816"/>
                  </a:lnTo>
                  <a:lnTo>
                    <a:pt x="5172456" y="38862"/>
                  </a:lnTo>
                  <a:lnTo>
                    <a:pt x="5175071" y="25908"/>
                  </a:lnTo>
                  <a:close/>
                </a:path>
                <a:path w="5250180" h="78105">
                  <a:moveTo>
                    <a:pt x="5247564" y="25908"/>
                  </a:moveTo>
                  <a:lnTo>
                    <a:pt x="5211318" y="25908"/>
                  </a:lnTo>
                  <a:lnTo>
                    <a:pt x="5211318" y="51816"/>
                  </a:lnTo>
                  <a:lnTo>
                    <a:pt x="5247564" y="51816"/>
                  </a:lnTo>
                  <a:lnTo>
                    <a:pt x="5250180" y="38862"/>
                  </a:lnTo>
                  <a:lnTo>
                    <a:pt x="5247564" y="259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475232" y="1871471"/>
              <a:ext cx="5221605" cy="506095"/>
            </a:xfrm>
            <a:custGeom>
              <a:avLst/>
              <a:gdLst/>
              <a:ahLst/>
              <a:cxnLst/>
              <a:rect l="l" t="t" r="r" b="b"/>
              <a:pathLst>
                <a:path w="5221605" h="506094">
                  <a:moveTo>
                    <a:pt x="5215128" y="467106"/>
                  </a:moveTo>
                  <a:lnTo>
                    <a:pt x="5191391" y="431304"/>
                  </a:lnTo>
                  <a:lnTo>
                    <a:pt x="5176266" y="428244"/>
                  </a:lnTo>
                  <a:lnTo>
                    <a:pt x="5161127" y="431304"/>
                  </a:lnTo>
                  <a:lnTo>
                    <a:pt x="5148783" y="439635"/>
                  </a:lnTo>
                  <a:lnTo>
                    <a:pt x="5140452" y="451980"/>
                  </a:lnTo>
                  <a:lnTo>
                    <a:pt x="5140007" y="454152"/>
                  </a:lnTo>
                  <a:lnTo>
                    <a:pt x="75107" y="454152"/>
                  </a:lnTo>
                  <a:lnTo>
                    <a:pt x="74663" y="451980"/>
                  </a:lnTo>
                  <a:lnTo>
                    <a:pt x="66332" y="439635"/>
                  </a:lnTo>
                  <a:lnTo>
                    <a:pt x="53987" y="431304"/>
                  </a:lnTo>
                  <a:lnTo>
                    <a:pt x="38862" y="428244"/>
                  </a:lnTo>
                  <a:lnTo>
                    <a:pt x="23723" y="431304"/>
                  </a:lnTo>
                  <a:lnTo>
                    <a:pt x="11379" y="439635"/>
                  </a:lnTo>
                  <a:lnTo>
                    <a:pt x="3048" y="451980"/>
                  </a:lnTo>
                  <a:lnTo>
                    <a:pt x="0" y="467106"/>
                  </a:lnTo>
                  <a:lnTo>
                    <a:pt x="3048" y="482244"/>
                  </a:lnTo>
                  <a:lnTo>
                    <a:pt x="11379" y="494588"/>
                  </a:lnTo>
                  <a:lnTo>
                    <a:pt x="23723" y="502920"/>
                  </a:lnTo>
                  <a:lnTo>
                    <a:pt x="38862" y="505968"/>
                  </a:lnTo>
                  <a:lnTo>
                    <a:pt x="53987" y="502920"/>
                  </a:lnTo>
                  <a:lnTo>
                    <a:pt x="66332" y="494588"/>
                  </a:lnTo>
                  <a:lnTo>
                    <a:pt x="74663" y="482244"/>
                  </a:lnTo>
                  <a:lnTo>
                    <a:pt x="75107" y="480060"/>
                  </a:lnTo>
                  <a:lnTo>
                    <a:pt x="5140007" y="480060"/>
                  </a:lnTo>
                  <a:lnTo>
                    <a:pt x="5140452" y="482244"/>
                  </a:lnTo>
                  <a:lnTo>
                    <a:pt x="5148783" y="494588"/>
                  </a:lnTo>
                  <a:lnTo>
                    <a:pt x="5161127" y="502920"/>
                  </a:lnTo>
                  <a:lnTo>
                    <a:pt x="5176266" y="505968"/>
                  </a:lnTo>
                  <a:lnTo>
                    <a:pt x="5191391" y="502920"/>
                  </a:lnTo>
                  <a:lnTo>
                    <a:pt x="5203736" y="494588"/>
                  </a:lnTo>
                  <a:lnTo>
                    <a:pt x="5212067" y="482244"/>
                  </a:lnTo>
                  <a:lnTo>
                    <a:pt x="5212512" y="480060"/>
                  </a:lnTo>
                  <a:lnTo>
                    <a:pt x="5215128" y="467106"/>
                  </a:lnTo>
                  <a:close/>
                </a:path>
                <a:path w="5221605" h="506094">
                  <a:moveTo>
                    <a:pt x="5221224" y="38862"/>
                  </a:moveTo>
                  <a:lnTo>
                    <a:pt x="5197487" y="3060"/>
                  </a:lnTo>
                  <a:lnTo>
                    <a:pt x="5182362" y="0"/>
                  </a:lnTo>
                  <a:lnTo>
                    <a:pt x="5167223" y="3060"/>
                  </a:lnTo>
                  <a:lnTo>
                    <a:pt x="5154879" y="11391"/>
                  </a:lnTo>
                  <a:lnTo>
                    <a:pt x="5146548" y="23736"/>
                  </a:lnTo>
                  <a:lnTo>
                    <a:pt x="5146103" y="25908"/>
                  </a:lnTo>
                  <a:lnTo>
                    <a:pt x="75107" y="25908"/>
                  </a:lnTo>
                  <a:lnTo>
                    <a:pt x="74663" y="23736"/>
                  </a:lnTo>
                  <a:lnTo>
                    <a:pt x="66332" y="11391"/>
                  </a:lnTo>
                  <a:lnTo>
                    <a:pt x="53987" y="3060"/>
                  </a:lnTo>
                  <a:lnTo>
                    <a:pt x="38862" y="0"/>
                  </a:lnTo>
                  <a:lnTo>
                    <a:pt x="23723" y="3060"/>
                  </a:lnTo>
                  <a:lnTo>
                    <a:pt x="11379" y="11391"/>
                  </a:lnTo>
                  <a:lnTo>
                    <a:pt x="3048" y="23736"/>
                  </a:lnTo>
                  <a:lnTo>
                    <a:pt x="0" y="38862"/>
                  </a:lnTo>
                  <a:lnTo>
                    <a:pt x="3048" y="54000"/>
                  </a:lnTo>
                  <a:lnTo>
                    <a:pt x="11379" y="66344"/>
                  </a:lnTo>
                  <a:lnTo>
                    <a:pt x="23723" y="74676"/>
                  </a:lnTo>
                  <a:lnTo>
                    <a:pt x="38862" y="77724"/>
                  </a:lnTo>
                  <a:lnTo>
                    <a:pt x="53987" y="74676"/>
                  </a:lnTo>
                  <a:lnTo>
                    <a:pt x="66332" y="66344"/>
                  </a:lnTo>
                  <a:lnTo>
                    <a:pt x="74663" y="54000"/>
                  </a:lnTo>
                  <a:lnTo>
                    <a:pt x="75107" y="51816"/>
                  </a:lnTo>
                  <a:lnTo>
                    <a:pt x="5146103" y="51816"/>
                  </a:lnTo>
                  <a:lnTo>
                    <a:pt x="5146548" y="54000"/>
                  </a:lnTo>
                  <a:lnTo>
                    <a:pt x="5154879" y="66344"/>
                  </a:lnTo>
                  <a:lnTo>
                    <a:pt x="5167223" y="74676"/>
                  </a:lnTo>
                  <a:lnTo>
                    <a:pt x="5182362" y="77724"/>
                  </a:lnTo>
                  <a:lnTo>
                    <a:pt x="5197487" y="74676"/>
                  </a:lnTo>
                  <a:lnTo>
                    <a:pt x="5209832" y="66344"/>
                  </a:lnTo>
                  <a:lnTo>
                    <a:pt x="5218163" y="54000"/>
                  </a:lnTo>
                  <a:lnTo>
                    <a:pt x="5218608" y="51816"/>
                  </a:lnTo>
                  <a:lnTo>
                    <a:pt x="5221224" y="38862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475231" y="3279647"/>
              <a:ext cx="5218430" cy="78105"/>
            </a:xfrm>
            <a:custGeom>
              <a:avLst/>
              <a:gdLst/>
              <a:ahLst/>
              <a:cxnLst/>
              <a:rect l="l" t="t" r="r" b="b"/>
              <a:pathLst>
                <a:path w="5218430" h="78104">
                  <a:moveTo>
                    <a:pt x="38862" y="0"/>
                  </a:moveTo>
                  <a:lnTo>
                    <a:pt x="23735" y="3053"/>
                  </a:lnTo>
                  <a:lnTo>
                    <a:pt x="11382" y="11382"/>
                  </a:lnTo>
                  <a:lnTo>
                    <a:pt x="3053" y="23735"/>
                  </a:lnTo>
                  <a:lnTo>
                    <a:pt x="0" y="38862"/>
                  </a:lnTo>
                  <a:lnTo>
                    <a:pt x="3053" y="53988"/>
                  </a:lnTo>
                  <a:lnTo>
                    <a:pt x="11382" y="66341"/>
                  </a:lnTo>
                  <a:lnTo>
                    <a:pt x="23735" y="74670"/>
                  </a:lnTo>
                  <a:lnTo>
                    <a:pt x="38862" y="77724"/>
                  </a:lnTo>
                  <a:lnTo>
                    <a:pt x="53988" y="74670"/>
                  </a:lnTo>
                  <a:lnTo>
                    <a:pt x="66341" y="66341"/>
                  </a:lnTo>
                  <a:lnTo>
                    <a:pt x="74670" y="53988"/>
                  </a:lnTo>
                  <a:lnTo>
                    <a:pt x="75108" y="51815"/>
                  </a:lnTo>
                  <a:lnTo>
                    <a:pt x="38862" y="51815"/>
                  </a:lnTo>
                  <a:lnTo>
                    <a:pt x="38862" y="25907"/>
                  </a:lnTo>
                  <a:lnTo>
                    <a:pt x="75108" y="25907"/>
                  </a:lnTo>
                  <a:lnTo>
                    <a:pt x="74670" y="23735"/>
                  </a:lnTo>
                  <a:lnTo>
                    <a:pt x="66341" y="11382"/>
                  </a:lnTo>
                  <a:lnTo>
                    <a:pt x="53988" y="3053"/>
                  </a:lnTo>
                  <a:lnTo>
                    <a:pt x="38862" y="0"/>
                  </a:lnTo>
                  <a:close/>
                </a:path>
                <a:path w="5218430" h="78104">
                  <a:moveTo>
                    <a:pt x="5179314" y="0"/>
                  </a:moveTo>
                  <a:lnTo>
                    <a:pt x="5164187" y="3053"/>
                  </a:lnTo>
                  <a:lnTo>
                    <a:pt x="5151834" y="11382"/>
                  </a:lnTo>
                  <a:lnTo>
                    <a:pt x="5143505" y="23735"/>
                  </a:lnTo>
                  <a:lnTo>
                    <a:pt x="5140452" y="38862"/>
                  </a:lnTo>
                  <a:lnTo>
                    <a:pt x="5143505" y="53988"/>
                  </a:lnTo>
                  <a:lnTo>
                    <a:pt x="5151834" y="66341"/>
                  </a:lnTo>
                  <a:lnTo>
                    <a:pt x="5164187" y="74670"/>
                  </a:lnTo>
                  <a:lnTo>
                    <a:pt x="5179314" y="77724"/>
                  </a:lnTo>
                  <a:lnTo>
                    <a:pt x="5194440" y="74670"/>
                  </a:lnTo>
                  <a:lnTo>
                    <a:pt x="5206793" y="66341"/>
                  </a:lnTo>
                  <a:lnTo>
                    <a:pt x="5215122" y="53988"/>
                  </a:lnTo>
                  <a:lnTo>
                    <a:pt x="5215560" y="51815"/>
                  </a:lnTo>
                  <a:lnTo>
                    <a:pt x="5179314" y="51815"/>
                  </a:lnTo>
                  <a:lnTo>
                    <a:pt x="5179314" y="25907"/>
                  </a:lnTo>
                  <a:lnTo>
                    <a:pt x="5215560" y="25907"/>
                  </a:lnTo>
                  <a:lnTo>
                    <a:pt x="5215122" y="23735"/>
                  </a:lnTo>
                  <a:lnTo>
                    <a:pt x="5206793" y="11382"/>
                  </a:lnTo>
                  <a:lnTo>
                    <a:pt x="5194440" y="3053"/>
                  </a:lnTo>
                  <a:lnTo>
                    <a:pt x="5179314" y="0"/>
                  </a:lnTo>
                  <a:close/>
                </a:path>
                <a:path w="5218430" h="78104">
                  <a:moveTo>
                    <a:pt x="75108" y="25907"/>
                  </a:moveTo>
                  <a:lnTo>
                    <a:pt x="38862" y="25907"/>
                  </a:lnTo>
                  <a:lnTo>
                    <a:pt x="38862" y="51815"/>
                  </a:lnTo>
                  <a:lnTo>
                    <a:pt x="75108" y="51815"/>
                  </a:lnTo>
                  <a:lnTo>
                    <a:pt x="77724" y="38862"/>
                  </a:lnTo>
                  <a:lnTo>
                    <a:pt x="75108" y="25907"/>
                  </a:lnTo>
                  <a:close/>
                </a:path>
                <a:path w="5218430" h="78104">
                  <a:moveTo>
                    <a:pt x="5143067" y="25907"/>
                  </a:moveTo>
                  <a:lnTo>
                    <a:pt x="75108" y="25907"/>
                  </a:lnTo>
                  <a:lnTo>
                    <a:pt x="77724" y="38862"/>
                  </a:lnTo>
                  <a:lnTo>
                    <a:pt x="75108" y="51815"/>
                  </a:lnTo>
                  <a:lnTo>
                    <a:pt x="5143067" y="51815"/>
                  </a:lnTo>
                  <a:lnTo>
                    <a:pt x="5140452" y="38862"/>
                  </a:lnTo>
                  <a:lnTo>
                    <a:pt x="5143067" y="25907"/>
                  </a:lnTo>
                  <a:close/>
                </a:path>
                <a:path w="5218430" h="78104">
                  <a:moveTo>
                    <a:pt x="5215560" y="25907"/>
                  </a:moveTo>
                  <a:lnTo>
                    <a:pt x="5179314" y="25907"/>
                  </a:lnTo>
                  <a:lnTo>
                    <a:pt x="5179314" y="51815"/>
                  </a:lnTo>
                  <a:lnTo>
                    <a:pt x="5215560" y="51815"/>
                  </a:lnTo>
                  <a:lnTo>
                    <a:pt x="5218176" y="38862"/>
                  </a:lnTo>
                  <a:lnTo>
                    <a:pt x="5215560" y="2590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476755" y="2791967"/>
              <a:ext cx="5218430" cy="78105"/>
            </a:xfrm>
            <a:custGeom>
              <a:avLst/>
              <a:gdLst/>
              <a:ahLst/>
              <a:cxnLst/>
              <a:rect l="l" t="t" r="r" b="b"/>
              <a:pathLst>
                <a:path w="5218430" h="78105">
                  <a:moveTo>
                    <a:pt x="38862" y="0"/>
                  </a:moveTo>
                  <a:lnTo>
                    <a:pt x="23735" y="3053"/>
                  </a:lnTo>
                  <a:lnTo>
                    <a:pt x="11382" y="11382"/>
                  </a:lnTo>
                  <a:lnTo>
                    <a:pt x="3053" y="23735"/>
                  </a:lnTo>
                  <a:lnTo>
                    <a:pt x="0" y="38862"/>
                  </a:lnTo>
                  <a:lnTo>
                    <a:pt x="3053" y="53988"/>
                  </a:lnTo>
                  <a:lnTo>
                    <a:pt x="11382" y="66341"/>
                  </a:lnTo>
                  <a:lnTo>
                    <a:pt x="23735" y="74670"/>
                  </a:lnTo>
                  <a:lnTo>
                    <a:pt x="38862" y="77724"/>
                  </a:lnTo>
                  <a:lnTo>
                    <a:pt x="53988" y="74670"/>
                  </a:lnTo>
                  <a:lnTo>
                    <a:pt x="66341" y="66341"/>
                  </a:lnTo>
                  <a:lnTo>
                    <a:pt x="74670" y="53988"/>
                  </a:lnTo>
                  <a:lnTo>
                    <a:pt x="75108" y="51816"/>
                  </a:lnTo>
                  <a:lnTo>
                    <a:pt x="38862" y="51816"/>
                  </a:lnTo>
                  <a:lnTo>
                    <a:pt x="38862" y="25908"/>
                  </a:lnTo>
                  <a:lnTo>
                    <a:pt x="75108" y="25908"/>
                  </a:lnTo>
                  <a:lnTo>
                    <a:pt x="74670" y="23735"/>
                  </a:lnTo>
                  <a:lnTo>
                    <a:pt x="66341" y="11382"/>
                  </a:lnTo>
                  <a:lnTo>
                    <a:pt x="53988" y="3053"/>
                  </a:lnTo>
                  <a:lnTo>
                    <a:pt x="38862" y="0"/>
                  </a:lnTo>
                  <a:close/>
                </a:path>
                <a:path w="5218430" h="78105">
                  <a:moveTo>
                    <a:pt x="5179314" y="0"/>
                  </a:moveTo>
                  <a:lnTo>
                    <a:pt x="5164187" y="3053"/>
                  </a:lnTo>
                  <a:lnTo>
                    <a:pt x="5151834" y="11382"/>
                  </a:lnTo>
                  <a:lnTo>
                    <a:pt x="5143505" y="23735"/>
                  </a:lnTo>
                  <a:lnTo>
                    <a:pt x="5140452" y="38862"/>
                  </a:lnTo>
                  <a:lnTo>
                    <a:pt x="5143505" y="53988"/>
                  </a:lnTo>
                  <a:lnTo>
                    <a:pt x="5151834" y="66341"/>
                  </a:lnTo>
                  <a:lnTo>
                    <a:pt x="5164187" y="74670"/>
                  </a:lnTo>
                  <a:lnTo>
                    <a:pt x="5179314" y="77724"/>
                  </a:lnTo>
                  <a:lnTo>
                    <a:pt x="5194440" y="74670"/>
                  </a:lnTo>
                  <a:lnTo>
                    <a:pt x="5206793" y="66341"/>
                  </a:lnTo>
                  <a:lnTo>
                    <a:pt x="5215122" y="53988"/>
                  </a:lnTo>
                  <a:lnTo>
                    <a:pt x="5215560" y="51816"/>
                  </a:lnTo>
                  <a:lnTo>
                    <a:pt x="5179314" y="51816"/>
                  </a:lnTo>
                  <a:lnTo>
                    <a:pt x="5179314" y="25908"/>
                  </a:lnTo>
                  <a:lnTo>
                    <a:pt x="5215560" y="25908"/>
                  </a:lnTo>
                  <a:lnTo>
                    <a:pt x="5215122" y="23735"/>
                  </a:lnTo>
                  <a:lnTo>
                    <a:pt x="5206793" y="11382"/>
                  </a:lnTo>
                  <a:lnTo>
                    <a:pt x="5194440" y="3053"/>
                  </a:lnTo>
                  <a:lnTo>
                    <a:pt x="5179314" y="0"/>
                  </a:lnTo>
                  <a:close/>
                </a:path>
                <a:path w="5218430" h="78105">
                  <a:moveTo>
                    <a:pt x="75108" y="25908"/>
                  </a:moveTo>
                  <a:lnTo>
                    <a:pt x="38862" y="25908"/>
                  </a:lnTo>
                  <a:lnTo>
                    <a:pt x="38862" y="51816"/>
                  </a:lnTo>
                  <a:lnTo>
                    <a:pt x="75108" y="51816"/>
                  </a:lnTo>
                  <a:lnTo>
                    <a:pt x="77724" y="38862"/>
                  </a:lnTo>
                  <a:lnTo>
                    <a:pt x="75108" y="25908"/>
                  </a:lnTo>
                  <a:close/>
                </a:path>
                <a:path w="5218430" h="78105">
                  <a:moveTo>
                    <a:pt x="5143067" y="25908"/>
                  </a:moveTo>
                  <a:lnTo>
                    <a:pt x="75108" y="25908"/>
                  </a:lnTo>
                  <a:lnTo>
                    <a:pt x="77724" y="38862"/>
                  </a:lnTo>
                  <a:lnTo>
                    <a:pt x="75108" y="51816"/>
                  </a:lnTo>
                  <a:lnTo>
                    <a:pt x="5143067" y="51816"/>
                  </a:lnTo>
                  <a:lnTo>
                    <a:pt x="5140452" y="38862"/>
                  </a:lnTo>
                  <a:lnTo>
                    <a:pt x="5143067" y="25908"/>
                  </a:lnTo>
                  <a:close/>
                </a:path>
                <a:path w="5218430" h="78105">
                  <a:moveTo>
                    <a:pt x="5215560" y="25908"/>
                  </a:moveTo>
                  <a:lnTo>
                    <a:pt x="5179314" y="25908"/>
                  </a:lnTo>
                  <a:lnTo>
                    <a:pt x="5179314" y="51816"/>
                  </a:lnTo>
                  <a:lnTo>
                    <a:pt x="5215560" y="51816"/>
                  </a:lnTo>
                  <a:lnTo>
                    <a:pt x="5218176" y="38862"/>
                  </a:lnTo>
                  <a:lnTo>
                    <a:pt x="5215560" y="25908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07948" y="1802891"/>
              <a:ext cx="342900" cy="1571625"/>
            </a:xfrm>
            <a:custGeom>
              <a:avLst/>
              <a:gdLst/>
              <a:ahLst/>
              <a:cxnLst/>
              <a:rect l="l" t="t" r="r" b="b"/>
              <a:pathLst>
                <a:path w="342900" h="1571625">
                  <a:moveTo>
                    <a:pt x="181356" y="362077"/>
                  </a:moveTo>
                  <a:lnTo>
                    <a:pt x="179857" y="354660"/>
                  </a:lnTo>
                  <a:lnTo>
                    <a:pt x="175780" y="348602"/>
                  </a:lnTo>
                  <a:lnTo>
                    <a:pt x="169722" y="344525"/>
                  </a:lnTo>
                  <a:lnTo>
                    <a:pt x="162306" y="343027"/>
                  </a:lnTo>
                  <a:lnTo>
                    <a:pt x="154889" y="344525"/>
                  </a:lnTo>
                  <a:lnTo>
                    <a:pt x="148831" y="348602"/>
                  </a:lnTo>
                  <a:lnTo>
                    <a:pt x="144741" y="354660"/>
                  </a:lnTo>
                  <a:lnTo>
                    <a:pt x="143256" y="362077"/>
                  </a:lnTo>
                  <a:lnTo>
                    <a:pt x="144741" y="369506"/>
                  </a:lnTo>
                  <a:lnTo>
                    <a:pt x="148831" y="375564"/>
                  </a:lnTo>
                  <a:lnTo>
                    <a:pt x="154889" y="379641"/>
                  </a:lnTo>
                  <a:lnTo>
                    <a:pt x="162306" y="381127"/>
                  </a:lnTo>
                  <a:lnTo>
                    <a:pt x="169722" y="379641"/>
                  </a:lnTo>
                  <a:lnTo>
                    <a:pt x="175780" y="375564"/>
                  </a:lnTo>
                  <a:lnTo>
                    <a:pt x="179857" y="369506"/>
                  </a:lnTo>
                  <a:lnTo>
                    <a:pt x="181356" y="362077"/>
                  </a:lnTo>
                  <a:close/>
                </a:path>
                <a:path w="342900" h="1571625">
                  <a:moveTo>
                    <a:pt x="181356" y="247777"/>
                  </a:moveTo>
                  <a:lnTo>
                    <a:pt x="179857" y="240360"/>
                  </a:lnTo>
                  <a:lnTo>
                    <a:pt x="175780" y="234302"/>
                  </a:lnTo>
                  <a:lnTo>
                    <a:pt x="169722" y="230225"/>
                  </a:lnTo>
                  <a:lnTo>
                    <a:pt x="162306" y="228727"/>
                  </a:lnTo>
                  <a:lnTo>
                    <a:pt x="154889" y="230225"/>
                  </a:lnTo>
                  <a:lnTo>
                    <a:pt x="148831" y="234302"/>
                  </a:lnTo>
                  <a:lnTo>
                    <a:pt x="144741" y="240360"/>
                  </a:lnTo>
                  <a:lnTo>
                    <a:pt x="143256" y="247777"/>
                  </a:lnTo>
                  <a:lnTo>
                    <a:pt x="144741" y="255206"/>
                  </a:lnTo>
                  <a:lnTo>
                    <a:pt x="148831" y="261264"/>
                  </a:lnTo>
                  <a:lnTo>
                    <a:pt x="154889" y="265341"/>
                  </a:lnTo>
                  <a:lnTo>
                    <a:pt x="162306" y="266827"/>
                  </a:lnTo>
                  <a:lnTo>
                    <a:pt x="169722" y="265341"/>
                  </a:lnTo>
                  <a:lnTo>
                    <a:pt x="175780" y="261264"/>
                  </a:lnTo>
                  <a:lnTo>
                    <a:pt x="179857" y="255206"/>
                  </a:lnTo>
                  <a:lnTo>
                    <a:pt x="181356" y="247777"/>
                  </a:lnTo>
                  <a:close/>
                </a:path>
                <a:path w="342900" h="1571625">
                  <a:moveTo>
                    <a:pt x="181356" y="133350"/>
                  </a:moveTo>
                  <a:lnTo>
                    <a:pt x="179857" y="125933"/>
                  </a:lnTo>
                  <a:lnTo>
                    <a:pt x="175780" y="119875"/>
                  </a:lnTo>
                  <a:lnTo>
                    <a:pt x="169722" y="115798"/>
                  </a:lnTo>
                  <a:lnTo>
                    <a:pt x="162306" y="114300"/>
                  </a:lnTo>
                  <a:lnTo>
                    <a:pt x="154889" y="115798"/>
                  </a:lnTo>
                  <a:lnTo>
                    <a:pt x="148831" y="119875"/>
                  </a:lnTo>
                  <a:lnTo>
                    <a:pt x="144741" y="125933"/>
                  </a:lnTo>
                  <a:lnTo>
                    <a:pt x="143256" y="133350"/>
                  </a:lnTo>
                  <a:lnTo>
                    <a:pt x="143256" y="133477"/>
                  </a:lnTo>
                  <a:lnTo>
                    <a:pt x="144741" y="140855"/>
                  </a:lnTo>
                  <a:lnTo>
                    <a:pt x="148831" y="146913"/>
                  </a:lnTo>
                  <a:lnTo>
                    <a:pt x="154889" y="151015"/>
                  </a:lnTo>
                  <a:lnTo>
                    <a:pt x="162306" y="152527"/>
                  </a:lnTo>
                  <a:lnTo>
                    <a:pt x="169722" y="151015"/>
                  </a:lnTo>
                  <a:lnTo>
                    <a:pt x="175780" y="146913"/>
                  </a:lnTo>
                  <a:lnTo>
                    <a:pt x="179857" y="140855"/>
                  </a:lnTo>
                  <a:lnTo>
                    <a:pt x="181356" y="133477"/>
                  </a:lnTo>
                  <a:lnTo>
                    <a:pt x="181356" y="133350"/>
                  </a:lnTo>
                  <a:close/>
                </a:path>
                <a:path w="342900" h="1571625">
                  <a:moveTo>
                    <a:pt x="181356" y="19050"/>
                  </a:moveTo>
                  <a:lnTo>
                    <a:pt x="179857" y="11633"/>
                  </a:lnTo>
                  <a:lnTo>
                    <a:pt x="175780" y="5575"/>
                  </a:lnTo>
                  <a:lnTo>
                    <a:pt x="169722" y="1498"/>
                  </a:lnTo>
                  <a:lnTo>
                    <a:pt x="162306" y="0"/>
                  </a:lnTo>
                  <a:lnTo>
                    <a:pt x="154889" y="1498"/>
                  </a:lnTo>
                  <a:lnTo>
                    <a:pt x="148831" y="5575"/>
                  </a:lnTo>
                  <a:lnTo>
                    <a:pt x="144741" y="11633"/>
                  </a:lnTo>
                  <a:lnTo>
                    <a:pt x="143256" y="19050"/>
                  </a:lnTo>
                  <a:lnTo>
                    <a:pt x="144741" y="26479"/>
                  </a:lnTo>
                  <a:lnTo>
                    <a:pt x="148831" y="32537"/>
                  </a:lnTo>
                  <a:lnTo>
                    <a:pt x="154889" y="36614"/>
                  </a:lnTo>
                  <a:lnTo>
                    <a:pt x="162306" y="38100"/>
                  </a:lnTo>
                  <a:lnTo>
                    <a:pt x="169722" y="36614"/>
                  </a:lnTo>
                  <a:lnTo>
                    <a:pt x="175780" y="32537"/>
                  </a:lnTo>
                  <a:lnTo>
                    <a:pt x="179857" y="26479"/>
                  </a:lnTo>
                  <a:lnTo>
                    <a:pt x="181356" y="19050"/>
                  </a:lnTo>
                  <a:close/>
                </a:path>
                <a:path w="342900" h="1571625">
                  <a:moveTo>
                    <a:pt x="219456" y="432054"/>
                  </a:moveTo>
                  <a:lnTo>
                    <a:pt x="105156" y="432054"/>
                  </a:lnTo>
                  <a:lnTo>
                    <a:pt x="162306" y="546354"/>
                  </a:lnTo>
                  <a:lnTo>
                    <a:pt x="219456" y="432054"/>
                  </a:lnTo>
                  <a:close/>
                </a:path>
                <a:path w="342900" h="1571625">
                  <a:moveTo>
                    <a:pt x="342900" y="1532382"/>
                  </a:moveTo>
                  <a:lnTo>
                    <a:pt x="319163" y="1496580"/>
                  </a:lnTo>
                  <a:lnTo>
                    <a:pt x="304038" y="1493520"/>
                  </a:lnTo>
                  <a:lnTo>
                    <a:pt x="288899" y="1496580"/>
                  </a:lnTo>
                  <a:lnTo>
                    <a:pt x="276555" y="1504911"/>
                  </a:lnTo>
                  <a:lnTo>
                    <a:pt x="268224" y="1517256"/>
                  </a:lnTo>
                  <a:lnTo>
                    <a:pt x="267779" y="1519428"/>
                  </a:lnTo>
                  <a:lnTo>
                    <a:pt x="75107" y="1519428"/>
                  </a:lnTo>
                  <a:lnTo>
                    <a:pt x="74663" y="1517256"/>
                  </a:lnTo>
                  <a:lnTo>
                    <a:pt x="66332" y="1504911"/>
                  </a:lnTo>
                  <a:lnTo>
                    <a:pt x="53987" y="1496580"/>
                  </a:lnTo>
                  <a:lnTo>
                    <a:pt x="38862" y="1493520"/>
                  </a:lnTo>
                  <a:lnTo>
                    <a:pt x="23723" y="1496580"/>
                  </a:lnTo>
                  <a:lnTo>
                    <a:pt x="11379" y="1504911"/>
                  </a:lnTo>
                  <a:lnTo>
                    <a:pt x="3048" y="1517256"/>
                  </a:lnTo>
                  <a:lnTo>
                    <a:pt x="0" y="1532382"/>
                  </a:lnTo>
                  <a:lnTo>
                    <a:pt x="3048" y="1547520"/>
                  </a:lnTo>
                  <a:lnTo>
                    <a:pt x="11379" y="1559864"/>
                  </a:lnTo>
                  <a:lnTo>
                    <a:pt x="23723" y="1568196"/>
                  </a:lnTo>
                  <a:lnTo>
                    <a:pt x="38862" y="1571244"/>
                  </a:lnTo>
                  <a:lnTo>
                    <a:pt x="53987" y="1568196"/>
                  </a:lnTo>
                  <a:lnTo>
                    <a:pt x="66332" y="1559864"/>
                  </a:lnTo>
                  <a:lnTo>
                    <a:pt x="74663" y="1547520"/>
                  </a:lnTo>
                  <a:lnTo>
                    <a:pt x="75107" y="1545336"/>
                  </a:lnTo>
                  <a:lnTo>
                    <a:pt x="267779" y="1545336"/>
                  </a:lnTo>
                  <a:lnTo>
                    <a:pt x="268224" y="1547520"/>
                  </a:lnTo>
                  <a:lnTo>
                    <a:pt x="276555" y="1559864"/>
                  </a:lnTo>
                  <a:lnTo>
                    <a:pt x="288899" y="1568196"/>
                  </a:lnTo>
                  <a:lnTo>
                    <a:pt x="304038" y="1571244"/>
                  </a:lnTo>
                  <a:lnTo>
                    <a:pt x="319163" y="1568196"/>
                  </a:lnTo>
                  <a:lnTo>
                    <a:pt x="331508" y="1559864"/>
                  </a:lnTo>
                  <a:lnTo>
                    <a:pt x="339839" y="1547520"/>
                  </a:lnTo>
                  <a:lnTo>
                    <a:pt x="340283" y="1545336"/>
                  </a:lnTo>
                  <a:lnTo>
                    <a:pt x="342900" y="153238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397379" y="3021329"/>
            <a:ext cx="525145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spc="-5" dirty="0">
                <a:solidFill>
                  <a:srgbClr val="1D1D1A"/>
                </a:solidFill>
                <a:latin typeface="Arial"/>
                <a:cs typeface="Arial"/>
              </a:rPr>
              <a:t>A</a:t>
            </a:r>
            <a:r>
              <a:rPr sz="650" b="1" spc="-60" dirty="0">
                <a:solidFill>
                  <a:srgbClr val="1D1D1A"/>
                </a:solidFill>
                <a:latin typeface="Arial"/>
                <a:cs typeface="Arial"/>
              </a:rPr>
              <a:t>s</a:t>
            </a:r>
            <a:r>
              <a:rPr sz="650" b="1" spc="-55" dirty="0">
                <a:solidFill>
                  <a:srgbClr val="1D1D1A"/>
                </a:solidFill>
                <a:latin typeface="Arial"/>
                <a:cs typeface="Arial"/>
              </a:rPr>
              <a:t>c</a:t>
            </a: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650" b="1" spc="20" dirty="0">
                <a:solidFill>
                  <a:srgbClr val="1D1D1A"/>
                </a:solidFill>
                <a:latin typeface="Arial"/>
                <a:cs typeface="Arial"/>
              </a:rPr>
              <a:t>n</a:t>
            </a:r>
            <a:r>
              <a:rPr sz="650" b="1" spc="10" dirty="0">
                <a:solidFill>
                  <a:srgbClr val="1D1D1A"/>
                </a:solidFill>
                <a:latin typeface="Arial"/>
                <a:cs typeface="Arial"/>
              </a:rPr>
              <a:t>d</a:t>
            </a:r>
            <a:r>
              <a:rPr sz="650" b="1" spc="40" dirty="0">
                <a:solidFill>
                  <a:srgbClr val="1D1D1A"/>
                </a:solidFill>
                <a:latin typeface="Arial"/>
                <a:cs typeface="Arial"/>
              </a:rPr>
              <a:t>-</a:t>
            </a: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T</a:t>
            </a:r>
            <a:r>
              <a:rPr sz="650" b="1" spc="10" dirty="0">
                <a:solidFill>
                  <a:srgbClr val="1D1D1A"/>
                </a:solidFill>
                <a:latin typeface="Arial"/>
                <a:cs typeface="Arial"/>
              </a:rPr>
              <a:t>i</a:t>
            </a:r>
            <a:r>
              <a:rPr sz="650" b="1" spc="20" dirty="0">
                <a:solidFill>
                  <a:srgbClr val="1D1D1A"/>
                </a:solidFill>
                <a:latin typeface="Arial"/>
                <a:cs typeface="Arial"/>
              </a:rPr>
              <a:t>n</a:t>
            </a:r>
            <a:r>
              <a:rPr sz="650" b="1" spc="-5" dirty="0">
                <a:solidFill>
                  <a:srgbClr val="1D1D1A"/>
                </a:solidFill>
                <a:latin typeface="Arial"/>
                <a:cs typeface="Arial"/>
              </a:rPr>
              <a:t>y</a:t>
            </a:r>
            <a:endParaRPr sz="6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071876" y="3021329"/>
            <a:ext cx="503555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dirty="0">
                <a:solidFill>
                  <a:srgbClr val="1D1D1A"/>
                </a:solidFill>
                <a:latin typeface="Arial"/>
                <a:cs typeface="Arial"/>
              </a:rPr>
              <a:t>Ascend-Lite</a:t>
            </a:r>
            <a:endParaRPr sz="6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710308" y="3021329"/>
            <a:ext cx="57023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Ascend-Nano</a:t>
            </a:r>
            <a:endParaRPr sz="6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384550" y="1176655"/>
            <a:ext cx="112077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15" dirty="0">
                <a:solidFill>
                  <a:srgbClr val="1D1D1A"/>
                </a:solidFill>
                <a:latin typeface="Arial"/>
                <a:cs typeface="Arial"/>
              </a:rPr>
              <a:t>AI</a:t>
            </a:r>
            <a:r>
              <a:rPr sz="1150" b="1" spc="2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150" b="1" spc="5" dirty="0">
                <a:solidFill>
                  <a:srgbClr val="1D1D1A"/>
                </a:solidFill>
                <a:latin typeface="Arial"/>
                <a:cs typeface="Arial"/>
              </a:rPr>
              <a:t>Applications</a:t>
            </a:r>
            <a:endParaRPr sz="11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628771" y="1566748"/>
            <a:ext cx="9175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85" dirty="0">
                <a:solidFill>
                  <a:srgbClr val="EC6C00"/>
                </a:solidFill>
                <a:latin typeface="Arial"/>
                <a:cs typeface="Arial"/>
              </a:rPr>
              <a:t>M</a:t>
            </a:r>
            <a:r>
              <a:rPr sz="1400" b="1" spc="65" dirty="0">
                <a:solidFill>
                  <a:srgbClr val="EC6C00"/>
                </a:solidFill>
                <a:latin typeface="Arial"/>
                <a:cs typeface="Arial"/>
              </a:rPr>
              <a:t>o</a:t>
            </a:r>
            <a:r>
              <a:rPr sz="1400" b="1" spc="5" dirty="0">
                <a:solidFill>
                  <a:srgbClr val="EC6C00"/>
                </a:solidFill>
                <a:latin typeface="Arial"/>
                <a:cs typeface="Arial"/>
              </a:rPr>
              <a:t>delA</a:t>
            </a:r>
            <a:r>
              <a:rPr sz="1400" b="1" spc="-5" dirty="0">
                <a:solidFill>
                  <a:srgbClr val="EC6C00"/>
                </a:solidFill>
                <a:latin typeface="Arial"/>
                <a:cs typeface="Arial"/>
              </a:rPr>
              <a:t>r</a:t>
            </a:r>
            <a:r>
              <a:rPr sz="1400" b="1" spc="-25" dirty="0">
                <a:solidFill>
                  <a:srgbClr val="EC6C00"/>
                </a:solidFill>
                <a:latin typeface="Arial"/>
                <a:cs typeface="Arial"/>
              </a:rPr>
              <a:t>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237226" y="3021329"/>
            <a:ext cx="52451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Ascend-Max</a:t>
            </a:r>
            <a:endParaRPr sz="6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565141" y="3021329"/>
            <a:ext cx="534035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Ascend-Mini</a:t>
            </a:r>
            <a:endParaRPr sz="6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840607" y="3889069"/>
            <a:ext cx="4616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50" dirty="0">
                <a:solidFill>
                  <a:srgbClr val="EC6C00"/>
                </a:solidFill>
                <a:latin typeface="Arial"/>
                <a:cs typeface="Arial"/>
              </a:rPr>
              <a:t>A</a:t>
            </a:r>
            <a:r>
              <a:rPr sz="1400" b="1" spc="15" dirty="0">
                <a:solidFill>
                  <a:srgbClr val="EC6C00"/>
                </a:solidFill>
                <a:latin typeface="Arial"/>
                <a:cs typeface="Arial"/>
              </a:rPr>
              <a:t>t</a:t>
            </a:r>
            <a:r>
              <a:rPr sz="1400" b="1" spc="-30" dirty="0">
                <a:solidFill>
                  <a:srgbClr val="EC6C00"/>
                </a:solidFill>
                <a:latin typeface="Arial"/>
                <a:cs typeface="Arial"/>
              </a:rPr>
              <a:t>las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004060" y="4041647"/>
            <a:ext cx="4305300" cy="422275"/>
            <a:chOff x="2004060" y="4041647"/>
            <a:chExt cx="4305300" cy="422275"/>
          </a:xfrm>
        </p:grpSpPr>
        <p:sp>
          <p:nvSpPr>
            <p:cNvPr id="62" name="object 62"/>
            <p:cNvSpPr/>
            <p:nvPr/>
          </p:nvSpPr>
          <p:spPr>
            <a:xfrm>
              <a:off x="3064763" y="4041647"/>
              <a:ext cx="676656" cy="41300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10028" y="4093463"/>
              <a:ext cx="120395" cy="2697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705100" y="4093463"/>
              <a:ext cx="92963" cy="26974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34100" y="4125467"/>
              <a:ext cx="175260" cy="27584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587496" y="4099559"/>
              <a:ext cx="597408" cy="36423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091939" y="4184903"/>
              <a:ext cx="432815" cy="15392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75048" y="4169663"/>
              <a:ext cx="333755" cy="18440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000244" y="4163567"/>
              <a:ext cx="236220" cy="19659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004060" y="4087367"/>
              <a:ext cx="121919" cy="2697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99132" y="4087367"/>
              <a:ext cx="92963" cy="26974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/>
          <p:nvPr/>
        </p:nvSpPr>
        <p:spPr>
          <a:xfrm>
            <a:off x="5362955" y="3436620"/>
            <a:ext cx="300227" cy="35204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721352" y="3464052"/>
            <a:ext cx="284988" cy="3246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296411" y="3447288"/>
            <a:ext cx="298703" cy="3215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895600" y="3447288"/>
            <a:ext cx="298704" cy="3291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468879" y="3447288"/>
            <a:ext cx="298704" cy="3017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2478404" y="2053844"/>
            <a:ext cx="35433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spc="-30" dirty="0">
                <a:solidFill>
                  <a:srgbClr val="1D1D1A"/>
                </a:solidFill>
                <a:latin typeface="Arial"/>
                <a:cs typeface="Arial"/>
              </a:rPr>
              <a:t>P</a:t>
            </a:r>
            <a:r>
              <a:rPr sz="650" b="1" spc="-5" dirty="0">
                <a:solidFill>
                  <a:srgbClr val="1D1D1A"/>
                </a:solidFill>
                <a:latin typeface="Arial"/>
                <a:cs typeface="Arial"/>
              </a:rPr>
              <a:t>y</a:t>
            </a: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T</a:t>
            </a:r>
            <a:r>
              <a:rPr sz="650" b="1" spc="-5" dirty="0">
                <a:solidFill>
                  <a:srgbClr val="1D1D1A"/>
                </a:solidFill>
                <a:latin typeface="Arial"/>
                <a:cs typeface="Arial"/>
              </a:rPr>
              <a:t>o</a:t>
            </a:r>
            <a:r>
              <a:rPr sz="650" b="1" dirty="0">
                <a:solidFill>
                  <a:srgbClr val="1D1D1A"/>
                </a:solidFill>
                <a:latin typeface="Arial"/>
                <a:cs typeface="Arial"/>
              </a:rPr>
              <a:t>rch</a:t>
            </a:r>
            <a:endParaRPr sz="650">
              <a:latin typeface="Arial"/>
              <a:cs typeface="Arial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37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3002533" y="1960880"/>
            <a:ext cx="15881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PaddlePaddle</a:t>
            </a:r>
            <a:r>
              <a:rPr sz="650" b="1" spc="-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2100" b="1" spc="7" baseline="-13888" dirty="0">
                <a:solidFill>
                  <a:srgbClr val="EC6C00"/>
                </a:solidFill>
                <a:latin typeface="Arial"/>
                <a:cs typeface="Arial"/>
              </a:rPr>
              <a:t>MindSpore</a:t>
            </a:r>
            <a:endParaRPr sz="2100" baseline="-13888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741423" y="2053844"/>
            <a:ext cx="49784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dirty="0">
                <a:solidFill>
                  <a:srgbClr val="1D1D1A"/>
                </a:solidFill>
                <a:latin typeface="Arial"/>
                <a:cs typeface="Arial"/>
              </a:rPr>
              <a:t>TensorFlow</a:t>
            </a:r>
            <a:endParaRPr sz="6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482342" y="1551813"/>
            <a:ext cx="36004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5"/>
              </a:spcBef>
            </a:pPr>
            <a:r>
              <a:rPr sz="800" b="1" spc="10" dirty="0">
                <a:solidFill>
                  <a:srgbClr val="EC6C00"/>
                </a:solidFill>
                <a:latin typeface="Arial"/>
                <a:cs typeface="Arial"/>
              </a:rPr>
              <a:t>HiAI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b="1" spc="-85" dirty="0">
                <a:solidFill>
                  <a:srgbClr val="EC6C00"/>
                </a:solidFill>
                <a:latin typeface="Arial"/>
                <a:cs typeface="Arial"/>
              </a:rPr>
              <a:t>E</a:t>
            </a:r>
            <a:r>
              <a:rPr sz="800" b="1" spc="10" dirty="0">
                <a:solidFill>
                  <a:srgbClr val="EC6C00"/>
                </a:solidFill>
                <a:latin typeface="Arial"/>
                <a:cs typeface="Arial"/>
              </a:rPr>
              <a:t>n</a:t>
            </a:r>
            <a:r>
              <a:rPr sz="800" b="1" dirty="0">
                <a:solidFill>
                  <a:srgbClr val="EC6C00"/>
                </a:solidFill>
                <a:latin typeface="Arial"/>
                <a:cs typeface="Arial"/>
              </a:rPr>
              <a:t>gi</a:t>
            </a:r>
            <a:r>
              <a:rPr sz="800" b="1" spc="10" dirty="0">
                <a:solidFill>
                  <a:srgbClr val="EC6C00"/>
                </a:solidFill>
                <a:latin typeface="Arial"/>
                <a:cs typeface="Arial"/>
              </a:rPr>
              <a:t>n</a:t>
            </a:r>
            <a:r>
              <a:rPr sz="800" b="1" spc="5" dirty="0">
                <a:solidFill>
                  <a:srgbClr val="EC6C00"/>
                </a:solidFill>
                <a:latin typeface="Arial"/>
                <a:cs typeface="Arial"/>
              </a:rPr>
              <a:t>e</a:t>
            </a:r>
            <a:endParaRPr sz="8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54988" y="5252720"/>
            <a:ext cx="10119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306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C00000"/>
                </a:solidFill>
                <a:latin typeface="Arial"/>
                <a:cs typeface="Arial"/>
              </a:rPr>
              <a:t>Huawei's </a:t>
            </a:r>
            <a:r>
              <a:rPr sz="1800" spc="80" dirty="0">
                <a:solidFill>
                  <a:srgbClr val="C00000"/>
                </a:solidFill>
                <a:latin typeface="Arial"/>
                <a:cs typeface="Arial"/>
              </a:rPr>
              <a:t>"all 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AI </a:t>
            </a:r>
            <a:r>
              <a:rPr sz="1800" spc="-10" dirty="0">
                <a:solidFill>
                  <a:srgbClr val="C00000"/>
                </a:solidFill>
                <a:latin typeface="Arial"/>
                <a:cs typeface="Arial"/>
              </a:rPr>
              <a:t>scenarios" </a:t>
            </a:r>
            <a:r>
              <a:rPr sz="1800" spc="25" dirty="0">
                <a:solidFill>
                  <a:srgbClr val="C00000"/>
                </a:solidFill>
                <a:latin typeface="Arial"/>
                <a:cs typeface="Arial"/>
              </a:rPr>
              <a:t>indicate </a:t>
            </a:r>
            <a:r>
              <a:rPr sz="1800" spc="55" dirty="0">
                <a:solidFill>
                  <a:srgbClr val="C00000"/>
                </a:solidFill>
                <a:latin typeface="Arial"/>
                <a:cs typeface="Arial"/>
              </a:rPr>
              <a:t>different </a:t>
            </a:r>
            <a:r>
              <a:rPr sz="1800" spc="35" dirty="0">
                <a:solidFill>
                  <a:srgbClr val="C00000"/>
                </a:solidFill>
                <a:latin typeface="Arial"/>
                <a:cs typeface="Arial"/>
              </a:rPr>
              <a:t>deployment </a:t>
            </a:r>
            <a:r>
              <a:rPr sz="1800" spc="-30" dirty="0">
                <a:solidFill>
                  <a:srgbClr val="C00000"/>
                </a:solidFill>
                <a:latin typeface="Arial"/>
                <a:cs typeface="Arial"/>
              </a:rPr>
              <a:t>scenarios </a:t>
            </a:r>
            <a:r>
              <a:rPr sz="1800" spc="75" dirty="0">
                <a:solidFill>
                  <a:srgbClr val="C00000"/>
                </a:solidFill>
                <a:latin typeface="Arial"/>
                <a:cs typeface="Arial"/>
              </a:rPr>
              <a:t>for </a:t>
            </a:r>
            <a:r>
              <a:rPr sz="1800" spc="-30" dirty="0">
                <a:solidFill>
                  <a:srgbClr val="C00000"/>
                </a:solidFill>
                <a:latin typeface="Arial"/>
                <a:cs typeface="Arial"/>
              </a:rPr>
              <a:t>AI, </a:t>
            </a:r>
            <a:r>
              <a:rPr sz="1800" spc="35" dirty="0">
                <a:solidFill>
                  <a:srgbClr val="C00000"/>
                </a:solidFill>
                <a:latin typeface="Arial"/>
                <a:cs typeface="Arial"/>
              </a:rPr>
              <a:t>including </a:t>
            </a:r>
            <a:r>
              <a:rPr sz="1800" spc="30" dirty="0">
                <a:solidFill>
                  <a:srgbClr val="C00000"/>
                </a:solidFill>
                <a:latin typeface="Arial"/>
                <a:cs typeface="Arial"/>
              </a:rPr>
              <a:t>public  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clouds,</a:t>
            </a:r>
            <a:r>
              <a:rPr sz="1800" spc="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C00000"/>
                </a:solidFill>
                <a:latin typeface="Arial"/>
                <a:cs typeface="Arial"/>
              </a:rPr>
              <a:t>private</a:t>
            </a:r>
            <a:r>
              <a:rPr sz="1800" spc="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clouds,</a:t>
            </a:r>
            <a:r>
              <a:rPr sz="1800" spc="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edge</a:t>
            </a:r>
            <a:r>
              <a:rPr sz="1800" spc="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C00000"/>
                </a:solidFill>
                <a:latin typeface="Arial"/>
                <a:cs typeface="Arial"/>
              </a:rPr>
              <a:t>computing</a:t>
            </a:r>
            <a:r>
              <a:rPr sz="1800" spc="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1800" spc="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C00000"/>
                </a:solidFill>
                <a:latin typeface="Arial"/>
                <a:cs typeface="Arial"/>
              </a:rPr>
              <a:t>all</a:t>
            </a:r>
            <a:r>
              <a:rPr sz="1800" spc="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20" dirty="0">
                <a:solidFill>
                  <a:srgbClr val="C00000"/>
                </a:solidFill>
                <a:latin typeface="Arial"/>
                <a:cs typeface="Arial"/>
              </a:rPr>
              <a:t>forms,</a:t>
            </a:r>
            <a:r>
              <a:rPr sz="1800" spc="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C00000"/>
                </a:solidFill>
                <a:latin typeface="Arial"/>
                <a:cs typeface="Arial"/>
              </a:rPr>
              <a:t>industrial</a:t>
            </a:r>
            <a:r>
              <a:rPr sz="1800" spc="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IoT</a:t>
            </a:r>
            <a:r>
              <a:rPr sz="1800" spc="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C00000"/>
                </a:solidFill>
                <a:latin typeface="Arial"/>
                <a:cs typeface="Arial"/>
              </a:rPr>
              <a:t>devices,</a:t>
            </a:r>
            <a:r>
              <a:rPr sz="1800" spc="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20" dirty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1800" spc="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Arial"/>
                <a:cs typeface="Arial"/>
              </a:rPr>
              <a:t>consumer</a:t>
            </a:r>
            <a:r>
              <a:rPr sz="1800" spc="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C00000"/>
                </a:solidFill>
                <a:latin typeface="Arial"/>
                <a:cs typeface="Arial"/>
              </a:rPr>
              <a:t>devices.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686" y="366521"/>
            <a:ext cx="85007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5" dirty="0"/>
              <a:t>Full </a:t>
            </a:r>
            <a:r>
              <a:rPr spc="-45" dirty="0"/>
              <a:t>Stack </a:t>
            </a:r>
            <a:r>
              <a:rPr spc="190" dirty="0"/>
              <a:t>- </a:t>
            </a:r>
            <a:r>
              <a:rPr spc="65" dirty="0"/>
              <a:t>ModelArts </a:t>
            </a:r>
            <a:r>
              <a:rPr spc="-15" dirty="0"/>
              <a:t>Full-Cycle </a:t>
            </a:r>
            <a:r>
              <a:rPr spc="-10" dirty="0"/>
              <a:t>AI</a:t>
            </a:r>
            <a:r>
              <a:rPr spc="380" dirty="0"/>
              <a:t> </a:t>
            </a:r>
            <a:r>
              <a:rPr spc="125" dirty="0"/>
              <a:t>Workflow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03205" y="3352291"/>
            <a:ext cx="1113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Arial"/>
                <a:cs typeface="Arial"/>
              </a:rPr>
              <a:t>AI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7522" y="2748533"/>
            <a:ext cx="669290" cy="638810"/>
          </a:xfrm>
          <a:custGeom>
            <a:avLst/>
            <a:gdLst/>
            <a:ahLst/>
            <a:cxnLst/>
            <a:rect l="l" t="t" r="r" b="b"/>
            <a:pathLst>
              <a:path w="669290" h="638810">
                <a:moveTo>
                  <a:pt x="669036" y="106425"/>
                </a:moveTo>
                <a:lnTo>
                  <a:pt x="642747" y="147861"/>
                </a:lnTo>
                <a:lnTo>
                  <a:pt x="571057" y="181689"/>
                </a:lnTo>
                <a:lnTo>
                  <a:pt x="521549" y="194682"/>
                </a:lnTo>
                <a:lnTo>
                  <a:pt x="464726" y="204491"/>
                </a:lnTo>
                <a:lnTo>
                  <a:pt x="401934" y="210690"/>
                </a:lnTo>
                <a:lnTo>
                  <a:pt x="334518" y="212851"/>
                </a:lnTo>
                <a:lnTo>
                  <a:pt x="267101" y="210690"/>
                </a:lnTo>
                <a:lnTo>
                  <a:pt x="204309" y="204491"/>
                </a:lnTo>
                <a:lnTo>
                  <a:pt x="147486" y="194682"/>
                </a:lnTo>
                <a:lnTo>
                  <a:pt x="97978" y="181689"/>
                </a:lnTo>
                <a:lnTo>
                  <a:pt x="57131" y="165940"/>
                </a:lnTo>
                <a:lnTo>
                  <a:pt x="6796" y="127881"/>
                </a:lnTo>
                <a:lnTo>
                  <a:pt x="0" y="106425"/>
                </a:lnTo>
              </a:path>
              <a:path w="669290" h="638810">
                <a:moveTo>
                  <a:pt x="0" y="106425"/>
                </a:moveTo>
                <a:lnTo>
                  <a:pt x="26288" y="64990"/>
                </a:lnTo>
                <a:lnTo>
                  <a:pt x="97978" y="31162"/>
                </a:lnTo>
                <a:lnTo>
                  <a:pt x="147486" y="18169"/>
                </a:lnTo>
                <a:lnTo>
                  <a:pt x="204309" y="8360"/>
                </a:lnTo>
                <a:lnTo>
                  <a:pt x="267101" y="2161"/>
                </a:lnTo>
                <a:lnTo>
                  <a:pt x="334518" y="0"/>
                </a:lnTo>
                <a:lnTo>
                  <a:pt x="401934" y="2161"/>
                </a:lnTo>
                <a:lnTo>
                  <a:pt x="464726" y="8360"/>
                </a:lnTo>
                <a:lnTo>
                  <a:pt x="521549" y="18169"/>
                </a:lnTo>
                <a:lnTo>
                  <a:pt x="571057" y="31162"/>
                </a:lnTo>
                <a:lnTo>
                  <a:pt x="611904" y="46911"/>
                </a:lnTo>
                <a:lnTo>
                  <a:pt x="662239" y="84970"/>
                </a:lnTo>
                <a:lnTo>
                  <a:pt x="669036" y="106425"/>
                </a:lnTo>
                <a:lnTo>
                  <a:pt x="669036" y="532129"/>
                </a:lnTo>
                <a:lnTo>
                  <a:pt x="642747" y="573565"/>
                </a:lnTo>
                <a:lnTo>
                  <a:pt x="571057" y="607393"/>
                </a:lnTo>
                <a:lnTo>
                  <a:pt x="521549" y="620386"/>
                </a:lnTo>
                <a:lnTo>
                  <a:pt x="464726" y="630195"/>
                </a:lnTo>
                <a:lnTo>
                  <a:pt x="401934" y="636394"/>
                </a:lnTo>
                <a:lnTo>
                  <a:pt x="334518" y="638555"/>
                </a:lnTo>
                <a:lnTo>
                  <a:pt x="267101" y="636394"/>
                </a:lnTo>
                <a:lnTo>
                  <a:pt x="204309" y="630195"/>
                </a:lnTo>
                <a:lnTo>
                  <a:pt x="147486" y="620386"/>
                </a:lnTo>
                <a:lnTo>
                  <a:pt x="97978" y="607393"/>
                </a:lnTo>
                <a:lnTo>
                  <a:pt x="57131" y="591644"/>
                </a:lnTo>
                <a:lnTo>
                  <a:pt x="6796" y="553585"/>
                </a:lnTo>
                <a:lnTo>
                  <a:pt x="0" y="532129"/>
                </a:lnTo>
                <a:lnTo>
                  <a:pt x="0" y="106425"/>
                </a:lnTo>
                <a:close/>
              </a:path>
            </a:pathLst>
          </a:custGeom>
          <a:ln w="22860">
            <a:solidFill>
              <a:srgbClr val="15AF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2860" y="3010661"/>
            <a:ext cx="377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40" dirty="0"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16558" y="3028950"/>
            <a:ext cx="258445" cy="76200"/>
          </a:xfrm>
          <a:custGeom>
            <a:avLst/>
            <a:gdLst/>
            <a:ahLst/>
            <a:cxnLst/>
            <a:rect l="l" t="t" r="r" b="b"/>
            <a:pathLst>
              <a:path w="258444" h="76200">
                <a:moveTo>
                  <a:pt x="181863" y="0"/>
                </a:moveTo>
                <a:lnTo>
                  <a:pt x="181863" y="76200"/>
                </a:lnTo>
                <a:lnTo>
                  <a:pt x="238252" y="48005"/>
                </a:lnTo>
                <a:lnTo>
                  <a:pt x="194563" y="48005"/>
                </a:lnTo>
                <a:lnTo>
                  <a:pt x="194563" y="28194"/>
                </a:lnTo>
                <a:lnTo>
                  <a:pt x="238252" y="28194"/>
                </a:lnTo>
                <a:lnTo>
                  <a:pt x="181863" y="0"/>
                </a:lnTo>
                <a:close/>
              </a:path>
              <a:path w="258444" h="76200">
                <a:moveTo>
                  <a:pt x="181863" y="28194"/>
                </a:moveTo>
                <a:lnTo>
                  <a:pt x="0" y="28194"/>
                </a:lnTo>
                <a:lnTo>
                  <a:pt x="0" y="48005"/>
                </a:lnTo>
                <a:lnTo>
                  <a:pt x="181863" y="48005"/>
                </a:lnTo>
                <a:lnTo>
                  <a:pt x="181863" y="28194"/>
                </a:lnTo>
                <a:close/>
              </a:path>
              <a:path w="258444" h="76200">
                <a:moveTo>
                  <a:pt x="238252" y="28194"/>
                </a:moveTo>
                <a:lnTo>
                  <a:pt x="194563" y="28194"/>
                </a:lnTo>
                <a:lnTo>
                  <a:pt x="194563" y="48005"/>
                </a:lnTo>
                <a:lnTo>
                  <a:pt x="238252" y="48005"/>
                </a:lnTo>
                <a:lnTo>
                  <a:pt x="258064" y="38100"/>
                </a:lnTo>
                <a:lnTo>
                  <a:pt x="238252" y="2819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67255" y="1002791"/>
          <a:ext cx="8522335" cy="348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3195"/>
                <a:gridCol w="266700"/>
                <a:gridCol w="1580515"/>
                <a:gridCol w="265429"/>
                <a:gridCol w="1431289"/>
                <a:gridCol w="337185"/>
                <a:gridCol w="1437639"/>
                <a:gridCol w="337184"/>
                <a:gridCol w="1431290"/>
              </a:tblGrid>
              <a:tr h="406146">
                <a:tc gridSpan="9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EI </a:t>
                      </a:r>
                      <a:r>
                        <a:rPr sz="1600" b="1" spc="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Intelligent</a:t>
                      </a:r>
                      <a:r>
                        <a:rPr sz="1600" b="1" spc="1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Twins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33577">
                <a:tc gridSpan="9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6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EI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Cognition 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 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600" b="1" spc="3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9579">
                <a:tc>
                  <a:txBody>
                    <a:bodyPr/>
                    <a:lstStyle/>
                    <a:p>
                      <a:pPr marL="238125" marR="233679" indent="1657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 </a:t>
                      </a:r>
                      <a:r>
                        <a:rPr sz="1400" b="1" spc="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 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fram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5425" marR="219710" indent="127635">
                        <a:lnSpc>
                          <a:spcPts val="1510"/>
                        </a:lnSpc>
                        <a:spcBef>
                          <a:spcPts val="409"/>
                        </a:spcBef>
                      </a:pPr>
                      <a:r>
                        <a:rPr sz="1400" b="1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Algorithm 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devel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pme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A9F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400" b="1" spc="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3825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17375E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4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Deployment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3825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A9F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878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400" b="1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Market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3825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17375E"/>
                    </a:solidFill>
                  </a:tcPr>
                </a:tc>
              </a:tr>
              <a:tr h="1822703">
                <a:tc gridSpan="2">
                  <a:txBody>
                    <a:bodyPr/>
                    <a:lstStyle/>
                    <a:p>
                      <a:pPr marL="101600" marR="31877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50" spc="10" dirty="0">
                          <a:latin typeface="Arial"/>
                          <a:cs typeface="Arial"/>
                        </a:rPr>
                        <a:t>Efficient </a:t>
                      </a:r>
                      <a:r>
                        <a:rPr sz="1050" spc="35" dirty="0">
                          <a:latin typeface="Arial"/>
                          <a:cs typeface="Arial"/>
                        </a:rPr>
                        <a:t>filtering</a:t>
                      </a:r>
                      <a:r>
                        <a:rPr sz="10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and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semi-automated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labeling,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data  </a:t>
                      </a:r>
                      <a:r>
                        <a:rPr sz="1050" spc="-5" dirty="0">
                          <a:latin typeface="Arial"/>
                          <a:cs typeface="Arial"/>
                        </a:rPr>
                        <a:t>preprocessing  </a:t>
                      </a:r>
                      <a:r>
                        <a:rPr sz="1050" b="1" spc="-15" dirty="0">
                          <a:latin typeface="Arial"/>
                          <a:cs typeface="Arial"/>
                        </a:rPr>
                        <a:t>Efficiency </a:t>
                      </a:r>
                      <a:r>
                        <a:rPr sz="1050" b="1" spc="5" dirty="0">
                          <a:latin typeface="Arial"/>
                          <a:cs typeface="Arial"/>
                        </a:rPr>
                        <a:t>improved  </a:t>
                      </a:r>
                      <a:r>
                        <a:rPr sz="1050" b="1" spc="-15" dirty="0">
                          <a:latin typeface="Arial"/>
                          <a:cs typeface="Arial"/>
                        </a:rPr>
                        <a:t>by </a:t>
                      </a:r>
                      <a:r>
                        <a:rPr sz="1050" b="1" spc="25" dirty="0">
                          <a:latin typeface="Arial"/>
                          <a:cs typeface="Arial"/>
                        </a:rPr>
                        <a:t>100</a:t>
                      </a:r>
                      <a:r>
                        <a:rPr sz="105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5" dirty="0">
                          <a:latin typeface="Arial"/>
                          <a:cs typeface="Arial"/>
                        </a:rPr>
                        <a:t>times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9875" marR="222250" indent="635" algn="ctr">
                        <a:lnSpc>
                          <a:spcPct val="90000"/>
                        </a:lnSpc>
                        <a:spcBef>
                          <a:spcPts val="555"/>
                        </a:spcBef>
                      </a:pPr>
                      <a:r>
                        <a:rPr sz="1050" b="1" spc="30" dirty="0">
                          <a:latin typeface="Arial"/>
                          <a:cs typeface="Arial"/>
                        </a:rPr>
                        <a:t>Out-of-the-box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development 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environment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compatible </a:t>
                      </a:r>
                      <a:r>
                        <a:rPr sz="1050" spc="50" dirty="0">
                          <a:latin typeface="Arial"/>
                          <a:cs typeface="Arial"/>
                        </a:rPr>
                        <a:t>with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mainstream  frameworks  </a:t>
                      </a:r>
                      <a:r>
                        <a:rPr sz="1050" b="1" spc="15" dirty="0">
                          <a:latin typeface="Arial"/>
                          <a:cs typeface="Arial"/>
                        </a:rPr>
                        <a:t>MoXing </a:t>
                      </a:r>
                      <a:r>
                        <a:rPr sz="1050" b="1" spc="5" dirty="0">
                          <a:latin typeface="Arial"/>
                          <a:cs typeface="Arial"/>
                        </a:rPr>
                        <a:t>library</a:t>
                      </a:r>
                      <a:r>
                        <a:rPr sz="1050" spc="5" dirty="0">
                          <a:latin typeface="Arial"/>
                          <a:cs typeface="Arial"/>
                        </a:rPr>
                        <a:t>,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simplifying</a:t>
                      </a:r>
                      <a:r>
                        <a:rPr sz="10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model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development 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Built-in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model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112395" marR="62865" indent="-635" algn="ctr">
                        <a:lnSpc>
                          <a:spcPts val="1130"/>
                        </a:lnSpc>
                        <a:spcBef>
                          <a:spcPts val="25"/>
                        </a:spcBef>
                      </a:pPr>
                      <a:r>
                        <a:rPr sz="1050" spc="20" dirty="0">
                          <a:latin typeface="Arial"/>
                          <a:cs typeface="Arial"/>
                        </a:rPr>
                        <a:t>algorithms,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improving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development</a:t>
                      </a:r>
                      <a:r>
                        <a:rPr sz="10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5" dirty="0">
                          <a:latin typeface="Arial"/>
                          <a:cs typeface="Arial"/>
                        </a:rPr>
                        <a:t>efficiency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 marR="7239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50" spc="20" dirty="0">
                          <a:latin typeface="Arial"/>
                          <a:cs typeface="Arial"/>
                        </a:rPr>
                        <a:t>Distributed</a:t>
                      </a:r>
                      <a:r>
                        <a:rPr sz="10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training,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shortening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training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period </a:t>
                      </a:r>
                      <a:r>
                        <a:rPr sz="1050" b="1" spc="30" dirty="0">
                          <a:latin typeface="Arial"/>
                          <a:cs typeface="Arial"/>
                        </a:rPr>
                        <a:t>from 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weeks  </a:t>
                      </a:r>
                      <a:r>
                        <a:rPr sz="1050" b="1" spc="3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05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10" dirty="0">
                          <a:latin typeface="Arial"/>
                          <a:cs typeface="Arial"/>
                        </a:rPr>
                        <a:t>minutes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120650" marR="57150" indent="-1905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Wizard-based  </a:t>
                      </a:r>
                      <a:r>
                        <a:rPr sz="1050" spc="10" dirty="0">
                          <a:latin typeface="Arial"/>
                          <a:cs typeface="Arial"/>
                        </a:rPr>
                        <a:t>AutoLearning</a:t>
                      </a:r>
                      <a:r>
                        <a:rPr sz="1050" b="1" spc="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05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code-  </a:t>
                      </a:r>
                      <a:r>
                        <a:rPr sz="1050" b="1" spc="20" dirty="0">
                          <a:latin typeface="Arial"/>
                          <a:cs typeface="Arial"/>
                        </a:rPr>
                        <a:t>free </a:t>
                      </a:r>
                      <a:r>
                        <a:rPr sz="1050" b="1" spc="10" dirty="0">
                          <a:latin typeface="Arial"/>
                          <a:cs typeface="Arial"/>
                        </a:rPr>
                        <a:t>development,  enabling </a:t>
                      </a:r>
                      <a:r>
                        <a:rPr sz="1050" b="1" spc="15" dirty="0">
                          <a:latin typeface="Arial"/>
                          <a:cs typeface="Arial"/>
                        </a:rPr>
                        <a:t>model  </a:t>
                      </a:r>
                      <a:r>
                        <a:rPr sz="1050" b="1" spc="20" dirty="0">
                          <a:latin typeface="Arial"/>
                          <a:cs typeface="Arial"/>
                        </a:rPr>
                        <a:t>training </a:t>
                      </a:r>
                      <a:r>
                        <a:rPr sz="1050" b="1" spc="30" dirty="0">
                          <a:latin typeface="Arial"/>
                          <a:cs typeface="Arial"/>
                        </a:rPr>
                        <a:t>from  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scratch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5425" marR="16192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50" spc="5" dirty="0">
                          <a:latin typeface="Arial"/>
                          <a:cs typeface="Arial"/>
                        </a:rPr>
                        <a:t>One-click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deployment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on  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device, 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edge,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and  cloud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139700" marR="76200" indent="25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10" dirty="0">
                          <a:latin typeface="Arial"/>
                          <a:cs typeface="Arial"/>
                        </a:rPr>
                        <a:t>All-scenario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deployment 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Inference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the  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Ascend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AI 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processor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 marR="895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AI </a:t>
                      </a:r>
                      <a:r>
                        <a:rPr sz="1050" spc="10" dirty="0">
                          <a:latin typeface="Arial"/>
                          <a:cs typeface="Arial"/>
                        </a:rPr>
                        <a:t>sharing</a:t>
                      </a:r>
                      <a:r>
                        <a:rPr sz="10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45" dirty="0">
                          <a:latin typeface="Arial"/>
                          <a:cs typeface="Arial"/>
                        </a:rPr>
                        <a:t>platform  </a:t>
                      </a:r>
                      <a:r>
                        <a:rPr sz="1050" spc="-5" dirty="0">
                          <a:latin typeface="Arial"/>
                          <a:cs typeface="Arial"/>
                        </a:rPr>
                        <a:t>helps enterprises 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build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internal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and  external 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AI  </a:t>
                      </a:r>
                      <a:r>
                        <a:rPr sz="1050" b="1" spc="-35" dirty="0">
                          <a:latin typeface="Arial"/>
                          <a:cs typeface="Arial"/>
                        </a:rPr>
                        <a:t>ecosystems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76427">
                <a:tc gridSpan="9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Visualized </a:t>
                      </a:r>
                      <a:r>
                        <a:rPr sz="1400" b="1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Workflow</a:t>
                      </a: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3105150" y="3029585"/>
            <a:ext cx="266065" cy="76200"/>
          </a:xfrm>
          <a:custGeom>
            <a:avLst/>
            <a:gdLst/>
            <a:ahLst/>
            <a:cxnLst/>
            <a:rect l="l" t="t" r="r" b="b"/>
            <a:pathLst>
              <a:path w="266064" h="76200">
                <a:moveTo>
                  <a:pt x="189277" y="47966"/>
                </a:moveTo>
                <a:lnTo>
                  <a:pt x="189229" y="76200"/>
                </a:lnTo>
                <a:lnTo>
                  <a:pt x="245900" y="48005"/>
                </a:lnTo>
                <a:lnTo>
                  <a:pt x="201929" y="48005"/>
                </a:lnTo>
                <a:lnTo>
                  <a:pt x="189277" y="47966"/>
                </a:lnTo>
                <a:close/>
              </a:path>
              <a:path w="266064" h="76200">
                <a:moveTo>
                  <a:pt x="189310" y="28153"/>
                </a:moveTo>
                <a:lnTo>
                  <a:pt x="189277" y="47966"/>
                </a:lnTo>
                <a:lnTo>
                  <a:pt x="201929" y="48005"/>
                </a:lnTo>
                <a:lnTo>
                  <a:pt x="202057" y="28193"/>
                </a:lnTo>
                <a:lnTo>
                  <a:pt x="189310" y="28153"/>
                </a:lnTo>
                <a:close/>
              </a:path>
              <a:path w="266064" h="76200">
                <a:moveTo>
                  <a:pt x="189357" y="0"/>
                </a:moveTo>
                <a:lnTo>
                  <a:pt x="189310" y="28153"/>
                </a:lnTo>
                <a:lnTo>
                  <a:pt x="202057" y="28193"/>
                </a:lnTo>
                <a:lnTo>
                  <a:pt x="201929" y="48005"/>
                </a:lnTo>
                <a:lnTo>
                  <a:pt x="245900" y="48005"/>
                </a:lnTo>
                <a:lnTo>
                  <a:pt x="265557" y="38226"/>
                </a:lnTo>
                <a:lnTo>
                  <a:pt x="189357" y="0"/>
                </a:lnTo>
                <a:close/>
              </a:path>
              <a:path w="266064" h="76200">
                <a:moveTo>
                  <a:pt x="0" y="27559"/>
                </a:moveTo>
                <a:lnTo>
                  <a:pt x="0" y="47370"/>
                </a:lnTo>
                <a:lnTo>
                  <a:pt x="189277" y="47966"/>
                </a:lnTo>
                <a:lnTo>
                  <a:pt x="189310" y="28153"/>
                </a:lnTo>
                <a:lnTo>
                  <a:pt x="0" y="27559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52238" y="3030473"/>
            <a:ext cx="266065" cy="76200"/>
          </a:xfrm>
          <a:custGeom>
            <a:avLst/>
            <a:gdLst/>
            <a:ahLst/>
            <a:cxnLst/>
            <a:rect l="l" t="t" r="r" b="b"/>
            <a:pathLst>
              <a:path w="266064" h="76200">
                <a:moveTo>
                  <a:pt x="189357" y="0"/>
                </a:moveTo>
                <a:lnTo>
                  <a:pt x="189357" y="76200"/>
                </a:lnTo>
                <a:lnTo>
                  <a:pt x="245745" y="48005"/>
                </a:lnTo>
                <a:lnTo>
                  <a:pt x="202057" y="48005"/>
                </a:lnTo>
                <a:lnTo>
                  <a:pt x="202057" y="28193"/>
                </a:lnTo>
                <a:lnTo>
                  <a:pt x="245744" y="28193"/>
                </a:lnTo>
                <a:lnTo>
                  <a:pt x="189357" y="0"/>
                </a:lnTo>
                <a:close/>
              </a:path>
              <a:path w="266064" h="76200">
                <a:moveTo>
                  <a:pt x="189357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189357" y="48005"/>
                </a:lnTo>
                <a:lnTo>
                  <a:pt x="189357" y="28193"/>
                </a:lnTo>
                <a:close/>
              </a:path>
              <a:path w="266064" h="76200">
                <a:moveTo>
                  <a:pt x="245744" y="28193"/>
                </a:moveTo>
                <a:lnTo>
                  <a:pt x="202057" y="28193"/>
                </a:lnTo>
                <a:lnTo>
                  <a:pt x="202057" y="48005"/>
                </a:lnTo>
                <a:lnTo>
                  <a:pt x="245745" y="48005"/>
                </a:lnTo>
                <a:lnTo>
                  <a:pt x="265557" y="38100"/>
                </a:lnTo>
                <a:lnTo>
                  <a:pt x="245744" y="28193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54545" y="3029585"/>
            <a:ext cx="337820" cy="76200"/>
          </a:xfrm>
          <a:custGeom>
            <a:avLst/>
            <a:gdLst/>
            <a:ahLst/>
            <a:cxnLst/>
            <a:rect l="l" t="t" r="r" b="b"/>
            <a:pathLst>
              <a:path w="337820" h="76200">
                <a:moveTo>
                  <a:pt x="261159" y="47976"/>
                </a:moveTo>
                <a:lnTo>
                  <a:pt x="261111" y="76200"/>
                </a:lnTo>
                <a:lnTo>
                  <a:pt x="317688" y="48005"/>
                </a:lnTo>
                <a:lnTo>
                  <a:pt x="273811" y="48005"/>
                </a:lnTo>
                <a:lnTo>
                  <a:pt x="261159" y="47976"/>
                </a:lnTo>
                <a:close/>
              </a:path>
              <a:path w="337820" h="76200">
                <a:moveTo>
                  <a:pt x="261192" y="28164"/>
                </a:moveTo>
                <a:lnTo>
                  <a:pt x="261159" y="47976"/>
                </a:lnTo>
                <a:lnTo>
                  <a:pt x="273811" y="48005"/>
                </a:lnTo>
                <a:lnTo>
                  <a:pt x="273938" y="28193"/>
                </a:lnTo>
                <a:lnTo>
                  <a:pt x="261192" y="28164"/>
                </a:lnTo>
                <a:close/>
              </a:path>
              <a:path w="337820" h="76200">
                <a:moveTo>
                  <a:pt x="261238" y="0"/>
                </a:moveTo>
                <a:lnTo>
                  <a:pt x="261192" y="28164"/>
                </a:lnTo>
                <a:lnTo>
                  <a:pt x="273938" y="28193"/>
                </a:lnTo>
                <a:lnTo>
                  <a:pt x="273811" y="48005"/>
                </a:lnTo>
                <a:lnTo>
                  <a:pt x="317688" y="48005"/>
                </a:lnTo>
                <a:lnTo>
                  <a:pt x="337311" y="38226"/>
                </a:lnTo>
                <a:lnTo>
                  <a:pt x="261238" y="0"/>
                </a:lnTo>
                <a:close/>
              </a:path>
              <a:path w="337820" h="76200">
                <a:moveTo>
                  <a:pt x="0" y="27559"/>
                </a:moveTo>
                <a:lnTo>
                  <a:pt x="0" y="47370"/>
                </a:lnTo>
                <a:lnTo>
                  <a:pt x="261159" y="47976"/>
                </a:lnTo>
                <a:lnTo>
                  <a:pt x="261192" y="28164"/>
                </a:lnTo>
                <a:lnTo>
                  <a:pt x="0" y="27559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22385" y="3029585"/>
            <a:ext cx="337820" cy="76200"/>
          </a:xfrm>
          <a:custGeom>
            <a:avLst/>
            <a:gdLst/>
            <a:ahLst/>
            <a:cxnLst/>
            <a:rect l="l" t="t" r="r" b="b"/>
            <a:pathLst>
              <a:path w="337820" h="76200">
                <a:moveTo>
                  <a:pt x="261159" y="47976"/>
                </a:moveTo>
                <a:lnTo>
                  <a:pt x="261112" y="76200"/>
                </a:lnTo>
                <a:lnTo>
                  <a:pt x="317688" y="48005"/>
                </a:lnTo>
                <a:lnTo>
                  <a:pt x="273812" y="48005"/>
                </a:lnTo>
                <a:lnTo>
                  <a:pt x="261159" y="47976"/>
                </a:lnTo>
                <a:close/>
              </a:path>
              <a:path w="337820" h="76200">
                <a:moveTo>
                  <a:pt x="261192" y="28164"/>
                </a:moveTo>
                <a:lnTo>
                  <a:pt x="261159" y="47976"/>
                </a:lnTo>
                <a:lnTo>
                  <a:pt x="273812" y="48005"/>
                </a:lnTo>
                <a:lnTo>
                  <a:pt x="273939" y="28193"/>
                </a:lnTo>
                <a:lnTo>
                  <a:pt x="261192" y="28164"/>
                </a:lnTo>
                <a:close/>
              </a:path>
              <a:path w="337820" h="76200">
                <a:moveTo>
                  <a:pt x="261239" y="0"/>
                </a:moveTo>
                <a:lnTo>
                  <a:pt x="261192" y="28164"/>
                </a:lnTo>
                <a:lnTo>
                  <a:pt x="273939" y="28193"/>
                </a:lnTo>
                <a:lnTo>
                  <a:pt x="273812" y="48005"/>
                </a:lnTo>
                <a:lnTo>
                  <a:pt x="317688" y="48005"/>
                </a:lnTo>
                <a:lnTo>
                  <a:pt x="337312" y="38226"/>
                </a:lnTo>
                <a:lnTo>
                  <a:pt x="261239" y="0"/>
                </a:lnTo>
                <a:close/>
              </a:path>
              <a:path w="337820" h="76200">
                <a:moveTo>
                  <a:pt x="0" y="27559"/>
                </a:moveTo>
                <a:lnTo>
                  <a:pt x="0" y="47370"/>
                </a:lnTo>
                <a:lnTo>
                  <a:pt x="261159" y="47976"/>
                </a:lnTo>
                <a:lnTo>
                  <a:pt x="261192" y="28164"/>
                </a:lnTo>
                <a:lnTo>
                  <a:pt x="0" y="27559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0194035" y="2673095"/>
            <a:ext cx="1266825" cy="698500"/>
            <a:chOff x="10194035" y="2673095"/>
            <a:chExt cx="1266825" cy="698500"/>
          </a:xfrm>
        </p:grpSpPr>
        <p:sp>
          <p:nvSpPr>
            <p:cNvPr id="13" name="object 13"/>
            <p:cNvSpPr/>
            <p:nvPr/>
          </p:nvSpPr>
          <p:spPr>
            <a:xfrm>
              <a:off x="10194035" y="3028822"/>
              <a:ext cx="337820" cy="76200"/>
            </a:xfrm>
            <a:custGeom>
              <a:avLst/>
              <a:gdLst/>
              <a:ahLst/>
              <a:cxnLst/>
              <a:rect l="l" t="t" r="r" b="b"/>
              <a:pathLst>
                <a:path w="337820" h="76200">
                  <a:moveTo>
                    <a:pt x="261164" y="44420"/>
                  </a:moveTo>
                  <a:lnTo>
                    <a:pt x="261112" y="76200"/>
                  </a:lnTo>
                  <a:lnTo>
                    <a:pt x="324824" y="44450"/>
                  </a:lnTo>
                  <a:lnTo>
                    <a:pt x="273812" y="44450"/>
                  </a:lnTo>
                  <a:lnTo>
                    <a:pt x="261164" y="44420"/>
                  </a:lnTo>
                  <a:close/>
                </a:path>
                <a:path w="337820" h="76200">
                  <a:moveTo>
                    <a:pt x="261186" y="31720"/>
                  </a:moveTo>
                  <a:lnTo>
                    <a:pt x="261164" y="44420"/>
                  </a:lnTo>
                  <a:lnTo>
                    <a:pt x="273812" y="44450"/>
                  </a:lnTo>
                  <a:lnTo>
                    <a:pt x="273939" y="31750"/>
                  </a:lnTo>
                  <a:lnTo>
                    <a:pt x="261186" y="31720"/>
                  </a:lnTo>
                  <a:close/>
                </a:path>
                <a:path w="337820" h="76200">
                  <a:moveTo>
                    <a:pt x="261239" y="0"/>
                  </a:moveTo>
                  <a:lnTo>
                    <a:pt x="261186" y="31720"/>
                  </a:lnTo>
                  <a:lnTo>
                    <a:pt x="273939" y="31750"/>
                  </a:lnTo>
                  <a:lnTo>
                    <a:pt x="273812" y="44450"/>
                  </a:lnTo>
                  <a:lnTo>
                    <a:pt x="324824" y="44450"/>
                  </a:lnTo>
                  <a:lnTo>
                    <a:pt x="337312" y="38226"/>
                  </a:lnTo>
                  <a:lnTo>
                    <a:pt x="261239" y="0"/>
                  </a:lnTo>
                  <a:close/>
                </a:path>
                <a:path w="337820" h="76200">
                  <a:moveTo>
                    <a:pt x="0" y="31114"/>
                  </a:moveTo>
                  <a:lnTo>
                    <a:pt x="0" y="43814"/>
                  </a:lnTo>
                  <a:lnTo>
                    <a:pt x="261164" y="44420"/>
                  </a:lnTo>
                  <a:lnTo>
                    <a:pt x="261186" y="3172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457687" y="2673095"/>
              <a:ext cx="1002792" cy="6979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674876" y="5222747"/>
            <a:ext cx="8514715" cy="360045"/>
            <a:chOff x="1674876" y="5222747"/>
            <a:chExt cx="8514715" cy="360045"/>
          </a:xfrm>
        </p:grpSpPr>
        <p:sp>
          <p:nvSpPr>
            <p:cNvPr id="16" name="object 16"/>
            <p:cNvSpPr/>
            <p:nvPr/>
          </p:nvSpPr>
          <p:spPr>
            <a:xfrm>
              <a:off x="1674876" y="5376417"/>
              <a:ext cx="8514715" cy="106680"/>
            </a:xfrm>
            <a:custGeom>
              <a:avLst/>
              <a:gdLst/>
              <a:ahLst/>
              <a:cxnLst/>
              <a:rect l="l" t="t" r="r" b="b"/>
              <a:pathLst>
                <a:path w="8514715" h="106679">
                  <a:moveTo>
                    <a:pt x="8471456" y="60967"/>
                  </a:moveTo>
                  <a:lnTo>
                    <a:pt x="8415655" y="93217"/>
                  </a:lnTo>
                  <a:lnTo>
                    <a:pt x="8414385" y="97789"/>
                  </a:lnTo>
                  <a:lnTo>
                    <a:pt x="8416544" y="101472"/>
                  </a:lnTo>
                  <a:lnTo>
                    <a:pt x="8418576" y="105155"/>
                  </a:lnTo>
                  <a:lnTo>
                    <a:pt x="8423275" y="106298"/>
                  </a:lnTo>
                  <a:lnTo>
                    <a:pt x="8426958" y="104266"/>
                  </a:lnTo>
                  <a:lnTo>
                    <a:pt x="8501630" y="61086"/>
                  </a:lnTo>
                  <a:lnTo>
                    <a:pt x="8471456" y="60967"/>
                  </a:lnTo>
                  <a:close/>
                </a:path>
                <a:path w="8514715" h="106679">
                  <a:moveTo>
                    <a:pt x="8484436" y="53472"/>
                  </a:moveTo>
                  <a:lnTo>
                    <a:pt x="8471456" y="60967"/>
                  </a:lnTo>
                  <a:lnTo>
                    <a:pt x="8499348" y="61086"/>
                  </a:lnTo>
                  <a:lnTo>
                    <a:pt x="8499356" y="60070"/>
                  </a:lnTo>
                  <a:lnTo>
                    <a:pt x="8495665" y="60070"/>
                  </a:lnTo>
                  <a:lnTo>
                    <a:pt x="8484436" y="53472"/>
                  </a:lnTo>
                  <a:close/>
                </a:path>
                <a:path w="8514715" h="106679">
                  <a:moveTo>
                    <a:pt x="8423783" y="0"/>
                  </a:moveTo>
                  <a:lnTo>
                    <a:pt x="8419084" y="1269"/>
                  </a:lnTo>
                  <a:lnTo>
                    <a:pt x="8416925" y="4825"/>
                  </a:lnTo>
                  <a:lnTo>
                    <a:pt x="8414766" y="8508"/>
                  </a:lnTo>
                  <a:lnTo>
                    <a:pt x="8416036" y="13207"/>
                  </a:lnTo>
                  <a:lnTo>
                    <a:pt x="8419592" y="15366"/>
                  </a:lnTo>
                  <a:lnTo>
                    <a:pt x="8471254" y="45725"/>
                  </a:lnTo>
                  <a:lnTo>
                    <a:pt x="8499475" y="45846"/>
                  </a:lnTo>
                  <a:lnTo>
                    <a:pt x="8499348" y="61086"/>
                  </a:lnTo>
                  <a:lnTo>
                    <a:pt x="8501630" y="61086"/>
                  </a:lnTo>
                  <a:lnTo>
                    <a:pt x="8514588" y="53593"/>
                  </a:lnTo>
                  <a:lnTo>
                    <a:pt x="8427339" y="2158"/>
                  </a:lnTo>
                  <a:lnTo>
                    <a:pt x="8423783" y="0"/>
                  </a:lnTo>
                  <a:close/>
                </a:path>
                <a:path w="8514715" h="106679">
                  <a:moveTo>
                    <a:pt x="0" y="9397"/>
                  </a:moveTo>
                  <a:lnTo>
                    <a:pt x="0" y="24637"/>
                  </a:lnTo>
                  <a:lnTo>
                    <a:pt x="8471456" y="60967"/>
                  </a:lnTo>
                  <a:lnTo>
                    <a:pt x="8484436" y="53472"/>
                  </a:lnTo>
                  <a:lnTo>
                    <a:pt x="8471254" y="45725"/>
                  </a:lnTo>
                  <a:lnTo>
                    <a:pt x="0" y="9397"/>
                  </a:lnTo>
                  <a:close/>
                </a:path>
                <a:path w="8514715" h="106679">
                  <a:moveTo>
                    <a:pt x="8495665" y="46989"/>
                  </a:moveTo>
                  <a:lnTo>
                    <a:pt x="8484436" y="53472"/>
                  </a:lnTo>
                  <a:lnTo>
                    <a:pt x="8495665" y="60070"/>
                  </a:lnTo>
                  <a:lnTo>
                    <a:pt x="8495665" y="46989"/>
                  </a:lnTo>
                  <a:close/>
                </a:path>
                <a:path w="8514715" h="106679">
                  <a:moveTo>
                    <a:pt x="8499465" y="46989"/>
                  </a:moveTo>
                  <a:lnTo>
                    <a:pt x="8495665" y="46989"/>
                  </a:lnTo>
                  <a:lnTo>
                    <a:pt x="8495665" y="60070"/>
                  </a:lnTo>
                  <a:lnTo>
                    <a:pt x="8499356" y="60070"/>
                  </a:lnTo>
                  <a:lnTo>
                    <a:pt x="8499465" y="46989"/>
                  </a:lnTo>
                  <a:close/>
                </a:path>
                <a:path w="8514715" h="106679">
                  <a:moveTo>
                    <a:pt x="8471254" y="45725"/>
                  </a:moveTo>
                  <a:lnTo>
                    <a:pt x="8484436" y="53472"/>
                  </a:lnTo>
                  <a:lnTo>
                    <a:pt x="8495665" y="46989"/>
                  </a:lnTo>
                  <a:lnTo>
                    <a:pt x="8499465" y="46989"/>
                  </a:lnTo>
                  <a:lnTo>
                    <a:pt x="8499475" y="45846"/>
                  </a:lnTo>
                  <a:lnTo>
                    <a:pt x="8471254" y="4572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90544" y="5222747"/>
              <a:ext cx="342900" cy="360045"/>
            </a:xfrm>
            <a:custGeom>
              <a:avLst/>
              <a:gdLst/>
              <a:ahLst/>
              <a:cxnLst/>
              <a:rect l="l" t="t" r="r" b="b"/>
              <a:pathLst>
                <a:path w="342900" h="360045">
                  <a:moveTo>
                    <a:pt x="171450" y="0"/>
                  </a:moveTo>
                  <a:lnTo>
                    <a:pt x="125853" y="6424"/>
                  </a:lnTo>
                  <a:lnTo>
                    <a:pt x="84892" y="24553"/>
                  </a:lnTo>
                  <a:lnTo>
                    <a:pt x="50196" y="52673"/>
                  </a:lnTo>
                  <a:lnTo>
                    <a:pt x="23396" y="89069"/>
                  </a:lnTo>
                  <a:lnTo>
                    <a:pt x="6120" y="132027"/>
                  </a:lnTo>
                  <a:lnTo>
                    <a:pt x="0" y="179831"/>
                  </a:lnTo>
                  <a:lnTo>
                    <a:pt x="6120" y="227636"/>
                  </a:lnTo>
                  <a:lnTo>
                    <a:pt x="23396" y="270594"/>
                  </a:lnTo>
                  <a:lnTo>
                    <a:pt x="50196" y="306990"/>
                  </a:lnTo>
                  <a:lnTo>
                    <a:pt x="84892" y="335110"/>
                  </a:lnTo>
                  <a:lnTo>
                    <a:pt x="125853" y="353239"/>
                  </a:lnTo>
                  <a:lnTo>
                    <a:pt x="171450" y="359663"/>
                  </a:lnTo>
                  <a:lnTo>
                    <a:pt x="217046" y="353239"/>
                  </a:lnTo>
                  <a:lnTo>
                    <a:pt x="258007" y="335110"/>
                  </a:lnTo>
                  <a:lnTo>
                    <a:pt x="292703" y="306990"/>
                  </a:lnTo>
                  <a:lnTo>
                    <a:pt x="319503" y="270594"/>
                  </a:lnTo>
                  <a:lnTo>
                    <a:pt x="336779" y="227636"/>
                  </a:lnTo>
                  <a:lnTo>
                    <a:pt x="342900" y="179831"/>
                  </a:lnTo>
                  <a:lnTo>
                    <a:pt x="336779" y="132027"/>
                  </a:lnTo>
                  <a:lnTo>
                    <a:pt x="319503" y="89069"/>
                  </a:lnTo>
                  <a:lnTo>
                    <a:pt x="292703" y="52673"/>
                  </a:lnTo>
                  <a:lnTo>
                    <a:pt x="258007" y="24553"/>
                  </a:lnTo>
                  <a:lnTo>
                    <a:pt x="217046" y="642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48455" y="5274563"/>
              <a:ext cx="214884" cy="2575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79320" y="5222747"/>
              <a:ext cx="344805" cy="360045"/>
            </a:xfrm>
            <a:custGeom>
              <a:avLst/>
              <a:gdLst/>
              <a:ahLst/>
              <a:cxnLst/>
              <a:rect l="l" t="t" r="r" b="b"/>
              <a:pathLst>
                <a:path w="344805" h="360045">
                  <a:moveTo>
                    <a:pt x="172212" y="0"/>
                  </a:moveTo>
                  <a:lnTo>
                    <a:pt x="126426" y="6424"/>
                  </a:lnTo>
                  <a:lnTo>
                    <a:pt x="85287" y="24553"/>
                  </a:lnTo>
                  <a:lnTo>
                    <a:pt x="50434" y="52673"/>
                  </a:lnTo>
                  <a:lnTo>
                    <a:pt x="23509" y="89069"/>
                  </a:lnTo>
                  <a:lnTo>
                    <a:pt x="6150" y="132027"/>
                  </a:lnTo>
                  <a:lnTo>
                    <a:pt x="0" y="179831"/>
                  </a:lnTo>
                  <a:lnTo>
                    <a:pt x="6150" y="227636"/>
                  </a:lnTo>
                  <a:lnTo>
                    <a:pt x="23509" y="270594"/>
                  </a:lnTo>
                  <a:lnTo>
                    <a:pt x="50434" y="306990"/>
                  </a:lnTo>
                  <a:lnTo>
                    <a:pt x="85287" y="335110"/>
                  </a:lnTo>
                  <a:lnTo>
                    <a:pt x="126426" y="353239"/>
                  </a:lnTo>
                  <a:lnTo>
                    <a:pt x="172212" y="359663"/>
                  </a:lnTo>
                  <a:lnTo>
                    <a:pt x="217997" y="353239"/>
                  </a:lnTo>
                  <a:lnTo>
                    <a:pt x="259136" y="335110"/>
                  </a:lnTo>
                  <a:lnTo>
                    <a:pt x="293989" y="306990"/>
                  </a:lnTo>
                  <a:lnTo>
                    <a:pt x="320914" y="270594"/>
                  </a:lnTo>
                  <a:lnTo>
                    <a:pt x="338273" y="227636"/>
                  </a:lnTo>
                  <a:lnTo>
                    <a:pt x="344424" y="179831"/>
                  </a:lnTo>
                  <a:lnTo>
                    <a:pt x="338273" y="132027"/>
                  </a:lnTo>
                  <a:lnTo>
                    <a:pt x="320914" y="89069"/>
                  </a:lnTo>
                  <a:lnTo>
                    <a:pt x="293989" y="52673"/>
                  </a:lnTo>
                  <a:lnTo>
                    <a:pt x="259136" y="24553"/>
                  </a:lnTo>
                  <a:lnTo>
                    <a:pt x="217997" y="6424"/>
                  </a:lnTo>
                  <a:lnTo>
                    <a:pt x="17221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44852" y="5283707"/>
              <a:ext cx="208787" cy="22402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29344" y="5222747"/>
              <a:ext cx="342900" cy="360045"/>
            </a:xfrm>
            <a:custGeom>
              <a:avLst/>
              <a:gdLst/>
              <a:ahLst/>
              <a:cxnLst/>
              <a:rect l="l" t="t" r="r" b="b"/>
              <a:pathLst>
                <a:path w="342900" h="360045">
                  <a:moveTo>
                    <a:pt x="171450" y="0"/>
                  </a:moveTo>
                  <a:lnTo>
                    <a:pt x="125853" y="6424"/>
                  </a:lnTo>
                  <a:lnTo>
                    <a:pt x="84892" y="24553"/>
                  </a:lnTo>
                  <a:lnTo>
                    <a:pt x="50196" y="52673"/>
                  </a:lnTo>
                  <a:lnTo>
                    <a:pt x="23396" y="89069"/>
                  </a:lnTo>
                  <a:lnTo>
                    <a:pt x="6120" y="132027"/>
                  </a:lnTo>
                  <a:lnTo>
                    <a:pt x="0" y="179831"/>
                  </a:lnTo>
                  <a:lnTo>
                    <a:pt x="6120" y="227636"/>
                  </a:lnTo>
                  <a:lnTo>
                    <a:pt x="23396" y="270594"/>
                  </a:lnTo>
                  <a:lnTo>
                    <a:pt x="50196" y="306990"/>
                  </a:lnTo>
                  <a:lnTo>
                    <a:pt x="84892" y="335110"/>
                  </a:lnTo>
                  <a:lnTo>
                    <a:pt x="125853" y="353239"/>
                  </a:lnTo>
                  <a:lnTo>
                    <a:pt x="171450" y="359663"/>
                  </a:lnTo>
                  <a:lnTo>
                    <a:pt x="217046" y="353239"/>
                  </a:lnTo>
                  <a:lnTo>
                    <a:pt x="258007" y="335110"/>
                  </a:lnTo>
                  <a:lnTo>
                    <a:pt x="292703" y="306990"/>
                  </a:lnTo>
                  <a:lnTo>
                    <a:pt x="319503" y="270594"/>
                  </a:lnTo>
                  <a:lnTo>
                    <a:pt x="336779" y="227636"/>
                  </a:lnTo>
                  <a:lnTo>
                    <a:pt x="342900" y="179831"/>
                  </a:lnTo>
                  <a:lnTo>
                    <a:pt x="336779" y="132027"/>
                  </a:lnTo>
                  <a:lnTo>
                    <a:pt x="319503" y="89069"/>
                  </a:lnTo>
                  <a:lnTo>
                    <a:pt x="292703" y="52673"/>
                  </a:lnTo>
                  <a:lnTo>
                    <a:pt x="258007" y="24553"/>
                  </a:lnTo>
                  <a:lnTo>
                    <a:pt x="217046" y="642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9635" y="5285231"/>
              <a:ext cx="242316" cy="25450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01183" y="5222747"/>
              <a:ext cx="342900" cy="35966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13932" y="5222747"/>
              <a:ext cx="342899" cy="35966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1667255" y="4462271"/>
            <a:ext cx="8522208" cy="6736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153282" y="4496765"/>
            <a:ext cx="5611495" cy="697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100" b="1" spc="-15" baseline="1984" dirty="0">
                <a:latin typeface="Arial"/>
                <a:cs typeface="Arial"/>
              </a:rPr>
              <a:t>Version </a:t>
            </a:r>
            <a:r>
              <a:rPr sz="2100" b="1" spc="37" baseline="1984" dirty="0">
                <a:latin typeface="Arial"/>
                <a:cs typeface="Arial"/>
              </a:rPr>
              <a:t>management</a:t>
            </a:r>
            <a:r>
              <a:rPr sz="1600" spc="25" dirty="0">
                <a:latin typeface="Arial"/>
                <a:cs typeface="Arial"/>
              </a:rPr>
              <a:t>, </a:t>
            </a:r>
            <a:r>
              <a:rPr sz="1600" b="1" spc="15" dirty="0">
                <a:latin typeface="Arial"/>
                <a:cs typeface="Arial"/>
              </a:rPr>
              <a:t>traceable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spc="40" dirty="0">
                <a:latin typeface="Arial"/>
                <a:cs typeface="Arial"/>
              </a:rPr>
              <a:t>worry-free</a:t>
            </a:r>
            <a:r>
              <a:rPr sz="1600" spc="235" dirty="0">
                <a:latin typeface="Arial"/>
                <a:cs typeface="Arial"/>
              </a:rPr>
              <a:t> </a:t>
            </a:r>
            <a:r>
              <a:rPr sz="1600" spc="20" dirty="0">
                <a:latin typeface="Arial"/>
                <a:cs typeface="Arial"/>
              </a:rPr>
              <a:t>development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Arial"/>
              <a:cs typeface="Arial"/>
            </a:endParaRPr>
          </a:p>
          <a:p>
            <a:pPr marL="17780" algn="ctr">
              <a:lnSpc>
                <a:spcPct val="100000"/>
              </a:lnSpc>
              <a:spcBef>
                <a:spcPts val="5"/>
              </a:spcBef>
            </a:pPr>
            <a:r>
              <a:rPr sz="1400" b="1" spc="10" dirty="0">
                <a:latin typeface="Arial"/>
                <a:cs typeface="Arial"/>
              </a:rPr>
              <a:t>ModelArts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47570" y="5704128"/>
            <a:ext cx="1407160" cy="3149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220979">
              <a:lnSpc>
                <a:spcPts val="1080"/>
              </a:lnSpc>
              <a:spcBef>
                <a:spcPts val="229"/>
              </a:spcBef>
            </a:pPr>
            <a:r>
              <a:rPr sz="1000" spc="-15" dirty="0">
                <a:latin typeface="Arial"/>
                <a:cs typeface="Arial"/>
              </a:rPr>
              <a:t>accelerates </a:t>
            </a:r>
            <a:r>
              <a:rPr sz="1000" spc="15" dirty="0">
                <a:latin typeface="Arial"/>
                <a:cs typeface="Arial"/>
              </a:rPr>
              <a:t>data  </a:t>
            </a:r>
            <a:r>
              <a:rPr sz="1000" spc="-10" dirty="0">
                <a:latin typeface="Arial"/>
                <a:cs typeface="Arial"/>
              </a:rPr>
              <a:t>processing </a:t>
            </a:r>
            <a:r>
              <a:rPr sz="1000" dirty="0">
                <a:latin typeface="Arial"/>
                <a:cs typeface="Arial"/>
              </a:rPr>
              <a:t>by </a:t>
            </a:r>
            <a:r>
              <a:rPr sz="1000" spc="-5" dirty="0">
                <a:latin typeface="Arial"/>
                <a:cs typeface="Arial"/>
              </a:rPr>
              <a:t>100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folds.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83938" y="5566968"/>
            <a:ext cx="1004569" cy="72644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1270" algn="ctr">
              <a:lnSpc>
                <a:spcPts val="1080"/>
              </a:lnSpc>
              <a:spcBef>
                <a:spcPts val="229"/>
              </a:spcBef>
            </a:pPr>
            <a:r>
              <a:rPr sz="1000" b="1" spc="5" dirty="0">
                <a:latin typeface="Arial"/>
                <a:cs typeface="Arial"/>
              </a:rPr>
              <a:t>Distributed  </a:t>
            </a:r>
            <a:r>
              <a:rPr sz="1000" b="1" spc="15" dirty="0">
                <a:latin typeface="Arial"/>
                <a:cs typeface="Arial"/>
              </a:rPr>
              <a:t>training  </a:t>
            </a:r>
            <a:r>
              <a:rPr sz="1000" spc="-5" dirty="0">
                <a:latin typeface="Arial"/>
                <a:cs typeface="Arial"/>
              </a:rPr>
              <a:t>shortens </a:t>
            </a:r>
            <a:r>
              <a:rPr sz="1000" spc="25" dirty="0">
                <a:latin typeface="Arial"/>
                <a:cs typeface="Arial"/>
              </a:rPr>
              <a:t>training  </a:t>
            </a:r>
            <a:r>
              <a:rPr sz="1000" spc="45" dirty="0">
                <a:latin typeface="Arial"/>
                <a:cs typeface="Arial"/>
              </a:rPr>
              <a:t>from </a:t>
            </a:r>
            <a:r>
              <a:rPr sz="1000" spc="-15" dirty="0">
                <a:latin typeface="Arial"/>
                <a:cs typeface="Arial"/>
              </a:rPr>
              <a:t>weeks </a:t>
            </a:r>
            <a:r>
              <a:rPr sz="1000" spc="45" dirty="0">
                <a:latin typeface="Arial"/>
                <a:cs typeface="Arial"/>
              </a:rPr>
              <a:t>to  </a:t>
            </a:r>
            <a:r>
              <a:rPr sz="1000" spc="5" dirty="0">
                <a:latin typeface="Arial"/>
                <a:cs typeface="Arial"/>
              </a:rPr>
              <a:t>minutes.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31002" y="5566968"/>
            <a:ext cx="1563370" cy="5892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080"/>
              </a:lnSpc>
              <a:spcBef>
                <a:spcPts val="229"/>
              </a:spcBef>
            </a:pPr>
            <a:r>
              <a:rPr sz="1000" b="1" dirty="0">
                <a:latin typeface="Arial"/>
                <a:cs typeface="Arial"/>
              </a:rPr>
              <a:t>One-click </a:t>
            </a:r>
            <a:r>
              <a:rPr sz="1000" b="1" spc="5" dirty="0">
                <a:latin typeface="Arial"/>
                <a:cs typeface="Arial"/>
              </a:rPr>
              <a:t>deployment </a:t>
            </a:r>
            <a:r>
              <a:rPr sz="1000" b="1" spc="-10" dirty="0">
                <a:latin typeface="Arial"/>
                <a:cs typeface="Arial"/>
              </a:rPr>
              <a:t>on  </a:t>
            </a:r>
            <a:r>
              <a:rPr sz="1000" b="1" spc="-20" dirty="0">
                <a:latin typeface="Arial"/>
                <a:cs typeface="Arial"/>
              </a:rPr>
              <a:t>device, </a:t>
            </a:r>
            <a:r>
              <a:rPr sz="1000" b="1" spc="-15" dirty="0">
                <a:latin typeface="Arial"/>
                <a:cs typeface="Arial"/>
              </a:rPr>
              <a:t>edge, </a:t>
            </a:r>
            <a:r>
              <a:rPr sz="1000" b="1" spc="5" dirty="0">
                <a:latin typeface="Arial"/>
                <a:cs typeface="Arial"/>
              </a:rPr>
              <a:t>and </a:t>
            </a:r>
            <a:r>
              <a:rPr sz="1000" b="1" spc="-15" dirty="0">
                <a:latin typeface="Arial"/>
                <a:cs typeface="Arial"/>
              </a:rPr>
              <a:t>cloud  </a:t>
            </a:r>
            <a:r>
              <a:rPr sz="1000" dirty="0">
                <a:latin typeface="Arial"/>
                <a:cs typeface="Arial"/>
              </a:rPr>
              <a:t>supports various  </a:t>
            </a:r>
            <a:r>
              <a:rPr sz="1000" spc="15" dirty="0">
                <a:latin typeface="Arial"/>
                <a:cs typeface="Arial"/>
              </a:rPr>
              <a:t>deployment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scenarios.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49410" y="5566968"/>
            <a:ext cx="1339850" cy="5892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-2540" algn="ctr">
              <a:lnSpc>
                <a:spcPts val="1080"/>
              </a:lnSpc>
              <a:spcBef>
                <a:spcPts val="229"/>
              </a:spcBef>
            </a:pPr>
            <a:r>
              <a:rPr sz="1000" b="1" spc="-5" dirty="0">
                <a:latin typeface="Arial"/>
                <a:cs typeface="Arial"/>
              </a:rPr>
              <a:t>AI </a:t>
            </a:r>
            <a:r>
              <a:rPr sz="1000" b="1" spc="-15" dirty="0">
                <a:latin typeface="Arial"/>
                <a:cs typeface="Arial"/>
              </a:rPr>
              <a:t>sharing </a:t>
            </a:r>
            <a:r>
              <a:rPr sz="1000" b="1" spc="20" dirty="0">
                <a:latin typeface="Arial"/>
                <a:cs typeface="Arial"/>
              </a:rPr>
              <a:t>platform  </a:t>
            </a:r>
            <a:r>
              <a:rPr sz="1000" spc="10" dirty="0">
                <a:latin typeface="Arial"/>
                <a:cs typeface="Arial"/>
              </a:rPr>
              <a:t>builds </a:t>
            </a:r>
            <a:r>
              <a:rPr sz="1000" spc="25" dirty="0">
                <a:latin typeface="Arial"/>
                <a:cs typeface="Arial"/>
              </a:rPr>
              <a:t>internal </a:t>
            </a:r>
            <a:r>
              <a:rPr sz="1000" spc="10" dirty="0">
                <a:latin typeface="Arial"/>
                <a:cs typeface="Arial"/>
              </a:rPr>
              <a:t>and  external </a:t>
            </a:r>
            <a:r>
              <a:rPr sz="1000" spc="-10" dirty="0">
                <a:latin typeface="Arial"/>
                <a:cs typeface="Arial"/>
              </a:rPr>
              <a:t>AI </a:t>
            </a:r>
            <a:r>
              <a:rPr sz="1000" spc="-20" dirty="0">
                <a:latin typeface="Arial"/>
                <a:cs typeface="Arial"/>
              </a:rPr>
              <a:t>ecosystems  </a:t>
            </a:r>
            <a:r>
              <a:rPr sz="1000" spc="35" dirty="0">
                <a:latin typeface="Arial"/>
                <a:cs typeface="Arial"/>
              </a:rPr>
              <a:t>for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enterprises.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0347" y="5566968"/>
            <a:ext cx="2659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5255" algn="l"/>
              </a:tabLst>
            </a:pPr>
            <a:r>
              <a:rPr sz="1000" b="1" spc="-5" dirty="0">
                <a:latin typeface="Arial"/>
                <a:cs typeface="Arial"/>
              </a:rPr>
              <a:t>AI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20" dirty="0">
                <a:latin typeface="Arial"/>
                <a:cs typeface="Arial"/>
              </a:rPr>
              <a:t>data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b="1" spc="25" dirty="0">
                <a:latin typeface="Arial"/>
                <a:cs typeface="Arial"/>
              </a:rPr>
              <a:t>framework	</a:t>
            </a:r>
            <a:r>
              <a:rPr sz="1000" b="1" spc="-5" dirty="0">
                <a:latin typeface="Arial"/>
                <a:cs typeface="Arial"/>
              </a:rPr>
              <a:t>Visualized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25" dirty="0">
                <a:latin typeface="Arial"/>
                <a:cs typeface="Arial"/>
              </a:rPr>
              <a:t>workflow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91382" y="5704128"/>
            <a:ext cx="1189355" cy="4521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065" marR="5080" indent="1270" algn="ctr">
              <a:lnSpc>
                <a:spcPts val="1080"/>
              </a:lnSpc>
              <a:spcBef>
                <a:spcPts val="229"/>
              </a:spcBef>
            </a:pPr>
            <a:r>
              <a:rPr sz="1000" b="1" spc="20" dirty="0">
                <a:latin typeface="Arial"/>
                <a:cs typeface="Arial"/>
              </a:rPr>
              <a:t>management  </a:t>
            </a:r>
            <a:r>
              <a:rPr sz="1000" spc="-10" dirty="0">
                <a:latin typeface="Arial"/>
                <a:cs typeface="Arial"/>
              </a:rPr>
              <a:t>makes </a:t>
            </a:r>
            <a:r>
              <a:rPr sz="1000" spc="10" dirty="0">
                <a:latin typeface="Arial"/>
                <a:cs typeface="Arial"/>
              </a:rPr>
              <a:t>development  </a:t>
            </a:r>
            <a:r>
              <a:rPr sz="1000" spc="15" dirty="0">
                <a:latin typeface="Arial"/>
                <a:cs typeface="Arial"/>
              </a:rPr>
              <a:t>worry-free.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790688" y="5209032"/>
            <a:ext cx="372110" cy="388620"/>
            <a:chOff x="7790688" y="5209032"/>
            <a:chExt cx="372110" cy="388620"/>
          </a:xfrm>
        </p:grpSpPr>
        <p:sp>
          <p:nvSpPr>
            <p:cNvPr id="34" name="object 34"/>
            <p:cNvSpPr/>
            <p:nvPr/>
          </p:nvSpPr>
          <p:spPr>
            <a:xfrm>
              <a:off x="7805166" y="5223510"/>
              <a:ext cx="342900" cy="360045"/>
            </a:xfrm>
            <a:custGeom>
              <a:avLst/>
              <a:gdLst/>
              <a:ahLst/>
              <a:cxnLst/>
              <a:rect l="l" t="t" r="r" b="b"/>
              <a:pathLst>
                <a:path w="342900" h="360045">
                  <a:moveTo>
                    <a:pt x="171450" y="0"/>
                  </a:moveTo>
                  <a:lnTo>
                    <a:pt x="125853" y="6424"/>
                  </a:lnTo>
                  <a:lnTo>
                    <a:pt x="84892" y="24553"/>
                  </a:lnTo>
                  <a:lnTo>
                    <a:pt x="50196" y="52673"/>
                  </a:lnTo>
                  <a:lnTo>
                    <a:pt x="23396" y="89069"/>
                  </a:lnTo>
                  <a:lnTo>
                    <a:pt x="6120" y="132027"/>
                  </a:lnTo>
                  <a:lnTo>
                    <a:pt x="0" y="179831"/>
                  </a:lnTo>
                  <a:lnTo>
                    <a:pt x="6120" y="227636"/>
                  </a:lnTo>
                  <a:lnTo>
                    <a:pt x="23396" y="270594"/>
                  </a:lnTo>
                  <a:lnTo>
                    <a:pt x="50196" y="306990"/>
                  </a:lnTo>
                  <a:lnTo>
                    <a:pt x="84892" y="335110"/>
                  </a:lnTo>
                  <a:lnTo>
                    <a:pt x="125853" y="353239"/>
                  </a:lnTo>
                  <a:lnTo>
                    <a:pt x="171450" y="359663"/>
                  </a:lnTo>
                  <a:lnTo>
                    <a:pt x="217046" y="353239"/>
                  </a:lnTo>
                  <a:lnTo>
                    <a:pt x="258007" y="335110"/>
                  </a:lnTo>
                  <a:lnTo>
                    <a:pt x="292703" y="306990"/>
                  </a:lnTo>
                  <a:lnTo>
                    <a:pt x="319503" y="270594"/>
                  </a:lnTo>
                  <a:lnTo>
                    <a:pt x="336779" y="227636"/>
                  </a:lnTo>
                  <a:lnTo>
                    <a:pt x="342900" y="179831"/>
                  </a:lnTo>
                  <a:lnTo>
                    <a:pt x="336779" y="132027"/>
                  </a:lnTo>
                  <a:lnTo>
                    <a:pt x="319503" y="89069"/>
                  </a:lnTo>
                  <a:lnTo>
                    <a:pt x="292703" y="52673"/>
                  </a:lnTo>
                  <a:lnTo>
                    <a:pt x="258007" y="24553"/>
                  </a:lnTo>
                  <a:lnTo>
                    <a:pt x="217046" y="642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05166" y="5223510"/>
              <a:ext cx="342900" cy="360045"/>
            </a:xfrm>
            <a:custGeom>
              <a:avLst/>
              <a:gdLst/>
              <a:ahLst/>
              <a:cxnLst/>
              <a:rect l="l" t="t" r="r" b="b"/>
              <a:pathLst>
                <a:path w="342900" h="360045">
                  <a:moveTo>
                    <a:pt x="0" y="179831"/>
                  </a:moveTo>
                  <a:lnTo>
                    <a:pt x="6120" y="132027"/>
                  </a:lnTo>
                  <a:lnTo>
                    <a:pt x="23396" y="89069"/>
                  </a:lnTo>
                  <a:lnTo>
                    <a:pt x="50196" y="52673"/>
                  </a:lnTo>
                  <a:lnTo>
                    <a:pt x="84892" y="24553"/>
                  </a:lnTo>
                  <a:lnTo>
                    <a:pt x="125853" y="6424"/>
                  </a:lnTo>
                  <a:lnTo>
                    <a:pt x="171450" y="0"/>
                  </a:lnTo>
                  <a:lnTo>
                    <a:pt x="217046" y="6424"/>
                  </a:lnTo>
                  <a:lnTo>
                    <a:pt x="258007" y="24553"/>
                  </a:lnTo>
                  <a:lnTo>
                    <a:pt x="292703" y="52673"/>
                  </a:lnTo>
                  <a:lnTo>
                    <a:pt x="319503" y="89069"/>
                  </a:lnTo>
                  <a:lnTo>
                    <a:pt x="336779" y="132027"/>
                  </a:lnTo>
                  <a:lnTo>
                    <a:pt x="342900" y="179831"/>
                  </a:lnTo>
                  <a:lnTo>
                    <a:pt x="336779" y="227636"/>
                  </a:lnTo>
                  <a:lnTo>
                    <a:pt x="319503" y="270594"/>
                  </a:lnTo>
                  <a:lnTo>
                    <a:pt x="292703" y="306990"/>
                  </a:lnTo>
                  <a:lnTo>
                    <a:pt x="258007" y="335110"/>
                  </a:lnTo>
                  <a:lnTo>
                    <a:pt x="217046" y="353239"/>
                  </a:lnTo>
                  <a:lnTo>
                    <a:pt x="171450" y="359663"/>
                  </a:lnTo>
                  <a:lnTo>
                    <a:pt x="125853" y="353239"/>
                  </a:lnTo>
                  <a:lnTo>
                    <a:pt x="84892" y="335110"/>
                  </a:lnTo>
                  <a:lnTo>
                    <a:pt x="50196" y="306990"/>
                  </a:lnTo>
                  <a:lnTo>
                    <a:pt x="23396" y="270594"/>
                  </a:lnTo>
                  <a:lnTo>
                    <a:pt x="6120" y="227636"/>
                  </a:lnTo>
                  <a:lnTo>
                    <a:pt x="0" y="179831"/>
                  </a:lnTo>
                  <a:close/>
                </a:path>
              </a:pathLst>
            </a:custGeom>
            <a:ln w="28956">
              <a:solidFill>
                <a:srgbClr val="3E94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872984" y="5298948"/>
              <a:ext cx="216408" cy="22555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408926" y="5566968"/>
            <a:ext cx="1174115" cy="5892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69875" marR="261620" algn="ctr">
              <a:lnSpc>
                <a:spcPts val="1080"/>
              </a:lnSpc>
              <a:spcBef>
                <a:spcPts val="229"/>
              </a:spcBef>
            </a:pPr>
            <a:r>
              <a:rPr sz="1000" b="1" spc="-40" dirty="0">
                <a:latin typeface="Arial"/>
                <a:cs typeface="Arial"/>
              </a:rPr>
              <a:t>A</a:t>
            </a:r>
            <a:r>
              <a:rPr sz="1000" b="1" spc="5" dirty="0">
                <a:latin typeface="Arial"/>
                <a:cs typeface="Arial"/>
              </a:rPr>
              <a:t>u</a:t>
            </a:r>
            <a:r>
              <a:rPr sz="1000" b="1" spc="20" dirty="0">
                <a:latin typeface="Arial"/>
                <a:cs typeface="Arial"/>
              </a:rPr>
              <a:t>t</a:t>
            </a:r>
            <a:r>
              <a:rPr sz="1000" b="1" spc="25" dirty="0">
                <a:latin typeface="Arial"/>
                <a:cs typeface="Arial"/>
              </a:rPr>
              <a:t>o</a:t>
            </a:r>
            <a:r>
              <a:rPr sz="1000" b="1" spc="55" dirty="0">
                <a:latin typeface="Arial"/>
                <a:cs typeface="Arial"/>
              </a:rPr>
              <a:t>ma</a:t>
            </a:r>
            <a:r>
              <a:rPr sz="1000" b="1" spc="20" dirty="0">
                <a:latin typeface="Arial"/>
                <a:cs typeface="Arial"/>
              </a:rPr>
              <a:t>t</a:t>
            </a:r>
            <a:r>
              <a:rPr sz="1000" b="1" spc="-30" dirty="0">
                <a:latin typeface="Arial"/>
                <a:cs typeface="Arial"/>
              </a:rPr>
              <a:t>ic  </a:t>
            </a:r>
            <a:r>
              <a:rPr sz="1000" b="1" spc="5" dirty="0">
                <a:latin typeface="Arial"/>
                <a:cs typeface="Arial"/>
              </a:rPr>
              <a:t>learning</a:t>
            </a:r>
            <a:endParaRPr sz="1000">
              <a:latin typeface="Arial"/>
              <a:cs typeface="Arial"/>
            </a:endParaRPr>
          </a:p>
          <a:p>
            <a:pPr marL="12700" marR="5080" algn="ctr">
              <a:lnSpc>
                <a:spcPts val="1080"/>
              </a:lnSpc>
            </a:pPr>
            <a:r>
              <a:rPr sz="1000" spc="-10" dirty="0">
                <a:latin typeface="Arial"/>
                <a:cs typeface="Arial"/>
              </a:rPr>
              <a:t>enables </a:t>
            </a:r>
            <a:r>
              <a:rPr sz="1000" spc="10" dirty="0">
                <a:latin typeface="Arial"/>
                <a:cs typeface="Arial"/>
              </a:rPr>
              <a:t>you </a:t>
            </a:r>
            <a:r>
              <a:rPr sz="1000" spc="45" dirty="0">
                <a:latin typeface="Arial"/>
                <a:cs typeface="Arial"/>
              </a:rPr>
              <a:t>to </a:t>
            </a:r>
            <a:r>
              <a:rPr sz="1000" spc="20" dirty="0">
                <a:latin typeface="Arial"/>
                <a:cs typeface="Arial"/>
              </a:rPr>
              <a:t>start  </a:t>
            </a:r>
            <a:r>
              <a:rPr sz="1000" spc="45" dirty="0">
                <a:latin typeface="Arial"/>
                <a:cs typeface="Arial"/>
              </a:rPr>
              <a:t>from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scratch.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38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35" dirty="0"/>
              <a:t>Full </a:t>
            </a:r>
            <a:r>
              <a:rPr spc="-45" dirty="0"/>
              <a:t>Stack </a:t>
            </a:r>
            <a:r>
              <a:rPr spc="195" dirty="0"/>
              <a:t>— </a:t>
            </a:r>
            <a:r>
              <a:rPr spc="30" dirty="0"/>
              <a:t>MindSpore </a:t>
            </a:r>
            <a:r>
              <a:rPr spc="90" dirty="0"/>
              <a:t>(Huawei </a:t>
            </a:r>
            <a:r>
              <a:rPr spc="-10" dirty="0"/>
              <a:t>AI </a:t>
            </a:r>
            <a:r>
              <a:rPr spc="65" dirty="0"/>
              <a:t>Computing  </a:t>
            </a:r>
            <a:r>
              <a:rPr spc="70" dirty="0"/>
              <a:t>Framework)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615820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508531"/>
            <a:ext cx="1028954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600" spc="10" dirty="0">
                <a:latin typeface="Arial"/>
                <a:cs typeface="Arial"/>
              </a:rPr>
              <a:t>MindSpore </a:t>
            </a:r>
            <a:r>
              <a:rPr sz="1600" dirty="0">
                <a:latin typeface="Arial"/>
                <a:cs typeface="Arial"/>
              </a:rPr>
              <a:t>provides </a:t>
            </a:r>
            <a:r>
              <a:rPr sz="1600" spc="45" dirty="0">
                <a:latin typeface="Arial"/>
                <a:cs typeface="Arial"/>
              </a:rPr>
              <a:t>automatic </a:t>
            </a:r>
            <a:r>
              <a:rPr sz="1600" spc="30" dirty="0">
                <a:latin typeface="Arial"/>
                <a:cs typeface="Arial"/>
              </a:rPr>
              <a:t>parallel </a:t>
            </a:r>
            <a:r>
              <a:rPr sz="1600" spc="5" dirty="0">
                <a:latin typeface="Arial"/>
                <a:cs typeface="Arial"/>
              </a:rPr>
              <a:t>capabilities. </a:t>
            </a:r>
            <a:r>
              <a:rPr sz="1600" spc="70" dirty="0">
                <a:latin typeface="Arial"/>
                <a:cs typeface="Arial"/>
              </a:rPr>
              <a:t>With </a:t>
            </a:r>
            <a:r>
              <a:rPr sz="1600" spc="5" dirty="0">
                <a:latin typeface="Arial"/>
                <a:cs typeface="Arial"/>
              </a:rPr>
              <a:t>MindSpore, </a:t>
            </a:r>
            <a:r>
              <a:rPr sz="1600" dirty="0">
                <a:latin typeface="Arial"/>
                <a:cs typeface="Arial"/>
              </a:rPr>
              <a:t>senior </a:t>
            </a:r>
            <a:r>
              <a:rPr sz="1600" spc="55" dirty="0">
                <a:latin typeface="Arial"/>
                <a:cs typeface="Arial"/>
              </a:rPr>
              <a:t>algorithm </a:t>
            </a:r>
            <a:r>
              <a:rPr sz="1600" spc="-5" dirty="0">
                <a:latin typeface="Arial"/>
                <a:cs typeface="Arial"/>
              </a:rPr>
              <a:t>engineers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spc="35" dirty="0">
                <a:latin typeface="Arial"/>
                <a:cs typeface="Arial"/>
              </a:rPr>
              <a:t>data  </a:t>
            </a:r>
            <a:r>
              <a:rPr sz="1600" spc="-10" dirty="0">
                <a:latin typeface="Arial"/>
                <a:cs typeface="Arial"/>
              </a:rPr>
              <a:t>scientists </a:t>
            </a:r>
            <a:r>
              <a:rPr sz="1600" spc="55" dirty="0">
                <a:latin typeface="Arial"/>
                <a:cs typeface="Arial"/>
              </a:rPr>
              <a:t>who </a:t>
            </a:r>
            <a:r>
              <a:rPr sz="1600" dirty="0">
                <a:latin typeface="Arial"/>
                <a:cs typeface="Arial"/>
              </a:rPr>
              <a:t>focus </a:t>
            </a:r>
            <a:r>
              <a:rPr sz="1600" spc="40" dirty="0">
                <a:latin typeface="Arial"/>
                <a:cs typeface="Arial"/>
              </a:rPr>
              <a:t>on </a:t>
            </a:r>
            <a:r>
              <a:rPr sz="1600" spc="35" dirty="0">
                <a:latin typeface="Arial"/>
                <a:cs typeface="Arial"/>
              </a:rPr>
              <a:t>data </a:t>
            </a:r>
            <a:r>
              <a:rPr sz="1600" spc="40" dirty="0">
                <a:latin typeface="Arial"/>
                <a:cs typeface="Arial"/>
              </a:rPr>
              <a:t>modeling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spc="40" dirty="0">
                <a:latin typeface="Arial"/>
                <a:cs typeface="Arial"/>
              </a:rPr>
              <a:t>problem </a:t>
            </a:r>
            <a:r>
              <a:rPr sz="1600" spc="10" dirty="0">
                <a:latin typeface="Arial"/>
                <a:cs typeface="Arial"/>
              </a:rPr>
              <a:t>solving </a:t>
            </a:r>
            <a:r>
              <a:rPr sz="1600" spc="-10" dirty="0">
                <a:latin typeface="Arial"/>
                <a:cs typeface="Arial"/>
              </a:rPr>
              <a:t>can </a:t>
            </a:r>
            <a:r>
              <a:rPr sz="1600" spc="50" dirty="0">
                <a:latin typeface="Arial"/>
                <a:cs typeface="Arial"/>
              </a:rPr>
              <a:t>run </a:t>
            </a:r>
            <a:r>
              <a:rPr sz="1600" spc="40" dirty="0">
                <a:latin typeface="Arial"/>
                <a:cs typeface="Arial"/>
              </a:rPr>
              <a:t>algorithms </a:t>
            </a:r>
            <a:r>
              <a:rPr sz="1600" spc="35" dirty="0">
                <a:latin typeface="Arial"/>
                <a:cs typeface="Arial"/>
              </a:rPr>
              <a:t>on </a:t>
            </a:r>
            <a:r>
              <a:rPr sz="1600" spc="-25" dirty="0">
                <a:latin typeface="Arial"/>
                <a:cs typeface="Arial"/>
              </a:rPr>
              <a:t>dozens </a:t>
            </a:r>
            <a:r>
              <a:rPr sz="1600" spc="45" dirty="0">
                <a:latin typeface="Arial"/>
                <a:cs typeface="Arial"/>
              </a:rPr>
              <a:t>or </a:t>
            </a:r>
            <a:r>
              <a:rPr sz="1600" spc="-20" dirty="0">
                <a:latin typeface="Arial"/>
                <a:cs typeface="Arial"/>
              </a:rPr>
              <a:t>even </a:t>
            </a:r>
            <a:r>
              <a:rPr sz="1600" spc="5" dirty="0">
                <a:latin typeface="Arial"/>
                <a:cs typeface="Arial"/>
              </a:rPr>
              <a:t>thousands  </a:t>
            </a:r>
            <a:r>
              <a:rPr sz="1600" spc="70" dirty="0">
                <a:latin typeface="Arial"/>
                <a:cs typeface="Arial"/>
              </a:rPr>
              <a:t>of </a:t>
            </a: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40" dirty="0">
                <a:latin typeface="Arial"/>
                <a:cs typeface="Arial"/>
              </a:rPr>
              <a:t>computing </a:t>
            </a:r>
            <a:r>
              <a:rPr sz="1600" spc="-20" dirty="0">
                <a:latin typeface="Arial"/>
                <a:cs typeface="Arial"/>
              </a:rPr>
              <a:t>nodes </a:t>
            </a:r>
            <a:r>
              <a:rPr sz="1600" spc="75" dirty="0">
                <a:latin typeface="Arial"/>
                <a:cs typeface="Arial"/>
              </a:rPr>
              <a:t>with </a:t>
            </a:r>
            <a:r>
              <a:rPr sz="1600" spc="30" dirty="0">
                <a:latin typeface="Arial"/>
                <a:cs typeface="Arial"/>
              </a:rPr>
              <a:t>only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50" dirty="0">
                <a:latin typeface="Arial"/>
                <a:cs typeface="Arial"/>
              </a:rPr>
              <a:t>few </a:t>
            </a:r>
            <a:r>
              <a:rPr sz="1600" spc="-5" dirty="0">
                <a:latin typeface="Arial"/>
                <a:cs typeface="Arial"/>
              </a:rPr>
              <a:t>lines </a:t>
            </a:r>
            <a:r>
              <a:rPr sz="1600" spc="70" dirty="0">
                <a:latin typeface="Arial"/>
                <a:cs typeface="Arial"/>
              </a:rPr>
              <a:t>of</a:t>
            </a:r>
            <a:r>
              <a:rPr sz="1600" spc="475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description.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595448"/>
            <a:ext cx="10223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92423" y="2997707"/>
            <a:ext cx="5645150" cy="3057525"/>
            <a:chOff x="3392423" y="2997707"/>
            <a:chExt cx="5645150" cy="3057525"/>
          </a:xfrm>
        </p:grpSpPr>
        <p:sp>
          <p:nvSpPr>
            <p:cNvPr id="7" name="object 7"/>
            <p:cNvSpPr/>
            <p:nvPr/>
          </p:nvSpPr>
          <p:spPr>
            <a:xfrm>
              <a:off x="3409187" y="2997707"/>
              <a:ext cx="5628132" cy="102565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53611" y="3006851"/>
              <a:ext cx="4939284" cy="10668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39133" y="3315461"/>
              <a:ext cx="4968240" cy="365760"/>
            </a:xfrm>
            <a:custGeom>
              <a:avLst/>
              <a:gdLst/>
              <a:ahLst/>
              <a:cxnLst/>
              <a:rect l="l" t="t" r="r" b="b"/>
              <a:pathLst>
                <a:path w="4968240" h="365760">
                  <a:moveTo>
                    <a:pt x="0" y="70992"/>
                  </a:moveTo>
                  <a:lnTo>
                    <a:pt x="5574" y="43344"/>
                  </a:lnTo>
                  <a:lnTo>
                    <a:pt x="20780" y="20780"/>
                  </a:lnTo>
                  <a:lnTo>
                    <a:pt x="43344" y="5574"/>
                  </a:lnTo>
                  <a:lnTo>
                    <a:pt x="70992" y="0"/>
                  </a:lnTo>
                  <a:lnTo>
                    <a:pt x="4897246" y="0"/>
                  </a:lnTo>
                  <a:lnTo>
                    <a:pt x="4924895" y="5574"/>
                  </a:lnTo>
                  <a:lnTo>
                    <a:pt x="4947459" y="20780"/>
                  </a:lnTo>
                  <a:lnTo>
                    <a:pt x="4962665" y="43344"/>
                  </a:lnTo>
                  <a:lnTo>
                    <a:pt x="4968240" y="70992"/>
                  </a:lnTo>
                  <a:lnTo>
                    <a:pt x="4968240" y="294767"/>
                  </a:lnTo>
                  <a:lnTo>
                    <a:pt x="4962665" y="322415"/>
                  </a:lnTo>
                  <a:lnTo>
                    <a:pt x="4947459" y="344979"/>
                  </a:lnTo>
                  <a:lnTo>
                    <a:pt x="4924895" y="360185"/>
                  </a:lnTo>
                  <a:lnTo>
                    <a:pt x="4897246" y="365760"/>
                  </a:lnTo>
                  <a:lnTo>
                    <a:pt x="70992" y="365760"/>
                  </a:lnTo>
                  <a:lnTo>
                    <a:pt x="43344" y="360185"/>
                  </a:lnTo>
                  <a:lnTo>
                    <a:pt x="20780" y="344979"/>
                  </a:lnTo>
                  <a:lnTo>
                    <a:pt x="5574" y="322415"/>
                  </a:lnTo>
                  <a:lnTo>
                    <a:pt x="0" y="294767"/>
                  </a:lnTo>
                  <a:lnTo>
                    <a:pt x="0" y="70992"/>
                  </a:lnTo>
                  <a:close/>
                </a:path>
              </a:pathLst>
            </a:custGeom>
            <a:ln w="1981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92423" y="3489959"/>
              <a:ext cx="5634228" cy="25648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12463" y="3759707"/>
              <a:ext cx="4994275" cy="1925320"/>
            </a:xfrm>
            <a:custGeom>
              <a:avLst/>
              <a:gdLst/>
              <a:ahLst/>
              <a:cxnLst/>
              <a:rect l="l" t="t" r="r" b="b"/>
              <a:pathLst>
                <a:path w="4994275" h="1925320">
                  <a:moveTo>
                    <a:pt x="4940045" y="0"/>
                  </a:moveTo>
                  <a:lnTo>
                    <a:pt x="54101" y="0"/>
                  </a:lnTo>
                  <a:lnTo>
                    <a:pt x="33057" y="4256"/>
                  </a:lnTo>
                  <a:lnTo>
                    <a:pt x="15859" y="15859"/>
                  </a:lnTo>
                  <a:lnTo>
                    <a:pt x="4256" y="33057"/>
                  </a:lnTo>
                  <a:lnTo>
                    <a:pt x="0" y="54102"/>
                  </a:lnTo>
                  <a:lnTo>
                    <a:pt x="0" y="1870646"/>
                  </a:lnTo>
                  <a:lnTo>
                    <a:pt x="4256" y="1891732"/>
                  </a:lnTo>
                  <a:lnTo>
                    <a:pt x="15859" y="1908949"/>
                  </a:lnTo>
                  <a:lnTo>
                    <a:pt x="33057" y="1920556"/>
                  </a:lnTo>
                  <a:lnTo>
                    <a:pt x="54101" y="1924812"/>
                  </a:lnTo>
                  <a:lnTo>
                    <a:pt x="4940045" y="1924812"/>
                  </a:lnTo>
                  <a:lnTo>
                    <a:pt x="4961090" y="1920556"/>
                  </a:lnTo>
                  <a:lnTo>
                    <a:pt x="4978288" y="1908949"/>
                  </a:lnTo>
                  <a:lnTo>
                    <a:pt x="4989891" y="1891732"/>
                  </a:lnTo>
                  <a:lnTo>
                    <a:pt x="4994147" y="1870646"/>
                  </a:lnTo>
                  <a:lnTo>
                    <a:pt x="4994147" y="54102"/>
                  </a:lnTo>
                  <a:lnTo>
                    <a:pt x="4989891" y="33057"/>
                  </a:lnTo>
                  <a:lnTo>
                    <a:pt x="4978288" y="15859"/>
                  </a:lnTo>
                  <a:lnTo>
                    <a:pt x="4961090" y="4256"/>
                  </a:lnTo>
                  <a:lnTo>
                    <a:pt x="49400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25823" y="5175503"/>
              <a:ext cx="4619244" cy="3916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25823" y="5175503"/>
              <a:ext cx="4619625" cy="391795"/>
            </a:xfrm>
            <a:custGeom>
              <a:avLst/>
              <a:gdLst/>
              <a:ahLst/>
              <a:cxnLst/>
              <a:rect l="l" t="t" r="r" b="b"/>
              <a:pathLst>
                <a:path w="4619625" h="391795">
                  <a:moveTo>
                    <a:pt x="0" y="65278"/>
                  </a:moveTo>
                  <a:lnTo>
                    <a:pt x="5127" y="39862"/>
                  </a:lnTo>
                  <a:lnTo>
                    <a:pt x="19113" y="19113"/>
                  </a:lnTo>
                  <a:lnTo>
                    <a:pt x="39862" y="5127"/>
                  </a:lnTo>
                  <a:lnTo>
                    <a:pt x="65277" y="0"/>
                  </a:lnTo>
                  <a:lnTo>
                    <a:pt x="4553966" y="0"/>
                  </a:lnTo>
                  <a:lnTo>
                    <a:pt x="4579381" y="5127"/>
                  </a:lnTo>
                  <a:lnTo>
                    <a:pt x="4600130" y="19113"/>
                  </a:lnTo>
                  <a:lnTo>
                    <a:pt x="4614116" y="39862"/>
                  </a:lnTo>
                  <a:lnTo>
                    <a:pt x="4619244" y="65278"/>
                  </a:lnTo>
                  <a:lnTo>
                    <a:pt x="4619244" y="326390"/>
                  </a:lnTo>
                  <a:lnTo>
                    <a:pt x="4614116" y="351805"/>
                  </a:lnTo>
                  <a:lnTo>
                    <a:pt x="4600130" y="372554"/>
                  </a:lnTo>
                  <a:lnTo>
                    <a:pt x="4579381" y="386540"/>
                  </a:lnTo>
                  <a:lnTo>
                    <a:pt x="4553966" y="391668"/>
                  </a:lnTo>
                  <a:lnTo>
                    <a:pt x="65277" y="391668"/>
                  </a:lnTo>
                  <a:lnTo>
                    <a:pt x="39862" y="386540"/>
                  </a:lnTo>
                  <a:lnTo>
                    <a:pt x="19113" y="372554"/>
                  </a:lnTo>
                  <a:lnTo>
                    <a:pt x="5127" y="351805"/>
                  </a:lnTo>
                  <a:lnTo>
                    <a:pt x="0" y="326390"/>
                  </a:lnTo>
                  <a:lnTo>
                    <a:pt x="0" y="65278"/>
                  </a:lnTo>
                  <a:close/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59351" y="4052315"/>
              <a:ext cx="4616196" cy="39166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59351" y="4052315"/>
              <a:ext cx="4616450" cy="391795"/>
            </a:xfrm>
            <a:custGeom>
              <a:avLst/>
              <a:gdLst/>
              <a:ahLst/>
              <a:cxnLst/>
              <a:rect l="l" t="t" r="r" b="b"/>
              <a:pathLst>
                <a:path w="4616450" h="391795">
                  <a:moveTo>
                    <a:pt x="0" y="65277"/>
                  </a:moveTo>
                  <a:lnTo>
                    <a:pt x="5127" y="39862"/>
                  </a:lnTo>
                  <a:lnTo>
                    <a:pt x="19113" y="19113"/>
                  </a:lnTo>
                  <a:lnTo>
                    <a:pt x="39862" y="5127"/>
                  </a:lnTo>
                  <a:lnTo>
                    <a:pt x="65277" y="0"/>
                  </a:lnTo>
                  <a:lnTo>
                    <a:pt x="4550918" y="0"/>
                  </a:lnTo>
                  <a:lnTo>
                    <a:pt x="4576333" y="5127"/>
                  </a:lnTo>
                  <a:lnTo>
                    <a:pt x="4597082" y="19113"/>
                  </a:lnTo>
                  <a:lnTo>
                    <a:pt x="4611068" y="39862"/>
                  </a:lnTo>
                  <a:lnTo>
                    <a:pt x="4616196" y="65277"/>
                  </a:lnTo>
                  <a:lnTo>
                    <a:pt x="4616196" y="326389"/>
                  </a:lnTo>
                  <a:lnTo>
                    <a:pt x="4611068" y="351805"/>
                  </a:lnTo>
                  <a:lnTo>
                    <a:pt x="4597082" y="372554"/>
                  </a:lnTo>
                  <a:lnTo>
                    <a:pt x="4576333" y="386540"/>
                  </a:lnTo>
                  <a:lnTo>
                    <a:pt x="4550918" y="391667"/>
                  </a:lnTo>
                  <a:lnTo>
                    <a:pt x="65277" y="391667"/>
                  </a:lnTo>
                  <a:lnTo>
                    <a:pt x="39862" y="386540"/>
                  </a:lnTo>
                  <a:lnTo>
                    <a:pt x="19113" y="372554"/>
                  </a:lnTo>
                  <a:lnTo>
                    <a:pt x="5127" y="351805"/>
                  </a:lnTo>
                  <a:lnTo>
                    <a:pt x="0" y="326389"/>
                  </a:lnTo>
                  <a:lnTo>
                    <a:pt x="0" y="65277"/>
                  </a:lnTo>
                  <a:close/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87239" y="4544567"/>
              <a:ext cx="492759" cy="490855"/>
            </a:xfrm>
            <a:custGeom>
              <a:avLst/>
              <a:gdLst/>
              <a:ahLst/>
              <a:cxnLst/>
              <a:rect l="l" t="t" r="r" b="b"/>
              <a:pathLst>
                <a:path w="492760" h="490854">
                  <a:moveTo>
                    <a:pt x="0" y="245363"/>
                  </a:moveTo>
                  <a:lnTo>
                    <a:pt x="5002" y="195915"/>
                  </a:lnTo>
                  <a:lnTo>
                    <a:pt x="19347" y="149858"/>
                  </a:lnTo>
                  <a:lnTo>
                    <a:pt x="42045" y="108179"/>
                  </a:lnTo>
                  <a:lnTo>
                    <a:pt x="72104" y="71866"/>
                  </a:lnTo>
                  <a:lnTo>
                    <a:pt x="108532" y="41904"/>
                  </a:lnTo>
                  <a:lnTo>
                    <a:pt x="150340" y="19282"/>
                  </a:lnTo>
                  <a:lnTo>
                    <a:pt x="196534" y="4984"/>
                  </a:lnTo>
                  <a:lnTo>
                    <a:pt x="246125" y="0"/>
                  </a:lnTo>
                  <a:lnTo>
                    <a:pt x="295717" y="4984"/>
                  </a:lnTo>
                  <a:lnTo>
                    <a:pt x="341911" y="19282"/>
                  </a:lnTo>
                  <a:lnTo>
                    <a:pt x="383719" y="41904"/>
                  </a:lnTo>
                  <a:lnTo>
                    <a:pt x="420147" y="71866"/>
                  </a:lnTo>
                  <a:lnTo>
                    <a:pt x="450206" y="108179"/>
                  </a:lnTo>
                  <a:lnTo>
                    <a:pt x="472904" y="149858"/>
                  </a:lnTo>
                  <a:lnTo>
                    <a:pt x="487249" y="195915"/>
                  </a:lnTo>
                  <a:lnTo>
                    <a:pt x="492251" y="245363"/>
                  </a:lnTo>
                  <a:lnTo>
                    <a:pt x="487249" y="294812"/>
                  </a:lnTo>
                  <a:lnTo>
                    <a:pt x="472904" y="340869"/>
                  </a:lnTo>
                  <a:lnTo>
                    <a:pt x="450206" y="382548"/>
                  </a:lnTo>
                  <a:lnTo>
                    <a:pt x="420147" y="418861"/>
                  </a:lnTo>
                  <a:lnTo>
                    <a:pt x="383719" y="448823"/>
                  </a:lnTo>
                  <a:lnTo>
                    <a:pt x="341911" y="471445"/>
                  </a:lnTo>
                  <a:lnTo>
                    <a:pt x="295717" y="485743"/>
                  </a:lnTo>
                  <a:lnTo>
                    <a:pt x="246125" y="490727"/>
                  </a:lnTo>
                  <a:lnTo>
                    <a:pt x="196534" y="485743"/>
                  </a:lnTo>
                  <a:lnTo>
                    <a:pt x="150340" y="471445"/>
                  </a:lnTo>
                  <a:lnTo>
                    <a:pt x="108532" y="448823"/>
                  </a:lnTo>
                  <a:lnTo>
                    <a:pt x="72104" y="418861"/>
                  </a:lnTo>
                  <a:lnTo>
                    <a:pt x="42045" y="382548"/>
                  </a:lnTo>
                  <a:lnTo>
                    <a:pt x="19347" y="340869"/>
                  </a:lnTo>
                  <a:lnTo>
                    <a:pt x="5002" y="294812"/>
                  </a:lnTo>
                  <a:lnTo>
                    <a:pt x="0" y="24536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28871" y="4607051"/>
              <a:ext cx="4616196" cy="3916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28871" y="4607051"/>
              <a:ext cx="4616450" cy="391795"/>
            </a:xfrm>
            <a:custGeom>
              <a:avLst/>
              <a:gdLst/>
              <a:ahLst/>
              <a:cxnLst/>
              <a:rect l="l" t="t" r="r" b="b"/>
              <a:pathLst>
                <a:path w="4616450" h="391795">
                  <a:moveTo>
                    <a:pt x="0" y="65278"/>
                  </a:moveTo>
                  <a:lnTo>
                    <a:pt x="5127" y="39862"/>
                  </a:lnTo>
                  <a:lnTo>
                    <a:pt x="19113" y="19113"/>
                  </a:lnTo>
                  <a:lnTo>
                    <a:pt x="39862" y="5127"/>
                  </a:lnTo>
                  <a:lnTo>
                    <a:pt x="65277" y="0"/>
                  </a:lnTo>
                  <a:lnTo>
                    <a:pt x="4550918" y="0"/>
                  </a:lnTo>
                  <a:lnTo>
                    <a:pt x="4576333" y="5127"/>
                  </a:lnTo>
                  <a:lnTo>
                    <a:pt x="4597082" y="19113"/>
                  </a:lnTo>
                  <a:lnTo>
                    <a:pt x="4611068" y="39862"/>
                  </a:lnTo>
                  <a:lnTo>
                    <a:pt x="4616196" y="65278"/>
                  </a:lnTo>
                  <a:lnTo>
                    <a:pt x="4616196" y="326390"/>
                  </a:lnTo>
                  <a:lnTo>
                    <a:pt x="4611068" y="351805"/>
                  </a:lnTo>
                  <a:lnTo>
                    <a:pt x="4597082" y="372554"/>
                  </a:lnTo>
                  <a:lnTo>
                    <a:pt x="4576333" y="386540"/>
                  </a:lnTo>
                  <a:lnTo>
                    <a:pt x="4550918" y="391668"/>
                  </a:lnTo>
                  <a:lnTo>
                    <a:pt x="65277" y="391668"/>
                  </a:lnTo>
                  <a:lnTo>
                    <a:pt x="39862" y="386540"/>
                  </a:lnTo>
                  <a:lnTo>
                    <a:pt x="19113" y="372554"/>
                  </a:lnTo>
                  <a:lnTo>
                    <a:pt x="5127" y="351805"/>
                  </a:lnTo>
                  <a:lnTo>
                    <a:pt x="0" y="326390"/>
                  </a:lnTo>
                  <a:lnTo>
                    <a:pt x="0" y="65278"/>
                  </a:lnTo>
                  <a:close/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01039" y="2488844"/>
            <a:ext cx="10290810" cy="186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600" spc="-30" dirty="0">
                <a:latin typeface="Arial"/>
                <a:cs typeface="Arial"/>
              </a:rPr>
              <a:t>The </a:t>
            </a:r>
            <a:r>
              <a:rPr sz="1600" spc="10" dirty="0">
                <a:latin typeface="Arial"/>
                <a:cs typeface="Arial"/>
              </a:rPr>
              <a:t>MindSpore </a:t>
            </a:r>
            <a:r>
              <a:rPr sz="1600" spc="50" dirty="0">
                <a:latin typeface="Arial"/>
                <a:cs typeface="Arial"/>
              </a:rPr>
              <a:t>framework </a:t>
            </a:r>
            <a:r>
              <a:rPr sz="1600" spc="5" dirty="0">
                <a:latin typeface="Arial"/>
                <a:cs typeface="Arial"/>
              </a:rPr>
              <a:t>supports </a:t>
            </a:r>
            <a:r>
              <a:rPr sz="1600" spc="55" dirty="0">
                <a:latin typeface="Arial"/>
                <a:cs typeface="Arial"/>
              </a:rPr>
              <a:t>both </a:t>
            </a:r>
            <a:r>
              <a:rPr sz="1600" spc="5" dirty="0">
                <a:latin typeface="Arial"/>
                <a:cs typeface="Arial"/>
              </a:rPr>
              <a:t>large-scale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spc="5" dirty="0">
                <a:latin typeface="Arial"/>
                <a:cs typeface="Arial"/>
              </a:rPr>
              <a:t>small-scale </a:t>
            </a:r>
            <a:r>
              <a:rPr sz="1600" spc="20" dirty="0">
                <a:latin typeface="Arial"/>
                <a:cs typeface="Arial"/>
              </a:rPr>
              <a:t>deployment, </a:t>
            </a:r>
            <a:r>
              <a:rPr sz="1600" spc="40" dirty="0">
                <a:latin typeface="Arial"/>
                <a:cs typeface="Arial"/>
              </a:rPr>
              <a:t>adapting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spc="20" dirty="0">
                <a:latin typeface="Arial"/>
                <a:cs typeface="Arial"/>
              </a:rPr>
              <a:t>independent  </a:t>
            </a:r>
            <a:r>
              <a:rPr sz="1600" spc="35" dirty="0">
                <a:latin typeface="Arial"/>
                <a:cs typeface="Arial"/>
              </a:rPr>
              <a:t>deployment </a:t>
            </a:r>
            <a:r>
              <a:rPr sz="1600" spc="45" dirty="0">
                <a:latin typeface="Arial"/>
                <a:cs typeface="Arial"/>
              </a:rPr>
              <a:t>in </a:t>
            </a:r>
            <a:r>
              <a:rPr sz="1600" spc="55" dirty="0">
                <a:latin typeface="Arial"/>
                <a:cs typeface="Arial"/>
              </a:rPr>
              <a:t>all </a:t>
            </a:r>
            <a:r>
              <a:rPr sz="1600" spc="-25" dirty="0">
                <a:latin typeface="Arial"/>
                <a:cs typeface="Arial"/>
              </a:rPr>
              <a:t>scenarios. </a:t>
            </a:r>
            <a:r>
              <a:rPr sz="1600" spc="25" dirty="0">
                <a:latin typeface="Arial"/>
                <a:cs typeface="Arial"/>
              </a:rPr>
              <a:t>In </a:t>
            </a:r>
            <a:r>
              <a:rPr sz="1600" spc="45" dirty="0">
                <a:latin typeface="Arial"/>
                <a:cs typeface="Arial"/>
              </a:rPr>
              <a:t>addition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spc="40" dirty="0">
                <a:latin typeface="Arial"/>
                <a:cs typeface="Arial"/>
              </a:rPr>
              <a:t>the </a:t>
            </a:r>
            <a:r>
              <a:rPr sz="1600" spc="-30" dirty="0">
                <a:latin typeface="Arial"/>
                <a:cs typeface="Arial"/>
              </a:rPr>
              <a:t>Ascend </a:t>
            </a: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-30" dirty="0">
                <a:latin typeface="Arial"/>
                <a:cs typeface="Arial"/>
              </a:rPr>
              <a:t>processors, </a:t>
            </a:r>
            <a:r>
              <a:rPr sz="1600" spc="10" dirty="0">
                <a:latin typeface="Arial"/>
                <a:cs typeface="Arial"/>
              </a:rPr>
              <a:t>MindSpore </a:t>
            </a:r>
            <a:r>
              <a:rPr sz="1600" spc="-10" dirty="0">
                <a:latin typeface="Arial"/>
                <a:cs typeface="Arial"/>
              </a:rPr>
              <a:t>also </a:t>
            </a:r>
            <a:r>
              <a:rPr sz="1600" spc="5" dirty="0">
                <a:latin typeface="Arial"/>
                <a:cs typeface="Arial"/>
              </a:rPr>
              <a:t>supports </a:t>
            </a:r>
            <a:r>
              <a:rPr sz="1600" spc="45" dirty="0">
                <a:latin typeface="Arial"/>
                <a:cs typeface="Arial"/>
              </a:rPr>
              <a:t>other </a:t>
            </a:r>
            <a:r>
              <a:rPr sz="1600" spc="-30" dirty="0">
                <a:latin typeface="Arial"/>
                <a:cs typeface="Arial"/>
              </a:rPr>
              <a:t>processors  such </a:t>
            </a:r>
            <a:r>
              <a:rPr sz="1600" spc="-65" dirty="0">
                <a:latin typeface="Arial"/>
                <a:cs typeface="Arial"/>
              </a:rPr>
              <a:t>as </a:t>
            </a:r>
            <a:r>
              <a:rPr sz="1600" spc="-100" dirty="0">
                <a:latin typeface="Arial"/>
                <a:cs typeface="Arial"/>
              </a:rPr>
              <a:t>GPUs </a:t>
            </a:r>
            <a:r>
              <a:rPr sz="1600" spc="15" dirty="0">
                <a:latin typeface="Arial"/>
                <a:cs typeface="Arial"/>
              </a:rPr>
              <a:t>and</a:t>
            </a:r>
            <a:r>
              <a:rPr sz="1600" spc="95" dirty="0">
                <a:latin typeface="Arial"/>
                <a:cs typeface="Arial"/>
              </a:rPr>
              <a:t> </a:t>
            </a:r>
            <a:r>
              <a:rPr sz="1600" spc="-114" dirty="0">
                <a:latin typeface="Arial"/>
                <a:cs typeface="Arial"/>
              </a:rPr>
              <a:t>CPUs.</a:t>
            </a:r>
            <a:endParaRPr sz="1600">
              <a:latin typeface="Arial"/>
              <a:cs typeface="Arial"/>
            </a:endParaRPr>
          </a:p>
          <a:p>
            <a:pPr marR="40640" algn="ctr">
              <a:lnSpc>
                <a:spcPts val="1870"/>
              </a:lnSpc>
            </a:pPr>
            <a:r>
              <a:rPr sz="1600" b="1" spc="5" dirty="0">
                <a:solidFill>
                  <a:srgbClr val="3A3838"/>
                </a:solidFill>
                <a:latin typeface="Arial"/>
                <a:cs typeface="Arial"/>
              </a:rPr>
              <a:t>AI </a:t>
            </a:r>
            <a:r>
              <a:rPr sz="1600" b="1" spc="10" dirty="0">
                <a:solidFill>
                  <a:srgbClr val="3A3838"/>
                </a:solidFill>
                <a:latin typeface="Arial"/>
                <a:cs typeface="Arial"/>
              </a:rPr>
              <a:t>application </a:t>
            </a:r>
            <a:r>
              <a:rPr sz="1600" b="1" spc="-45" dirty="0">
                <a:solidFill>
                  <a:srgbClr val="3A3838"/>
                </a:solidFill>
                <a:latin typeface="Arial"/>
                <a:cs typeface="Arial"/>
              </a:rPr>
              <a:t>ecosystem </a:t>
            </a:r>
            <a:r>
              <a:rPr sz="1600" b="1" spc="25" dirty="0">
                <a:solidFill>
                  <a:srgbClr val="3A3838"/>
                </a:solidFill>
                <a:latin typeface="Arial"/>
                <a:cs typeface="Arial"/>
              </a:rPr>
              <a:t>for </a:t>
            </a:r>
            <a:r>
              <a:rPr sz="1600" b="1" spc="50" dirty="0">
                <a:solidFill>
                  <a:srgbClr val="3A3838"/>
                </a:solidFill>
                <a:latin typeface="Arial"/>
                <a:cs typeface="Arial"/>
              </a:rPr>
              <a:t>all</a:t>
            </a:r>
            <a:r>
              <a:rPr sz="1600" b="1" spc="32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3A3838"/>
                </a:solidFill>
                <a:latin typeface="Arial"/>
                <a:cs typeface="Arial"/>
              </a:rPr>
              <a:t>scenarios</a:t>
            </a:r>
            <a:endParaRPr sz="1600">
              <a:latin typeface="Arial"/>
              <a:cs typeface="Arial"/>
            </a:endParaRPr>
          </a:p>
          <a:p>
            <a:pPr marR="720090" algn="ctr">
              <a:lnSpc>
                <a:spcPct val="100000"/>
              </a:lnSpc>
              <a:spcBef>
                <a:spcPts val="1310"/>
              </a:spcBef>
            </a:pPr>
            <a:r>
              <a:rPr sz="1600" b="1" dirty="0">
                <a:solidFill>
                  <a:srgbClr val="C6000A"/>
                </a:solidFill>
                <a:latin typeface="Arial"/>
                <a:cs typeface="Arial"/>
              </a:rPr>
              <a:t>MindSpore</a:t>
            </a:r>
            <a:endParaRPr sz="1600">
              <a:latin typeface="Arial"/>
              <a:cs typeface="Arial"/>
            </a:endParaRPr>
          </a:p>
          <a:p>
            <a:pPr marR="64135" algn="ctr">
              <a:lnSpc>
                <a:spcPct val="100000"/>
              </a:lnSpc>
              <a:spcBef>
                <a:spcPts val="1035"/>
              </a:spcBef>
            </a:pPr>
            <a:r>
              <a:rPr sz="1200" spc="20" dirty="0">
                <a:solidFill>
                  <a:srgbClr val="3A3838"/>
                </a:solidFill>
                <a:latin typeface="Arial"/>
                <a:cs typeface="Arial"/>
              </a:rPr>
              <a:t>Unified </a:t>
            </a:r>
            <a:r>
              <a:rPr sz="1200" spc="-60" dirty="0">
                <a:solidFill>
                  <a:srgbClr val="3A3838"/>
                </a:solidFill>
                <a:latin typeface="Arial"/>
                <a:cs typeface="Arial"/>
              </a:rPr>
              <a:t>APIs  </a:t>
            </a:r>
            <a:r>
              <a:rPr sz="1200" spc="50" dirty="0">
                <a:solidFill>
                  <a:srgbClr val="3A3838"/>
                </a:solidFill>
                <a:latin typeface="Arial"/>
                <a:cs typeface="Arial"/>
              </a:rPr>
              <a:t>for </a:t>
            </a:r>
            <a:r>
              <a:rPr sz="1200" spc="35" dirty="0">
                <a:solidFill>
                  <a:srgbClr val="3A3838"/>
                </a:solidFill>
                <a:latin typeface="Arial"/>
                <a:cs typeface="Arial"/>
              </a:rPr>
              <a:t>all</a:t>
            </a:r>
            <a:r>
              <a:rPr sz="1200" spc="-114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A3838"/>
                </a:solidFill>
                <a:latin typeface="Arial"/>
                <a:cs typeface="Arial"/>
              </a:rPr>
              <a:t>scenarios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83279" y="4517009"/>
            <a:ext cx="5655945" cy="1961514"/>
            <a:chOff x="3383279" y="4517009"/>
            <a:chExt cx="5655945" cy="1961514"/>
          </a:xfrm>
        </p:grpSpPr>
        <p:sp>
          <p:nvSpPr>
            <p:cNvPr id="21" name="object 21"/>
            <p:cNvSpPr/>
            <p:nvPr/>
          </p:nvSpPr>
          <p:spPr>
            <a:xfrm>
              <a:off x="3866387" y="4520184"/>
              <a:ext cx="4729480" cy="24130"/>
            </a:xfrm>
            <a:custGeom>
              <a:avLst/>
              <a:gdLst/>
              <a:ahLst/>
              <a:cxnLst/>
              <a:rect l="l" t="t" r="r" b="b"/>
              <a:pathLst>
                <a:path w="4729480" h="24129">
                  <a:moveTo>
                    <a:pt x="0" y="0"/>
                  </a:moveTo>
                  <a:lnTo>
                    <a:pt x="4729226" y="23876"/>
                  </a:lnTo>
                </a:path>
              </a:pathLst>
            </a:custGeom>
            <a:ln w="6096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83279" y="5475732"/>
              <a:ext cx="5655564" cy="99821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55235" y="5518404"/>
              <a:ext cx="3307079" cy="96011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13225" y="5793486"/>
              <a:ext cx="4996180" cy="338455"/>
            </a:xfrm>
            <a:custGeom>
              <a:avLst/>
              <a:gdLst/>
              <a:ahLst/>
              <a:cxnLst/>
              <a:rect l="l" t="t" r="r" b="b"/>
              <a:pathLst>
                <a:path w="4996180" h="338454">
                  <a:moveTo>
                    <a:pt x="0" y="65633"/>
                  </a:moveTo>
                  <a:lnTo>
                    <a:pt x="5151" y="40087"/>
                  </a:lnTo>
                  <a:lnTo>
                    <a:pt x="19208" y="19224"/>
                  </a:lnTo>
                  <a:lnTo>
                    <a:pt x="40076" y="5158"/>
                  </a:lnTo>
                  <a:lnTo>
                    <a:pt x="65659" y="0"/>
                  </a:lnTo>
                  <a:lnTo>
                    <a:pt x="4930013" y="0"/>
                  </a:lnTo>
                  <a:lnTo>
                    <a:pt x="4955595" y="5158"/>
                  </a:lnTo>
                  <a:lnTo>
                    <a:pt x="4976463" y="19224"/>
                  </a:lnTo>
                  <a:lnTo>
                    <a:pt x="4990520" y="40087"/>
                  </a:lnTo>
                  <a:lnTo>
                    <a:pt x="4995672" y="65633"/>
                  </a:lnTo>
                  <a:lnTo>
                    <a:pt x="4995672" y="272694"/>
                  </a:lnTo>
                  <a:lnTo>
                    <a:pt x="4990520" y="298240"/>
                  </a:lnTo>
                  <a:lnTo>
                    <a:pt x="4976463" y="319103"/>
                  </a:lnTo>
                  <a:lnTo>
                    <a:pt x="4955595" y="333169"/>
                  </a:lnTo>
                  <a:lnTo>
                    <a:pt x="4930013" y="338327"/>
                  </a:lnTo>
                  <a:lnTo>
                    <a:pt x="65659" y="338327"/>
                  </a:lnTo>
                  <a:lnTo>
                    <a:pt x="40076" y="333169"/>
                  </a:lnTo>
                  <a:lnTo>
                    <a:pt x="19208" y="319103"/>
                  </a:lnTo>
                  <a:lnTo>
                    <a:pt x="5151" y="298240"/>
                  </a:lnTo>
                  <a:lnTo>
                    <a:pt x="0" y="272694"/>
                  </a:lnTo>
                  <a:lnTo>
                    <a:pt x="0" y="65633"/>
                  </a:lnTo>
                  <a:close/>
                </a:path>
              </a:pathLst>
            </a:custGeom>
            <a:ln w="19811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09390" y="4603242"/>
            <a:ext cx="4469130" cy="146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330" marR="558165" algn="ctr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solidFill>
                  <a:srgbClr val="3A3838"/>
                </a:solidFill>
                <a:latin typeface="Arial"/>
                <a:cs typeface="Arial"/>
              </a:rPr>
              <a:t>MindSpore </a:t>
            </a:r>
            <a:r>
              <a:rPr sz="1200" spc="20" dirty="0">
                <a:solidFill>
                  <a:srgbClr val="3A3838"/>
                </a:solidFill>
                <a:latin typeface="Arial"/>
                <a:cs typeface="Arial"/>
              </a:rPr>
              <a:t>intermediate </a:t>
            </a:r>
            <a:r>
              <a:rPr sz="1200" spc="10" dirty="0">
                <a:solidFill>
                  <a:srgbClr val="3A3838"/>
                </a:solidFill>
                <a:latin typeface="Arial"/>
                <a:cs typeface="Arial"/>
              </a:rPr>
              <a:t>representation (IR) </a:t>
            </a:r>
            <a:r>
              <a:rPr sz="1200" spc="50" dirty="0">
                <a:solidFill>
                  <a:srgbClr val="3A3838"/>
                </a:solidFill>
                <a:latin typeface="Arial"/>
                <a:cs typeface="Arial"/>
              </a:rPr>
              <a:t>for  </a:t>
            </a:r>
            <a:r>
              <a:rPr sz="1200" spc="30" dirty="0">
                <a:solidFill>
                  <a:srgbClr val="3A3838"/>
                </a:solidFill>
                <a:latin typeface="Arial"/>
                <a:cs typeface="Arial"/>
              </a:rPr>
              <a:t>computational</a:t>
            </a:r>
            <a:r>
              <a:rPr sz="1200" spc="45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3A3838"/>
                </a:solidFill>
                <a:latin typeface="Arial"/>
                <a:cs typeface="Arial"/>
              </a:rPr>
              <a:t>graph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</a:pPr>
            <a:r>
              <a:rPr sz="1100" spc="20" dirty="0">
                <a:solidFill>
                  <a:srgbClr val="3A3838"/>
                </a:solidFill>
                <a:latin typeface="Arial"/>
                <a:cs typeface="Arial"/>
              </a:rPr>
              <a:t>On-demand </a:t>
            </a:r>
            <a:r>
              <a:rPr sz="1100" spc="15" dirty="0">
                <a:solidFill>
                  <a:srgbClr val="3A3838"/>
                </a:solidFill>
                <a:latin typeface="Arial"/>
                <a:cs typeface="Arial"/>
              </a:rPr>
              <a:t>collaborative </a:t>
            </a:r>
            <a:r>
              <a:rPr sz="1100" spc="25" dirty="0">
                <a:solidFill>
                  <a:srgbClr val="3A3838"/>
                </a:solidFill>
                <a:latin typeface="Arial"/>
                <a:cs typeface="Arial"/>
              </a:rPr>
              <a:t>distributed </a:t>
            </a:r>
            <a:r>
              <a:rPr sz="1100" spc="15" dirty="0">
                <a:solidFill>
                  <a:srgbClr val="3A3838"/>
                </a:solidFill>
                <a:latin typeface="Arial"/>
                <a:cs typeface="Arial"/>
              </a:rPr>
              <a:t>architecture </a:t>
            </a:r>
            <a:r>
              <a:rPr sz="1100" spc="-30" dirty="0">
                <a:solidFill>
                  <a:srgbClr val="3A3838"/>
                </a:solidFill>
                <a:latin typeface="Arial"/>
                <a:cs typeface="Arial"/>
              </a:rPr>
              <a:t>across </a:t>
            </a:r>
            <a:r>
              <a:rPr sz="1100" spc="5" dirty="0">
                <a:solidFill>
                  <a:srgbClr val="3A3838"/>
                </a:solidFill>
                <a:latin typeface="Arial"/>
                <a:cs typeface="Arial"/>
              </a:rPr>
              <a:t>device-edge-  </a:t>
            </a:r>
            <a:r>
              <a:rPr sz="1100" spc="15" dirty="0">
                <a:solidFill>
                  <a:srgbClr val="3A3838"/>
                </a:solidFill>
                <a:latin typeface="Arial"/>
                <a:cs typeface="Arial"/>
              </a:rPr>
              <a:t>cloud </a:t>
            </a:r>
            <a:r>
              <a:rPr sz="1100" spc="20" dirty="0">
                <a:solidFill>
                  <a:srgbClr val="3A3838"/>
                </a:solidFill>
                <a:latin typeface="Arial"/>
                <a:cs typeface="Arial"/>
              </a:rPr>
              <a:t>(deployment, </a:t>
            </a:r>
            <a:r>
              <a:rPr sz="1100" dirty="0">
                <a:solidFill>
                  <a:srgbClr val="3A3838"/>
                </a:solidFill>
                <a:latin typeface="Arial"/>
                <a:cs typeface="Arial"/>
              </a:rPr>
              <a:t>scheduling, </a:t>
            </a:r>
            <a:r>
              <a:rPr sz="1100" spc="15" dirty="0">
                <a:solidFill>
                  <a:srgbClr val="3A3838"/>
                </a:solidFill>
                <a:latin typeface="Arial"/>
                <a:cs typeface="Arial"/>
              </a:rPr>
              <a:t>and</a:t>
            </a:r>
            <a:r>
              <a:rPr sz="1100" spc="1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3A3838"/>
                </a:solidFill>
                <a:latin typeface="Arial"/>
                <a:cs typeface="Arial"/>
              </a:rPr>
              <a:t>communications)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"/>
              <a:cs typeface="Arial"/>
            </a:endParaRPr>
          </a:p>
          <a:p>
            <a:pPr marL="958215">
              <a:lnSpc>
                <a:spcPct val="100000"/>
              </a:lnSpc>
            </a:pPr>
            <a:r>
              <a:rPr sz="1200" b="1" spc="-65" dirty="0">
                <a:solidFill>
                  <a:srgbClr val="3A3838"/>
                </a:solidFill>
                <a:latin typeface="Arial"/>
                <a:cs typeface="Arial"/>
              </a:rPr>
              <a:t>Processors: </a:t>
            </a:r>
            <a:r>
              <a:rPr sz="1200" b="1" spc="-40" dirty="0">
                <a:solidFill>
                  <a:srgbClr val="3A3838"/>
                </a:solidFill>
                <a:latin typeface="Arial"/>
                <a:cs typeface="Arial"/>
              </a:rPr>
              <a:t>Ascend, GPU, </a:t>
            </a:r>
            <a:r>
              <a:rPr sz="1200" b="1" spc="5" dirty="0">
                <a:solidFill>
                  <a:srgbClr val="3A3838"/>
                </a:solidFill>
                <a:latin typeface="Arial"/>
                <a:cs typeface="Arial"/>
              </a:rPr>
              <a:t>and</a:t>
            </a:r>
            <a:r>
              <a:rPr sz="1200" b="1" spc="8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sz="1200" b="1" spc="-60" dirty="0">
                <a:solidFill>
                  <a:srgbClr val="3A3838"/>
                </a:solidFill>
                <a:latin typeface="Arial"/>
                <a:cs typeface="Arial"/>
              </a:rPr>
              <a:t>CPU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66388" y="5097779"/>
            <a:ext cx="4729480" cy="0"/>
          </a:xfrm>
          <a:custGeom>
            <a:avLst/>
            <a:gdLst/>
            <a:ahLst/>
            <a:cxnLst/>
            <a:rect l="l" t="t" r="r" b="b"/>
            <a:pathLst>
              <a:path w="4729480">
                <a:moveTo>
                  <a:pt x="0" y="0"/>
                </a:moveTo>
                <a:lnTo>
                  <a:pt x="4729226" y="0"/>
                </a:lnTo>
              </a:path>
            </a:pathLst>
          </a:custGeom>
          <a:ln w="6096">
            <a:solidFill>
              <a:srgbClr val="76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39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97853" y="2532697"/>
            <a:ext cx="4598670" cy="2859405"/>
            <a:chOff x="6697853" y="2532697"/>
            <a:chExt cx="4598670" cy="2859405"/>
          </a:xfrm>
        </p:grpSpPr>
        <p:sp>
          <p:nvSpPr>
            <p:cNvPr id="3" name="object 3"/>
            <p:cNvSpPr/>
            <p:nvPr/>
          </p:nvSpPr>
          <p:spPr>
            <a:xfrm>
              <a:off x="6701028" y="2673096"/>
              <a:ext cx="681990" cy="2489835"/>
            </a:xfrm>
            <a:custGeom>
              <a:avLst/>
              <a:gdLst/>
              <a:ahLst/>
              <a:cxnLst/>
              <a:rect l="l" t="t" r="r" b="b"/>
              <a:pathLst>
                <a:path w="681990" h="2489835">
                  <a:moveTo>
                    <a:pt x="0" y="1511808"/>
                  </a:moveTo>
                  <a:lnTo>
                    <a:pt x="609980" y="2489580"/>
                  </a:lnTo>
                </a:path>
                <a:path w="681990" h="2489835">
                  <a:moveTo>
                    <a:pt x="9144" y="1066291"/>
                  </a:moveTo>
                  <a:lnTo>
                    <a:pt x="681990" y="0"/>
                  </a:lnTo>
                </a:path>
              </a:pathLst>
            </a:custGeom>
            <a:ln w="6096">
              <a:solidFill>
                <a:srgbClr val="7E7E7E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28332" y="2537460"/>
              <a:ext cx="4063365" cy="2849880"/>
            </a:xfrm>
            <a:custGeom>
              <a:avLst/>
              <a:gdLst/>
              <a:ahLst/>
              <a:cxnLst/>
              <a:rect l="l" t="t" r="r" b="b"/>
              <a:pathLst>
                <a:path w="4063365" h="2849879">
                  <a:moveTo>
                    <a:pt x="3588004" y="0"/>
                  </a:moveTo>
                  <a:lnTo>
                    <a:pt x="474979" y="0"/>
                  </a:lnTo>
                  <a:lnTo>
                    <a:pt x="426406" y="2451"/>
                  </a:lnTo>
                  <a:lnTo>
                    <a:pt x="379238" y="9647"/>
                  </a:lnTo>
                  <a:lnTo>
                    <a:pt x="333714" y="21349"/>
                  </a:lnTo>
                  <a:lnTo>
                    <a:pt x="290071" y="37318"/>
                  </a:lnTo>
                  <a:lnTo>
                    <a:pt x="248550" y="57315"/>
                  </a:lnTo>
                  <a:lnTo>
                    <a:pt x="209388" y="81103"/>
                  </a:lnTo>
                  <a:lnTo>
                    <a:pt x="172824" y="108443"/>
                  </a:lnTo>
                  <a:lnTo>
                    <a:pt x="139096" y="139096"/>
                  </a:lnTo>
                  <a:lnTo>
                    <a:pt x="108443" y="172824"/>
                  </a:lnTo>
                  <a:lnTo>
                    <a:pt x="81103" y="209388"/>
                  </a:lnTo>
                  <a:lnTo>
                    <a:pt x="57315" y="248550"/>
                  </a:lnTo>
                  <a:lnTo>
                    <a:pt x="37318" y="290071"/>
                  </a:lnTo>
                  <a:lnTo>
                    <a:pt x="21349" y="333714"/>
                  </a:lnTo>
                  <a:lnTo>
                    <a:pt x="9647" y="379238"/>
                  </a:lnTo>
                  <a:lnTo>
                    <a:pt x="2451" y="426406"/>
                  </a:lnTo>
                  <a:lnTo>
                    <a:pt x="0" y="474979"/>
                  </a:lnTo>
                  <a:lnTo>
                    <a:pt x="0" y="2374900"/>
                  </a:lnTo>
                  <a:lnTo>
                    <a:pt x="2451" y="2423473"/>
                  </a:lnTo>
                  <a:lnTo>
                    <a:pt x="9647" y="2470641"/>
                  </a:lnTo>
                  <a:lnTo>
                    <a:pt x="21349" y="2516165"/>
                  </a:lnTo>
                  <a:lnTo>
                    <a:pt x="37318" y="2559808"/>
                  </a:lnTo>
                  <a:lnTo>
                    <a:pt x="57315" y="2601329"/>
                  </a:lnTo>
                  <a:lnTo>
                    <a:pt x="81103" y="2640491"/>
                  </a:lnTo>
                  <a:lnTo>
                    <a:pt x="108443" y="2677055"/>
                  </a:lnTo>
                  <a:lnTo>
                    <a:pt x="139096" y="2710783"/>
                  </a:lnTo>
                  <a:lnTo>
                    <a:pt x="172824" y="2741436"/>
                  </a:lnTo>
                  <a:lnTo>
                    <a:pt x="209388" y="2768776"/>
                  </a:lnTo>
                  <a:lnTo>
                    <a:pt x="248550" y="2792564"/>
                  </a:lnTo>
                  <a:lnTo>
                    <a:pt x="290071" y="2812561"/>
                  </a:lnTo>
                  <a:lnTo>
                    <a:pt x="333714" y="2828530"/>
                  </a:lnTo>
                  <a:lnTo>
                    <a:pt x="379238" y="2840232"/>
                  </a:lnTo>
                  <a:lnTo>
                    <a:pt x="426406" y="2847428"/>
                  </a:lnTo>
                  <a:lnTo>
                    <a:pt x="474979" y="2849879"/>
                  </a:lnTo>
                  <a:lnTo>
                    <a:pt x="3588004" y="2849879"/>
                  </a:lnTo>
                  <a:lnTo>
                    <a:pt x="3636577" y="2847428"/>
                  </a:lnTo>
                  <a:lnTo>
                    <a:pt x="3683745" y="2840232"/>
                  </a:lnTo>
                  <a:lnTo>
                    <a:pt x="3729269" y="2828530"/>
                  </a:lnTo>
                  <a:lnTo>
                    <a:pt x="3772912" y="2812561"/>
                  </a:lnTo>
                  <a:lnTo>
                    <a:pt x="3814433" y="2792564"/>
                  </a:lnTo>
                  <a:lnTo>
                    <a:pt x="3853595" y="2768776"/>
                  </a:lnTo>
                  <a:lnTo>
                    <a:pt x="3890159" y="2741436"/>
                  </a:lnTo>
                  <a:lnTo>
                    <a:pt x="3923887" y="2710783"/>
                  </a:lnTo>
                  <a:lnTo>
                    <a:pt x="3954540" y="2677055"/>
                  </a:lnTo>
                  <a:lnTo>
                    <a:pt x="3981880" y="2640491"/>
                  </a:lnTo>
                  <a:lnTo>
                    <a:pt x="4005668" y="2601329"/>
                  </a:lnTo>
                  <a:lnTo>
                    <a:pt x="4025665" y="2559808"/>
                  </a:lnTo>
                  <a:lnTo>
                    <a:pt x="4041634" y="2516165"/>
                  </a:lnTo>
                  <a:lnTo>
                    <a:pt x="4053336" y="2470641"/>
                  </a:lnTo>
                  <a:lnTo>
                    <a:pt x="4060532" y="2423473"/>
                  </a:lnTo>
                  <a:lnTo>
                    <a:pt x="4062984" y="2374900"/>
                  </a:lnTo>
                  <a:lnTo>
                    <a:pt x="4062984" y="474979"/>
                  </a:lnTo>
                  <a:lnTo>
                    <a:pt x="4060532" y="426406"/>
                  </a:lnTo>
                  <a:lnTo>
                    <a:pt x="4053336" y="379238"/>
                  </a:lnTo>
                  <a:lnTo>
                    <a:pt x="4041634" y="333714"/>
                  </a:lnTo>
                  <a:lnTo>
                    <a:pt x="4025665" y="290071"/>
                  </a:lnTo>
                  <a:lnTo>
                    <a:pt x="4005668" y="248550"/>
                  </a:lnTo>
                  <a:lnTo>
                    <a:pt x="3981880" y="209388"/>
                  </a:lnTo>
                  <a:lnTo>
                    <a:pt x="3954540" y="172824"/>
                  </a:lnTo>
                  <a:lnTo>
                    <a:pt x="3923887" y="139096"/>
                  </a:lnTo>
                  <a:lnTo>
                    <a:pt x="3890159" y="108443"/>
                  </a:lnTo>
                  <a:lnTo>
                    <a:pt x="3853595" y="81103"/>
                  </a:lnTo>
                  <a:lnTo>
                    <a:pt x="3814433" y="57315"/>
                  </a:lnTo>
                  <a:lnTo>
                    <a:pt x="3772912" y="37318"/>
                  </a:lnTo>
                  <a:lnTo>
                    <a:pt x="3729269" y="21349"/>
                  </a:lnTo>
                  <a:lnTo>
                    <a:pt x="3683745" y="9647"/>
                  </a:lnTo>
                  <a:lnTo>
                    <a:pt x="3636577" y="2451"/>
                  </a:lnTo>
                  <a:lnTo>
                    <a:pt x="358800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28332" y="2537460"/>
              <a:ext cx="4063365" cy="2849880"/>
            </a:xfrm>
            <a:custGeom>
              <a:avLst/>
              <a:gdLst/>
              <a:ahLst/>
              <a:cxnLst/>
              <a:rect l="l" t="t" r="r" b="b"/>
              <a:pathLst>
                <a:path w="4063365" h="2849879">
                  <a:moveTo>
                    <a:pt x="0" y="474979"/>
                  </a:moveTo>
                  <a:lnTo>
                    <a:pt x="2451" y="426406"/>
                  </a:lnTo>
                  <a:lnTo>
                    <a:pt x="9647" y="379238"/>
                  </a:lnTo>
                  <a:lnTo>
                    <a:pt x="21349" y="333714"/>
                  </a:lnTo>
                  <a:lnTo>
                    <a:pt x="37318" y="290071"/>
                  </a:lnTo>
                  <a:lnTo>
                    <a:pt x="57315" y="248550"/>
                  </a:lnTo>
                  <a:lnTo>
                    <a:pt x="81103" y="209388"/>
                  </a:lnTo>
                  <a:lnTo>
                    <a:pt x="108443" y="172824"/>
                  </a:lnTo>
                  <a:lnTo>
                    <a:pt x="139096" y="139096"/>
                  </a:lnTo>
                  <a:lnTo>
                    <a:pt x="172824" y="108443"/>
                  </a:lnTo>
                  <a:lnTo>
                    <a:pt x="209388" y="81103"/>
                  </a:lnTo>
                  <a:lnTo>
                    <a:pt x="248550" y="57315"/>
                  </a:lnTo>
                  <a:lnTo>
                    <a:pt x="290071" y="37318"/>
                  </a:lnTo>
                  <a:lnTo>
                    <a:pt x="333714" y="21349"/>
                  </a:lnTo>
                  <a:lnTo>
                    <a:pt x="379238" y="9647"/>
                  </a:lnTo>
                  <a:lnTo>
                    <a:pt x="426406" y="2451"/>
                  </a:lnTo>
                  <a:lnTo>
                    <a:pt x="474979" y="0"/>
                  </a:lnTo>
                  <a:lnTo>
                    <a:pt x="3588004" y="0"/>
                  </a:lnTo>
                  <a:lnTo>
                    <a:pt x="3636577" y="2451"/>
                  </a:lnTo>
                  <a:lnTo>
                    <a:pt x="3683745" y="9647"/>
                  </a:lnTo>
                  <a:lnTo>
                    <a:pt x="3729269" y="21349"/>
                  </a:lnTo>
                  <a:lnTo>
                    <a:pt x="3772912" y="37318"/>
                  </a:lnTo>
                  <a:lnTo>
                    <a:pt x="3814433" y="57315"/>
                  </a:lnTo>
                  <a:lnTo>
                    <a:pt x="3853595" y="81103"/>
                  </a:lnTo>
                  <a:lnTo>
                    <a:pt x="3890159" y="108443"/>
                  </a:lnTo>
                  <a:lnTo>
                    <a:pt x="3923887" y="139096"/>
                  </a:lnTo>
                  <a:lnTo>
                    <a:pt x="3954540" y="172824"/>
                  </a:lnTo>
                  <a:lnTo>
                    <a:pt x="3981880" y="209388"/>
                  </a:lnTo>
                  <a:lnTo>
                    <a:pt x="4005668" y="248550"/>
                  </a:lnTo>
                  <a:lnTo>
                    <a:pt x="4025665" y="290071"/>
                  </a:lnTo>
                  <a:lnTo>
                    <a:pt x="4041634" y="333714"/>
                  </a:lnTo>
                  <a:lnTo>
                    <a:pt x="4053336" y="379238"/>
                  </a:lnTo>
                  <a:lnTo>
                    <a:pt x="4060532" y="426406"/>
                  </a:lnTo>
                  <a:lnTo>
                    <a:pt x="4062984" y="474979"/>
                  </a:lnTo>
                  <a:lnTo>
                    <a:pt x="4062984" y="2374900"/>
                  </a:lnTo>
                  <a:lnTo>
                    <a:pt x="4060532" y="2423473"/>
                  </a:lnTo>
                  <a:lnTo>
                    <a:pt x="4053336" y="2470641"/>
                  </a:lnTo>
                  <a:lnTo>
                    <a:pt x="4041634" y="2516165"/>
                  </a:lnTo>
                  <a:lnTo>
                    <a:pt x="4025665" y="2559808"/>
                  </a:lnTo>
                  <a:lnTo>
                    <a:pt x="4005668" y="2601329"/>
                  </a:lnTo>
                  <a:lnTo>
                    <a:pt x="3981880" y="2640491"/>
                  </a:lnTo>
                  <a:lnTo>
                    <a:pt x="3954540" y="2677055"/>
                  </a:lnTo>
                  <a:lnTo>
                    <a:pt x="3923887" y="2710783"/>
                  </a:lnTo>
                  <a:lnTo>
                    <a:pt x="3890159" y="2741436"/>
                  </a:lnTo>
                  <a:lnTo>
                    <a:pt x="3853595" y="2768776"/>
                  </a:lnTo>
                  <a:lnTo>
                    <a:pt x="3814433" y="2792564"/>
                  </a:lnTo>
                  <a:lnTo>
                    <a:pt x="3772912" y="2812561"/>
                  </a:lnTo>
                  <a:lnTo>
                    <a:pt x="3729269" y="2828530"/>
                  </a:lnTo>
                  <a:lnTo>
                    <a:pt x="3683745" y="2840232"/>
                  </a:lnTo>
                  <a:lnTo>
                    <a:pt x="3636577" y="2847428"/>
                  </a:lnTo>
                  <a:lnTo>
                    <a:pt x="3588004" y="2849879"/>
                  </a:lnTo>
                  <a:lnTo>
                    <a:pt x="474979" y="2849879"/>
                  </a:lnTo>
                  <a:lnTo>
                    <a:pt x="426406" y="2847428"/>
                  </a:lnTo>
                  <a:lnTo>
                    <a:pt x="379238" y="2840232"/>
                  </a:lnTo>
                  <a:lnTo>
                    <a:pt x="333714" y="2828530"/>
                  </a:lnTo>
                  <a:lnTo>
                    <a:pt x="290071" y="2812561"/>
                  </a:lnTo>
                  <a:lnTo>
                    <a:pt x="248550" y="2792564"/>
                  </a:lnTo>
                  <a:lnTo>
                    <a:pt x="209388" y="2768776"/>
                  </a:lnTo>
                  <a:lnTo>
                    <a:pt x="172824" y="2741436"/>
                  </a:lnTo>
                  <a:lnTo>
                    <a:pt x="139096" y="2710783"/>
                  </a:lnTo>
                  <a:lnTo>
                    <a:pt x="108443" y="2677055"/>
                  </a:lnTo>
                  <a:lnTo>
                    <a:pt x="81103" y="2640491"/>
                  </a:lnTo>
                  <a:lnTo>
                    <a:pt x="57315" y="2601329"/>
                  </a:lnTo>
                  <a:lnTo>
                    <a:pt x="37318" y="2559808"/>
                  </a:lnTo>
                  <a:lnTo>
                    <a:pt x="21349" y="2516165"/>
                  </a:lnTo>
                  <a:lnTo>
                    <a:pt x="9647" y="2470641"/>
                  </a:lnTo>
                  <a:lnTo>
                    <a:pt x="2451" y="2423473"/>
                  </a:lnTo>
                  <a:lnTo>
                    <a:pt x="0" y="2374900"/>
                  </a:lnTo>
                  <a:lnTo>
                    <a:pt x="0" y="474979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33488" y="3980688"/>
              <a:ext cx="1751330" cy="512445"/>
            </a:xfrm>
            <a:custGeom>
              <a:avLst/>
              <a:gdLst/>
              <a:ahLst/>
              <a:cxnLst/>
              <a:rect l="l" t="t" r="r" b="b"/>
              <a:pathLst>
                <a:path w="1751329" h="512445">
                  <a:moveTo>
                    <a:pt x="1665731" y="0"/>
                  </a:moveTo>
                  <a:lnTo>
                    <a:pt x="85343" y="0"/>
                  </a:lnTo>
                  <a:lnTo>
                    <a:pt x="52131" y="6709"/>
                  </a:lnTo>
                  <a:lnTo>
                    <a:pt x="25003" y="25003"/>
                  </a:lnTo>
                  <a:lnTo>
                    <a:pt x="6709" y="52131"/>
                  </a:lnTo>
                  <a:lnTo>
                    <a:pt x="0" y="85343"/>
                  </a:lnTo>
                  <a:lnTo>
                    <a:pt x="0" y="426719"/>
                  </a:lnTo>
                  <a:lnTo>
                    <a:pt x="6709" y="459932"/>
                  </a:lnTo>
                  <a:lnTo>
                    <a:pt x="25003" y="487060"/>
                  </a:lnTo>
                  <a:lnTo>
                    <a:pt x="52131" y="505354"/>
                  </a:lnTo>
                  <a:lnTo>
                    <a:pt x="85343" y="512063"/>
                  </a:lnTo>
                  <a:lnTo>
                    <a:pt x="1665731" y="512063"/>
                  </a:lnTo>
                  <a:lnTo>
                    <a:pt x="1698944" y="505354"/>
                  </a:lnTo>
                  <a:lnTo>
                    <a:pt x="1726072" y="487060"/>
                  </a:lnTo>
                  <a:lnTo>
                    <a:pt x="1744366" y="459932"/>
                  </a:lnTo>
                  <a:lnTo>
                    <a:pt x="1751076" y="426719"/>
                  </a:lnTo>
                  <a:lnTo>
                    <a:pt x="1751076" y="85343"/>
                  </a:lnTo>
                  <a:lnTo>
                    <a:pt x="1744366" y="52131"/>
                  </a:lnTo>
                  <a:lnTo>
                    <a:pt x="1726072" y="25003"/>
                  </a:lnTo>
                  <a:lnTo>
                    <a:pt x="1698944" y="6709"/>
                  </a:lnTo>
                  <a:lnTo>
                    <a:pt x="166573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33488" y="3980688"/>
              <a:ext cx="1751330" cy="512445"/>
            </a:xfrm>
            <a:custGeom>
              <a:avLst/>
              <a:gdLst/>
              <a:ahLst/>
              <a:cxnLst/>
              <a:rect l="l" t="t" r="r" b="b"/>
              <a:pathLst>
                <a:path w="1751329" h="512445">
                  <a:moveTo>
                    <a:pt x="0" y="85343"/>
                  </a:moveTo>
                  <a:lnTo>
                    <a:pt x="6709" y="52131"/>
                  </a:lnTo>
                  <a:lnTo>
                    <a:pt x="25003" y="25003"/>
                  </a:lnTo>
                  <a:lnTo>
                    <a:pt x="52131" y="6709"/>
                  </a:lnTo>
                  <a:lnTo>
                    <a:pt x="85343" y="0"/>
                  </a:lnTo>
                  <a:lnTo>
                    <a:pt x="1665731" y="0"/>
                  </a:lnTo>
                  <a:lnTo>
                    <a:pt x="1698944" y="6709"/>
                  </a:lnTo>
                  <a:lnTo>
                    <a:pt x="1726072" y="25003"/>
                  </a:lnTo>
                  <a:lnTo>
                    <a:pt x="1744366" y="52131"/>
                  </a:lnTo>
                  <a:lnTo>
                    <a:pt x="1751076" y="85343"/>
                  </a:lnTo>
                  <a:lnTo>
                    <a:pt x="1751076" y="426719"/>
                  </a:lnTo>
                  <a:lnTo>
                    <a:pt x="1744366" y="459932"/>
                  </a:lnTo>
                  <a:lnTo>
                    <a:pt x="1726072" y="487060"/>
                  </a:lnTo>
                  <a:lnTo>
                    <a:pt x="1698944" y="505354"/>
                  </a:lnTo>
                  <a:lnTo>
                    <a:pt x="1665731" y="512063"/>
                  </a:lnTo>
                  <a:lnTo>
                    <a:pt x="85343" y="512063"/>
                  </a:lnTo>
                  <a:lnTo>
                    <a:pt x="52131" y="505354"/>
                  </a:lnTo>
                  <a:lnTo>
                    <a:pt x="25003" y="487060"/>
                  </a:lnTo>
                  <a:lnTo>
                    <a:pt x="6709" y="459932"/>
                  </a:lnTo>
                  <a:lnTo>
                    <a:pt x="0" y="426719"/>
                  </a:lnTo>
                  <a:lnTo>
                    <a:pt x="0" y="853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387843" y="1086738"/>
            <a:ext cx="4078604" cy="136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C00000"/>
                </a:solidFill>
                <a:latin typeface="Arial"/>
                <a:cs typeface="Arial"/>
              </a:rPr>
              <a:t>CANN:</a:t>
            </a:r>
            <a:endParaRPr sz="1600">
              <a:latin typeface="Arial"/>
              <a:cs typeface="Arial"/>
            </a:endParaRPr>
          </a:p>
          <a:p>
            <a:pPr marL="12700" marR="637540">
              <a:lnSpc>
                <a:spcPct val="100000"/>
              </a:lnSpc>
              <a:spcBef>
                <a:spcPts val="15"/>
              </a:spcBef>
            </a:pPr>
            <a:r>
              <a:rPr sz="1200" b="1" spc="-40" dirty="0">
                <a:latin typeface="Arial"/>
                <a:cs typeface="Arial"/>
              </a:rPr>
              <a:t>A </a:t>
            </a:r>
            <a:r>
              <a:rPr sz="1200" b="1" spc="-20" dirty="0">
                <a:latin typeface="Arial"/>
                <a:cs typeface="Arial"/>
              </a:rPr>
              <a:t>chip </a:t>
            </a:r>
            <a:r>
              <a:rPr sz="1200" b="1" spc="-5" dirty="0">
                <a:latin typeface="Arial"/>
                <a:cs typeface="Arial"/>
              </a:rPr>
              <a:t>operators </a:t>
            </a:r>
            <a:r>
              <a:rPr sz="1200" b="1" spc="10" dirty="0">
                <a:latin typeface="Arial"/>
                <a:cs typeface="Arial"/>
              </a:rPr>
              <a:t>library </a:t>
            </a:r>
            <a:r>
              <a:rPr sz="1200" b="1" spc="5" dirty="0">
                <a:latin typeface="Arial"/>
                <a:cs typeface="Arial"/>
              </a:rPr>
              <a:t>and highly </a:t>
            </a:r>
            <a:r>
              <a:rPr sz="1200" b="1" spc="30" dirty="0">
                <a:latin typeface="Arial"/>
                <a:cs typeface="Arial"/>
              </a:rPr>
              <a:t>automated  </a:t>
            </a:r>
            <a:r>
              <a:rPr sz="1200" b="1" spc="10" dirty="0">
                <a:latin typeface="Arial"/>
                <a:cs typeface="Arial"/>
              </a:rPr>
              <a:t>operator development</a:t>
            </a:r>
            <a:r>
              <a:rPr sz="1200" b="1" spc="75" dirty="0">
                <a:latin typeface="Arial"/>
                <a:cs typeface="Arial"/>
              </a:rPr>
              <a:t> </a:t>
            </a:r>
            <a:r>
              <a:rPr sz="1200" b="1" spc="30" dirty="0">
                <a:latin typeface="Arial"/>
                <a:cs typeface="Arial"/>
              </a:rPr>
              <a:t>toolkit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200" b="1" spc="35" dirty="0">
                <a:latin typeface="Arial"/>
                <a:cs typeface="Arial"/>
              </a:rPr>
              <a:t>Optimal </a:t>
            </a:r>
            <a:r>
              <a:rPr sz="1200" b="1" spc="10" dirty="0">
                <a:latin typeface="Arial"/>
                <a:cs typeface="Arial"/>
              </a:rPr>
              <a:t>development </a:t>
            </a:r>
            <a:r>
              <a:rPr sz="1200" b="1" spc="-10" dirty="0">
                <a:latin typeface="Arial"/>
                <a:cs typeface="Arial"/>
              </a:rPr>
              <a:t>efficiency</a:t>
            </a:r>
            <a:r>
              <a:rPr sz="1200" spc="-10" dirty="0">
                <a:latin typeface="Arial"/>
                <a:cs typeface="Arial"/>
              </a:rPr>
              <a:t>, </a:t>
            </a:r>
            <a:r>
              <a:rPr sz="1200" spc="30" dirty="0">
                <a:latin typeface="Arial"/>
                <a:cs typeface="Arial"/>
              </a:rPr>
              <a:t>in-depth optimization  </a:t>
            </a:r>
            <a:r>
              <a:rPr sz="1200" spc="50" dirty="0">
                <a:latin typeface="Arial"/>
                <a:cs typeface="Arial"/>
              </a:rPr>
              <a:t>of </a:t>
            </a:r>
            <a:r>
              <a:rPr sz="1200" spc="30" dirty="0">
                <a:latin typeface="Arial"/>
                <a:cs typeface="Arial"/>
              </a:rPr>
              <a:t>the common </a:t>
            </a:r>
            <a:r>
              <a:rPr sz="1200" spc="20" dirty="0">
                <a:latin typeface="Arial"/>
                <a:cs typeface="Arial"/>
              </a:rPr>
              <a:t>operator </a:t>
            </a:r>
            <a:r>
              <a:rPr sz="1200" spc="10" dirty="0">
                <a:latin typeface="Arial"/>
                <a:cs typeface="Arial"/>
              </a:rPr>
              <a:t>library, and </a:t>
            </a:r>
            <a:r>
              <a:rPr sz="1200" spc="20" dirty="0">
                <a:latin typeface="Arial"/>
                <a:cs typeface="Arial"/>
              </a:rPr>
              <a:t>abundant </a:t>
            </a:r>
            <a:r>
              <a:rPr sz="1200" spc="-60" dirty="0">
                <a:latin typeface="Arial"/>
                <a:cs typeface="Arial"/>
              </a:rPr>
              <a:t>APIs  </a:t>
            </a:r>
            <a:r>
              <a:rPr sz="1200" b="1" spc="15" dirty="0">
                <a:latin typeface="Arial"/>
                <a:cs typeface="Arial"/>
              </a:rPr>
              <a:t>Operator </a:t>
            </a:r>
            <a:r>
              <a:rPr sz="1200" b="1" spc="-20" dirty="0">
                <a:latin typeface="Arial"/>
                <a:cs typeface="Arial"/>
              </a:rPr>
              <a:t>convergence, </a:t>
            </a:r>
            <a:r>
              <a:rPr sz="1200" b="1" spc="-15" dirty="0">
                <a:latin typeface="Arial"/>
                <a:cs typeface="Arial"/>
              </a:rPr>
              <a:t>best </a:t>
            </a:r>
            <a:r>
              <a:rPr sz="1200" b="1" spc="15" dirty="0">
                <a:latin typeface="Arial"/>
                <a:cs typeface="Arial"/>
              </a:rPr>
              <a:t>matching </a:t>
            </a:r>
            <a:r>
              <a:rPr sz="1200" b="1" spc="35" dirty="0">
                <a:latin typeface="Arial"/>
                <a:cs typeface="Arial"/>
              </a:rPr>
              <a:t>the </a:t>
            </a:r>
            <a:r>
              <a:rPr sz="1200" b="1" spc="5" dirty="0">
                <a:latin typeface="Arial"/>
                <a:cs typeface="Arial"/>
              </a:rPr>
              <a:t>performance  </a:t>
            </a:r>
            <a:r>
              <a:rPr sz="1200" b="1" spc="15" dirty="0">
                <a:latin typeface="Arial"/>
                <a:cs typeface="Arial"/>
              </a:rPr>
              <a:t>of </a:t>
            </a:r>
            <a:r>
              <a:rPr sz="1200" b="1" spc="35" dirty="0">
                <a:latin typeface="Arial"/>
                <a:cs typeface="Arial"/>
              </a:rPr>
              <a:t>the </a:t>
            </a:r>
            <a:r>
              <a:rPr sz="1200" b="1" spc="-45" dirty="0">
                <a:latin typeface="Arial"/>
                <a:cs typeface="Arial"/>
              </a:rPr>
              <a:t>Ascend</a:t>
            </a:r>
            <a:r>
              <a:rPr sz="1200" b="1" spc="9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chip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9426" y="4028313"/>
            <a:ext cx="1249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8115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Arial"/>
                <a:cs typeface="Arial"/>
              </a:rPr>
              <a:t>TBE </a:t>
            </a:r>
            <a:r>
              <a:rPr sz="1200" spc="25" dirty="0">
                <a:latin typeface="Arial"/>
                <a:cs typeface="Arial"/>
              </a:rPr>
              <a:t>operator  </a:t>
            </a:r>
            <a:r>
              <a:rPr sz="1200" spc="15" dirty="0">
                <a:latin typeface="Arial"/>
                <a:cs typeface="Arial"/>
              </a:rPr>
              <a:t>development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tool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46501" y="3975925"/>
            <a:ext cx="1759585" cy="521970"/>
            <a:chOff x="9346501" y="3975925"/>
            <a:chExt cx="1759585" cy="521970"/>
          </a:xfrm>
        </p:grpSpPr>
        <p:sp>
          <p:nvSpPr>
            <p:cNvPr id="11" name="object 11"/>
            <p:cNvSpPr/>
            <p:nvPr/>
          </p:nvSpPr>
          <p:spPr>
            <a:xfrm>
              <a:off x="9351264" y="3980688"/>
              <a:ext cx="1750060" cy="512445"/>
            </a:xfrm>
            <a:custGeom>
              <a:avLst/>
              <a:gdLst/>
              <a:ahLst/>
              <a:cxnLst/>
              <a:rect l="l" t="t" r="r" b="b"/>
              <a:pathLst>
                <a:path w="1750059" h="512445">
                  <a:moveTo>
                    <a:pt x="1664207" y="0"/>
                  </a:moveTo>
                  <a:lnTo>
                    <a:pt x="85343" y="0"/>
                  </a:lnTo>
                  <a:lnTo>
                    <a:pt x="52131" y="6709"/>
                  </a:lnTo>
                  <a:lnTo>
                    <a:pt x="25003" y="25003"/>
                  </a:lnTo>
                  <a:lnTo>
                    <a:pt x="6709" y="52131"/>
                  </a:lnTo>
                  <a:lnTo>
                    <a:pt x="0" y="85343"/>
                  </a:lnTo>
                  <a:lnTo>
                    <a:pt x="0" y="426719"/>
                  </a:lnTo>
                  <a:lnTo>
                    <a:pt x="6709" y="459932"/>
                  </a:lnTo>
                  <a:lnTo>
                    <a:pt x="25003" y="487060"/>
                  </a:lnTo>
                  <a:lnTo>
                    <a:pt x="52131" y="505354"/>
                  </a:lnTo>
                  <a:lnTo>
                    <a:pt x="85343" y="512063"/>
                  </a:lnTo>
                  <a:lnTo>
                    <a:pt x="1664207" y="512063"/>
                  </a:lnTo>
                  <a:lnTo>
                    <a:pt x="1697420" y="505354"/>
                  </a:lnTo>
                  <a:lnTo>
                    <a:pt x="1724548" y="487060"/>
                  </a:lnTo>
                  <a:lnTo>
                    <a:pt x="1742842" y="459932"/>
                  </a:lnTo>
                  <a:lnTo>
                    <a:pt x="1749552" y="426719"/>
                  </a:lnTo>
                  <a:lnTo>
                    <a:pt x="1749552" y="85343"/>
                  </a:lnTo>
                  <a:lnTo>
                    <a:pt x="1742842" y="52131"/>
                  </a:lnTo>
                  <a:lnTo>
                    <a:pt x="1724548" y="25003"/>
                  </a:lnTo>
                  <a:lnTo>
                    <a:pt x="1697420" y="6709"/>
                  </a:lnTo>
                  <a:lnTo>
                    <a:pt x="1664207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51264" y="3980688"/>
              <a:ext cx="1750060" cy="512445"/>
            </a:xfrm>
            <a:custGeom>
              <a:avLst/>
              <a:gdLst/>
              <a:ahLst/>
              <a:cxnLst/>
              <a:rect l="l" t="t" r="r" b="b"/>
              <a:pathLst>
                <a:path w="1750059" h="512445">
                  <a:moveTo>
                    <a:pt x="0" y="85343"/>
                  </a:moveTo>
                  <a:lnTo>
                    <a:pt x="6709" y="52131"/>
                  </a:lnTo>
                  <a:lnTo>
                    <a:pt x="25003" y="25003"/>
                  </a:lnTo>
                  <a:lnTo>
                    <a:pt x="52131" y="6709"/>
                  </a:lnTo>
                  <a:lnTo>
                    <a:pt x="85343" y="0"/>
                  </a:lnTo>
                  <a:lnTo>
                    <a:pt x="1664207" y="0"/>
                  </a:lnTo>
                  <a:lnTo>
                    <a:pt x="1697420" y="6709"/>
                  </a:lnTo>
                  <a:lnTo>
                    <a:pt x="1724548" y="25003"/>
                  </a:lnTo>
                  <a:lnTo>
                    <a:pt x="1742842" y="52131"/>
                  </a:lnTo>
                  <a:lnTo>
                    <a:pt x="1749552" y="85343"/>
                  </a:lnTo>
                  <a:lnTo>
                    <a:pt x="1749552" y="426719"/>
                  </a:lnTo>
                  <a:lnTo>
                    <a:pt x="1742842" y="459932"/>
                  </a:lnTo>
                  <a:lnTo>
                    <a:pt x="1724548" y="487060"/>
                  </a:lnTo>
                  <a:lnTo>
                    <a:pt x="1697420" y="505354"/>
                  </a:lnTo>
                  <a:lnTo>
                    <a:pt x="1664207" y="512063"/>
                  </a:lnTo>
                  <a:lnTo>
                    <a:pt x="85343" y="512063"/>
                  </a:lnTo>
                  <a:lnTo>
                    <a:pt x="52131" y="505354"/>
                  </a:lnTo>
                  <a:lnTo>
                    <a:pt x="25003" y="487060"/>
                  </a:lnTo>
                  <a:lnTo>
                    <a:pt x="6709" y="459932"/>
                  </a:lnTo>
                  <a:lnTo>
                    <a:pt x="0" y="426719"/>
                  </a:lnTo>
                  <a:lnTo>
                    <a:pt x="0" y="853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766807" y="4023486"/>
            <a:ext cx="972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marR="5080" indent="-236220">
              <a:lnSpc>
                <a:spcPct val="100000"/>
              </a:lnSpc>
              <a:spcBef>
                <a:spcPts val="100"/>
              </a:spcBef>
            </a:pPr>
            <a:r>
              <a:rPr sz="1200" spc="-145" dirty="0">
                <a:latin typeface="Arial"/>
                <a:cs typeface="Arial"/>
              </a:rPr>
              <a:t>CCE </a:t>
            </a:r>
            <a:r>
              <a:rPr sz="1200" spc="20" dirty="0">
                <a:latin typeface="Arial"/>
                <a:cs typeface="Arial"/>
              </a:rPr>
              <a:t>Operator  </a:t>
            </a:r>
            <a:r>
              <a:rPr sz="1200" spc="5" dirty="0">
                <a:latin typeface="Arial"/>
                <a:cs typeface="Arial"/>
              </a:rPr>
              <a:t>Library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28725" y="3432047"/>
            <a:ext cx="3776979" cy="1647825"/>
            <a:chOff x="7328725" y="3432047"/>
            <a:chExt cx="3776979" cy="1647825"/>
          </a:xfrm>
        </p:grpSpPr>
        <p:sp>
          <p:nvSpPr>
            <p:cNvPr id="15" name="object 15"/>
            <p:cNvSpPr/>
            <p:nvPr/>
          </p:nvSpPr>
          <p:spPr>
            <a:xfrm>
              <a:off x="7333488" y="3432047"/>
              <a:ext cx="3767454" cy="512445"/>
            </a:xfrm>
            <a:custGeom>
              <a:avLst/>
              <a:gdLst/>
              <a:ahLst/>
              <a:cxnLst/>
              <a:rect l="l" t="t" r="r" b="b"/>
              <a:pathLst>
                <a:path w="3767454" h="512445">
                  <a:moveTo>
                    <a:pt x="3681983" y="0"/>
                  </a:moveTo>
                  <a:lnTo>
                    <a:pt x="85343" y="0"/>
                  </a:lnTo>
                  <a:lnTo>
                    <a:pt x="52131" y="6709"/>
                  </a:lnTo>
                  <a:lnTo>
                    <a:pt x="25003" y="25003"/>
                  </a:lnTo>
                  <a:lnTo>
                    <a:pt x="6709" y="52131"/>
                  </a:lnTo>
                  <a:lnTo>
                    <a:pt x="0" y="85343"/>
                  </a:lnTo>
                  <a:lnTo>
                    <a:pt x="0" y="426719"/>
                  </a:lnTo>
                  <a:lnTo>
                    <a:pt x="6709" y="459932"/>
                  </a:lnTo>
                  <a:lnTo>
                    <a:pt x="25003" y="487060"/>
                  </a:lnTo>
                  <a:lnTo>
                    <a:pt x="52131" y="505354"/>
                  </a:lnTo>
                  <a:lnTo>
                    <a:pt x="85343" y="512063"/>
                  </a:lnTo>
                  <a:lnTo>
                    <a:pt x="3681983" y="512063"/>
                  </a:lnTo>
                  <a:lnTo>
                    <a:pt x="3715196" y="505354"/>
                  </a:lnTo>
                  <a:lnTo>
                    <a:pt x="3742324" y="487060"/>
                  </a:lnTo>
                  <a:lnTo>
                    <a:pt x="3760618" y="459932"/>
                  </a:lnTo>
                  <a:lnTo>
                    <a:pt x="3767328" y="426719"/>
                  </a:lnTo>
                  <a:lnTo>
                    <a:pt x="3767328" y="85343"/>
                  </a:lnTo>
                  <a:lnTo>
                    <a:pt x="3760618" y="52131"/>
                  </a:lnTo>
                  <a:lnTo>
                    <a:pt x="3742324" y="25003"/>
                  </a:lnTo>
                  <a:lnTo>
                    <a:pt x="3715196" y="6709"/>
                  </a:lnTo>
                  <a:lnTo>
                    <a:pt x="3681983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33488" y="4562855"/>
              <a:ext cx="3767454" cy="512445"/>
            </a:xfrm>
            <a:custGeom>
              <a:avLst/>
              <a:gdLst/>
              <a:ahLst/>
              <a:cxnLst/>
              <a:rect l="l" t="t" r="r" b="b"/>
              <a:pathLst>
                <a:path w="3767454" h="512445">
                  <a:moveTo>
                    <a:pt x="3681983" y="0"/>
                  </a:moveTo>
                  <a:lnTo>
                    <a:pt x="85343" y="0"/>
                  </a:lnTo>
                  <a:lnTo>
                    <a:pt x="52131" y="6709"/>
                  </a:lnTo>
                  <a:lnTo>
                    <a:pt x="25003" y="25003"/>
                  </a:lnTo>
                  <a:lnTo>
                    <a:pt x="6709" y="52131"/>
                  </a:lnTo>
                  <a:lnTo>
                    <a:pt x="0" y="85344"/>
                  </a:lnTo>
                  <a:lnTo>
                    <a:pt x="0" y="426720"/>
                  </a:lnTo>
                  <a:lnTo>
                    <a:pt x="6709" y="459932"/>
                  </a:lnTo>
                  <a:lnTo>
                    <a:pt x="25003" y="487060"/>
                  </a:lnTo>
                  <a:lnTo>
                    <a:pt x="52131" y="505354"/>
                  </a:lnTo>
                  <a:lnTo>
                    <a:pt x="85343" y="512064"/>
                  </a:lnTo>
                  <a:lnTo>
                    <a:pt x="3681983" y="512064"/>
                  </a:lnTo>
                  <a:lnTo>
                    <a:pt x="3715196" y="505354"/>
                  </a:lnTo>
                  <a:lnTo>
                    <a:pt x="3742324" y="487060"/>
                  </a:lnTo>
                  <a:lnTo>
                    <a:pt x="3760618" y="459932"/>
                  </a:lnTo>
                  <a:lnTo>
                    <a:pt x="3767328" y="426720"/>
                  </a:lnTo>
                  <a:lnTo>
                    <a:pt x="3767328" y="85344"/>
                  </a:lnTo>
                  <a:lnTo>
                    <a:pt x="3760618" y="52131"/>
                  </a:lnTo>
                  <a:lnTo>
                    <a:pt x="3742324" y="25003"/>
                  </a:lnTo>
                  <a:lnTo>
                    <a:pt x="3715196" y="6709"/>
                  </a:lnTo>
                  <a:lnTo>
                    <a:pt x="368198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33488" y="4562855"/>
              <a:ext cx="3767454" cy="512445"/>
            </a:xfrm>
            <a:custGeom>
              <a:avLst/>
              <a:gdLst/>
              <a:ahLst/>
              <a:cxnLst/>
              <a:rect l="l" t="t" r="r" b="b"/>
              <a:pathLst>
                <a:path w="3767454" h="512445">
                  <a:moveTo>
                    <a:pt x="0" y="85344"/>
                  </a:moveTo>
                  <a:lnTo>
                    <a:pt x="6709" y="52131"/>
                  </a:lnTo>
                  <a:lnTo>
                    <a:pt x="25003" y="25003"/>
                  </a:lnTo>
                  <a:lnTo>
                    <a:pt x="52131" y="6709"/>
                  </a:lnTo>
                  <a:lnTo>
                    <a:pt x="85343" y="0"/>
                  </a:lnTo>
                  <a:lnTo>
                    <a:pt x="3681983" y="0"/>
                  </a:lnTo>
                  <a:lnTo>
                    <a:pt x="3715196" y="6709"/>
                  </a:lnTo>
                  <a:lnTo>
                    <a:pt x="3742324" y="25003"/>
                  </a:lnTo>
                  <a:lnTo>
                    <a:pt x="3760618" y="52131"/>
                  </a:lnTo>
                  <a:lnTo>
                    <a:pt x="3767328" y="85344"/>
                  </a:lnTo>
                  <a:lnTo>
                    <a:pt x="3767328" y="426720"/>
                  </a:lnTo>
                  <a:lnTo>
                    <a:pt x="3760618" y="459932"/>
                  </a:lnTo>
                  <a:lnTo>
                    <a:pt x="3742324" y="487060"/>
                  </a:lnTo>
                  <a:lnTo>
                    <a:pt x="3715196" y="505354"/>
                  </a:lnTo>
                  <a:lnTo>
                    <a:pt x="3681983" y="512064"/>
                  </a:lnTo>
                  <a:lnTo>
                    <a:pt x="85343" y="512064"/>
                  </a:lnTo>
                  <a:lnTo>
                    <a:pt x="52131" y="505354"/>
                  </a:lnTo>
                  <a:lnTo>
                    <a:pt x="25003" y="487060"/>
                  </a:lnTo>
                  <a:lnTo>
                    <a:pt x="6709" y="459932"/>
                  </a:lnTo>
                  <a:lnTo>
                    <a:pt x="0" y="426720"/>
                  </a:lnTo>
                  <a:lnTo>
                    <a:pt x="0" y="853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828913" y="4709921"/>
            <a:ext cx="965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5" dirty="0">
                <a:latin typeface="Arial"/>
                <a:cs typeface="Arial"/>
              </a:rPr>
              <a:t>CCE</a:t>
            </a:r>
            <a:r>
              <a:rPr sz="1200" spc="5" dirty="0">
                <a:latin typeface="Arial"/>
                <a:cs typeface="Arial"/>
              </a:rPr>
              <a:t> Compiler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72919" y="2719577"/>
            <a:ext cx="3688715" cy="1050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CANN</a:t>
            </a:r>
            <a:endParaRPr sz="1600">
              <a:latin typeface="Arial"/>
              <a:cs typeface="Arial"/>
            </a:endParaRPr>
          </a:p>
          <a:p>
            <a:pPr marL="52705" algn="ctr">
              <a:lnSpc>
                <a:spcPct val="100000"/>
              </a:lnSpc>
              <a:spcBef>
                <a:spcPts val="5"/>
              </a:spcBef>
            </a:pPr>
            <a:r>
              <a:rPr sz="1400" spc="15" dirty="0">
                <a:latin typeface="Arial"/>
                <a:cs typeface="Arial"/>
              </a:rPr>
              <a:t>Compute </a:t>
            </a:r>
            <a:r>
              <a:rPr sz="1400" spc="20" dirty="0">
                <a:latin typeface="Arial"/>
                <a:cs typeface="Arial"/>
              </a:rPr>
              <a:t>Architecture </a:t>
            </a:r>
            <a:r>
              <a:rPr sz="1400" spc="60" dirty="0">
                <a:latin typeface="Arial"/>
                <a:cs typeface="Arial"/>
              </a:rPr>
              <a:t>for </a:t>
            </a:r>
            <a:r>
              <a:rPr sz="1400" spc="25" dirty="0">
                <a:latin typeface="Arial"/>
                <a:cs typeface="Arial"/>
              </a:rPr>
              <a:t>Neural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1445260" algn="l"/>
                <a:tab pos="3662679" algn="l"/>
              </a:tabLst>
            </a:pPr>
            <a:r>
              <a:rPr sz="1400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400" u="sng" spc="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Networks	</a:t>
            </a:r>
            <a:endParaRPr sz="1400">
              <a:latin typeface="Arial"/>
              <a:cs typeface="Arial"/>
            </a:endParaRPr>
          </a:p>
          <a:p>
            <a:pPr marR="108585" algn="ctr">
              <a:lnSpc>
                <a:spcPct val="100000"/>
              </a:lnSpc>
              <a:spcBef>
                <a:spcPts val="1345"/>
              </a:spcBef>
            </a:pPr>
            <a:r>
              <a:rPr sz="1200" spc="-15" dirty="0">
                <a:latin typeface="Arial"/>
                <a:cs typeface="Arial"/>
              </a:rPr>
              <a:t>FusionEngine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2607" y="3219704"/>
            <a:ext cx="4718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223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Full  </a:t>
            </a:r>
            <a:r>
              <a:rPr sz="1400" b="1" spc="-20" dirty="0">
                <a:solidFill>
                  <a:srgbClr val="006FC0"/>
                </a:solidFill>
                <a:latin typeface="Arial"/>
                <a:cs typeface="Arial"/>
              </a:rPr>
              <a:t>stack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52855" y="3727703"/>
            <a:ext cx="386080" cy="1080770"/>
            <a:chOff x="752855" y="3727703"/>
            <a:chExt cx="386080" cy="1080770"/>
          </a:xfrm>
        </p:grpSpPr>
        <p:sp>
          <p:nvSpPr>
            <p:cNvPr id="22" name="object 22"/>
            <p:cNvSpPr/>
            <p:nvPr/>
          </p:nvSpPr>
          <p:spPr>
            <a:xfrm>
              <a:off x="752855" y="4802123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80">
                  <a:moveTo>
                    <a:pt x="0" y="0"/>
                  </a:moveTo>
                  <a:lnTo>
                    <a:pt x="385889" y="0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3251" y="3727703"/>
              <a:ext cx="76200" cy="1073785"/>
            </a:xfrm>
            <a:custGeom>
              <a:avLst/>
              <a:gdLst/>
              <a:ahLst/>
              <a:cxnLst/>
              <a:rect l="l" t="t" r="r" b="b"/>
              <a:pathLst>
                <a:path w="76200" h="1073785">
                  <a:moveTo>
                    <a:pt x="31750" y="997585"/>
                  </a:moveTo>
                  <a:lnTo>
                    <a:pt x="0" y="997585"/>
                  </a:lnTo>
                  <a:lnTo>
                    <a:pt x="38100" y="1073785"/>
                  </a:lnTo>
                  <a:lnTo>
                    <a:pt x="69850" y="1010285"/>
                  </a:lnTo>
                  <a:lnTo>
                    <a:pt x="31750" y="1010285"/>
                  </a:lnTo>
                  <a:lnTo>
                    <a:pt x="31750" y="997585"/>
                  </a:lnTo>
                  <a:close/>
                </a:path>
                <a:path w="76200" h="1073785">
                  <a:moveTo>
                    <a:pt x="44450" y="0"/>
                  </a:moveTo>
                  <a:lnTo>
                    <a:pt x="31750" y="0"/>
                  </a:lnTo>
                  <a:lnTo>
                    <a:pt x="31750" y="1010285"/>
                  </a:lnTo>
                  <a:lnTo>
                    <a:pt x="44450" y="1010285"/>
                  </a:lnTo>
                  <a:lnTo>
                    <a:pt x="44450" y="0"/>
                  </a:lnTo>
                  <a:close/>
                </a:path>
                <a:path w="76200" h="1073785">
                  <a:moveTo>
                    <a:pt x="76200" y="997585"/>
                  </a:moveTo>
                  <a:lnTo>
                    <a:pt x="44450" y="997585"/>
                  </a:lnTo>
                  <a:lnTo>
                    <a:pt x="44450" y="1010285"/>
                  </a:lnTo>
                  <a:lnTo>
                    <a:pt x="69850" y="1010285"/>
                  </a:lnTo>
                  <a:lnTo>
                    <a:pt x="76200" y="997585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52855" y="2171700"/>
            <a:ext cx="386080" cy="967105"/>
            <a:chOff x="752855" y="2171700"/>
            <a:chExt cx="386080" cy="967105"/>
          </a:xfrm>
        </p:grpSpPr>
        <p:sp>
          <p:nvSpPr>
            <p:cNvPr id="25" name="object 25"/>
            <p:cNvSpPr/>
            <p:nvPr/>
          </p:nvSpPr>
          <p:spPr>
            <a:xfrm>
              <a:off x="752855" y="2177795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80">
                  <a:moveTo>
                    <a:pt x="0" y="0"/>
                  </a:moveTo>
                  <a:lnTo>
                    <a:pt x="385889" y="0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3251" y="2177795"/>
              <a:ext cx="76200" cy="960755"/>
            </a:xfrm>
            <a:custGeom>
              <a:avLst/>
              <a:gdLst/>
              <a:ahLst/>
              <a:cxnLst/>
              <a:rect l="l" t="t" r="r" b="b"/>
              <a:pathLst>
                <a:path w="76200" h="96075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960501"/>
                  </a:lnTo>
                  <a:lnTo>
                    <a:pt x="44450" y="960501"/>
                  </a:lnTo>
                  <a:lnTo>
                    <a:pt x="44450" y="63500"/>
                  </a:lnTo>
                  <a:close/>
                </a:path>
                <a:path w="76200" h="96075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96075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569334" y="5681573"/>
            <a:ext cx="11087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25" dirty="0">
                <a:solidFill>
                  <a:srgbClr val="006FC0"/>
                </a:solidFill>
                <a:latin typeface="Arial"/>
                <a:cs typeface="Arial"/>
              </a:rPr>
              <a:t>All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006FC0"/>
                </a:solidFill>
                <a:latin typeface="Arial"/>
                <a:cs typeface="Arial"/>
              </a:rPr>
              <a:t>scenarios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610100" y="5599176"/>
            <a:ext cx="2106295" cy="404495"/>
            <a:chOff x="4610100" y="5599176"/>
            <a:chExt cx="2106295" cy="404495"/>
          </a:xfrm>
        </p:grpSpPr>
        <p:sp>
          <p:nvSpPr>
            <p:cNvPr id="29" name="object 29"/>
            <p:cNvSpPr/>
            <p:nvPr/>
          </p:nvSpPr>
          <p:spPr>
            <a:xfrm>
              <a:off x="6710172" y="5599176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5">
                  <a:moveTo>
                    <a:pt x="0" y="0"/>
                  </a:moveTo>
                  <a:lnTo>
                    <a:pt x="0" y="403898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10100" y="5785104"/>
              <a:ext cx="2091689" cy="76200"/>
            </a:xfrm>
            <a:custGeom>
              <a:avLst/>
              <a:gdLst/>
              <a:ahLst/>
              <a:cxnLst/>
              <a:rect l="l" t="t" r="r" b="b"/>
              <a:pathLst>
                <a:path w="2091690" h="76200">
                  <a:moveTo>
                    <a:pt x="2014981" y="0"/>
                  </a:moveTo>
                  <a:lnTo>
                    <a:pt x="2014981" y="76200"/>
                  </a:lnTo>
                  <a:lnTo>
                    <a:pt x="2078481" y="44450"/>
                  </a:lnTo>
                  <a:lnTo>
                    <a:pt x="2027681" y="44450"/>
                  </a:lnTo>
                  <a:lnTo>
                    <a:pt x="2027681" y="31750"/>
                  </a:lnTo>
                  <a:lnTo>
                    <a:pt x="2078481" y="31750"/>
                  </a:lnTo>
                  <a:lnTo>
                    <a:pt x="2014981" y="0"/>
                  </a:lnTo>
                  <a:close/>
                </a:path>
                <a:path w="2091690" h="76200">
                  <a:moveTo>
                    <a:pt x="201498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014981" y="44450"/>
                  </a:lnTo>
                  <a:lnTo>
                    <a:pt x="2014981" y="31750"/>
                  </a:lnTo>
                  <a:close/>
                </a:path>
                <a:path w="2091690" h="76200">
                  <a:moveTo>
                    <a:pt x="2078481" y="31750"/>
                  </a:moveTo>
                  <a:lnTo>
                    <a:pt x="2027681" y="31750"/>
                  </a:lnTo>
                  <a:lnTo>
                    <a:pt x="2027681" y="44450"/>
                  </a:lnTo>
                  <a:lnTo>
                    <a:pt x="2078481" y="44450"/>
                  </a:lnTo>
                  <a:lnTo>
                    <a:pt x="2091181" y="38100"/>
                  </a:lnTo>
                  <a:lnTo>
                    <a:pt x="2078481" y="3175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1261872" y="5599176"/>
            <a:ext cx="2331085" cy="404495"/>
            <a:chOff x="1261872" y="5599176"/>
            <a:chExt cx="2331085" cy="404495"/>
          </a:xfrm>
        </p:grpSpPr>
        <p:sp>
          <p:nvSpPr>
            <p:cNvPr id="32" name="object 32"/>
            <p:cNvSpPr/>
            <p:nvPr/>
          </p:nvSpPr>
          <p:spPr>
            <a:xfrm>
              <a:off x="1267968" y="5599176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5">
                  <a:moveTo>
                    <a:pt x="0" y="0"/>
                  </a:moveTo>
                  <a:lnTo>
                    <a:pt x="0" y="403898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78636" y="5785243"/>
              <a:ext cx="2313940" cy="76200"/>
            </a:xfrm>
            <a:custGeom>
              <a:avLst/>
              <a:gdLst/>
              <a:ahLst/>
              <a:cxnLst/>
              <a:rect l="l" t="t" r="r" b="b"/>
              <a:pathLst>
                <a:path w="2313940" h="76200">
                  <a:moveTo>
                    <a:pt x="76200" y="0"/>
                  </a:moveTo>
                  <a:lnTo>
                    <a:pt x="0" y="3815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40"/>
                  </a:lnTo>
                  <a:lnTo>
                    <a:pt x="76200" y="0"/>
                  </a:lnTo>
                  <a:close/>
                </a:path>
                <a:path w="2313940" h="76200">
                  <a:moveTo>
                    <a:pt x="76200" y="3174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40"/>
                  </a:lnTo>
                  <a:lnTo>
                    <a:pt x="76200" y="31740"/>
                  </a:lnTo>
                  <a:close/>
                </a:path>
                <a:path w="2313940" h="76200">
                  <a:moveTo>
                    <a:pt x="76200" y="44440"/>
                  </a:moveTo>
                  <a:lnTo>
                    <a:pt x="63500" y="44450"/>
                  </a:lnTo>
                  <a:lnTo>
                    <a:pt x="76200" y="44450"/>
                  </a:lnTo>
                  <a:close/>
                </a:path>
                <a:path w="2313940" h="76200">
                  <a:moveTo>
                    <a:pt x="2313940" y="30086"/>
                  </a:moveTo>
                  <a:lnTo>
                    <a:pt x="76200" y="31740"/>
                  </a:lnTo>
                  <a:lnTo>
                    <a:pt x="76200" y="44440"/>
                  </a:lnTo>
                  <a:lnTo>
                    <a:pt x="2313940" y="42786"/>
                  </a:lnTo>
                  <a:lnTo>
                    <a:pt x="2313940" y="30086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248150" y="1659607"/>
            <a:ext cx="5483860" cy="465455"/>
            <a:chOff x="1248150" y="1659607"/>
            <a:chExt cx="5483860" cy="465455"/>
          </a:xfrm>
        </p:grpSpPr>
        <p:sp>
          <p:nvSpPr>
            <p:cNvPr id="35" name="object 35"/>
            <p:cNvSpPr/>
            <p:nvPr/>
          </p:nvSpPr>
          <p:spPr>
            <a:xfrm>
              <a:off x="1248150" y="1659607"/>
              <a:ext cx="5483362" cy="46487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67968" y="1684019"/>
              <a:ext cx="5422900" cy="403860"/>
            </a:xfrm>
            <a:custGeom>
              <a:avLst/>
              <a:gdLst/>
              <a:ahLst/>
              <a:cxnLst/>
              <a:rect l="l" t="t" r="r" b="b"/>
              <a:pathLst>
                <a:path w="5422900" h="403860">
                  <a:moveTo>
                    <a:pt x="5422392" y="67310"/>
                  </a:moveTo>
                  <a:lnTo>
                    <a:pt x="5417096" y="41097"/>
                  </a:lnTo>
                  <a:lnTo>
                    <a:pt x="5402681" y="19710"/>
                  </a:lnTo>
                  <a:lnTo>
                    <a:pt x="5381295" y="5295"/>
                  </a:lnTo>
                  <a:lnTo>
                    <a:pt x="5355082" y="0"/>
                  </a:lnTo>
                  <a:lnTo>
                    <a:pt x="67310" y="0"/>
                  </a:lnTo>
                  <a:lnTo>
                    <a:pt x="41084" y="5295"/>
                  </a:lnTo>
                  <a:lnTo>
                    <a:pt x="19697" y="19710"/>
                  </a:lnTo>
                  <a:lnTo>
                    <a:pt x="5283" y="41097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3" y="362775"/>
                  </a:lnTo>
                  <a:lnTo>
                    <a:pt x="19697" y="384162"/>
                  </a:lnTo>
                  <a:lnTo>
                    <a:pt x="41084" y="398576"/>
                  </a:lnTo>
                  <a:lnTo>
                    <a:pt x="67310" y="403860"/>
                  </a:lnTo>
                  <a:lnTo>
                    <a:pt x="5355082" y="403860"/>
                  </a:lnTo>
                  <a:lnTo>
                    <a:pt x="5381295" y="398576"/>
                  </a:lnTo>
                  <a:lnTo>
                    <a:pt x="5402681" y="384162"/>
                  </a:lnTo>
                  <a:lnTo>
                    <a:pt x="5417096" y="362775"/>
                  </a:lnTo>
                  <a:lnTo>
                    <a:pt x="5422392" y="336550"/>
                  </a:lnTo>
                  <a:lnTo>
                    <a:pt x="5422392" y="6731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222498" y="1727961"/>
            <a:ext cx="1553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52525"/>
                </a:solidFill>
                <a:latin typeface="Arial"/>
                <a:cs typeface="Arial"/>
              </a:rPr>
              <a:t>AI</a:t>
            </a:r>
            <a:r>
              <a:rPr sz="1800" spc="15" dirty="0">
                <a:solidFill>
                  <a:srgbClr val="252525"/>
                </a:solidFill>
                <a:latin typeface="Arial"/>
                <a:cs typeface="Arial"/>
              </a:rPr>
              <a:t> applications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232878" y="4911753"/>
            <a:ext cx="2190115" cy="537210"/>
            <a:chOff x="1232878" y="4911753"/>
            <a:chExt cx="2190115" cy="537210"/>
          </a:xfrm>
        </p:grpSpPr>
        <p:sp>
          <p:nvSpPr>
            <p:cNvPr id="39" name="object 39"/>
            <p:cNvSpPr/>
            <p:nvPr/>
          </p:nvSpPr>
          <p:spPr>
            <a:xfrm>
              <a:off x="1232878" y="4911753"/>
              <a:ext cx="2190044" cy="5365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45919" y="4995672"/>
              <a:ext cx="1354836" cy="40081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267967" y="4920996"/>
              <a:ext cx="2110740" cy="457200"/>
            </a:xfrm>
            <a:custGeom>
              <a:avLst/>
              <a:gdLst/>
              <a:ahLst/>
              <a:cxnLst/>
              <a:rect l="l" t="t" r="r" b="b"/>
              <a:pathLst>
                <a:path w="2110740" h="457200">
                  <a:moveTo>
                    <a:pt x="2034540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199"/>
                  </a:lnTo>
                  <a:lnTo>
                    <a:pt x="2034540" y="457199"/>
                  </a:lnTo>
                  <a:lnTo>
                    <a:pt x="2064180" y="451205"/>
                  </a:lnTo>
                  <a:lnTo>
                    <a:pt x="2088403" y="434863"/>
                  </a:lnTo>
                  <a:lnTo>
                    <a:pt x="2104745" y="410640"/>
                  </a:lnTo>
                  <a:lnTo>
                    <a:pt x="2110740" y="380999"/>
                  </a:lnTo>
                  <a:lnTo>
                    <a:pt x="2110740" y="76199"/>
                  </a:lnTo>
                  <a:lnTo>
                    <a:pt x="2104745" y="46559"/>
                  </a:lnTo>
                  <a:lnTo>
                    <a:pt x="2088403" y="22336"/>
                  </a:lnTo>
                  <a:lnTo>
                    <a:pt x="2064180" y="5994"/>
                  </a:lnTo>
                  <a:lnTo>
                    <a:pt x="2034540" y="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770379" y="5051552"/>
            <a:ext cx="11055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Arial"/>
                <a:cs typeface="Arial"/>
              </a:rPr>
              <a:t>Consumer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5" dirty="0">
                <a:latin typeface="Arial"/>
                <a:cs typeface="Arial"/>
              </a:rPr>
              <a:t>device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911596" y="4907279"/>
            <a:ext cx="913130" cy="586740"/>
            <a:chOff x="5911596" y="4907279"/>
            <a:chExt cx="913130" cy="586740"/>
          </a:xfrm>
        </p:grpSpPr>
        <p:sp>
          <p:nvSpPr>
            <p:cNvPr id="44" name="object 44"/>
            <p:cNvSpPr/>
            <p:nvPr/>
          </p:nvSpPr>
          <p:spPr>
            <a:xfrm>
              <a:off x="5917692" y="4907279"/>
              <a:ext cx="861060" cy="5638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11596" y="4925567"/>
              <a:ext cx="912876" cy="5684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71032" y="4934711"/>
              <a:ext cx="754380" cy="457200"/>
            </a:xfrm>
            <a:custGeom>
              <a:avLst/>
              <a:gdLst/>
              <a:ahLst/>
              <a:cxnLst/>
              <a:rect l="l" t="t" r="r" b="b"/>
              <a:pathLst>
                <a:path w="754379" h="457200">
                  <a:moveTo>
                    <a:pt x="678179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678179" y="457200"/>
                  </a:lnTo>
                  <a:lnTo>
                    <a:pt x="707820" y="451205"/>
                  </a:lnTo>
                  <a:lnTo>
                    <a:pt x="732043" y="434863"/>
                  </a:lnTo>
                  <a:lnTo>
                    <a:pt x="748385" y="410640"/>
                  </a:lnTo>
                  <a:lnTo>
                    <a:pt x="754379" y="381000"/>
                  </a:lnTo>
                  <a:lnTo>
                    <a:pt x="754379" y="76200"/>
                  </a:lnTo>
                  <a:lnTo>
                    <a:pt x="748385" y="46559"/>
                  </a:lnTo>
                  <a:lnTo>
                    <a:pt x="732043" y="22336"/>
                  </a:lnTo>
                  <a:lnTo>
                    <a:pt x="707820" y="5994"/>
                  </a:lnTo>
                  <a:lnTo>
                    <a:pt x="678179" y="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037579" y="4981194"/>
            <a:ext cx="6235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0" marR="5080" indent="-70485">
              <a:lnSpc>
                <a:spcPct val="100000"/>
              </a:lnSpc>
              <a:spcBef>
                <a:spcPts val="100"/>
              </a:spcBef>
            </a:pPr>
            <a:r>
              <a:rPr sz="1100" spc="20" dirty="0">
                <a:latin typeface="Arial"/>
                <a:cs typeface="Arial"/>
              </a:rPr>
              <a:t>Indu</a:t>
            </a:r>
            <a:r>
              <a:rPr sz="1100" spc="5" dirty="0">
                <a:latin typeface="Arial"/>
                <a:cs typeface="Arial"/>
              </a:rPr>
              <a:t>s</a:t>
            </a:r>
            <a:r>
              <a:rPr sz="1100" spc="-5" dirty="0">
                <a:latin typeface="Arial"/>
                <a:cs typeface="Arial"/>
              </a:rPr>
              <a:t>t</a:t>
            </a:r>
            <a:r>
              <a:rPr sz="1100" spc="40" dirty="0">
                <a:latin typeface="Arial"/>
                <a:cs typeface="Arial"/>
              </a:rPr>
              <a:t>r</a:t>
            </a:r>
            <a:r>
              <a:rPr sz="1100" spc="25" dirty="0">
                <a:latin typeface="Arial"/>
                <a:cs typeface="Arial"/>
              </a:rPr>
              <a:t>i</a:t>
            </a:r>
            <a:r>
              <a:rPr sz="1100" spc="15" dirty="0">
                <a:latin typeface="Arial"/>
                <a:cs typeface="Arial"/>
              </a:rPr>
              <a:t>al  </a:t>
            </a:r>
            <a:r>
              <a:rPr sz="1100" spc="-25" dirty="0">
                <a:latin typeface="Arial"/>
                <a:cs typeface="Arial"/>
              </a:rPr>
              <a:t>devices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044440" y="4899659"/>
            <a:ext cx="957580" cy="586740"/>
            <a:chOff x="5044440" y="4899659"/>
            <a:chExt cx="957580" cy="586740"/>
          </a:xfrm>
        </p:grpSpPr>
        <p:sp>
          <p:nvSpPr>
            <p:cNvPr id="49" name="object 49"/>
            <p:cNvSpPr/>
            <p:nvPr/>
          </p:nvSpPr>
          <p:spPr>
            <a:xfrm>
              <a:off x="5045964" y="4899659"/>
              <a:ext cx="955548" cy="5638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044440" y="4917947"/>
              <a:ext cx="957072" cy="5684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99304" y="4927091"/>
              <a:ext cx="848994" cy="457200"/>
            </a:xfrm>
            <a:custGeom>
              <a:avLst/>
              <a:gdLst/>
              <a:ahLst/>
              <a:cxnLst/>
              <a:rect l="l" t="t" r="r" b="b"/>
              <a:pathLst>
                <a:path w="848995" h="457200">
                  <a:moveTo>
                    <a:pt x="772668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199"/>
                  </a:lnTo>
                  <a:lnTo>
                    <a:pt x="772668" y="457199"/>
                  </a:lnTo>
                  <a:lnTo>
                    <a:pt x="802308" y="451205"/>
                  </a:lnTo>
                  <a:lnTo>
                    <a:pt x="826531" y="434863"/>
                  </a:lnTo>
                  <a:lnTo>
                    <a:pt x="842873" y="410640"/>
                  </a:lnTo>
                  <a:lnTo>
                    <a:pt x="848868" y="380999"/>
                  </a:lnTo>
                  <a:lnTo>
                    <a:pt x="848868" y="76199"/>
                  </a:lnTo>
                  <a:lnTo>
                    <a:pt x="842873" y="46559"/>
                  </a:lnTo>
                  <a:lnTo>
                    <a:pt x="826531" y="22336"/>
                  </a:lnTo>
                  <a:lnTo>
                    <a:pt x="802308" y="5994"/>
                  </a:lnTo>
                  <a:lnTo>
                    <a:pt x="772668" y="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169789" y="4973573"/>
            <a:ext cx="7080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415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latin typeface="Arial"/>
                <a:cs typeface="Arial"/>
              </a:rPr>
              <a:t>Edge  </a:t>
            </a:r>
            <a:r>
              <a:rPr sz="1100" spc="15" dirty="0">
                <a:latin typeface="Arial"/>
                <a:cs typeface="Arial"/>
              </a:rPr>
              <a:t>co</a:t>
            </a:r>
            <a:r>
              <a:rPr sz="1100" spc="20" dirty="0">
                <a:latin typeface="Arial"/>
                <a:cs typeface="Arial"/>
              </a:rPr>
              <a:t>m</a:t>
            </a:r>
            <a:r>
              <a:rPr sz="1100" spc="25" dirty="0">
                <a:latin typeface="Arial"/>
                <a:cs typeface="Arial"/>
              </a:rPr>
              <a:t>pu</a:t>
            </a:r>
            <a:r>
              <a:rPr sz="1100" spc="90" dirty="0">
                <a:latin typeface="Arial"/>
                <a:cs typeface="Arial"/>
              </a:rPr>
              <a:t>t</a:t>
            </a:r>
            <a:r>
              <a:rPr sz="1100" spc="25" dirty="0">
                <a:latin typeface="Arial"/>
                <a:cs typeface="Arial"/>
              </a:rPr>
              <a:t>i</a:t>
            </a:r>
            <a:r>
              <a:rPr sz="1100" spc="20" dirty="0">
                <a:latin typeface="Arial"/>
                <a:cs typeface="Arial"/>
              </a:rPr>
              <a:t>ng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247388" y="4899659"/>
            <a:ext cx="828040" cy="586740"/>
            <a:chOff x="4247388" y="4899659"/>
            <a:chExt cx="828040" cy="586740"/>
          </a:xfrm>
        </p:grpSpPr>
        <p:sp>
          <p:nvSpPr>
            <p:cNvPr id="54" name="object 54"/>
            <p:cNvSpPr/>
            <p:nvPr/>
          </p:nvSpPr>
          <p:spPr>
            <a:xfrm>
              <a:off x="4247388" y="4899659"/>
              <a:ext cx="827532" cy="56387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305300" y="4917947"/>
              <a:ext cx="754379" cy="5684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300728" y="4927091"/>
              <a:ext cx="721360" cy="457200"/>
            </a:xfrm>
            <a:custGeom>
              <a:avLst/>
              <a:gdLst/>
              <a:ahLst/>
              <a:cxnLst/>
              <a:rect l="l" t="t" r="r" b="b"/>
              <a:pathLst>
                <a:path w="721360" h="457200">
                  <a:moveTo>
                    <a:pt x="644651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199"/>
                  </a:lnTo>
                  <a:lnTo>
                    <a:pt x="644651" y="457199"/>
                  </a:lnTo>
                  <a:lnTo>
                    <a:pt x="674292" y="451205"/>
                  </a:lnTo>
                  <a:lnTo>
                    <a:pt x="698515" y="434863"/>
                  </a:lnTo>
                  <a:lnTo>
                    <a:pt x="714857" y="410640"/>
                  </a:lnTo>
                  <a:lnTo>
                    <a:pt x="720851" y="380999"/>
                  </a:lnTo>
                  <a:lnTo>
                    <a:pt x="720851" y="76199"/>
                  </a:lnTo>
                  <a:lnTo>
                    <a:pt x="714857" y="46559"/>
                  </a:lnTo>
                  <a:lnTo>
                    <a:pt x="698515" y="22336"/>
                  </a:lnTo>
                  <a:lnTo>
                    <a:pt x="674292" y="5994"/>
                  </a:lnTo>
                  <a:lnTo>
                    <a:pt x="644651" y="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430395" y="4973573"/>
            <a:ext cx="4622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 marR="5080" indent="-45720">
              <a:lnSpc>
                <a:spcPct val="100000"/>
              </a:lnSpc>
              <a:spcBef>
                <a:spcPts val="100"/>
              </a:spcBef>
            </a:pPr>
            <a:r>
              <a:rPr sz="1100" spc="-45" dirty="0">
                <a:latin typeface="Arial"/>
                <a:cs typeface="Arial"/>
              </a:rPr>
              <a:t>P</a:t>
            </a:r>
            <a:r>
              <a:rPr sz="1100" spc="-30" dirty="0">
                <a:latin typeface="Arial"/>
                <a:cs typeface="Arial"/>
              </a:rPr>
              <a:t>r</a:t>
            </a:r>
            <a:r>
              <a:rPr sz="1100" spc="25" dirty="0">
                <a:latin typeface="Arial"/>
                <a:cs typeface="Arial"/>
              </a:rPr>
              <a:t>iva</a:t>
            </a:r>
            <a:r>
              <a:rPr sz="1100" spc="5" dirty="0">
                <a:latin typeface="Arial"/>
                <a:cs typeface="Arial"/>
              </a:rPr>
              <a:t>t</a:t>
            </a:r>
            <a:r>
              <a:rPr sz="1100" spc="-20" dirty="0">
                <a:latin typeface="Arial"/>
                <a:cs typeface="Arial"/>
              </a:rPr>
              <a:t>e  </a:t>
            </a:r>
            <a:r>
              <a:rPr sz="1100" spc="10" dirty="0">
                <a:latin typeface="Arial"/>
                <a:cs typeface="Arial"/>
              </a:rPr>
              <a:t>cloud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445764" y="4899659"/>
            <a:ext cx="830580" cy="586740"/>
            <a:chOff x="3445764" y="4899659"/>
            <a:chExt cx="830580" cy="586740"/>
          </a:xfrm>
        </p:grpSpPr>
        <p:sp>
          <p:nvSpPr>
            <p:cNvPr id="59" name="object 59"/>
            <p:cNvSpPr/>
            <p:nvPr/>
          </p:nvSpPr>
          <p:spPr>
            <a:xfrm>
              <a:off x="3445764" y="4899659"/>
              <a:ext cx="830580" cy="56387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534156" y="4917947"/>
              <a:ext cx="694944" cy="56845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499104" y="492709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647700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199"/>
                  </a:lnTo>
                  <a:lnTo>
                    <a:pt x="647700" y="457199"/>
                  </a:lnTo>
                  <a:lnTo>
                    <a:pt x="677340" y="451205"/>
                  </a:lnTo>
                  <a:lnTo>
                    <a:pt x="701563" y="434863"/>
                  </a:lnTo>
                  <a:lnTo>
                    <a:pt x="717905" y="410640"/>
                  </a:lnTo>
                  <a:lnTo>
                    <a:pt x="723900" y="380999"/>
                  </a:lnTo>
                  <a:lnTo>
                    <a:pt x="723900" y="76199"/>
                  </a:lnTo>
                  <a:lnTo>
                    <a:pt x="717905" y="46559"/>
                  </a:lnTo>
                  <a:lnTo>
                    <a:pt x="701563" y="22336"/>
                  </a:lnTo>
                  <a:lnTo>
                    <a:pt x="677340" y="5994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658870" y="4973573"/>
            <a:ext cx="4051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marR="5080" indent="-17145">
              <a:lnSpc>
                <a:spcPct val="100000"/>
              </a:lnSpc>
              <a:spcBef>
                <a:spcPts val="100"/>
              </a:spcBef>
            </a:pPr>
            <a:r>
              <a:rPr sz="1100" spc="5" dirty="0">
                <a:latin typeface="Arial"/>
                <a:cs typeface="Arial"/>
              </a:rPr>
              <a:t>Publ</a:t>
            </a:r>
            <a:r>
              <a:rPr sz="1100" spc="-10" dirty="0">
                <a:latin typeface="Arial"/>
                <a:cs typeface="Arial"/>
              </a:rPr>
              <a:t>i</a:t>
            </a:r>
            <a:r>
              <a:rPr sz="1100" spc="-35" dirty="0">
                <a:latin typeface="Arial"/>
                <a:cs typeface="Arial"/>
              </a:rPr>
              <a:t>c  </a:t>
            </a:r>
            <a:r>
              <a:rPr sz="1100" spc="10" dirty="0">
                <a:latin typeface="Arial"/>
                <a:cs typeface="Arial"/>
              </a:rPr>
              <a:t>cloud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214627" y="2220467"/>
            <a:ext cx="5546090" cy="852169"/>
            <a:chOff x="1214627" y="2220467"/>
            <a:chExt cx="5546090" cy="852169"/>
          </a:xfrm>
        </p:grpSpPr>
        <p:sp>
          <p:nvSpPr>
            <p:cNvPr id="64" name="object 64"/>
            <p:cNvSpPr/>
            <p:nvPr/>
          </p:nvSpPr>
          <p:spPr>
            <a:xfrm>
              <a:off x="1214627" y="2220467"/>
              <a:ext cx="5545836" cy="85191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267967" y="2247899"/>
              <a:ext cx="5439156" cy="7452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456688" y="2299715"/>
              <a:ext cx="3343910" cy="641985"/>
            </a:xfrm>
            <a:custGeom>
              <a:avLst/>
              <a:gdLst/>
              <a:ahLst/>
              <a:cxnLst/>
              <a:rect l="l" t="t" r="r" b="b"/>
              <a:pathLst>
                <a:path w="3343910" h="641985">
                  <a:moveTo>
                    <a:pt x="0" y="381254"/>
                  </a:moveTo>
                  <a:lnTo>
                    <a:pt x="4099" y="361009"/>
                  </a:lnTo>
                  <a:lnTo>
                    <a:pt x="15271" y="344455"/>
                  </a:lnTo>
                  <a:lnTo>
                    <a:pt x="31825" y="333283"/>
                  </a:lnTo>
                  <a:lnTo>
                    <a:pt x="52069" y="329184"/>
                  </a:lnTo>
                  <a:lnTo>
                    <a:pt x="3291586" y="329184"/>
                  </a:lnTo>
                  <a:lnTo>
                    <a:pt x="3311830" y="333283"/>
                  </a:lnTo>
                  <a:lnTo>
                    <a:pt x="3328384" y="344455"/>
                  </a:lnTo>
                  <a:lnTo>
                    <a:pt x="3339556" y="361009"/>
                  </a:lnTo>
                  <a:lnTo>
                    <a:pt x="3343656" y="381254"/>
                  </a:lnTo>
                  <a:lnTo>
                    <a:pt x="3343656" y="589534"/>
                  </a:lnTo>
                  <a:lnTo>
                    <a:pt x="3339556" y="609778"/>
                  </a:lnTo>
                  <a:lnTo>
                    <a:pt x="3328384" y="626332"/>
                  </a:lnTo>
                  <a:lnTo>
                    <a:pt x="3311830" y="637504"/>
                  </a:lnTo>
                  <a:lnTo>
                    <a:pt x="3291586" y="641604"/>
                  </a:lnTo>
                  <a:lnTo>
                    <a:pt x="52069" y="641604"/>
                  </a:lnTo>
                  <a:lnTo>
                    <a:pt x="31825" y="637504"/>
                  </a:lnTo>
                  <a:lnTo>
                    <a:pt x="15271" y="626332"/>
                  </a:lnTo>
                  <a:lnTo>
                    <a:pt x="4099" y="609778"/>
                  </a:lnTo>
                  <a:lnTo>
                    <a:pt x="0" y="589534"/>
                  </a:lnTo>
                  <a:lnTo>
                    <a:pt x="0" y="381254"/>
                  </a:lnTo>
                  <a:close/>
                </a:path>
                <a:path w="3343910" h="641985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3" y="0"/>
                  </a:lnTo>
                  <a:lnTo>
                    <a:pt x="774445" y="0"/>
                  </a:lnTo>
                  <a:lnTo>
                    <a:pt x="793331" y="3811"/>
                  </a:lnTo>
                  <a:lnTo>
                    <a:pt x="808751" y="14208"/>
                  </a:lnTo>
                  <a:lnTo>
                    <a:pt x="819148" y="29628"/>
                  </a:lnTo>
                  <a:lnTo>
                    <a:pt x="822960" y="48513"/>
                  </a:lnTo>
                  <a:lnTo>
                    <a:pt x="822960" y="242570"/>
                  </a:lnTo>
                  <a:lnTo>
                    <a:pt x="819148" y="261455"/>
                  </a:lnTo>
                  <a:lnTo>
                    <a:pt x="808751" y="276875"/>
                  </a:lnTo>
                  <a:lnTo>
                    <a:pt x="793331" y="287272"/>
                  </a:lnTo>
                  <a:lnTo>
                    <a:pt x="774445" y="291084"/>
                  </a:lnTo>
                  <a:lnTo>
                    <a:pt x="48513" y="291084"/>
                  </a:lnTo>
                  <a:lnTo>
                    <a:pt x="29628" y="287272"/>
                  </a:lnTo>
                  <a:lnTo>
                    <a:pt x="14208" y="276875"/>
                  </a:lnTo>
                  <a:lnTo>
                    <a:pt x="3811" y="261455"/>
                  </a:lnTo>
                  <a:lnTo>
                    <a:pt x="0" y="242570"/>
                  </a:lnTo>
                  <a:lnTo>
                    <a:pt x="0" y="4851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523235" y="2363470"/>
            <a:ext cx="6877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APIs</a:t>
            </a:r>
            <a:endParaRPr sz="9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308603" y="2299716"/>
            <a:ext cx="2491740" cy="291465"/>
          </a:xfrm>
          <a:custGeom>
            <a:avLst/>
            <a:gdLst/>
            <a:ahLst/>
            <a:cxnLst/>
            <a:rect l="l" t="t" r="r" b="b"/>
            <a:pathLst>
              <a:path w="2491740" h="291464">
                <a:moveTo>
                  <a:pt x="0" y="48513"/>
                </a:moveTo>
                <a:lnTo>
                  <a:pt x="3811" y="29628"/>
                </a:lnTo>
                <a:lnTo>
                  <a:pt x="14208" y="14208"/>
                </a:lnTo>
                <a:lnTo>
                  <a:pt x="29628" y="3811"/>
                </a:lnTo>
                <a:lnTo>
                  <a:pt x="48513" y="0"/>
                </a:lnTo>
                <a:lnTo>
                  <a:pt x="868934" y="0"/>
                </a:lnTo>
                <a:lnTo>
                  <a:pt x="887819" y="3811"/>
                </a:lnTo>
                <a:lnTo>
                  <a:pt x="903239" y="14208"/>
                </a:lnTo>
                <a:lnTo>
                  <a:pt x="913636" y="29628"/>
                </a:lnTo>
                <a:lnTo>
                  <a:pt x="917448" y="48513"/>
                </a:lnTo>
                <a:lnTo>
                  <a:pt x="917448" y="242570"/>
                </a:lnTo>
                <a:lnTo>
                  <a:pt x="913636" y="261455"/>
                </a:lnTo>
                <a:lnTo>
                  <a:pt x="903239" y="276875"/>
                </a:lnTo>
                <a:lnTo>
                  <a:pt x="887819" y="287272"/>
                </a:lnTo>
                <a:lnTo>
                  <a:pt x="868934" y="291084"/>
                </a:lnTo>
                <a:lnTo>
                  <a:pt x="48513" y="291084"/>
                </a:lnTo>
                <a:lnTo>
                  <a:pt x="29628" y="287272"/>
                </a:lnTo>
                <a:lnTo>
                  <a:pt x="14208" y="276875"/>
                </a:lnTo>
                <a:lnTo>
                  <a:pt x="3811" y="261455"/>
                </a:lnTo>
                <a:lnTo>
                  <a:pt x="0" y="242570"/>
                </a:lnTo>
                <a:lnTo>
                  <a:pt x="0" y="48513"/>
                </a:lnTo>
                <a:close/>
              </a:path>
              <a:path w="2491740" h="291464">
                <a:moveTo>
                  <a:pt x="967740" y="48513"/>
                </a:moveTo>
                <a:lnTo>
                  <a:pt x="971551" y="29628"/>
                </a:lnTo>
                <a:lnTo>
                  <a:pt x="981948" y="14208"/>
                </a:lnTo>
                <a:lnTo>
                  <a:pt x="997368" y="3811"/>
                </a:lnTo>
                <a:lnTo>
                  <a:pt x="1016254" y="0"/>
                </a:lnTo>
                <a:lnTo>
                  <a:pt x="2443226" y="0"/>
                </a:lnTo>
                <a:lnTo>
                  <a:pt x="2462111" y="3811"/>
                </a:lnTo>
                <a:lnTo>
                  <a:pt x="2477531" y="14208"/>
                </a:lnTo>
                <a:lnTo>
                  <a:pt x="2487928" y="29628"/>
                </a:lnTo>
                <a:lnTo>
                  <a:pt x="2491740" y="48513"/>
                </a:lnTo>
                <a:lnTo>
                  <a:pt x="2491740" y="242570"/>
                </a:lnTo>
                <a:lnTo>
                  <a:pt x="2487928" y="261455"/>
                </a:lnTo>
                <a:lnTo>
                  <a:pt x="2477531" y="276875"/>
                </a:lnTo>
                <a:lnTo>
                  <a:pt x="2462111" y="287272"/>
                </a:lnTo>
                <a:lnTo>
                  <a:pt x="2443226" y="291084"/>
                </a:lnTo>
                <a:lnTo>
                  <a:pt x="1016254" y="291084"/>
                </a:lnTo>
                <a:lnTo>
                  <a:pt x="997368" y="287272"/>
                </a:lnTo>
                <a:lnTo>
                  <a:pt x="981948" y="276875"/>
                </a:lnTo>
                <a:lnTo>
                  <a:pt x="971551" y="261455"/>
                </a:lnTo>
                <a:lnTo>
                  <a:pt x="967740" y="242570"/>
                </a:lnTo>
                <a:lnTo>
                  <a:pt x="967740" y="48513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3374897" y="2363470"/>
            <a:ext cx="230568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2510" algn="l"/>
              </a:tabLst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APIs	</a:t>
            </a:r>
            <a:r>
              <a:rPr sz="900" spc="10" dirty="0">
                <a:solidFill>
                  <a:srgbClr val="FFFFFF"/>
                </a:solidFill>
                <a:latin typeface="Arial"/>
                <a:cs typeface="Arial"/>
              </a:rPr>
              <a:t>Pre-integrated</a:t>
            </a:r>
            <a:r>
              <a:rPr sz="9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Solutions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sz="1600" b="1" spc="10" dirty="0">
                <a:solidFill>
                  <a:srgbClr val="FFFF00"/>
                </a:solidFill>
                <a:latin typeface="Arial"/>
                <a:cs typeface="Arial"/>
              </a:rPr>
              <a:t>ModelArts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71600" y="2653283"/>
            <a:ext cx="868680" cy="297180"/>
          </a:xfrm>
          <a:custGeom>
            <a:avLst/>
            <a:gdLst/>
            <a:ahLst/>
            <a:cxnLst/>
            <a:rect l="l" t="t" r="r" b="b"/>
            <a:pathLst>
              <a:path w="868680" h="297180">
                <a:moveTo>
                  <a:pt x="0" y="49529"/>
                </a:moveTo>
                <a:lnTo>
                  <a:pt x="3899" y="30271"/>
                </a:lnTo>
                <a:lnTo>
                  <a:pt x="14525" y="14525"/>
                </a:lnTo>
                <a:lnTo>
                  <a:pt x="30271" y="3899"/>
                </a:lnTo>
                <a:lnTo>
                  <a:pt x="49530" y="0"/>
                </a:lnTo>
                <a:lnTo>
                  <a:pt x="819150" y="0"/>
                </a:lnTo>
                <a:lnTo>
                  <a:pt x="838408" y="3899"/>
                </a:lnTo>
                <a:lnTo>
                  <a:pt x="854154" y="14525"/>
                </a:lnTo>
                <a:lnTo>
                  <a:pt x="864780" y="30271"/>
                </a:lnTo>
                <a:lnTo>
                  <a:pt x="868680" y="49529"/>
                </a:lnTo>
                <a:lnTo>
                  <a:pt x="868680" y="247650"/>
                </a:lnTo>
                <a:lnTo>
                  <a:pt x="864780" y="266908"/>
                </a:lnTo>
                <a:lnTo>
                  <a:pt x="854154" y="282654"/>
                </a:lnTo>
                <a:lnTo>
                  <a:pt x="838408" y="293280"/>
                </a:lnTo>
                <a:lnTo>
                  <a:pt x="819150" y="297179"/>
                </a:lnTo>
                <a:lnTo>
                  <a:pt x="49530" y="297179"/>
                </a:lnTo>
                <a:lnTo>
                  <a:pt x="30271" y="293280"/>
                </a:lnTo>
                <a:lnTo>
                  <a:pt x="14525" y="282654"/>
                </a:lnTo>
                <a:lnTo>
                  <a:pt x="3899" y="266908"/>
                </a:lnTo>
                <a:lnTo>
                  <a:pt x="0" y="247650"/>
                </a:lnTo>
                <a:lnTo>
                  <a:pt x="0" y="49529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488439" y="2719578"/>
            <a:ext cx="632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FFFFFF"/>
                </a:solidFill>
                <a:latin typeface="Arial"/>
                <a:cs typeface="Arial"/>
              </a:rPr>
              <a:t>HiAI</a:t>
            </a: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9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371600" y="2299716"/>
            <a:ext cx="868680" cy="297180"/>
          </a:xfrm>
          <a:custGeom>
            <a:avLst/>
            <a:gdLst/>
            <a:ahLst/>
            <a:cxnLst/>
            <a:rect l="l" t="t" r="r" b="b"/>
            <a:pathLst>
              <a:path w="868680" h="297180">
                <a:moveTo>
                  <a:pt x="0" y="49530"/>
                </a:moveTo>
                <a:lnTo>
                  <a:pt x="3899" y="30271"/>
                </a:lnTo>
                <a:lnTo>
                  <a:pt x="14525" y="14525"/>
                </a:lnTo>
                <a:lnTo>
                  <a:pt x="30271" y="3899"/>
                </a:lnTo>
                <a:lnTo>
                  <a:pt x="49530" y="0"/>
                </a:lnTo>
                <a:lnTo>
                  <a:pt x="819150" y="0"/>
                </a:lnTo>
                <a:lnTo>
                  <a:pt x="838408" y="3899"/>
                </a:lnTo>
                <a:lnTo>
                  <a:pt x="854154" y="14525"/>
                </a:lnTo>
                <a:lnTo>
                  <a:pt x="864780" y="30271"/>
                </a:lnTo>
                <a:lnTo>
                  <a:pt x="868680" y="49530"/>
                </a:lnTo>
                <a:lnTo>
                  <a:pt x="868680" y="247650"/>
                </a:lnTo>
                <a:lnTo>
                  <a:pt x="864780" y="266908"/>
                </a:lnTo>
                <a:lnTo>
                  <a:pt x="854154" y="282654"/>
                </a:lnTo>
                <a:lnTo>
                  <a:pt x="838408" y="293280"/>
                </a:lnTo>
                <a:lnTo>
                  <a:pt x="819150" y="297180"/>
                </a:lnTo>
                <a:lnTo>
                  <a:pt x="49530" y="297180"/>
                </a:lnTo>
                <a:lnTo>
                  <a:pt x="30271" y="293280"/>
                </a:lnTo>
                <a:lnTo>
                  <a:pt x="14525" y="282654"/>
                </a:lnTo>
                <a:lnTo>
                  <a:pt x="3899" y="266908"/>
                </a:lnTo>
                <a:lnTo>
                  <a:pt x="0" y="247650"/>
                </a:lnTo>
                <a:lnTo>
                  <a:pt x="0" y="4953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1483867" y="2366517"/>
            <a:ext cx="6438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FFFFFF"/>
                </a:solidFill>
                <a:latin typeface="Arial"/>
                <a:cs typeface="Arial"/>
              </a:rPr>
              <a:t>HiAI</a:t>
            </a:r>
            <a:r>
              <a:rPr sz="9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827903" y="2527173"/>
            <a:ext cx="78486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2545">
              <a:lnSpc>
                <a:spcPct val="100000"/>
              </a:lnSpc>
              <a:spcBef>
                <a:spcPts val="105"/>
              </a:spcBef>
            </a:pPr>
            <a:r>
              <a:rPr sz="1100" spc="25" dirty="0">
                <a:solidFill>
                  <a:srgbClr val="FFFF00"/>
                </a:solidFill>
                <a:latin typeface="Arial"/>
                <a:cs typeface="Arial"/>
              </a:rPr>
              <a:t>Appl</a:t>
            </a:r>
            <a:r>
              <a:rPr sz="1100" dirty="0">
                <a:solidFill>
                  <a:srgbClr val="FFFF00"/>
                </a:solidFill>
                <a:latin typeface="Arial"/>
                <a:cs typeface="Arial"/>
              </a:rPr>
              <a:t>i</a:t>
            </a: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ca</a:t>
            </a:r>
            <a:r>
              <a:rPr sz="1100" spc="5" dirty="0">
                <a:solidFill>
                  <a:srgbClr val="FFFF00"/>
                </a:solidFill>
                <a:latin typeface="Arial"/>
                <a:cs typeface="Arial"/>
              </a:rPr>
              <a:t>t</a:t>
            </a:r>
            <a:r>
              <a:rPr sz="1100" spc="25" dirty="0">
                <a:solidFill>
                  <a:srgbClr val="FFFF00"/>
                </a:solidFill>
                <a:latin typeface="Arial"/>
                <a:cs typeface="Arial"/>
              </a:rPr>
              <a:t>i</a:t>
            </a: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on  </a:t>
            </a:r>
            <a:r>
              <a:rPr sz="1100" spc="-25" dirty="0">
                <a:solidFill>
                  <a:srgbClr val="FFFF00"/>
                </a:solidFill>
                <a:latin typeface="Arial"/>
                <a:cs typeface="Arial"/>
              </a:rPr>
              <a:t>e</a:t>
            </a:r>
            <a:r>
              <a:rPr sz="1100" spc="10" dirty="0">
                <a:solidFill>
                  <a:srgbClr val="FFFF00"/>
                </a:solidFill>
                <a:latin typeface="Arial"/>
                <a:cs typeface="Arial"/>
              </a:rPr>
              <a:t>n</a:t>
            </a: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able</a:t>
            </a:r>
            <a:r>
              <a:rPr sz="1100" spc="25" dirty="0">
                <a:solidFill>
                  <a:srgbClr val="FFFF00"/>
                </a:solidFill>
                <a:latin typeface="Arial"/>
                <a:cs typeface="Arial"/>
              </a:rPr>
              <a:t>m</a:t>
            </a:r>
            <a:r>
              <a:rPr sz="1100" spc="10" dirty="0">
                <a:solidFill>
                  <a:srgbClr val="FFFF00"/>
                </a:solidFill>
                <a:latin typeface="Arial"/>
                <a:cs typeface="Arial"/>
              </a:rPr>
              <a:t>e</a:t>
            </a:r>
            <a:r>
              <a:rPr sz="1100" spc="20" dirty="0">
                <a:solidFill>
                  <a:srgbClr val="FFFF00"/>
                </a:solidFill>
                <a:latin typeface="Arial"/>
                <a:cs typeface="Arial"/>
              </a:rPr>
              <a:t>n</a:t>
            </a:r>
            <a:r>
              <a:rPr sz="1100" spc="95" dirty="0">
                <a:solidFill>
                  <a:srgbClr val="FFFF00"/>
                </a:solidFill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214627" y="3712464"/>
            <a:ext cx="5546090" cy="551815"/>
            <a:chOff x="1214627" y="3712464"/>
            <a:chExt cx="5546090" cy="551815"/>
          </a:xfrm>
        </p:grpSpPr>
        <p:sp>
          <p:nvSpPr>
            <p:cNvPr id="76" name="object 76"/>
            <p:cNvSpPr/>
            <p:nvPr/>
          </p:nvSpPr>
          <p:spPr>
            <a:xfrm>
              <a:off x="1214627" y="3712464"/>
              <a:ext cx="5545836" cy="55168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267967" y="3739896"/>
              <a:ext cx="5439156" cy="44500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3661664" y="3782695"/>
            <a:ext cx="614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00"/>
                </a:solidFill>
                <a:latin typeface="Arial"/>
                <a:cs typeface="Arial"/>
              </a:rPr>
              <a:t>CANN</a:t>
            </a:r>
            <a:endParaRPr sz="16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185152" y="3762502"/>
            <a:ext cx="50596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46345" algn="l"/>
              </a:tabLst>
            </a:pPr>
            <a:r>
              <a:rPr sz="1100" u="heavy" spc="35" dirty="0">
                <a:solidFill>
                  <a:srgbClr val="FFFF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1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27903" y="3762502"/>
            <a:ext cx="7848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6845">
              <a:lnSpc>
                <a:spcPct val="100000"/>
              </a:lnSpc>
              <a:spcBef>
                <a:spcPts val="100"/>
              </a:spcBef>
            </a:pPr>
            <a:r>
              <a:rPr sz="1100" spc="-45" dirty="0">
                <a:solidFill>
                  <a:srgbClr val="FFFF00"/>
                </a:solidFill>
                <a:latin typeface="Arial"/>
                <a:cs typeface="Arial"/>
              </a:rPr>
              <a:t>P</a:t>
            </a:r>
            <a:r>
              <a:rPr sz="1100" spc="-30" dirty="0">
                <a:solidFill>
                  <a:srgbClr val="FFFF00"/>
                </a:solidFill>
                <a:latin typeface="Arial"/>
                <a:cs typeface="Arial"/>
              </a:rPr>
              <a:t>r</a:t>
            </a:r>
            <a:r>
              <a:rPr sz="1100" spc="-25" dirty="0">
                <a:solidFill>
                  <a:srgbClr val="FFFF00"/>
                </a:solidFill>
                <a:latin typeface="Arial"/>
                <a:cs typeface="Arial"/>
              </a:rPr>
              <a:t>oc</a:t>
            </a:r>
            <a:r>
              <a:rPr sz="1100" spc="-20" dirty="0">
                <a:solidFill>
                  <a:srgbClr val="FFFF00"/>
                </a:solidFill>
                <a:latin typeface="Arial"/>
                <a:cs typeface="Arial"/>
              </a:rPr>
              <a:t>e</a:t>
            </a:r>
            <a:r>
              <a:rPr sz="1100" spc="-25" dirty="0">
                <a:solidFill>
                  <a:srgbClr val="FFFF00"/>
                </a:solidFill>
                <a:latin typeface="Arial"/>
                <a:cs typeface="Arial"/>
              </a:rPr>
              <a:t>ssor  e</a:t>
            </a:r>
            <a:r>
              <a:rPr sz="1100" spc="10" dirty="0">
                <a:solidFill>
                  <a:srgbClr val="FFFF00"/>
                </a:solidFill>
                <a:latin typeface="Arial"/>
                <a:cs typeface="Arial"/>
              </a:rPr>
              <a:t>n</a:t>
            </a: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able</a:t>
            </a:r>
            <a:r>
              <a:rPr sz="1100" spc="25" dirty="0">
                <a:solidFill>
                  <a:srgbClr val="FFFF00"/>
                </a:solidFill>
                <a:latin typeface="Arial"/>
                <a:cs typeface="Arial"/>
              </a:rPr>
              <a:t>m</a:t>
            </a:r>
            <a:r>
              <a:rPr sz="1100" spc="10" dirty="0">
                <a:solidFill>
                  <a:srgbClr val="FFFF00"/>
                </a:solidFill>
                <a:latin typeface="Arial"/>
                <a:cs typeface="Arial"/>
              </a:rPr>
              <a:t>e</a:t>
            </a:r>
            <a:r>
              <a:rPr sz="1100" spc="20" dirty="0">
                <a:solidFill>
                  <a:srgbClr val="FFFF00"/>
                </a:solidFill>
                <a:latin typeface="Arial"/>
                <a:cs typeface="Arial"/>
              </a:rPr>
              <a:t>n</a:t>
            </a:r>
            <a:r>
              <a:rPr sz="1100" spc="95" dirty="0">
                <a:solidFill>
                  <a:srgbClr val="FFFF00"/>
                </a:solidFill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1214627" y="4303776"/>
            <a:ext cx="5546090" cy="603885"/>
            <a:chOff x="1214627" y="4303776"/>
            <a:chExt cx="5546090" cy="603885"/>
          </a:xfrm>
        </p:grpSpPr>
        <p:sp>
          <p:nvSpPr>
            <p:cNvPr id="82" name="object 82"/>
            <p:cNvSpPr/>
            <p:nvPr/>
          </p:nvSpPr>
          <p:spPr>
            <a:xfrm>
              <a:off x="1214627" y="4303776"/>
              <a:ext cx="5545836" cy="55168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07663" y="4320540"/>
              <a:ext cx="1159764" cy="58674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267967" y="4331208"/>
              <a:ext cx="5439156" cy="44500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3585209" y="4401388"/>
            <a:ext cx="805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solidFill>
                  <a:srgbClr val="FFFF00"/>
                </a:solidFill>
                <a:latin typeface="Arial"/>
                <a:cs typeface="Arial"/>
              </a:rPr>
              <a:t>Ascend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5192267" y="4378452"/>
            <a:ext cx="640080" cy="358140"/>
          </a:xfrm>
          <a:custGeom>
            <a:avLst/>
            <a:gdLst/>
            <a:ahLst/>
            <a:cxnLst/>
            <a:rect l="l" t="t" r="r" b="b"/>
            <a:pathLst>
              <a:path w="640079" h="358139">
                <a:moveTo>
                  <a:pt x="0" y="59690"/>
                </a:moveTo>
                <a:lnTo>
                  <a:pt x="4683" y="36433"/>
                </a:lnTo>
                <a:lnTo>
                  <a:pt x="17462" y="17462"/>
                </a:lnTo>
                <a:lnTo>
                  <a:pt x="36433" y="4683"/>
                </a:lnTo>
                <a:lnTo>
                  <a:pt x="59690" y="0"/>
                </a:lnTo>
                <a:lnTo>
                  <a:pt x="580390" y="0"/>
                </a:lnTo>
                <a:lnTo>
                  <a:pt x="603646" y="4683"/>
                </a:lnTo>
                <a:lnTo>
                  <a:pt x="622617" y="17462"/>
                </a:lnTo>
                <a:lnTo>
                  <a:pt x="635396" y="36433"/>
                </a:lnTo>
                <a:lnTo>
                  <a:pt x="640080" y="59690"/>
                </a:lnTo>
                <a:lnTo>
                  <a:pt x="640080" y="298450"/>
                </a:lnTo>
                <a:lnTo>
                  <a:pt x="635396" y="321706"/>
                </a:lnTo>
                <a:lnTo>
                  <a:pt x="622617" y="340677"/>
                </a:lnTo>
                <a:lnTo>
                  <a:pt x="603646" y="353456"/>
                </a:lnTo>
                <a:lnTo>
                  <a:pt x="580390" y="358140"/>
                </a:lnTo>
                <a:lnTo>
                  <a:pt x="59690" y="358140"/>
                </a:lnTo>
                <a:lnTo>
                  <a:pt x="36433" y="353456"/>
                </a:lnTo>
                <a:lnTo>
                  <a:pt x="17462" y="340677"/>
                </a:lnTo>
                <a:lnTo>
                  <a:pt x="4683" y="321706"/>
                </a:lnTo>
                <a:lnTo>
                  <a:pt x="0" y="298450"/>
                </a:lnTo>
                <a:lnTo>
                  <a:pt x="0" y="5969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5292978" y="4407154"/>
            <a:ext cx="43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 marR="5080" indent="-94615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Asce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0" spc="45" dirty="0">
                <a:solidFill>
                  <a:srgbClr val="FFFFFF"/>
                </a:solidFill>
                <a:latin typeface="Arial"/>
                <a:cs typeface="Arial"/>
              </a:rPr>
              <a:t>-  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Max</a:t>
            </a:r>
            <a:endParaRPr sz="9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4440935" y="4378452"/>
            <a:ext cx="683260" cy="358140"/>
          </a:xfrm>
          <a:custGeom>
            <a:avLst/>
            <a:gdLst/>
            <a:ahLst/>
            <a:cxnLst/>
            <a:rect l="l" t="t" r="r" b="b"/>
            <a:pathLst>
              <a:path w="683260" h="358139">
                <a:moveTo>
                  <a:pt x="0" y="59690"/>
                </a:moveTo>
                <a:lnTo>
                  <a:pt x="4683" y="36433"/>
                </a:lnTo>
                <a:lnTo>
                  <a:pt x="17462" y="17462"/>
                </a:lnTo>
                <a:lnTo>
                  <a:pt x="36433" y="4683"/>
                </a:lnTo>
                <a:lnTo>
                  <a:pt x="59689" y="0"/>
                </a:lnTo>
                <a:lnTo>
                  <a:pt x="623062" y="0"/>
                </a:lnTo>
                <a:lnTo>
                  <a:pt x="646318" y="4683"/>
                </a:lnTo>
                <a:lnTo>
                  <a:pt x="665289" y="17462"/>
                </a:lnTo>
                <a:lnTo>
                  <a:pt x="678068" y="36433"/>
                </a:lnTo>
                <a:lnTo>
                  <a:pt x="682751" y="59690"/>
                </a:lnTo>
                <a:lnTo>
                  <a:pt x="682751" y="298450"/>
                </a:lnTo>
                <a:lnTo>
                  <a:pt x="678068" y="321706"/>
                </a:lnTo>
                <a:lnTo>
                  <a:pt x="665289" y="340677"/>
                </a:lnTo>
                <a:lnTo>
                  <a:pt x="646318" y="353456"/>
                </a:lnTo>
                <a:lnTo>
                  <a:pt x="623062" y="358140"/>
                </a:lnTo>
                <a:lnTo>
                  <a:pt x="59689" y="358140"/>
                </a:lnTo>
                <a:lnTo>
                  <a:pt x="36433" y="353456"/>
                </a:lnTo>
                <a:lnTo>
                  <a:pt x="17462" y="340677"/>
                </a:lnTo>
                <a:lnTo>
                  <a:pt x="4683" y="321706"/>
                </a:lnTo>
                <a:lnTo>
                  <a:pt x="0" y="298450"/>
                </a:lnTo>
                <a:lnTo>
                  <a:pt x="0" y="5969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563617" y="4407154"/>
            <a:ext cx="43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Asce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0" spc="45" dirty="0">
                <a:solidFill>
                  <a:srgbClr val="FFFFFF"/>
                </a:solidFill>
                <a:latin typeface="Arial"/>
                <a:cs typeface="Arial"/>
              </a:rPr>
              <a:t>-  </a:t>
            </a:r>
            <a:r>
              <a:rPr sz="900" spc="40" dirty="0">
                <a:solidFill>
                  <a:srgbClr val="FFFFFF"/>
                </a:solidFill>
                <a:latin typeface="Arial"/>
                <a:cs typeface="Arial"/>
              </a:rPr>
              <a:t>Mini</a:t>
            </a:r>
            <a:endParaRPr sz="9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2063495" y="4378452"/>
            <a:ext cx="567055" cy="358140"/>
          </a:xfrm>
          <a:custGeom>
            <a:avLst/>
            <a:gdLst/>
            <a:ahLst/>
            <a:cxnLst/>
            <a:rect l="l" t="t" r="r" b="b"/>
            <a:pathLst>
              <a:path w="567055" h="358139">
                <a:moveTo>
                  <a:pt x="0" y="59690"/>
                </a:moveTo>
                <a:lnTo>
                  <a:pt x="4683" y="36433"/>
                </a:lnTo>
                <a:lnTo>
                  <a:pt x="17462" y="17462"/>
                </a:lnTo>
                <a:lnTo>
                  <a:pt x="36433" y="4683"/>
                </a:lnTo>
                <a:lnTo>
                  <a:pt x="59690" y="0"/>
                </a:lnTo>
                <a:lnTo>
                  <a:pt x="507238" y="0"/>
                </a:lnTo>
                <a:lnTo>
                  <a:pt x="530494" y="4683"/>
                </a:lnTo>
                <a:lnTo>
                  <a:pt x="549465" y="17462"/>
                </a:lnTo>
                <a:lnTo>
                  <a:pt x="562244" y="36433"/>
                </a:lnTo>
                <a:lnTo>
                  <a:pt x="566928" y="59690"/>
                </a:lnTo>
                <a:lnTo>
                  <a:pt x="566928" y="298450"/>
                </a:lnTo>
                <a:lnTo>
                  <a:pt x="562244" y="321706"/>
                </a:lnTo>
                <a:lnTo>
                  <a:pt x="549465" y="340677"/>
                </a:lnTo>
                <a:lnTo>
                  <a:pt x="530494" y="353456"/>
                </a:lnTo>
                <a:lnTo>
                  <a:pt x="507238" y="358140"/>
                </a:lnTo>
                <a:lnTo>
                  <a:pt x="59690" y="358140"/>
                </a:lnTo>
                <a:lnTo>
                  <a:pt x="36433" y="353456"/>
                </a:lnTo>
                <a:lnTo>
                  <a:pt x="17462" y="340677"/>
                </a:lnTo>
                <a:lnTo>
                  <a:pt x="4683" y="321706"/>
                </a:lnTo>
                <a:lnTo>
                  <a:pt x="0" y="298450"/>
                </a:lnTo>
                <a:lnTo>
                  <a:pt x="0" y="5969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2127885" y="4407154"/>
            <a:ext cx="44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marR="5080" indent="-9779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Asce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0" spc="45" dirty="0">
                <a:solidFill>
                  <a:srgbClr val="FFFFFF"/>
                </a:solidFill>
                <a:latin typeface="Arial"/>
                <a:cs typeface="Arial"/>
              </a:rPr>
              <a:t>- 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Tiny</a:t>
            </a:r>
            <a:endParaRPr sz="9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2772155" y="4378452"/>
            <a:ext cx="565785" cy="358140"/>
          </a:xfrm>
          <a:custGeom>
            <a:avLst/>
            <a:gdLst/>
            <a:ahLst/>
            <a:cxnLst/>
            <a:rect l="l" t="t" r="r" b="b"/>
            <a:pathLst>
              <a:path w="565785" h="358139">
                <a:moveTo>
                  <a:pt x="0" y="59690"/>
                </a:moveTo>
                <a:lnTo>
                  <a:pt x="4683" y="36433"/>
                </a:lnTo>
                <a:lnTo>
                  <a:pt x="17462" y="17462"/>
                </a:lnTo>
                <a:lnTo>
                  <a:pt x="36433" y="4683"/>
                </a:lnTo>
                <a:lnTo>
                  <a:pt x="59689" y="0"/>
                </a:lnTo>
                <a:lnTo>
                  <a:pt x="505714" y="0"/>
                </a:lnTo>
                <a:lnTo>
                  <a:pt x="528970" y="4683"/>
                </a:lnTo>
                <a:lnTo>
                  <a:pt x="547941" y="17462"/>
                </a:lnTo>
                <a:lnTo>
                  <a:pt x="560720" y="36433"/>
                </a:lnTo>
                <a:lnTo>
                  <a:pt x="565404" y="59690"/>
                </a:lnTo>
                <a:lnTo>
                  <a:pt x="565404" y="298450"/>
                </a:lnTo>
                <a:lnTo>
                  <a:pt x="560720" y="321706"/>
                </a:lnTo>
                <a:lnTo>
                  <a:pt x="547941" y="340677"/>
                </a:lnTo>
                <a:lnTo>
                  <a:pt x="528970" y="353456"/>
                </a:lnTo>
                <a:lnTo>
                  <a:pt x="505714" y="358140"/>
                </a:lnTo>
                <a:lnTo>
                  <a:pt x="59689" y="358140"/>
                </a:lnTo>
                <a:lnTo>
                  <a:pt x="36433" y="353456"/>
                </a:lnTo>
                <a:lnTo>
                  <a:pt x="17462" y="340677"/>
                </a:lnTo>
                <a:lnTo>
                  <a:pt x="4683" y="321706"/>
                </a:lnTo>
                <a:lnTo>
                  <a:pt x="0" y="298450"/>
                </a:lnTo>
                <a:lnTo>
                  <a:pt x="0" y="5969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2835655" y="4407154"/>
            <a:ext cx="43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Asce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0" spc="45" dirty="0">
                <a:solidFill>
                  <a:srgbClr val="FFFFFF"/>
                </a:solidFill>
                <a:latin typeface="Arial"/>
                <a:cs typeface="Arial"/>
              </a:rPr>
              <a:t>-  </a:t>
            </a:r>
            <a:r>
              <a:rPr sz="900" spc="5" dirty="0">
                <a:solidFill>
                  <a:srgbClr val="FFFFFF"/>
                </a:solidFill>
                <a:latin typeface="Arial"/>
                <a:cs typeface="Arial"/>
              </a:rPr>
              <a:t>Lite</a:t>
            </a:r>
            <a:endParaRPr sz="9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385316" y="4376928"/>
            <a:ext cx="565785" cy="358140"/>
          </a:xfrm>
          <a:custGeom>
            <a:avLst/>
            <a:gdLst/>
            <a:ahLst/>
            <a:cxnLst/>
            <a:rect l="l" t="t" r="r" b="b"/>
            <a:pathLst>
              <a:path w="565785" h="358139">
                <a:moveTo>
                  <a:pt x="0" y="59690"/>
                </a:moveTo>
                <a:lnTo>
                  <a:pt x="4683" y="36433"/>
                </a:lnTo>
                <a:lnTo>
                  <a:pt x="17462" y="17462"/>
                </a:lnTo>
                <a:lnTo>
                  <a:pt x="36433" y="4683"/>
                </a:lnTo>
                <a:lnTo>
                  <a:pt x="59690" y="0"/>
                </a:lnTo>
                <a:lnTo>
                  <a:pt x="505714" y="0"/>
                </a:lnTo>
                <a:lnTo>
                  <a:pt x="528970" y="4683"/>
                </a:lnTo>
                <a:lnTo>
                  <a:pt x="547941" y="17462"/>
                </a:lnTo>
                <a:lnTo>
                  <a:pt x="560720" y="36433"/>
                </a:lnTo>
                <a:lnTo>
                  <a:pt x="565404" y="59690"/>
                </a:lnTo>
                <a:lnTo>
                  <a:pt x="565404" y="298450"/>
                </a:lnTo>
                <a:lnTo>
                  <a:pt x="560720" y="321706"/>
                </a:lnTo>
                <a:lnTo>
                  <a:pt x="547941" y="340677"/>
                </a:lnTo>
                <a:lnTo>
                  <a:pt x="528970" y="353456"/>
                </a:lnTo>
                <a:lnTo>
                  <a:pt x="505714" y="358140"/>
                </a:lnTo>
                <a:lnTo>
                  <a:pt x="59690" y="358140"/>
                </a:lnTo>
                <a:lnTo>
                  <a:pt x="36433" y="353456"/>
                </a:lnTo>
                <a:lnTo>
                  <a:pt x="17462" y="340677"/>
                </a:lnTo>
                <a:lnTo>
                  <a:pt x="4683" y="321706"/>
                </a:lnTo>
                <a:lnTo>
                  <a:pt x="0" y="298450"/>
                </a:lnTo>
                <a:lnTo>
                  <a:pt x="0" y="5969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1449450" y="4405376"/>
            <a:ext cx="43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105" marR="5080" indent="-6604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Asce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0" spc="45" dirty="0">
                <a:solidFill>
                  <a:srgbClr val="FFFFFF"/>
                </a:solidFill>
                <a:latin typeface="Arial"/>
                <a:cs typeface="Arial"/>
              </a:rPr>
              <a:t>-  </a:t>
            </a:r>
            <a:r>
              <a:rPr sz="900" spc="10" dirty="0">
                <a:solidFill>
                  <a:srgbClr val="FFFFFF"/>
                </a:solidFill>
                <a:latin typeface="Arial"/>
                <a:cs typeface="Arial"/>
              </a:rPr>
              <a:t>Nano</a:t>
            </a:r>
            <a:endParaRPr sz="9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58383" y="4457446"/>
            <a:ext cx="7537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00"/>
                </a:solidFill>
                <a:latin typeface="Arial"/>
                <a:cs typeface="Arial"/>
              </a:rPr>
              <a:t>IP </a:t>
            </a: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and</a:t>
            </a:r>
            <a:r>
              <a:rPr sz="1100" spc="3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FFFF00"/>
                </a:solidFill>
                <a:latin typeface="Arial"/>
                <a:cs typeface="Arial"/>
              </a:rPr>
              <a:t>Chip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214627" y="3110483"/>
            <a:ext cx="5546090" cy="553720"/>
            <a:chOff x="1214627" y="3110483"/>
            <a:chExt cx="5546090" cy="553720"/>
          </a:xfrm>
        </p:grpSpPr>
        <p:sp>
          <p:nvSpPr>
            <p:cNvPr id="98" name="object 98"/>
            <p:cNvSpPr/>
            <p:nvPr/>
          </p:nvSpPr>
          <p:spPr>
            <a:xfrm>
              <a:off x="1214627" y="3110483"/>
              <a:ext cx="5545836" cy="55321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267967" y="3137915"/>
              <a:ext cx="5439156" cy="44653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5898260" y="3259073"/>
            <a:ext cx="7473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Framework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1333500" y="3192779"/>
            <a:ext cx="1216660" cy="320040"/>
          </a:xfrm>
          <a:custGeom>
            <a:avLst/>
            <a:gdLst/>
            <a:ahLst/>
            <a:cxnLst/>
            <a:rect l="l" t="t" r="r" b="b"/>
            <a:pathLst>
              <a:path w="1216660" h="320039">
                <a:moveTo>
                  <a:pt x="0" y="53340"/>
                </a:moveTo>
                <a:lnTo>
                  <a:pt x="4190" y="32575"/>
                </a:lnTo>
                <a:lnTo>
                  <a:pt x="15621" y="15620"/>
                </a:lnTo>
                <a:lnTo>
                  <a:pt x="32575" y="4190"/>
                </a:lnTo>
                <a:lnTo>
                  <a:pt x="53340" y="0"/>
                </a:lnTo>
                <a:lnTo>
                  <a:pt x="1162812" y="0"/>
                </a:lnTo>
                <a:lnTo>
                  <a:pt x="1183576" y="4190"/>
                </a:lnTo>
                <a:lnTo>
                  <a:pt x="1200531" y="15620"/>
                </a:lnTo>
                <a:lnTo>
                  <a:pt x="1211961" y="32575"/>
                </a:lnTo>
                <a:lnTo>
                  <a:pt x="1216152" y="53340"/>
                </a:lnTo>
                <a:lnTo>
                  <a:pt x="1216152" y="266700"/>
                </a:lnTo>
                <a:lnTo>
                  <a:pt x="1211960" y="287464"/>
                </a:lnTo>
                <a:lnTo>
                  <a:pt x="1200530" y="304419"/>
                </a:lnTo>
                <a:lnTo>
                  <a:pt x="1183576" y="315849"/>
                </a:lnTo>
                <a:lnTo>
                  <a:pt x="1162812" y="320040"/>
                </a:lnTo>
                <a:lnTo>
                  <a:pt x="53340" y="320040"/>
                </a:lnTo>
                <a:lnTo>
                  <a:pt x="32575" y="315849"/>
                </a:lnTo>
                <a:lnTo>
                  <a:pt x="15621" y="304419"/>
                </a:lnTo>
                <a:lnTo>
                  <a:pt x="4190" y="287464"/>
                </a:lnTo>
                <a:lnTo>
                  <a:pt x="0" y="266700"/>
                </a:lnTo>
                <a:lnTo>
                  <a:pt x="0" y="5334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400302" y="3215767"/>
            <a:ext cx="1082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00"/>
                </a:solidFill>
                <a:latin typeface="Arial"/>
                <a:cs typeface="Arial"/>
              </a:rPr>
              <a:t>MindSpore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2630423" y="3192779"/>
            <a:ext cx="821690" cy="325120"/>
          </a:xfrm>
          <a:custGeom>
            <a:avLst/>
            <a:gdLst/>
            <a:ahLst/>
            <a:cxnLst/>
            <a:rect l="l" t="t" r="r" b="b"/>
            <a:pathLst>
              <a:path w="821689" h="325120">
                <a:moveTo>
                  <a:pt x="0" y="54102"/>
                </a:moveTo>
                <a:lnTo>
                  <a:pt x="4256" y="33057"/>
                </a:lnTo>
                <a:lnTo>
                  <a:pt x="15859" y="15859"/>
                </a:lnTo>
                <a:lnTo>
                  <a:pt x="33057" y="4256"/>
                </a:lnTo>
                <a:lnTo>
                  <a:pt x="54101" y="0"/>
                </a:lnTo>
                <a:lnTo>
                  <a:pt x="767334" y="0"/>
                </a:lnTo>
                <a:lnTo>
                  <a:pt x="788378" y="4256"/>
                </a:lnTo>
                <a:lnTo>
                  <a:pt x="805576" y="15859"/>
                </a:lnTo>
                <a:lnTo>
                  <a:pt x="817179" y="33057"/>
                </a:lnTo>
                <a:lnTo>
                  <a:pt x="821436" y="54102"/>
                </a:lnTo>
                <a:lnTo>
                  <a:pt x="821436" y="270510"/>
                </a:lnTo>
                <a:lnTo>
                  <a:pt x="817179" y="291554"/>
                </a:lnTo>
                <a:lnTo>
                  <a:pt x="805576" y="308752"/>
                </a:lnTo>
                <a:lnTo>
                  <a:pt x="788378" y="320355"/>
                </a:lnTo>
                <a:lnTo>
                  <a:pt x="767334" y="324612"/>
                </a:lnTo>
                <a:lnTo>
                  <a:pt x="54101" y="324612"/>
                </a:lnTo>
                <a:lnTo>
                  <a:pt x="33057" y="320355"/>
                </a:lnTo>
                <a:lnTo>
                  <a:pt x="15859" y="308752"/>
                </a:lnTo>
                <a:lnTo>
                  <a:pt x="4256" y="291554"/>
                </a:lnTo>
                <a:lnTo>
                  <a:pt x="0" y="270510"/>
                </a:lnTo>
                <a:lnTo>
                  <a:pt x="0" y="54102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2729610" y="3273044"/>
            <a:ext cx="622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Arial"/>
                <a:cs typeface="Arial"/>
              </a:rPr>
              <a:t>TensorFlow</a:t>
            </a:r>
            <a:endParaRPr sz="90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3528059" y="3192779"/>
            <a:ext cx="702945" cy="325120"/>
          </a:xfrm>
          <a:custGeom>
            <a:avLst/>
            <a:gdLst/>
            <a:ahLst/>
            <a:cxnLst/>
            <a:rect l="l" t="t" r="r" b="b"/>
            <a:pathLst>
              <a:path w="702945" h="325120">
                <a:moveTo>
                  <a:pt x="0" y="54102"/>
                </a:moveTo>
                <a:lnTo>
                  <a:pt x="4256" y="33057"/>
                </a:lnTo>
                <a:lnTo>
                  <a:pt x="15859" y="15859"/>
                </a:lnTo>
                <a:lnTo>
                  <a:pt x="33057" y="4256"/>
                </a:lnTo>
                <a:lnTo>
                  <a:pt x="54101" y="0"/>
                </a:lnTo>
                <a:lnTo>
                  <a:pt x="648462" y="0"/>
                </a:lnTo>
                <a:lnTo>
                  <a:pt x="669506" y="4256"/>
                </a:lnTo>
                <a:lnTo>
                  <a:pt x="686704" y="15859"/>
                </a:lnTo>
                <a:lnTo>
                  <a:pt x="698307" y="33057"/>
                </a:lnTo>
                <a:lnTo>
                  <a:pt x="702563" y="54102"/>
                </a:lnTo>
                <a:lnTo>
                  <a:pt x="702563" y="270510"/>
                </a:lnTo>
                <a:lnTo>
                  <a:pt x="698307" y="291554"/>
                </a:lnTo>
                <a:lnTo>
                  <a:pt x="686704" y="308752"/>
                </a:lnTo>
                <a:lnTo>
                  <a:pt x="669506" y="320355"/>
                </a:lnTo>
                <a:lnTo>
                  <a:pt x="648462" y="324612"/>
                </a:lnTo>
                <a:lnTo>
                  <a:pt x="54101" y="324612"/>
                </a:lnTo>
                <a:lnTo>
                  <a:pt x="33057" y="320355"/>
                </a:lnTo>
                <a:lnTo>
                  <a:pt x="15859" y="308752"/>
                </a:lnTo>
                <a:lnTo>
                  <a:pt x="4256" y="291554"/>
                </a:lnTo>
                <a:lnTo>
                  <a:pt x="0" y="270510"/>
                </a:lnTo>
                <a:lnTo>
                  <a:pt x="0" y="54102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3660775" y="3273044"/>
            <a:ext cx="438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PyTorch</a:t>
            </a:r>
            <a:endParaRPr sz="900">
              <a:latin typeface="Arial"/>
              <a:cs typeface="Arial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4305300" y="3192779"/>
            <a:ext cx="893444" cy="325120"/>
          </a:xfrm>
          <a:custGeom>
            <a:avLst/>
            <a:gdLst/>
            <a:ahLst/>
            <a:cxnLst/>
            <a:rect l="l" t="t" r="r" b="b"/>
            <a:pathLst>
              <a:path w="893445" h="325120">
                <a:moveTo>
                  <a:pt x="0" y="54102"/>
                </a:moveTo>
                <a:lnTo>
                  <a:pt x="4256" y="33057"/>
                </a:lnTo>
                <a:lnTo>
                  <a:pt x="15859" y="15859"/>
                </a:lnTo>
                <a:lnTo>
                  <a:pt x="33057" y="4256"/>
                </a:lnTo>
                <a:lnTo>
                  <a:pt x="54101" y="0"/>
                </a:lnTo>
                <a:lnTo>
                  <a:pt x="838962" y="0"/>
                </a:lnTo>
                <a:lnTo>
                  <a:pt x="860006" y="4256"/>
                </a:lnTo>
                <a:lnTo>
                  <a:pt x="877204" y="15859"/>
                </a:lnTo>
                <a:lnTo>
                  <a:pt x="888807" y="33057"/>
                </a:lnTo>
                <a:lnTo>
                  <a:pt x="893063" y="54102"/>
                </a:lnTo>
                <a:lnTo>
                  <a:pt x="893063" y="270510"/>
                </a:lnTo>
                <a:lnTo>
                  <a:pt x="888807" y="291554"/>
                </a:lnTo>
                <a:lnTo>
                  <a:pt x="877204" y="308752"/>
                </a:lnTo>
                <a:lnTo>
                  <a:pt x="860006" y="320355"/>
                </a:lnTo>
                <a:lnTo>
                  <a:pt x="838962" y="324612"/>
                </a:lnTo>
                <a:lnTo>
                  <a:pt x="54101" y="324612"/>
                </a:lnTo>
                <a:lnTo>
                  <a:pt x="33057" y="320355"/>
                </a:lnTo>
                <a:lnTo>
                  <a:pt x="15859" y="308752"/>
                </a:lnTo>
                <a:lnTo>
                  <a:pt x="4256" y="291554"/>
                </a:lnTo>
                <a:lnTo>
                  <a:pt x="0" y="270510"/>
                </a:lnTo>
                <a:lnTo>
                  <a:pt x="0" y="54102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4388611" y="3273044"/>
            <a:ext cx="7283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PaddlePaddle</a:t>
            </a:r>
            <a:endParaRPr sz="900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5274564" y="3192779"/>
            <a:ext cx="524510" cy="325120"/>
          </a:xfrm>
          <a:custGeom>
            <a:avLst/>
            <a:gdLst/>
            <a:ahLst/>
            <a:cxnLst/>
            <a:rect l="l" t="t" r="r" b="b"/>
            <a:pathLst>
              <a:path w="524510" h="325120">
                <a:moveTo>
                  <a:pt x="0" y="54102"/>
                </a:moveTo>
                <a:lnTo>
                  <a:pt x="4256" y="33057"/>
                </a:lnTo>
                <a:lnTo>
                  <a:pt x="15859" y="15859"/>
                </a:lnTo>
                <a:lnTo>
                  <a:pt x="33057" y="4256"/>
                </a:lnTo>
                <a:lnTo>
                  <a:pt x="54101" y="0"/>
                </a:lnTo>
                <a:lnTo>
                  <a:pt x="470153" y="0"/>
                </a:lnTo>
                <a:lnTo>
                  <a:pt x="491198" y="4256"/>
                </a:lnTo>
                <a:lnTo>
                  <a:pt x="508396" y="15859"/>
                </a:lnTo>
                <a:lnTo>
                  <a:pt x="519999" y="33057"/>
                </a:lnTo>
                <a:lnTo>
                  <a:pt x="524256" y="54102"/>
                </a:lnTo>
                <a:lnTo>
                  <a:pt x="524256" y="270510"/>
                </a:lnTo>
                <a:lnTo>
                  <a:pt x="519999" y="291554"/>
                </a:lnTo>
                <a:lnTo>
                  <a:pt x="508396" y="308752"/>
                </a:lnTo>
                <a:lnTo>
                  <a:pt x="491198" y="320355"/>
                </a:lnTo>
                <a:lnTo>
                  <a:pt x="470153" y="324612"/>
                </a:lnTo>
                <a:lnTo>
                  <a:pt x="54101" y="324612"/>
                </a:lnTo>
                <a:lnTo>
                  <a:pt x="33057" y="320355"/>
                </a:lnTo>
                <a:lnTo>
                  <a:pt x="15859" y="308752"/>
                </a:lnTo>
                <a:lnTo>
                  <a:pt x="4256" y="291554"/>
                </a:lnTo>
                <a:lnTo>
                  <a:pt x="0" y="270510"/>
                </a:lnTo>
                <a:lnTo>
                  <a:pt x="0" y="54102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5484114" y="3273044"/>
            <a:ext cx="1047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80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900">
              <a:latin typeface="Arial"/>
              <a:cs typeface="Arial"/>
            </a:endParaRPr>
          </a:p>
        </p:txBody>
      </p:sp>
      <p:sp>
        <p:nvSpPr>
          <p:cNvPr id="112" name="object 1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40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36385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5" dirty="0"/>
              <a:t>Full </a:t>
            </a:r>
            <a:r>
              <a:rPr spc="-45" dirty="0"/>
              <a:t>Stack </a:t>
            </a:r>
            <a:r>
              <a:rPr spc="195" dirty="0"/>
              <a:t>—</a:t>
            </a:r>
            <a:r>
              <a:rPr spc="245" dirty="0"/>
              <a:t> </a:t>
            </a:r>
            <a:r>
              <a:rPr spc="-35" dirty="0"/>
              <a:t>CANN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104654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5" dirty="0"/>
              <a:t>Full </a:t>
            </a:r>
            <a:r>
              <a:rPr spc="-45" dirty="0"/>
              <a:t>Stack </a:t>
            </a:r>
            <a:r>
              <a:rPr spc="195" dirty="0"/>
              <a:t>— </a:t>
            </a:r>
            <a:r>
              <a:rPr spc="-60" dirty="0"/>
              <a:t>Ascend </a:t>
            </a:r>
            <a:r>
              <a:rPr spc="5" dirty="0"/>
              <a:t>310 </a:t>
            </a:r>
            <a:r>
              <a:rPr spc="-10" dirty="0"/>
              <a:t>AI </a:t>
            </a:r>
            <a:r>
              <a:rPr spc="-75" dirty="0"/>
              <a:t>Processor </a:t>
            </a:r>
            <a:r>
              <a:rPr spc="45" dirty="0"/>
              <a:t>and </a:t>
            </a:r>
            <a:r>
              <a:rPr dirty="0"/>
              <a:t>Da </a:t>
            </a:r>
            <a:r>
              <a:rPr spc="5" dirty="0"/>
              <a:t>Vinci</a:t>
            </a:r>
            <a:r>
              <a:rPr spc="50" dirty="0"/>
              <a:t> </a:t>
            </a:r>
            <a:r>
              <a:rPr spc="-70" dirty="0"/>
              <a:t>Core</a:t>
            </a:r>
          </a:p>
        </p:txBody>
      </p:sp>
      <p:sp>
        <p:nvSpPr>
          <p:cNvPr id="3" name="object 3"/>
          <p:cNvSpPr/>
          <p:nvPr/>
        </p:nvSpPr>
        <p:spPr>
          <a:xfrm>
            <a:off x="778155" y="989224"/>
            <a:ext cx="10881511" cy="51738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-60" dirty="0"/>
              <a:t>Ascend </a:t>
            </a:r>
            <a:r>
              <a:rPr spc="-10" dirty="0"/>
              <a:t>AI </a:t>
            </a:r>
            <a:r>
              <a:rPr spc="-100" dirty="0"/>
              <a:t>Processors: </a:t>
            </a:r>
            <a:r>
              <a:rPr spc="55" dirty="0"/>
              <a:t>Infusing </a:t>
            </a:r>
            <a:r>
              <a:rPr spc="10" dirty="0"/>
              <a:t>Superior </a:t>
            </a:r>
            <a:r>
              <a:rPr spc="45" dirty="0"/>
              <a:t>Intelligence </a:t>
            </a:r>
            <a:r>
              <a:rPr spc="135" dirty="0"/>
              <a:t>for  </a:t>
            </a:r>
            <a:r>
              <a:rPr spc="65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92851" y="2768600"/>
            <a:ext cx="1412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70" dirty="0">
                <a:latin typeface="Arial"/>
                <a:cs typeface="Arial"/>
              </a:rPr>
              <a:t>Ascend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40" dirty="0">
                <a:latin typeface="Arial"/>
                <a:cs typeface="Arial"/>
              </a:rPr>
              <a:t>910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9313" y="2725927"/>
            <a:ext cx="1409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70" dirty="0">
                <a:latin typeface="Arial"/>
                <a:cs typeface="Arial"/>
              </a:rPr>
              <a:t>Ascend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40" dirty="0">
                <a:latin typeface="Arial"/>
                <a:cs typeface="Arial"/>
              </a:rPr>
              <a:t>310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82767" y="3256788"/>
            <a:ext cx="2235835" cy="532130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19685" rIns="0" bIns="0" rtlCol="0">
            <a:spAutoFit/>
          </a:bodyPr>
          <a:lstStyle/>
          <a:p>
            <a:pPr marL="681990" marR="306705" indent="-367665">
              <a:lnSpc>
                <a:spcPct val="100000"/>
              </a:lnSpc>
              <a:spcBef>
                <a:spcPts val="155"/>
              </a:spcBef>
            </a:pPr>
            <a:r>
              <a:rPr sz="1600" spc="40" dirty="0">
                <a:solidFill>
                  <a:srgbClr val="E4E4E4"/>
                </a:solidFill>
                <a:latin typeface="Arial"/>
                <a:cs typeface="Arial"/>
              </a:rPr>
              <a:t>Most </a:t>
            </a:r>
            <a:r>
              <a:rPr sz="1600" spc="45" dirty="0">
                <a:solidFill>
                  <a:srgbClr val="E4E4E4"/>
                </a:solidFill>
                <a:latin typeface="Arial"/>
                <a:cs typeface="Arial"/>
              </a:rPr>
              <a:t>powerful </a:t>
            </a:r>
            <a:r>
              <a:rPr sz="1600" spc="-10" dirty="0">
                <a:solidFill>
                  <a:srgbClr val="E4E4E4"/>
                </a:solidFill>
                <a:latin typeface="Arial"/>
                <a:cs typeface="Arial"/>
              </a:rPr>
              <a:t>AI  </a:t>
            </a:r>
            <a:r>
              <a:rPr sz="1600" spc="-20" dirty="0">
                <a:solidFill>
                  <a:srgbClr val="E4E4E4"/>
                </a:solidFill>
                <a:latin typeface="Arial"/>
                <a:cs typeface="Arial"/>
              </a:rPr>
              <a:t>processor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0975" y="3259835"/>
            <a:ext cx="2623820" cy="532130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19685" rIns="0" bIns="0" rtlCol="0">
            <a:spAutoFit/>
          </a:bodyPr>
          <a:lstStyle/>
          <a:p>
            <a:pPr marL="159385" marR="377825">
              <a:lnSpc>
                <a:spcPct val="100000"/>
              </a:lnSpc>
              <a:spcBef>
                <a:spcPts val="155"/>
              </a:spcBef>
            </a:pPr>
            <a:r>
              <a:rPr sz="1600" spc="-10" dirty="0">
                <a:solidFill>
                  <a:srgbClr val="E4E4E4"/>
                </a:solidFill>
                <a:latin typeface="Arial"/>
                <a:cs typeface="Arial"/>
              </a:rPr>
              <a:t>AI </a:t>
            </a:r>
            <a:r>
              <a:rPr sz="1600" spc="-130" dirty="0">
                <a:solidFill>
                  <a:srgbClr val="E4E4E4"/>
                </a:solidFill>
                <a:latin typeface="Arial"/>
                <a:cs typeface="Arial"/>
              </a:rPr>
              <a:t>SoC </a:t>
            </a:r>
            <a:r>
              <a:rPr sz="1600" spc="75" dirty="0">
                <a:solidFill>
                  <a:srgbClr val="E4E4E4"/>
                </a:solidFill>
                <a:latin typeface="Arial"/>
                <a:cs typeface="Arial"/>
              </a:rPr>
              <a:t>with</a:t>
            </a:r>
            <a:r>
              <a:rPr sz="1600" spc="-5" dirty="0">
                <a:solidFill>
                  <a:srgbClr val="E4E4E4"/>
                </a:solidFill>
                <a:latin typeface="Arial"/>
                <a:cs typeface="Arial"/>
              </a:rPr>
              <a:t> </a:t>
            </a:r>
            <a:r>
              <a:rPr sz="1600" spc="60" dirty="0">
                <a:solidFill>
                  <a:srgbClr val="E4E4E4"/>
                </a:solidFill>
                <a:latin typeface="Arial"/>
                <a:cs typeface="Arial"/>
              </a:rPr>
              <a:t>ultimate</a:t>
            </a:r>
            <a:endParaRPr sz="160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tabLst>
                <a:tab pos="335915" algn="l"/>
                <a:tab pos="2606675" algn="l"/>
              </a:tabLst>
            </a:pPr>
            <a:r>
              <a:rPr sz="1600" strike="sngStrike" spc="50" dirty="0">
                <a:solidFill>
                  <a:srgbClr val="E4E4E4"/>
                </a:solidFill>
                <a:latin typeface="Arial"/>
                <a:cs typeface="Arial"/>
              </a:rPr>
              <a:t> 	energy</a:t>
            </a:r>
            <a:r>
              <a:rPr sz="1600" strike="sngStrike" spc="5" dirty="0">
                <a:solidFill>
                  <a:srgbClr val="E4E4E4"/>
                </a:solidFill>
                <a:latin typeface="Arial"/>
                <a:cs typeface="Arial"/>
              </a:rPr>
              <a:t> </a:t>
            </a:r>
            <a:r>
              <a:rPr sz="1600" strike="sngStrike" spc="10" dirty="0">
                <a:solidFill>
                  <a:srgbClr val="E4E4E4"/>
                </a:solidFill>
                <a:latin typeface="Arial"/>
                <a:cs typeface="Arial"/>
              </a:rPr>
              <a:t>efficiency	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9456" y="3884777"/>
            <a:ext cx="3899535" cy="1984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2124710" indent="-3175">
              <a:lnSpc>
                <a:spcPct val="113599"/>
              </a:lnSpc>
              <a:spcBef>
                <a:spcPts val="95"/>
              </a:spcBef>
            </a:pPr>
            <a:r>
              <a:rPr sz="1400" spc="15" dirty="0">
                <a:latin typeface="Arial"/>
                <a:cs typeface="Arial"/>
              </a:rPr>
              <a:t>Ascend-Mini  Architecture: </a:t>
            </a:r>
            <a:r>
              <a:rPr sz="1400" dirty="0">
                <a:latin typeface="Arial"/>
                <a:cs typeface="Arial"/>
              </a:rPr>
              <a:t>Da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Vinci</a:t>
            </a:r>
            <a:endParaRPr sz="1400">
              <a:latin typeface="Arial"/>
              <a:cs typeface="Arial"/>
            </a:endParaRPr>
          </a:p>
          <a:p>
            <a:pPr marL="15240" marR="991235">
              <a:lnSpc>
                <a:spcPct val="118000"/>
              </a:lnSpc>
              <a:spcBef>
                <a:spcPts val="470"/>
              </a:spcBef>
            </a:pPr>
            <a:r>
              <a:rPr sz="1400" b="1" spc="5" dirty="0">
                <a:solidFill>
                  <a:srgbClr val="151515"/>
                </a:solidFill>
                <a:latin typeface="Arial"/>
                <a:cs typeface="Arial"/>
              </a:rPr>
              <a:t>Half-precision </a:t>
            </a:r>
            <a:r>
              <a:rPr sz="1400" b="1" spc="10" dirty="0">
                <a:solidFill>
                  <a:srgbClr val="151515"/>
                </a:solidFill>
                <a:latin typeface="Arial"/>
                <a:cs typeface="Arial"/>
              </a:rPr>
              <a:t>(FP16): </a:t>
            </a:r>
            <a:r>
              <a:rPr sz="1400" b="1" spc="30" dirty="0">
                <a:solidFill>
                  <a:srgbClr val="151515"/>
                </a:solidFill>
                <a:latin typeface="Arial"/>
                <a:cs typeface="Arial"/>
              </a:rPr>
              <a:t>8 </a:t>
            </a:r>
            <a:r>
              <a:rPr sz="1400" b="1" spc="-75" dirty="0">
                <a:solidFill>
                  <a:srgbClr val="151515"/>
                </a:solidFill>
                <a:latin typeface="Arial"/>
                <a:cs typeface="Arial"/>
              </a:rPr>
              <a:t>TFLOPS  </a:t>
            </a:r>
            <a:r>
              <a:rPr sz="1400" b="1" spc="30" dirty="0">
                <a:solidFill>
                  <a:srgbClr val="151515"/>
                </a:solidFill>
                <a:latin typeface="Arial"/>
                <a:cs typeface="Arial"/>
              </a:rPr>
              <a:t>Integer </a:t>
            </a:r>
            <a:r>
              <a:rPr sz="1400" b="1" spc="-25" dirty="0">
                <a:solidFill>
                  <a:srgbClr val="151515"/>
                </a:solidFill>
                <a:latin typeface="Arial"/>
                <a:cs typeface="Arial"/>
              </a:rPr>
              <a:t>precision </a:t>
            </a:r>
            <a:r>
              <a:rPr sz="1400" b="1" spc="55" dirty="0">
                <a:solidFill>
                  <a:srgbClr val="151515"/>
                </a:solidFill>
                <a:latin typeface="Arial"/>
                <a:cs typeface="Arial"/>
              </a:rPr>
              <a:t>(INT8): </a:t>
            </a:r>
            <a:r>
              <a:rPr sz="1400" b="1" spc="30" dirty="0">
                <a:solidFill>
                  <a:srgbClr val="151515"/>
                </a:solidFill>
                <a:latin typeface="Arial"/>
                <a:cs typeface="Arial"/>
              </a:rPr>
              <a:t>16</a:t>
            </a:r>
            <a:r>
              <a:rPr sz="1400" b="1" spc="5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-60" dirty="0">
                <a:solidFill>
                  <a:srgbClr val="151515"/>
                </a:solidFill>
                <a:latin typeface="Arial"/>
                <a:cs typeface="Arial"/>
              </a:rPr>
              <a:t>TOPS</a:t>
            </a:r>
            <a:endParaRPr sz="14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300"/>
              </a:spcBef>
            </a:pPr>
            <a:r>
              <a:rPr sz="1400" b="1" spc="15" dirty="0">
                <a:solidFill>
                  <a:srgbClr val="151515"/>
                </a:solidFill>
                <a:latin typeface="Arial"/>
                <a:cs typeface="Arial"/>
              </a:rPr>
              <a:t>16-channel </a:t>
            </a:r>
            <a:r>
              <a:rPr sz="1400" b="1" spc="55" dirty="0">
                <a:solidFill>
                  <a:srgbClr val="151515"/>
                </a:solidFill>
                <a:latin typeface="Arial"/>
                <a:cs typeface="Arial"/>
              </a:rPr>
              <a:t>full-HD </a:t>
            </a:r>
            <a:r>
              <a:rPr sz="1400" b="1" spc="-10" dirty="0">
                <a:solidFill>
                  <a:srgbClr val="151515"/>
                </a:solidFill>
                <a:latin typeface="Arial"/>
                <a:cs typeface="Arial"/>
              </a:rPr>
              <a:t>video </a:t>
            </a:r>
            <a:r>
              <a:rPr sz="1400" b="1" spc="-30" dirty="0">
                <a:solidFill>
                  <a:srgbClr val="151515"/>
                </a:solidFill>
                <a:latin typeface="Arial"/>
                <a:cs typeface="Arial"/>
              </a:rPr>
              <a:t>decoder:</a:t>
            </a:r>
            <a:r>
              <a:rPr sz="1400" b="1" spc="1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151515"/>
                </a:solidFill>
                <a:latin typeface="Arial"/>
                <a:cs typeface="Arial"/>
              </a:rPr>
              <a:t>H.264/265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spc="15" dirty="0">
                <a:latin typeface="Arial"/>
                <a:cs typeface="Arial"/>
              </a:rPr>
              <a:t>1-channel </a:t>
            </a:r>
            <a:r>
              <a:rPr sz="1400" spc="55" dirty="0">
                <a:latin typeface="Arial"/>
                <a:cs typeface="Arial"/>
              </a:rPr>
              <a:t>full-HD </a:t>
            </a:r>
            <a:r>
              <a:rPr sz="1400" spc="10" dirty="0">
                <a:latin typeface="Arial"/>
                <a:cs typeface="Arial"/>
              </a:rPr>
              <a:t>video </a:t>
            </a:r>
            <a:r>
              <a:rPr sz="1400" spc="-10" dirty="0">
                <a:latin typeface="Arial"/>
                <a:cs typeface="Arial"/>
              </a:rPr>
              <a:t>encoder: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H.264/265</a:t>
            </a:r>
            <a:endParaRPr sz="14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1305"/>
              </a:spcBef>
            </a:pPr>
            <a:r>
              <a:rPr sz="1400" b="1" spc="35" dirty="0">
                <a:solidFill>
                  <a:srgbClr val="151515"/>
                </a:solidFill>
                <a:latin typeface="Arial"/>
                <a:cs typeface="Arial"/>
              </a:rPr>
              <a:t>Max. </a:t>
            </a:r>
            <a:r>
              <a:rPr sz="1400" b="1" dirty="0">
                <a:solidFill>
                  <a:srgbClr val="151515"/>
                </a:solidFill>
                <a:latin typeface="Arial"/>
                <a:cs typeface="Arial"/>
              </a:rPr>
              <a:t>power: </a:t>
            </a:r>
            <a:r>
              <a:rPr sz="1400" b="1" spc="30" dirty="0">
                <a:solidFill>
                  <a:srgbClr val="151515"/>
                </a:solidFill>
                <a:latin typeface="Arial"/>
                <a:cs typeface="Arial"/>
              </a:rPr>
              <a:t>8</a:t>
            </a:r>
            <a:r>
              <a:rPr sz="1400" b="1" spc="5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140" dirty="0">
                <a:solidFill>
                  <a:srgbClr val="151515"/>
                </a:solidFill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5924" y="3976115"/>
            <a:ext cx="78105" cy="2059305"/>
          </a:xfrm>
          <a:custGeom>
            <a:avLst/>
            <a:gdLst/>
            <a:ahLst/>
            <a:cxnLst/>
            <a:rect l="l" t="t" r="r" b="b"/>
            <a:pathLst>
              <a:path w="78105" h="2059304">
                <a:moveTo>
                  <a:pt x="25907" y="1983815"/>
                </a:moveTo>
                <a:lnTo>
                  <a:pt x="23735" y="1984253"/>
                </a:lnTo>
                <a:lnTo>
                  <a:pt x="11382" y="1992582"/>
                </a:lnTo>
                <a:lnTo>
                  <a:pt x="3053" y="2004935"/>
                </a:lnTo>
                <a:lnTo>
                  <a:pt x="0" y="2020061"/>
                </a:lnTo>
                <a:lnTo>
                  <a:pt x="3053" y="2035188"/>
                </a:lnTo>
                <a:lnTo>
                  <a:pt x="11382" y="2047541"/>
                </a:lnTo>
                <a:lnTo>
                  <a:pt x="23735" y="2055870"/>
                </a:lnTo>
                <a:lnTo>
                  <a:pt x="38862" y="2058923"/>
                </a:lnTo>
                <a:lnTo>
                  <a:pt x="53988" y="2055870"/>
                </a:lnTo>
                <a:lnTo>
                  <a:pt x="66341" y="2047541"/>
                </a:lnTo>
                <a:lnTo>
                  <a:pt x="74670" y="2035188"/>
                </a:lnTo>
                <a:lnTo>
                  <a:pt x="77723" y="2020061"/>
                </a:lnTo>
                <a:lnTo>
                  <a:pt x="25907" y="2020061"/>
                </a:lnTo>
                <a:lnTo>
                  <a:pt x="25907" y="1983815"/>
                </a:lnTo>
                <a:close/>
              </a:path>
              <a:path w="78105" h="2059304">
                <a:moveTo>
                  <a:pt x="38862" y="1981199"/>
                </a:moveTo>
                <a:lnTo>
                  <a:pt x="25907" y="1983815"/>
                </a:lnTo>
                <a:lnTo>
                  <a:pt x="25907" y="2020061"/>
                </a:lnTo>
                <a:lnTo>
                  <a:pt x="51815" y="2020061"/>
                </a:lnTo>
                <a:lnTo>
                  <a:pt x="51815" y="1983815"/>
                </a:lnTo>
                <a:lnTo>
                  <a:pt x="38862" y="1981199"/>
                </a:lnTo>
                <a:close/>
              </a:path>
              <a:path w="78105" h="2059304">
                <a:moveTo>
                  <a:pt x="51815" y="1983815"/>
                </a:moveTo>
                <a:lnTo>
                  <a:pt x="51815" y="2020061"/>
                </a:lnTo>
                <a:lnTo>
                  <a:pt x="77723" y="2020061"/>
                </a:lnTo>
                <a:lnTo>
                  <a:pt x="74670" y="2004935"/>
                </a:lnTo>
                <a:lnTo>
                  <a:pt x="66341" y="1992582"/>
                </a:lnTo>
                <a:lnTo>
                  <a:pt x="53988" y="1984253"/>
                </a:lnTo>
                <a:lnTo>
                  <a:pt x="51815" y="1983815"/>
                </a:lnTo>
                <a:close/>
              </a:path>
              <a:path w="78105" h="2059304">
                <a:moveTo>
                  <a:pt x="25907" y="75108"/>
                </a:moveTo>
                <a:lnTo>
                  <a:pt x="25907" y="1983815"/>
                </a:lnTo>
                <a:lnTo>
                  <a:pt x="38862" y="1981199"/>
                </a:lnTo>
                <a:lnTo>
                  <a:pt x="51815" y="1981199"/>
                </a:lnTo>
                <a:lnTo>
                  <a:pt x="51815" y="77723"/>
                </a:lnTo>
                <a:lnTo>
                  <a:pt x="38862" y="77723"/>
                </a:lnTo>
                <a:lnTo>
                  <a:pt x="25907" y="75108"/>
                </a:lnTo>
                <a:close/>
              </a:path>
              <a:path w="78105" h="2059304">
                <a:moveTo>
                  <a:pt x="51815" y="1981199"/>
                </a:moveTo>
                <a:lnTo>
                  <a:pt x="38862" y="1981199"/>
                </a:lnTo>
                <a:lnTo>
                  <a:pt x="51815" y="1983815"/>
                </a:lnTo>
                <a:lnTo>
                  <a:pt x="51815" y="1981199"/>
                </a:lnTo>
                <a:close/>
              </a:path>
              <a:path w="78105" h="2059304">
                <a:moveTo>
                  <a:pt x="51815" y="38861"/>
                </a:moveTo>
                <a:lnTo>
                  <a:pt x="25907" y="38861"/>
                </a:lnTo>
                <a:lnTo>
                  <a:pt x="25907" y="75108"/>
                </a:lnTo>
                <a:lnTo>
                  <a:pt x="38862" y="77723"/>
                </a:lnTo>
                <a:lnTo>
                  <a:pt x="51815" y="75108"/>
                </a:lnTo>
                <a:lnTo>
                  <a:pt x="51815" y="38861"/>
                </a:lnTo>
                <a:close/>
              </a:path>
              <a:path w="78105" h="2059304">
                <a:moveTo>
                  <a:pt x="51815" y="75108"/>
                </a:moveTo>
                <a:lnTo>
                  <a:pt x="38862" y="77723"/>
                </a:lnTo>
                <a:lnTo>
                  <a:pt x="51815" y="77723"/>
                </a:lnTo>
                <a:lnTo>
                  <a:pt x="51815" y="75108"/>
                </a:lnTo>
                <a:close/>
              </a:path>
              <a:path w="78105" h="2059304">
                <a:moveTo>
                  <a:pt x="38862" y="0"/>
                </a:moveTo>
                <a:lnTo>
                  <a:pt x="23735" y="3053"/>
                </a:lnTo>
                <a:lnTo>
                  <a:pt x="11382" y="11382"/>
                </a:lnTo>
                <a:lnTo>
                  <a:pt x="3053" y="23735"/>
                </a:lnTo>
                <a:lnTo>
                  <a:pt x="0" y="38861"/>
                </a:lnTo>
                <a:lnTo>
                  <a:pt x="3053" y="53988"/>
                </a:lnTo>
                <a:lnTo>
                  <a:pt x="11382" y="66341"/>
                </a:lnTo>
                <a:lnTo>
                  <a:pt x="23735" y="74670"/>
                </a:lnTo>
                <a:lnTo>
                  <a:pt x="25907" y="75108"/>
                </a:lnTo>
                <a:lnTo>
                  <a:pt x="25907" y="38861"/>
                </a:lnTo>
                <a:lnTo>
                  <a:pt x="77723" y="38861"/>
                </a:lnTo>
                <a:lnTo>
                  <a:pt x="74670" y="23735"/>
                </a:lnTo>
                <a:lnTo>
                  <a:pt x="66341" y="11382"/>
                </a:lnTo>
                <a:lnTo>
                  <a:pt x="53988" y="3053"/>
                </a:lnTo>
                <a:lnTo>
                  <a:pt x="38862" y="0"/>
                </a:lnTo>
                <a:close/>
              </a:path>
              <a:path w="78105" h="2059304">
                <a:moveTo>
                  <a:pt x="77723" y="38861"/>
                </a:moveTo>
                <a:lnTo>
                  <a:pt x="51815" y="38861"/>
                </a:lnTo>
                <a:lnTo>
                  <a:pt x="51815" y="75108"/>
                </a:lnTo>
                <a:lnTo>
                  <a:pt x="53988" y="74670"/>
                </a:lnTo>
                <a:lnTo>
                  <a:pt x="66341" y="66341"/>
                </a:lnTo>
                <a:lnTo>
                  <a:pt x="74670" y="53988"/>
                </a:lnTo>
                <a:lnTo>
                  <a:pt x="77723" y="3886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18734" y="4182871"/>
            <a:ext cx="1779270" cy="4343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4" marR="5080" indent="-2540">
              <a:lnSpc>
                <a:spcPts val="1530"/>
              </a:lnSpc>
              <a:spcBef>
                <a:spcPts val="280"/>
              </a:spcBef>
            </a:pPr>
            <a:r>
              <a:rPr sz="1400" dirty="0">
                <a:latin typeface="Arial"/>
                <a:cs typeface="Arial"/>
              </a:rPr>
              <a:t>Ascend-Max  </a:t>
            </a:r>
            <a:r>
              <a:rPr sz="1400" spc="15" dirty="0">
                <a:latin typeface="Arial"/>
                <a:cs typeface="Arial"/>
              </a:rPr>
              <a:t>Architecture: </a:t>
            </a:r>
            <a:r>
              <a:rPr sz="1400" dirty="0">
                <a:latin typeface="Arial"/>
                <a:cs typeface="Arial"/>
              </a:rPr>
              <a:t>Da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Vinci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2384" y="4758664"/>
            <a:ext cx="3983990" cy="1163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75994">
              <a:lnSpc>
                <a:spcPct val="117900"/>
              </a:lnSpc>
              <a:spcBef>
                <a:spcPts val="95"/>
              </a:spcBef>
            </a:pPr>
            <a:r>
              <a:rPr sz="1400" b="1" spc="5" dirty="0">
                <a:solidFill>
                  <a:srgbClr val="151515"/>
                </a:solidFill>
                <a:latin typeface="Arial"/>
                <a:cs typeface="Arial"/>
              </a:rPr>
              <a:t>Half-precision </a:t>
            </a:r>
            <a:r>
              <a:rPr sz="1400" b="1" spc="10" dirty="0">
                <a:solidFill>
                  <a:srgbClr val="151515"/>
                </a:solidFill>
                <a:latin typeface="Arial"/>
                <a:cs typeface="Arial"/>
              </a:rPr>
              <a:t>(FP16): </a:t>
            </a:r>
            <a:r>
              <a:rPr sz="1400" b="1" spc="20" dirty="0">
                <a:solidFill>
                  <a:srgbClr val="151515"/>
                </a:solidFill>
                <a:latin typeface="Arial"/>
                <a:cs typeface="Arial"/>
              </a:rPr>
              <a:t>256 </a:t>
            </a:r>
            <a:r>
              <a:rPr sz="1400" b="1" spc="-75" dirty="0">
                <a:solidFill>
                  <a:srgbClr val="151515"/>
                </a:solidFill>
                <a:latin typeface="Arial"/>
                <a:cs typeface="Arial"/>
              </a:rPr>
              <a:t>TFLOPS  </a:t>
            </a:r>
            <a:r>
              <a:rPr sz="1400" b="1" spc="30" dirty="0">
                <a:solidFill>
                  <a:srgbClr val="151515"/>
                </a:solidFill>
                <a:latin typeface="Arial"/>
                <a:cs typeface="Arial"/>
              </a:rPr>
              <a:t>Integer </a:t>
            </a:r>
            <a:r>
              <a:rPr sz="1400" b="1" spc="-25" dirty="0">
                <a:solidFill>
                  <a:srgbClr val="151515"/>
                </a:solidFill>
                <a:latin typeface="Arial"/>
                <a:cs typeface="Arial"/>
              </a:rPr>
              <a:t>precision </a:t>
            </a:r>
            <a:r>
              <a:rPr sz="1400" b="1" spc="55" dirty="0">
                <a:solidFill>
                  <a:srgbClr val="151515"/>
                </a:solidFill>
                <a:latin typeface="Arial"/>
                <a:cs typeface="Arial"/>
              </a:rPr>
              <a:t>(INT8): </a:t>
            </a:r>
            <a:r>
              <a:rPr sz="1400" b="1" spc="25" dirty="0">
                <a:solidFill>
                  <a:srgbClr val="151515"/>
                </a:solidFill>
                <a:latin typeface="Arial"/>
                <a:cs typeface="Arial"/>
              </a:rPr>
              <a:t>512</a:t>
            </a:r>
            <a:r>
              <a:rPr sz="1400" b="1" spc="6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-60" dirty="0">
                <a:solidFill>
                  <a:srgbClr val="151515"/>
                </a:solidFill>
                <a:latin typeface="Arial"/>
                <a:cs typeface="Arial"/>
              </a:rPr>
              <a:t>TOPS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00" b="1" spc="15" dirty="0">
                <a:solidFill>
                  <a:srgbClr val="151515"/>
                </a:solidFill>
                <a:latin typeface="Arial"/>
                <a:cs typeface="Arial"/>
              </a:rPr>
              <a:t>128-channel </a:t>
            </a:r>
            <a:r>
              <a:rPr sz="1400" b="1" spc="50" dirty="0">
                <a:solidFill>
                  <a:srgbClr val="151515"/>
                </a:solidFill>
                <a:latin typeface="Arial"/>
                <a:cs typeface="Arial"/>
              </a:rPr>
              <a:t>full HD </a:t>
            </a:r>
            <a:r>
              <a:rPr sz="1400" b="1" spc="-10" dirty="0">
                <a:solidFill>
                  <a:srgbClr val="151515"/>
                </a:solidFill>
                <a:latin typeface="Arial"/>
                <a:cs typeface="Arial"/>
              </a:rPr>
              <a:t>video </a:t>
            </a:r>
            <a:r>
              <a:rPr sz="1400" b="1" spc="-30" dirty="0">
                <a:solidFill>
                  <a:srgbClr val="151515"/>
                </a:solidFill>
                <a:latin typeface="Arial"/>
                <a:cs typeface="Arial"/>
              </a:rPr>
              <a:t>decoder:</a:t>
            </a:r>
            <a:r>
              <a:rPr sz="1400" b="1" spc="1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151515"/>
                </a:solidFill>
                <a:latin typeface="Arial"/>
                <a:cs typeface="Arial"/>
              </a:rPr>
              <a:t>H.264/265</a:t>
            </a:r>
            <a:endParaRPr sz="140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1340"/>
              </a:spcBef>
            </a:pPr>
            <a:r>
              <a:rPr sz="1400" b="1" spc="35" dirty="0">
                <a:solidFill>
                  <a:srgbClr val="151515"/>
                </a:solidFill>
                <a:latin typeface="Arial"/>
                <a:cs typeface="Arial"/>
              </a:rPr>
              <a:t>Max. </a:t>
            </a:r>
            <a:r>
              <a:rPr sz="1400" b="1" dirty="0">
                <a:solidFill>
                  <a:srgbClr val="151515"/>
                </a:solidFill>
                <a:latin typeface="Arial"/>
                <a:cs typeface="Arial"/>
              </a:rPr>
              <a:t>power: </a:t>
            </a:r>
            <a:r>
              <a:rPr sz="1400" b="1" spc="20" dirty="0">
                <a:solidFill>
                  <a:srgbClr val="151515"/>
                </a:solidFill>
                <a:latin typeface="Arial"/>
                <a:cs typeface="Arial"/>
              </a:rPr>
              <a:t>310</a:t>
            </a:r>
            <a:r>
              <a:rPr sz="1400" b="1" spc="8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140" dirty="0">
                <a:solidFill>
                  <a:srgbClr val="151515"/>
                </a:solidFill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36108" y="4014215"/>
            <a:ext cx="78105" cy="1991995"/>
          </a:xfrm>
          <a:custGeom>
            <a:avLst/>
            <a:gdLst/>
            <a:ahLst/>
            <a:cxnLst/>
            <a:rect l="l" t="t" r="r" b="b"/>
            <a:pathLst>
              <a:path w="78104" h="1991995">
                <a:moveTo>
                  <a:pt x="25907" y="1916759"/>
                </a:moveTo>
                <a:lnTo>
                  <a:pt x="23735" y="1917197"/>
                </a:lnTo>
                <a:lnTo>
                  <a:pt x="11382" y="1925526"/>
                </a:lnTo>
                <a:lnTo>
                  <a:pt x="3053" y="1937879"/>
                </a:lnTo>
                <a:lnTo>
                  <a:pt x="0" y="1953005"/>
                </a:lnTo>
                <a:lnTo>
                  <a:pt x="3053" y="1968132"/>
                </a:lnTo>
                <a:lnTo>
                  <a:pt x="11382" y="1980485"/>
                </a:lnTo>
                <a:lnTo>
                  <a:pt x="23735" y="1988814"/>
                </a:lnTo>
                <a:lnTo>
                  <a:pt x="38862" y="1991867"/>
                </a:lnTo>
                <a:lnTo>
                  <a:pt x="53988" y="1988814"/>
                </a:lnTo>
                <a:lnTo>
                  <a:pt x="66341" y="1980485"/>
                </a:lnTo>
                <a:lnTo>
                  <a:pt x="74670" y="1968132"/>
                </a:lnTo>
                <a:lnTo>
                  <a:pt x="77724" y="1953005"/>
                </a:lnTo>
                <a:lnTo>
                  <a:pt x="25907" y="1953005"/>
                </a:lnTo>
                <a:lnTo>
                  <a:pt x="25907" y="1916759"/>
                </a:lnTo>
                <a:close/>
              </a:path>
              <a:path w="78104" h="1991995">
                <a:moveTo>
                  <a:pt x="38862" y="1914143"/>
                </a:moveTo>
                <a:lnTo>
                  <a:pt x="25907" y="1916759"/>
                </a:lnTo>
                <a:lnTo>
                  <a:pt x="25907" y="1953005"/>
                </a:lnTo>
                <a:lnTo>
                  <a:pt x="51815" y="1953005"/>
                </a:lnTo>
                <a:lnTo>
                  <a:pt x="51815" y="1916759"/>
                </a:lnTo>
                <a:lnTo>
                  <a:pt x="38862" y="1914143"/>
                </a:lnTo>
                <a:close/>
              </a:path>
              <a:path w="78104" h="1991995">
                <a:moveTo>
                  <a:pt x="51816" y="1916759"/>
                </a:moveTo>
                <a:lnTo>
                  <a:pt x="51815" y="1953005"/>
                </a:lnTo>
                <a:lnTo>
                  <a:pt x="77724" y="1953005"/>
                </a:lnTo>
                <a:lnTo>
                  <a:pt x="74670" y="1937879"/>
                </a:lnTo>
                <a:lnTo>
                  <a:pt x="66341" y="1925526"/>
                </a:lnTo>
                <a:lnTo>
                  <a:pt x="53988" y="1917197"/>
                </a:lnTo>
                <a:lnTo>
                  <a:pt x="51816" y="1916759"/>
                </a:lnTo>
                <a:close/>
              </a:path>
              <a:path w="78104" h="1991995">
                <a:moveTo>
                  <a:pt x="25908" y="75108"/>
                </a:moveTo>
                <a:lnTo>
                  <a:pt x="25907" y="1916759"/>
                </a:lnTo>
                <a:lnTo>
                  <a:pt x="38862" y="1914143"/>
                </a:lnTo>
                <a:lnTo>
                  <a:pt x="51815" y="1914143"/>
                </a:lnTo>
                <a:lnTo>
                  <a:pt x="51815" y="77723"/>
                </a:lnTo>
                <a:lnTo>
                  <a:pt x="38862" y="77723"/>
                </a:lnTo>
                <a:lnTo>
                  <a:pt x="25908" y="75108"/>
                </a:lnTo>
                <a:close/>
              </a:path>
              <a:path w="78104" h="1991995">
                <a:moveTo>
                  <a:pt x="51815" y="1914143"/>
                </a:moveTo>
                <a:lnTo>
                  <a:pt x="38862" y="1914143"/>
                </a:lnTo>
                <a:lnTo>
                  <a:pt x="51816" y="1916759"/>
                </a:lnTo>
                <a:lnTo>
                  <a:pt x="51815" y="1914143"/>
                </a:lnTo>
                <a:close/>
              </a:path>
              <a:path w="78104" h="1991995">
                <a:moveTo>
                  <a:pt x="51815" y="38861"/>
                </a:moveTo>
                <a:lnTo>
                  <a:pt x="25907" y="38861"/>
                </a:lnTo>
                <a:lnTo>
                  <a:pt x="25908" y="75108"/>
                </a:lnTo>
                <a:lnTo>
                  <a:pt x="38862" y="77723"/>
                </a:lnTo>
                <a:lnTo>
                  <a:pt x="51815" y="75108"/>
                </a:lnTo>
                <a:lnTo>
                  <a:pt x="51815" y="38861"/>
                </a:lnTo>
                <a:close/>
              </a:path>
              <a:path w="78104" h="1991995">
                <a:moveTo>
                  <a:pt x="51815" y="75108"/>
                </a:moveTo>
                <a:lnTo>
                  <a:pt x="38862" y="77723"/>
                </a:lnTo>
                <a:lnTo>
                  <a:pt x="51815" y="77723"/>
                </a:lnTo>
                <a:lnTo>
                  <a:pt x="51815" y="75108"/>
                </a:lnTo>
                <a:close/>
              </a:path>
              <a:path w="78104" h="1991995">
                <a:moveTo>
                  <a:pt x="38862" y="0"/>
                </a:moveTo>
                <a:lnTo>
                  <a:pt x="23735" y="3053"/>
                </a:lnTo>
                <a:lnTo>
                  <a:pt x="11382" y="11382"/>
                </a:lnTo>
                <a:lnTo>
                  <a:pt x="3053" y="23735"/>
                </a:lnTo>
                <a:lnTo>
                  <a:pt x="0" y="38861"/>
                </a:lnTo>
                <a:lnTo>
                  <a:pt x="3053" y="53988"/>
                </a:lnTo>
                <a:lnTo>
                  <a:pt x="11382" y="66341"/>
                </a:lnTo>
                <a:lnTo>
                  <a:pt x="23735" y="74670"/>
                </a:lnTo>
                <a:lnTo>
                  <a:pt x="25908" y="75108"/>
                </a:lnTo>
                <a:lnTo>
                  <a:pt x="25907" y="38861"/>
                </a:lnTo>
                <a:lnTo>
                  <a:pt x="77724" y="38861"/>
                </a:lnTo>
                <a:lnTo>
                  <a:pt x="74670" y="23735"/>
                </a:lnTo>
                <a:lnTo>
                  <a:pt x="66341" y="11382"/>
                </a:lnTo>
                <a:lnTo>
                  <a:pt x="53988" y="3053"/>
                </a:lnTo>
                <a:lnTo>
                  <a:pt x="38862" y="0"/>
                </a:lnTo>
                <a:close/>
              </a:path>
              <a:path w="78104" h="1991995">
                <a:moveTo>
                  <a:pt x="77724" y="38861"/>
                </a:moveTo>
                <a:lnTo>
                  <a:pt x="51815" y="38861"/>
                </a:lnTo>
                <a:lnTo>
                  <a:pt x="51815" y="75108"/>
                </a:lnTo>
                <a:lnTo>
                  <a:pt x="53988" y="74670"/>
                </a:lnTo>
                <a:lnTo>
                  <a:pt x="66341" y="66341"/>
                </a:lnTo>
                <a:lnTo>
                  <a:pt x="74670" y="53988"/>
                </a:lnTo>
                <a:lnTo>
                  <a:pt x="77724" y="3886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8188959" y="1926335"/>
            <a:ext cx="3107690" cy="2051050"/>
            <a:chOff x="8188959" y="1926335"/>
            <a:chExt cx="3107690" cy="2051050"/>
          </a:xfrm>
        </p:grpSpPr>
        <p:sp>
          <p:nvSpPr>
            <p:cNvPr id="13" name="object 13"/>
            <p:cNvSpPr/>
            <p:nvPr/>
          </p:nvSpPr>
          <p:spPr>
            <a:xfrm>
              <a:off x="8243315" y="3850131"/>
              <a:ext cx="3052445" cy="127000"/>
            </a:xfrm>
            <a:custGeom>
              <a:avLst/>
              <a:gdLst/>
              <a:ahLst/>
              <a:cxnLst/>
              <a:rect l="l" t="t" r="r" b="b"/>
              <a:pathLst>
                <a:path w="3052445" h="127000">
                  <a:moveTo>
                    <a:pt x="2924936" y="0"/>
                  </a:moveTo>
                  <a:lnTo>
                    <a:pt x="2924936" y="127000"/>
                  </a:lnTo>
                  <a:lnTo>
                    <a:pt x="3039236" y="69850"/>
                  </a:lnTo>
                  <a:lnTo>
                    <a:pt x="2937636" y="69850"/>
                  </a:lnTo>
                  <a:lnTo>
                    <a:pt x="2937636" y="57150"/>
                  </a:lnTo>
                  <a:lnTo>
                    <a:pt x="3039236" y="57150"/>
                  </a:lnTo>
                  <a:lnTo>
                    <a:pt x="2924936" y="0"/>
                  </a:lnTo>
                  <a:close/>
                </a:path>
                <a:path w="3052445" h="127000">
                  <a:moveTo>
                    <a:pt x="2924936" y="57150"/>
                  </a:moveTo>
                  <a:lnTo>
                    <a:pt x="0" y="57150"/>
                  </a:lnTo>
                  <a:lnTo>
                    <a:pt x="0" y="69850"/>
                  </a:lnTo>
                  <a:lnTo>
                    <a:pt x="2924936" y="69850"/>
                  </a:lnTo>
                  <a:lnTo>
                    <a:pt x="2924936" y="57150"/>
                  </a:lnTo>
                  <a:close/>
                </a:path>
                <a:path w="3052445" h="127000">
                  <a:moveTo>
                    <a:pt x="3039236" y="57150"/>
                  </a:moveTo>
                  <a:lnTo>
                    <a:pt x="2937636" y="57150"/>
                  </a:lnTo>
                  <a:lnTo>
                    <a:pt x="2937636" y="69850"/>
                  </a:lnTo>
                  <a:lnTo>
                    <a:pt x="3039236" y="69850"/>
                  </a:lnTo>
                  <a:lnTo>
                    <a:pt x="3051936" y="63500"/>
                  </a:lnTo>
                  <a:lnTo>
                    <a:pt x="3039236" y="5715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52459" y="2097785"/>
              <a:ext cx="3023235" cy="1905"/>
            </a:xfrm>
            <a:custGeom>
              <a:avLst/>
              <a:gdLst/>
              <a:ahLst/>
              <a:cxnLst/>
              <a:rect l="l" t="t" r="r" b="b"/>
              <a:pathLst>
                <a:path w="3023234" h="1905">
                  <a:moveTo>
                    <a:pt x="0" y="1524"/>
                  </a:moveTo>
                  <a:lnTo>
                    <a:pt x="3022854" y="1524"/>
                  </a:lnTo>
                </a:path>
                <a:path w="3023234" h="1905">
                  <a:moveTo>
                    <a:pt x="0" y="0"/>
                  </a:moveTo>
                  <a:lnTo>
                    <a:pt x="3022854" y="0"/>
                  </a:lnTo>
                </a:path>
              </a:pathLst>
            </a:custGeom>
            <a:ln w="31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43315" y="2552699"/>
              <a:ext cx="2399030" cy="906780"/>
            </a:xfrm>
            <a:custGeom>
              <a:avLst/>
              <a:gdLst/>
              <a:ahLst/>
              <a:cxnLst/>
              <a:rect l="l" t="t" r="r" b="b"/>
              <a:pathLst>
                <a:path w="2399029" h="906779">
                  <a:moveTo>
                    <a:pt x="9143" y="0"/>
                  </a:moveTo>
                  <a:lnTo>
                    <a:pt x="2398776" y="0"/>
                  </a:lnTo>
                </a:path>
                <a:path w="2399029" h="906779">
                  <a:moveTo>
                    <a:pt x="9143" y="452627"/>
                  </a:moveTo>
                  <a:lnTo>
                    <a:pt x="2398776" y="452627"/>
                  </a:lnTo>
                </a:path>
                <a:path w="2399029" h="906779">
                  <a:moveTo>
                    <a:pt x="0" y="906779"/>
                  </a:moveTo>
                  <a:lnTo>
                    <a:pt x="876300" y="906779"/>
                  </a:lnTo>
                </a:path>
              </a:pathLst>
            </a:custGeom>
            <a:ln w="31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88959" y="1926335"/>
              <a:ext cx="127000" cy="1988185"/>
            </a:xfrm>
            <a:custGeom>
              <a:avLst/>
              <a:gdLst/>
              <a:ahLst/>
              <a:cxnLst/>
              <a:rect l="l" t="t" r="r" b="b"/>
              <a:pathLst>
                <a:path w="127000" h="1988185">
                  <a:moveTo>
                    <a:pt x="69850" y="114300"/>
                  </a:moveTo>
                  <a:lnTo>
                    <a:pt x="57150" y="114300"/>
                  </a:lnTo>
                  <a:lnTo>
                    <a:pt x="57150" y="1987677"/>
                  </a:lnTo>
                  <a:lnTo>
                    <a:pt x="69850" y="1987677"/>
                  </a:lnTo>
                  <a:lnTo>
                    <a:pt x="69850" y="114300"/>
                  </a:lnTo>
                  <a:close/>
                </a:path>
                <a:path w="127000" h="1988185">
                  <a:moveTo>
                    <a:pt x="63500" y="0"/>
                  </a:moveTo>
                  <a:lnTo>
                    <a:pt x="0" y="127000"/>
                  </a:lnTo>
                  <a:lnTo>
                    <a:pt x="57150" y="127000"/>
                  </a:lnTo>
                  <a:lnTo>
                    <a:pt x="57150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1988185">
                  <a:moveTo>
                    <a:pt x="120650" y="114300"/>
                  </a:moveTo>
                  <a:lnTo>
                    <a:pt x="69850" y="114300"/>
                  </a:lnTo>
                  <a:lnTo>
                    <a:pt x="69850" y="127000"/>
                  </a:lnTo>
                  <a:lnTo>
                    <a:pt x="127000" y="12700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32619" y="2552699"/>
              <a:ext cx="1762125" cy="906780"/>
            </a:xfrm>
            <a:custGeom>
              <a:avLst/>
              <a:gdLst/>
              <a:ahLst/>
              <a:cxnLst/>
              <a:rect l="l" t="t" r="r" b="b"/>
              <a:pathLst>
                <a:path w="1762125" h="906779">
                  <a:moveTo>
                    <a:pt x="0" y="906779"/>
                  </a:moveTo>
                  <a:lnTo>
                    <a:pt x="365759" y="906779"/>
                  </a:lnTo>
                </a:path>
                <a:path w="1762125" h="906779">
                  <a:moveTo>
                    <a:pt x="778763" y="906779"/>
                  </a:moveTo>
                  <a:lnTo>
                    <a:pt x="1109472" y="906779"/>
                  </a:lnTo>
                </a:path>
                <a:path w="1762125" h="906779">
                  <a:moveTo>
                    <a:pt x="1522476" y="0"/>
                  </a:moveTo>
                  <a:lnTo>
                    <a:pt x="1762125" y="0"/>
                  </a:lnTo>
                </a:path>
                <a:path w="1762125" h="906779">
                  <a:moveTo>
                    <a:pt x="1522476" y="452627"/>
                  </a:moveTo>
                  <a:lnTo>
                    <a:pt x="1762125" y="452627"/>
                  </a:lnTo>
                </a:path>
                <a:path w="1762125" h="906779">
                  <a:moveTo>
                    <a:pt x="1522476" y="906779"/>
                  </a:moveTo>
                  <a:lnTo>
                    <a:pt x="1752980" y="906779"/>
                  </a:lnTo>
                </a:path>
              </a:pathLst>
            </a:custGeom>
            <a:ln w="31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411206" y="4005198"/>
            <a:ext cx="857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C00000"/>
                </a:solidFill>
                <a:latin typeface="Arial"/>
                <a:cs typeface="Arial"/>
              </a:rPr>
              <a:t>Ascend</a:t>
            </a:r>
            <a:r>
              <a:rPr sz="12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200" b="1" spc="25" dirty="0">
                <a:solidFill>
                  <a:srgbClr val="C00000"/>
                </a:solidFill>
                <a:latin typeface="Arial"/>
                <a:cs typeface="Arial"/>
              </a:rPr>
              <a:t>910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66201" y="3177032"/>
            <a:ext cx="282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45T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09658" y="2964941"/>
            <a:ext cx="282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90T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03714" y="2670505"/>
            <a:ext cx="3676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Arial"/>
                <a:cs typeface="Arial"/>
              </a:rPr>
              <a:t>125T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37646" y="1844802"/>
            <a:ext cx="367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Arial"/>
                <a:cs typeface="Arial"/>
              </a:rPr>
              <a:t>256T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92465" y="1686255"/>
            <a:ext cx="48958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85" dirty="0">
                <a:latin typeface="Arial"/>
                <a:cs typeface="Arial"/>
              </a:rPr>
              <a:t>FL</a:t>
            </a:r>
            <a:r>
              <a:rPr sz="1200" b="1" spc="25" dirty="0">
                <a:latin typeface="Arial"/>
                <a:cs typeface="Arial"/>
              </a:rPr>
              <a:t>O</a:t>
            </a:r>
            <a:r>
              <a:rPr sz="1200" b="1" spc="-110" dirty="0">
                <a:latin typeface="Arial"/>
                <a:cs typeface="Arial"/>
              </a:rPr>
              <a:t>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70850" y="3373882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70850" y="2915792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0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70850" y="2457703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0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70850" y="1991995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0" dirty="0"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391143" y="2098548"/>
            <a:ext cx="2664460" cy="1815464"/>
            <a:chOff x="8391143" y="2098548"/>
            <a:chExt cx="2664460" cy="1815464"/>
          </a:xfrm>
        </p:grpSpPr>
        <p:sp>
          <p:nvSpPr>
            <p:cNvPr id="29" name="object 29"/>
            <p:cNvSpPr/>
            <p:nvPr/>
          </p:nvSpPr>
          <p:spPr>
            <a:xfrm>
              <a:off x="8391144" y="3022091"/>
              <a:ext cx="1920239" cy="891540"/>
            </a:xfrm>
            <a:custGeom>
              <a:avLst/>
              <a:gdLst/>
              <a:ahLst/>
              <a:cxnLst/>
              <a:rect l="l" t="t" r="r" b="b"/>
              <a:pathLst>
                <a:path w="1920240" h="891539">
                  <a:moveTo>
                    <a:pt x="413004" y="544068"/>
                  </a:moveTo>
                  <a:lnTo>
                    <a:pt x="0" y="544068"/>
                  </a:lnTo>
                  <a:lnTo>
                    <a:pt x="0" y="891540"/>
                  </a:lnTo>
                  <a:lnTo>
                    <a:pt x="413004" y="891540"/>
                  </a:lnTo>
                  <a:lnTo>
                    <a:pt x="413004" y="544068"/>
                  </a:lnTo>
                  <a:close/>
                </a:path>
                <a:path w="1920240" h="891539">
                  <a:moveTo>
                    <a:pt x="1141476" y="242316"/>
                  </a:moveTo>
                  <a:lnTo>
                    <a:pt x="728472" y="242316"/>
                  </a:lnTo>
                  <a:lnTo>
                    <a:pt x="728472" y="888492"/>
                  </a:lnTo>
                  <a:lnTo>
                    <a:pt x="1141476" y="888492"/>
                  </a:lnTo>
                  <a:lnTo>
                    <a:pt x="1141476" y="242316"/>
                  </a:lnTo>
                  <a:close/>
                </a:path>
                <a:path w="1920240" h="891539">
                  <a:moveTo>
                    <a:pt x="1920240" y="0"/>
                  </a:moveTo>
                  <a:lnTo>
                    <a:pt x="1507236" y="0"/>
                  </a:lnTo>
                  <a:lnTo>
                    <a:pt x="1507236" y="888492"/>
                  </a:lnTo>
                  <a:lnTo>
                    <a:pt x="1920240" y="888492"/>
                  </a:lnTo>
                  <a:lnTo>
                    <a:pt x="192024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642091" y="2098548"/>
              <a:ext cx="413384" cy="1812289"/>
            </a:xfrm>
            <a:custGeom>
              <a:avLst/>
              <a:gdLst/>
              <a:ahLst/>
              <a:cxnLst/>
              <a:rect l="l" t="t" r="r" b="b"/>
              <a:pathLst>
                <a:path w="413384" h="1812289">
                  <a:moveTo>
                    <a:pt x="413003" y="0"/>
                  </a:moveTo>
                  <a:lnTo>
                    <a:pt x="0" y="0"/>
                  </a:lnTo>
                  <a:lnTo>
                    <a:pt x="0" y="1812035"/>
                  </a:lnTo>
                  <a:lnTo>
                    <a:pt x="413003" y="1812035"/>
                  </a:lnTo>
                  <a:lnTo>
                    <a:pt x="413003" y="0"/>
                  </a:lnTo>
                  <a:close/>
                </a:path>
              </a:pathLst>
            </a:custGeom>
            <a:solidFill>
              <a:srgbClr val="E47A84">
                <a:alpha val="8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1597909" y="1718325"/>
            <a:ext cx="1001310" cy="834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23559" y="1383791"/>
            <a:ext cx="1754124" cy="14508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9532" y="3805428"/>
            <a:ext cx="9875520" cy="2786380"/>
            <a:chOff x="1589532" y="3805428"/>
            <a:chExt cx="9875520" cy="2786380"/>
          </a:xfrm>
        </p:grpSpPr>
        <p:sp>
          <p:nvSpPr>
            <p:cNvPr id="3" name="object 3"/>
            <p:cNvSpPr/>
            <p:nvPr/>
          </p:nvSpPr>
          <p:spPr>
            <a:xfrm>
              <a:off x="1731264" y="3840480"/>
              <a:ext cx="8441690" cy="1656714"/>
            </a:xfrm>
            <a:custGeom>
              <a:avLst/>
              <a:gdLst/>
              <a:ahLst/>
              <a:cxnLst/>
              <a:rect l="l" t="t" r="r" b="b"/>
              <a:pathLst>
                <a:path w="8441690" h="1656714">
                  <a:moveTo>
                    <a:pt x="8441436" y="0"/>
                  </a:moveTo>
                  <a:lnTo>
                    <a:pt x="0" y="0"/>
                  </a:lnTo>
                  <a:lnTo>
                    <a:pt x="0" y="1656588"/>
                  </a:lnTo>
                  <a:lnTo>
                    <a:pt x="8441436" y="1656588"/>
                  </a:lnTo>
                  <a:lnTo>
                    <a:pt x="8441436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89532" y="5393436"/>
              <a:ext cx="8724900" cy="906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31264" y="5497068"/>
              <a:ext cx="8441690" cy="623570"/>
            </a:xfrm>
            <a:custGeom>
              <a:avLst/>
              <a:gdLst/>
              <a:ahLst/>
              <a:cxnLst/>
              <a:rect l="l" t="t" r="r" b="b"/>
              <a:pathLst>
                <a:path w="8441690" h="623570">
                  <a:moveTo>
                    <a:pt x="8441436" y="0"/>
                  </a:moveTo>
                  <a:lnTo>
                    <a:pt x="0" y="0"/>
                  </a:lnTo>
                  <a:lnTo>
                    <a:pt x="1205738" y="623315"/>
                  </a:lnTo>
                  <a:lnTo>
                    <a:pt x="7235698" y="623315"/>
                  </a:lnTo>
                  <a:lnTo>
                    <a:pt x="8441436" y="0"/>
                  </a:lnTo>
                  <a:close/>
                </a:path>
              </a:pathLst>
            </a:custGeom>
            <a:solidFill>
              <a:srgbClr val="FFFFFF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05984" y="5612892"/>
              <a:ext cx="518160" cy="5044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41904" y="5501640"/>
              <a:ext cx="1191768" cy="71932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27847" y="5503164"/>
              <a:ext cx="731520" cy="71475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90188" y="3805428"/>
              <a:ext cx="772667" cy="4663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0859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0" dirty="0"/>
              <a:t>Atlas </a:t>
            </a:r>
            <a:r>
              <a:rPr spc="-10" dirty="0"/>
              <a:t>AI </a:t>
            </a:r>
            <a:r>
              <a:rPr spc="65" dirty="0"/>
              <a:t>Computing </a:t>
            </a:r>
            <a:r>
              <a:rPr spc="90" dirty="0"/>
              <a:t>Platform</a:t>
            </a:r>
            <a:r>
              <a:rPr spc="335" dirty="0"/>
              <a:t> </a:t>
            </a:r>
            <a:r>
              <a:rPr spc="80" dirty="0"/>
              <a:t>Portfolio</a:t>
            </a:r>
          </a:p>
        </p:txBody>
      </p:sp>
      <p:sp>
        <p:nvSpPr>
          <p:cNvPr id="11" name="object 11"/>
          <p:cNvSpPr/>
          <p:nvPr/>
        </p:nvSpPr>
        <p:spPr>
          <a:xfrm>
            <a:off x="2072639" y="3861815"/>
            <a:ext cx="810768" cy="4892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54167" y="4158996"/>
            <a:ext cx="821436" cy="4953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23531" y="4703064"/>
            <a:ext cx="559307" cy="3093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6792468" y="3825240"/>
            <a:ext cx="820419" cy="372110"/>
            <a:chOff x="6792468" y="3825240"/>
            <a:chExt cx="820419" cy="372110"/>
          </a:xfrm>
        </p:grpSpPr>
        <p:sp>
          <p:nvSpPr>
            <p:cNvPr id="15" name="object 15"/>
            <p:cNvSpPr/>
            <p:nvPr/>
          </p:nvSpPr>
          <p:spPr>
            <a:xfrm>
              <a:off x="6792468" y="3825240"/>
              <a:ext cx="819912" cy="37185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45808" y="3840480"/>
              <a:ext cx="713231" cy="2651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8514588" y="4078223"/>
            <a:ext cx="1350263" cy="81381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06837" y="4386643"/>
            <a:ext cx="1232014" cy="106953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32276" y="1583527"/>
            <a:ext cx="2124710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55"/>
              </a:lnSpc>
            </a:pPr>
            <a:r>
              <a:rPr sz="1200" spc="10" dirty="0">
                <a:latin typeface="Arial"/>
                <a:cs typeface="Arial"/>
              </a:rPr>
              <a:t>Industry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SDK/Container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1200" spc="-5" dirty="0">
                <a:latin typeface="Arial"/>
                <a:cs typeface="Arial"/>
              </a:rPr>
              <a:t>engine/Basic </a:t>
            </a:r>
            <a:r>
              <a:rPr sz="1200" spc="-25" dirty="0">
                <a:latin typeface="Arial"/>
                <a:cs typeface="Arial"/>
              </a:rPr>
              <a:t>service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repository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856247" y="1360932"/>
            <a:ext cx="501124" cy="5090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147557" y="1568795"/>
            <a:ext cx="237680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55"/>
              </a:lnSpc>
            </a:pPr>
            <a:r>
              <a:rPr sz="1200" spc="-10" dirty="0">
                <a:latin typeface="Arial"/>
                <a:cs typeface="Arial"/>
              </a:rPr>
              <a:t>Cluster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management/Model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1200" spc="25" dirty="0">
                <a:latin typeface="Arial"/>
                <a:cs typeface="Arial"/>
              </a:rPr>
              <a:t>management/Data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pre-processing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90078" y="2421887"/>
            <a:ext cx="1222375" cy="148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000" b="1" spc="10" dirty="0">
                <a:solidFill>
                  <a:srgbClr val="1D1D1A"/>
                </a:solidFill>
                <a:latin typeface="Arial"/>
                <a:cs typeface="Arial"/>
              </a:rPr>
              <a:t>Framework</a:t>
            </a:r>
            <a:r>
              <a:rPr sz="1000" b="1" spc="-1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1D1D1A"/>
                </a:solidFill>
                <a:latin typeface="Arial"/>
                <a:cs typeface="Arial"/>
              </a:rPr>
              <a:t>Adapter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731264" y="2058923"/>
            <a:ext cx="9753600" cy="3477895"/>
            <a:chOff x="1731264" y="2058923"/>
            <a:chExt cx="9753600" cy="3477895"/>
          </a:xfrm>
        </p:grpSpPr>
        <p:sp>
          <p:nvSpPr>
            <p:cNvPr id="24" name="object 24"/>
            <p:cNvSpPr/>
            <p:nvPr/>
          </p:nvSpPr>
          <p:spPr>
            <a:xfrm>
              <a:off x="1731264" y="2083307"/>
              <a:ext cx="8432800" cy="1705610"/>
            </a:xfrm>
            <a:custGeom>
              <a:avLst/>
              <a:gdLst/>
              <a:ahLst/>
              <a:cxnLst/>
              <a:rect l="l" t="t" r="r" b="b"/>
              <a:pathLst>
                <a:path w="8432800" h="1705610">
                  <a:moveTo>
                    <a:pt x="8432292" y="0"/>
                  </a:moveTo>
                  <a:lnTo>
                    <a:pt x="0" y="0"/>
                  </a:lnTo>
                  <a:lnTo>
                    <a:pt x="0" y="1705356"/>
                  </a:lnTo>
                  <a:lnTo>
                    <a:pt x="8432292" y="1705356"/>
                  </a:lnTo>
                  <a:lnTo>
                    <a:pt x="843229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93748" y="2950476"/>
              <a:ext cx="8321040" cy="807720"/>
            </a:xfrm>
            <a:custGeom>
              <a:avLst/>
              <a:gdLst/>
              <a:ahLst/>
              <a:cxnLst/>
              <a:rect l="l" t="t" r="r" b="b"/>
              <a:pathLst>
                <a:path w="8321040" h="807720">
                  <a:moveTo>
                    <a:pt x="8302752" y="205740"/>
                  </a:moveTo>
                  <a:lnTo>
                    <a:pt x="2188464" y="205740"/>
                  </a:lnTo>
                  <a:lnTo>
                    <a:pt x="2188464" y="429755"/>
                  </a:lnTo>
                  <a:lnTo>
                    <a:pt x="8302752" y="429755"/>
                  </a:lnTo>
                  <a:lnTo>
                    <a:pt x="8302752" y="205740"/>
                  </a:lnTo>
                  <a:close/>
                </a:path>
                <a:path w="8321040" h="807720">
                  <a:moveTo>
                    <a:pt x="8302752" y="0"/>
                  </a:moveTo>
                  <a:lnTo>
                    <a:pt x="5193792" y="0"/>
                  </a:lnTo>
                  <a:lnTo>
                    <a:pt x="5193792" y="182867"/>
                  </a:lnTo>
                  <a:lnTo>
                    <a:pt x="8302752" y="182867"/>
                  </a:lnTo>
                  <a:lnTo>
                    <a:pt x="8302752" y="0"/>
                  </a:lnTo>
                  <a:close/>
                </a:path>
                <a:path w="8321040" h="807720">
                  <a:moveTo>
                    <a:pt x="8304276" y="444995"/>
                  </a:moveTo>
                  <a:lnTo>
                    <a:pt x="1466088" y="444995"/>
                  </a:lnTo>
                  <a:lnTo>
                    <a:pt x="1466088" y="627875"/>
                  </a:lnTo>
                  <a:lnTo>
                    <a:pt x="8304276" y="627875"/>
                  </a:lnTo>
                  <a:lnTo>
                    <a:pt x="8304276" y="444995"/>
                  </a:lnTo>
                  <a:close/>
                </a:path>
                <a:path w="8321040" h="807720">
                  <a:moveTo>
                    <a:pt x="8321040" y="661403"/>
                  </a:moveTo>
                  <a:lnTo>
                    <a:pt x="0" y="661403"/>
                  </a:lnTo>
                  <a:lnTo>
                    <a:pt x="0" y="807707"/>
                  </a:lnTo>
                  <a:lnTo>
                    <a:pt x="8321040" y="807707"/>
                  </a:lnTo>
                  <a:lnTo>
                    <a:pt x="8321040" y="661403"/>
                  </a:lnTo>
                  <a:close/>
                </a:path>
              </a:pathLst>
            </a:custGeom>
            <a:solidFill>
              <a:srgbClr val="FFC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42988" y="2139695"/>
              <a:ext cx="2944495" cy="218440"/>
            </a:xfrm>
            <a:custGeom>
              <a:avLst/>
              <a:gdLst/>
              <a:ahLst/>
              <a:cxnLst/>
              <a:rect l="l" t="t" r="r" b="b"/>
              <a:pathLst>
                <a:path w="2944495" h="218439">
                  <a:moveTo>
                    <a:pt x="2944368" y="0"/>
                  </a:moveTo>
                  <a:lnTo>
                    <a:pt x="0" y="0"/>
                  </a:lnTo>
                  <a:lnTo>
                    <a:pt x="0" y="217932"/>
                  </a:lnTo>
                  <a:lnTo>
                    <a:pt x="2944368" y="217932"/>
                  </a:lnTo>
                  <a:lnTo>
                    <a:pt x="2944368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93748" y="2058923"/>
              <a:ext cx="9691370" cy="3477895"/>
            </a:xfrm>
            <a:custGeom>
              <a:avLst/>
              <a:gdLst/>
              <a:ahLst/>
              <a:cxnLst/>
              <a:rect l="l" t="t" r="r" b="b"/>
              <a:pathLst>
                <a:path w="9691370" h="3477895">
                  <a:moveTo>
                    <a:pt x="5303507" y="76200"/>
                  </a:moveTo>
                  <a:lnTo>
                    <a:pt x="16764" y="76200"/>
                  </a:lnTo>
                  <a:lnTo>
                    <a:pt x="16764" y="534924"/>
                  </a:lnTo>
                  <a:lnTo>
                    <a:pt x="5303507" y="534924"/>
                  </a:lnTo>
                  <a:lnTo>
                    <a:pt x="5303507" y="76200"/>
                  </a:lnTo>
                  <a:close/>
                </a:path>
                <a:path w="9691370" h="3477895">
                  <a:moveTo>
                    <a:pt x="8285988" y="629412"/>
                  </a:moveTo>
                  <a:lnTo>
                    <a:pt x="0" y="629412"/>
                  </a:lnTo>
                  <a:lnTo>
                    <a:pt x="0" y="812292"/>
                  </a:lnTo>
                  <a:lnTo>
                    <a:pt x="8285988" y="812292"/>
                  </a:lnTo>
                  <a:lnTo>
                    <a:pt x="8285988" y="629412"/>
                  </a:lnTo>
                  <a:close/>
                </a:path>
                <a:path w="9691370" h="3477895">
                  <a:moveTo>
                    <a:pt x="9691103" y="0"/>
                  </a:moveTo>
                  <a:lnTo>
                    <a:pt x="8406384" y="0"/>
                  </a:lnTo>
                  <a:lnTo>
                    <a:pt x="8406384" y="3477768"/>
                  </a:lnTo>
                  <a:lnTo>
                    <a:pt x="9691103" y="3477768"/>
                  </a:lnTo>
                  <a:lnTo>
                    <a:pt x="9691103" y="0"/>
                  </a:lnTo>
                  <a:close/>
                </a:path>
              </a:pathLst>
            </a:custGeom>
            <a:solidFill>
              <a:srgbClr val="FFC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357104" y="2590800"/>
            <a:ext cx="325120" cy="2830195"/>
          </a:xfrm>
          <a:prstGeom prst="rect">
            <a:avLst/>
          </a:prstGeom>
          <a:solidFill>
            <a:srgbClr val="FFC000">
              <a:alpha val="39999"/>
            </a:srgbClr>
          </a:solidFill>
          <a:ln w="6096">
            <a:solidFill>
              <a:srgbClr val="000000"/>
            </a:solidFill>
          </a:ln>
        </p:spPr>
        <p:txBody>
          <a:bodyPr vert="vert270" wrap="square" lIns="0" tIns="2540" rIns="0" bIns="0" rtlCol="0">
            <a:spAutoFit/>
          </a:bodyPr>
          <a:lstStyle/>
          <a:p>
            <a:pPr marL="674370" marR="448309" indent="-219710">
              <a:lnSpc>
                <a:spcPct val="100000"/>
              </a:lnSpc>
              <a:spcBef>
                <a:spcPts val="20"/>
              </a:spcBef>
            </a:pPr>
            <a:r>
              <a:rPr sz="1050" spc="20" dirty="0">
                <a:solidFill>
                  <a:srgbClr val="1D1D1A"/>
                </a:solidFill>
                <a:latin typeface="Arial"/>
                <a:cs typeface="Arial"/>
              </a:rPr>
              <a:t>Unified </a:t>
            </a:r>
            <a:r>
              <a:rPr sz="1050" spc="50" dirty="0">
                <a:solidFill>
                  <a:srgbClr val="1D1D1A"/>
                </a:solidFill>
                <a:latin typeface="Arial"/>
                <a:cs typeface="Arial"/>
              </a:rPr>
              <a:t>O&amp;M </a:t>
            </a:r>
            <a:r>
              <a:rPr sz="1050" spc="15" dirty="0">
                <a:solidFill>
                  <a:srgbClr val="1D1D1A"/>
                </a:solidFill>
                <a:latin typeface="Arial"/>
                <a:cs typeface="Arial"/>
              </a:rPr>
              <a:t>and</a:t>
            </a:r>
            <a:r>
              <a:rPr sz="1050" spc="-9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1D1D1A"/>
                </a:solidFill>
                <a:latin typeface="Arial"/>
                <a:cs typeface="Arial"/>
              </a:rPr>
              <a:t>configuration  </a:t>
            </a:r>
            <a:r>
              <a:rPr sz="1050" spc="20" dirty="0">
                <a:solidFill>
                  <a:srgbClr val="1D1D1A"/>
                </a:solidFill>
                <a:latin typeface="Arial"/>
                <a:cs typeface="Arial"/>
              </a:rPr>
              <a:t>management</a:t>
            </a:r>
            <a:r>
              <a:rPr sz="1050" spc="-10" dirty="0">
                <a:solidFill>
                  <a:srgbClr val="1D1D1A"/>
                </a:solidFill>
                <a:latin typeface="Arial"/>
                <a:cs typeface="Arial"/>
              </a:rPr>
              <a:t> subsystem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777728" y="2592323"/>
            <a:ext cx="250190" cy="2830195"/>
          </a:xfrm>
          <a:prstGeom prst="rect">
            <a:avLst/>
          </a:prstGeom>
          <a:solidFill>
            <a:srgbClr val="FFC000">
              <a:alpha val="39999"/>
            </a:srgbClr>
          </a:solidFill>
          <a:ln w="6096">
            <a:solidFill>
              <a:srgbClr val="000000"/>
            </a:solidFill>
          </a:ln>
        </p:spPr>
        <p:txBody>
          <a:bodyPr vert="vert270" wrap="square" lIns="0" tIns="45719" rIns="0" bIns="0" rtlCol="0">
            <a:spAutoFit/>
          </a:bodyPr>
          <a:lstStyle/>
          <a:p>
            <a:pPr marL="890269">
              <a:lnSpc>
                <a:spcPct val="100000"/>
              </a:lnSpc>
              <a:spcBef>
                <a:spcPts val="359"/>
              </a:spcBef>
            </a:pPr>
            <a:r>
              <a:rPr sz="1050" spc="-5" dirty="0">
                <a:solidFill>
                  <a:srgbClr val="1D1D1A"/>
                </a:solidFill>
                <a:latin typeface="Arial"/>
                <a:cs typeface="Arial"/>
              </a:rPr>
              <a:t>Safety </a:t>
            </a:r>
            <a:r>
              <a:rPr sz="1050" spc="-10" dirty="0">
                <a:solidFill>
                  <a:srgbClr val="1D1D1A"/>
                </a:solidFill>
                <a:latin typeface="Arial"/>
                <a:cs typeface="Arial"/>
              </a:rPr>
              <a:t>subsystem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099292" y="2590800"/>
            <a:ext cx="329565" cy="2830195"/>
          </a:xfrm>
          <a:prstGeom prst="rect">
            <a:avLst/>
          </a:prstGeom>
          <a:solidFill>
            <a:srgbClr val="FFC000">
              <a:alpha val="39999"/>
            </a:srgbClr>
          </a:solidFill>
          <a:ln w="6096">
            <a:solidFill>
              <a:srgbClr val="000000"/>
            </a:solidFill>
          </a:ln>
        </p:spPr>
        <p:txBody>
          <a:bodyPr vert="vert270" wrap="square" lIns="0" tIns="850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670"/>
              </a:spcBef>
            </a:pPr>
            <a:r>
              <a:rPr sz="1050" spc="-75" dirty="0">
                <a:solidFill>
                  <a:srgbClr val="1D1D1A"/>
                </a:solidFill>
                <a:latin typeface="Arial"/>
                <a:cs typeface="Arial"/>
              </a:rPr>
              <a:t>AXE </a:t>
            </a:r>
            <a:r>
              <a:rPr sz="1050" spc="20" dirty="0">
                <a:solidFill>
                  <a:srgbClr val="1D1D1A"/>
                </a:solidFill>
                <a:latin typeface="Arial"/>
                <a:cs typeface="Arial"/>
              </a:rPr>
              <a:t>toolchain </a:t>
            </a:r>
            <a:r>
              <a:rPr sz="1050" spc="45" dirty="0">
                <a:solidFill>
                  <a:srgbClr val="1D1D1A"/>
                </a:solidFill>
                <a:latin typeface="Arial"/>
                <a:cs typeface="Arial"/>
              </a:rPr>
              <a:t>(log/profiling/Mind</a:t>
            </a:r>
            <a:r>
              <a:rPr sz="1050" spc="-17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1D1D1A"/>
                </a:solidFill>
                <a:latin typeface="Arial"/>
                <a:cs typeface="Arial"/>
              </a:rPr>
              <a:t>Studio)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39756" y="2110739"/>
            <a:ext cx="1228725" cy="3374390"/>
          </a:xfrm>
          <a:prstGeom prst="rect">
            <a:avLst/>
          </a:prstGeom>
          <a:solidFill>
            <a:srgbClr val="FFC000">
              <a:alpha val="39999"/>
            </a:srgbClr>
          </a:solidFill>
          <a:ln w="914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172720" marR="154305" indent="116839">
              <a:lnSpc>
                <a:spcPct val="100000"/>
              </a:lnSpc>
              <a:spcBef>
                <a:spcPts val="195"/>
              </a:spcBef>
            </a:pPr>
            <a:r>
              <a:rPr sz="1200" b="1" spc="-10" dirty="0">
                <a:solidFill>
                  <a:srgbClr val="1D1D1A"/>
                </a:solidFill>
                <a:latin typeface="Arial"/>
                <a:cs typeface="Arial"/>
              </a:rPr>
              <a:t>Common  </a:t>
            </a:r>
            <a:r>
              <a:rPr sz="1200" b="1" spc="-55" dirty="0">
                <a:solidFill>
                  <a:srgbClr val="1D1D1A"/>
                </a:solidFill>
                <a:latin typeface="Arial"/>
                <a:cs typeface="Arial"/>
              </a:rPr>
              <a:t>c</a:t>
            </a:r>
            <a:r>
              <a:rPr sz="1200" b="1" spc="-65" dirty="0">
                <a:solidFill>
                  <a:srgbClr val="1D1D1A"/>
                </a:solidFill>
                <a:latin typeface="Arial"/>
                <a:cs typeface="Arial"/>
              </a:rPr>
              <a:t>o</a:t>
            </a:r>
            <a:r>
              <a:rPr sz="1200" b="1" spc="10" dirty="0">
                <a:solidFill>
                  <a:srgbClr val="1D1D1A"/>
                </a:solidFill>
                <a:latin typeface="Arial"/>
                <a:cs typeface="Arial"/>
              </a:rPr>
              <a:t>mp</a:t>
            </a:r>
            <a:r>
              <a:rPr sz="1200" b="1" spc="5" dirty="0">
                <a:solidFill>
                  <a:srgbClr val="1D1D1A"/>
                </a:solidFill>
                <a:latin typeface="Arial"/>
                <a:cs typeface="Arial"/>
              </a:rPr>
              <a:t>o</a:t>
            </a:r>
            <a:r>
              <a:rPr sz="1200" b="1" spc="30" dirty="0">
                <a:solidFill>
                  <a:srgbClr val="1D1D1A"/>
                </a:solidFill>
                <a:latin typeface="Arial"/>
                <a:cs typeface="Arial"/>
              </a:rPr>
              <a:t>nen</a:t>
            </a:r>
            <a:r>
              <a:rPr sz="1200" b="1" spc="10" dirty="0">
                <a:solidFill>
                  <a:srgbClr val="1D1D1A"/>
                </a:solidFill>
                <a:latin typeface="Arial"/>
                <a:cs typeface="Arial"/>
              </a:rPr>
              <a:t>t</a:t>
            </a:r>
            <a:r>
              <a:rPr sz="1200" b="1" spc="-135" dirty="0">
                <a:solidFill>
                  <a:srgbClr val="1D1D1A"/>
                </a:solidFill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263139" y="4764023"/>
            <a:ext cx="641604" cy="42062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742187" y="3834384"/>
          <a:ext cx="9443085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9330"/>
                <a:gridCol w="8441690"/>
              </a:tblGrid>
              <a:tr h="165658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9855" marR="142875" indent="8382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2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Chips </a:t>
                      </a:r>
                      <a:r>
                        <a:rPr sz="1200" b="1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&amp; 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ware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 marL="450850" marR="1800225" indent="1353820">
                        <a:lnSpc>
                          <a:spcPct val="148300"/>
                        </a:lnSpc>
                        <a:spcBef>
                          <a:spcPts val="1285"/>
                        </a:spcBef>
                        <a:tabLst>
                          <a:tab pos="1919605" algn="l"/>
                          <a:tab pos="4524375" algn="l"/>
                          <a:tab pos="5052060" algn="l"/>
                        </a:tabLst>
                      </a:pPr>
                      <a:r>
                        <a:rPr sz="1800" b="1" spc="-7" baseline="-3240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</a:t>
                      </a:r>
                      <a:r>
                        <a:rPr sz="1800" b="1" spc="127" baseline="-3240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37" baseline="-3240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300</a:t>
                      </a:r>
                      <a:r>
                        <a:rPr sz="1800" b="1" spc="67" baseline="-3240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7" baseline="-3240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inference	</a:t>
                      </a:r>
                      <a:r>
                        <a:rPr sz="1200" b="1" spc="-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 </a:t>
                      </a:r>
                      <a:r>
                        <a:rPr sz="1200" b="1" spc="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800 </a:t>
                      </a:r>
                      <a:r>
                        <a:rPr sz="1200" b="1" spc="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AI </a:t>
                      </a:r>
                      <a:r>
                        <a:rPr sz="1200" b="1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inference </a:t>
                      </a:r>
                      <a:r>
                        <a:rPr sz="1200" b="1" spc="-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server  </a:t>
                      </a:r>
                      <a:r>
                        <a:rPr sz="1800" b="1" spc="-7" baseline="20833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</a:t>
                      </a:r>
                      <a:r>
                        <a:rPr sz="1800" b="1" spc="82" baseline="20833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37" baseline="20833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200	</a:t>
                      </a:r>
                      <a:r>
                        <a:rPr sz="1200" b="1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accelerator</a:t>
                      </a:r>
                      <a:r>
                        <a:rPr sz="1200" b="1" spc="6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card		</a:t>
                      </a:r>
                      <a:r>
                        <a:rPr sz="1800" baseline="32407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512 </a:t>
                      </a:r>
                      <a:r>
                        <a:rPr sz="1800" spc="-127" baseline="32407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TOPS</a:t>
                      </a:r>
                      <a:r>
                        <a:rPr sz="1800" spc="104" baseline="32407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7" baseline="32407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INT8</a:t>
                      </a:r>
                      <a:endParaRPr sz="1800" baseline="32407">
                        <a:latin typeface="Arial"/>
                        <a:cs typeface="Arial"/>
                      </a:endParaRPr>
                    </a:p>
                    <a:p>
                      <a:pPr marL="309245">
                        <a:lnSpc>
                          <a:spcPts val="994"/>
                        </a:lnSpc>
                        <a:tabLst>
                          <a:tab pos="2027555" algn="l"/>
                          <a:tab pos="3531235" algn="l"/>
                        </a:tabLst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16</a:t>
                      </a:r>
                      <a:r>
                        <a:rPr sz="1200" spc="5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8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TOPS</a:t>
                      </a:r>
                      <a:r>
                        <a:rPr sz="1200" spc="3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INT8	</a:t>
                      </a:r>
                      <a:r>
                        <a:rPr sz="1800" baseline="-20833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64</a:t>
                      </a:r>
                      <a:r>
                        <a:rPr sz="1800" spc="67" baseline="-20833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27" baseline="-20833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TOPS</a:t>
                      </a:r>
                      <a:r>
                        <a:rPr sz="1800" spc="60" baseline="-20833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7" baseline="-20833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INT8	</a:t>
                      </a:r>
                      <a:r>
                        <a:rPr sz="1800" b="1" spc="-7" baseline="-5555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</a:t>
                      </a:r>
                      <a:r>
                        <a:rPr sz="1800" b="1" spc="82" baseline="-5555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37" baseline="-5555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500</a:t>
                      </a:r>
                      <a:endParaRPr sz="1800" baseline="-55555">
                        <a:latin typeface="Arial"/>
                        <a:cs typeface="Arial"/>
                      </a:endParaRPr>
                    </a:p>
                    <a:p>
                      <a:pPr marR="69913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200" b="1" spc="-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</a:t>
                      </a:r>
                      <a:r>
                        <a:rPr sz="1200" b="1" spc="-30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3389629">
                        <a:lnSpc>
                          <a:spcPts val="1350"/>
                        </a:lnSpc>
                        <a:tabLst>
                          <a:tab pos="6567170" algn="l"/>
                        </a:tabLst>
                      </a:pPr>
                      <a:r>
                        <a:rPr sz="1800" baseline="1157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16</a:t>
                      </a:r>
                      <a:r>
                        <a:rPr sz="1800" spc="75" baseline="1157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27" baseline="1157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TOPS</a:t>
                      </a:r>
                      <a:r>
                        <a:rPr sz="1800" spc="52" baseline="1157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7" baseline="1157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INT8	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256–1024 </a:t>
                      </a:r>
                      <a:r>
                        <a:rPr sz="1200" spc="-9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PFLOPS</a:t>
                      </a:r>
                      <a:r>
                        <a:rPr sz="1200" spc="8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6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FP16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R="194945" algn="ctr">
                        <a:lnSpc>
                          <a:spcPts val="1350"/>
                        </a:lnSpc>
                        <a:tabLst>
                          <a:tab pos="2702560" algn="l"/>
                        </a:tabLst>
                      </a:pPr>
                      <a:r>
                        <a:rPr sz="1800" b="1" spc="-7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 </a:t>
                      </a:r>
                      <a:r>
                        <a:rPr sz="1800" b="1" spc="37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300</a:t>
                      </a:r>
                      <a:r>
                        <a:rPr sz="1800" b="1" spc="150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30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sz="1800" b="1" spc="120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2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card	</a:t>
                      </a:r>
                      <a:r>
                        <a:rPr sz="1200" b="1" spc="-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 </a:t>
                      </a:r>
                      <a:r>
                        <a:rPr sz="1200" b="1" spc="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800 </a:t>
                      </a:r>
                      <a:r>
                        <a:rPr sz="1200" b="1" spc="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AI </a:t>
                      </a:r>
                      <a:r>
                        <a:rPr sz="1200" b="1" spc="20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sz="1200" b="1" spc="1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server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1993900" algn="l"/>
                          <a:tab pos="4944110" algn="l"/>
                        </a:tabLst>
                      </a:pPr>
                      <a:r>
                        <a:rPr sz="1200" b="1" spc="-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 </a:t>
                      </a:r>
                      <a:r>
                        <a:rPr sz="1200" b="1" spc="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200</a:t>
                      </a:r>
                      <a:r>
                        <a:rPr sz="1200" b="1" spc="9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developer</a:t>
                      </a:r>
                      <a:r>
                        <a:rPr sz="1200" b="1" spc="5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4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kit	</a:t>
                      </a:r>
                      <a:r>
                        <a:rPr sz="1800" baseline="-25462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256</a:t>
                      </a:r>
                      <a:r>
                        <a:rPr sz="1800" spc="82" baseline="-25462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27" baseline="-25462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TFLOPS</a:t>
                      </a:r>
                      <a:r>
                        <a:rPr sz="1800" spc="60" baseline="-25462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9" baseline="-25462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FP16	</a:t>
                      </a:r>
                      <a:r>
                        <a:rPr sz="1800" baseline="231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2 </a:t>
                      </a:r>
                      <a:r>
                        <a:rPr sz="1800" spc="-142" baseline="231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PFLOPS</a:t>
                      </a:r>
                      <a:r>
                        <a:rPr sz="1800" spc="127" baseline="231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9" baseline="231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FP16</a:t>
                      </a:r>
                      <a:endParaRPr sz="1800" baseline="2314">
                        <a:latin typeface="Arial"/>
                        <a:cs typeface="Arial"/>
                      </a:endParaRPr>
                    </a:p>
                  </a:txBody>
                  <a:tcPr marL="0" marR="0" marT="163195" marB="0">
                    <a:lnR w="12700">
                      <a:solidFill>
                        <a:srgbClr val="006FC0"/>
                      </a:solidFill>
                      <a:prstDash val="solid"/>
                    </a:lnR>
                    <a:lnT w="12700">
                      <a:solidFill>
                        <a:srgbClr val="006FC0"/>
                      </a:solidFill>
                      <a:prstDash val="solid"/>
                    </a:lnT>
                    <a:lnB w="12700">
                      <a:solidFill>
                        <a:srgbClr val="006FC0"/>
                      </a:solidFill>
                      <a:prstDash val="solid"/>
                    </a:lnB>
                  </a:tcPr>
                </a:tc>
              </a:tr>
              <a:tr h="623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 marL="652145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400" b="1" spc="2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1400" b="1" spc="5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Vinci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35890" algn="ctr">
                        <a:lnSpc>
                          <a:spcPct val="100000"/>
                        </a:lnSpc>
                        <a:tabLst>
                          <a:tab pos="1758314" algn="l"/>
                          <a:tab pos="3004185" algn="l"/>
                        </a:tabLst>
                      </a:pPr>
                      <a:r>
                        <a:rPr sz="2100" spc="-44" baseline="13888" dirty="0">
                          <a:latin typeface="Arial"/>
                          <a:cs typeface="Arial"/>
                        </a:rPr>
                        <a:t>Ascend</a:t>
                      </a:r>
                      <a:r>
                        <a:rPr sz="2100" spc="7" baseline="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13888" dirty="0">
                          <a:latin typeface="Arial"/>
                          <a:cs typeface="Arial"/>
                        </a:rPr>
                        <a:t>310	</a:t>
                      </a:r>
                      <a:r>
                        <a:rPr sz="1400" b="1" spc="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Architecture	</a:t>
                      </a:r>
                      <a:r>
                        <a:rPr sz="2100" spc="-44" baseline="19841" dirty="0">
                          <a:latin typeface="Arial"/>
                          <a:cs typeface="Arial"/>
                        </a:rPr>
                        <a:t>Ascend</a:t>
                      </a:r>
                      <a:r>
                        <a:rPr sz="2100" spc="-7" baseline="1984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19841" dirty="0">
                          <a:latin typeface="Arial"/>
                          <a:cs typeface="Arial"/>
                        </a:rPr>
                        <a:t>910</a:t>
                      </a:r>
                      <a:endParaRPr sz="2100" baseline="19841">
                        <a:latin typeface="Arial"/>
                        <a:cs typeface="Arial"/>
                      </a:endParaRPr>
                    </a:p>
                  </a:txBody>
                  <a:tcPr marL="0" marR="0" marT="146050" marB="0">
                    <a:lnT w="12700">
                      <a:solidFill>
                        <a:srgbClr val="006FC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7136892" y="2404872"/>
            <a:ext cx="2940050" cy="203200"/>
          </a:xfrm>
          <a:custGeom>
            <a:avLst/>
            <a:gdLst/>
            <a:ahLst/>
            <a:cxnLst/>
            <a:rect l="l" t="t" r="r" b="b"/>
            <a:pathLst>
              <a:path w="2940050" h="203200">
                <a:moveTo>
                  <a:pt x="2939796" y="0"/>
                </a:moveTo>
                <a:lnTo>
                  <a:pt x="0" y="0"/>
                </a:lnTo>
                <a:lnTo>
                  <a:pt x="0" y="202691"/>
                </a:lnTo>
                <a:lnTo>
                  <a:pt x="2939796" y="202691"/>
                </a:lnTo>
                <a:lnTo>
                  <a:pt x="2939796" y="0"/>
                </a:lnTo>
                <a:close/>
              </a:path>
            </a:pathLst>
          </a:custGeom>
          <a:solidFill>
            <a:srgbClr val="FFC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748283" y="2078735"/>
          <a:ext cx="9424670" cy="1714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8535"/>
                <a:gridCol w="8432165"/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3655" algn="ctr">
                        <a:lnSpc>
                          <a:spcPct val="100000"/>
                        </a:lnSpc>
                      </a:pPr>
                      <a:r>
                        <a:rPr sz="1200" b="1" spc="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Framework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66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5906770">
                        <a:lnSpc>
                          <a:spcPts val="1055"/>
                        </a:lnSpc>
                        <a:spcBef>
                          <a:spcPts val="690"/>
                        </a:spcBef>
                      </a:pPr>
                      <a:r>
                        <a:rPr sz="1000" spc="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TensorFlow/PyTorch/Caffe/MxNet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409825">
                        <a:lnSpc>
                          <a:spcPts val="1015"/>
                        </a:lnSpc>
                      </a:pPr>
                      <a:r>
                        <a:rPr sz="100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MindSpore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6299835">
                        <a:lnSpc>
                          <a:spcPts val="1155"/>
                        </a:lnSpc>
                      </a:pPr>
                      <a:r>
                        <a:rPr sz="1000" spc="1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Framework</a:t>
                      </a:r>
                      <a:r>
                        <a:rPr sz="1000" spc="2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1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Adapret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R="10795"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000" spc="-4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AscendCL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5187315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000" spc="-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Graph </a:t>
                      </a:r>
                      <a:r>
                        <a:rPr sz="1000" spc="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engine </a:t>
                      </a:r>
                      <a:r>
                        <a:rPr sz="1000" spc="3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000" spc="1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graph</a:t>
                      </a:r>
                      <a:r>
                        <a:rPr sz="1000" spc="9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2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optimization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18249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000" b="1" spc="10" dirty="0">
                          <a:latin typeface="Arial"/>
                          <a:cs typeface="Arial"/>
                        </a:rPr>
                        <a:t>Operator/Acceleration/Communication </a:t>
                      </a:r>
                      <a:r>
                        <a:rPr sz="1000" b="1" spc="-5" dirty="0">
                          <a:latin typeface="Arial"/>
                          <a:cs typeface="Arial"/>
                        </a:rPr>
                        <a:t>libraries </a:t>
                      </a:r>
                      <a:r>
                        <a:rPr sz="1000" spc="-45" dirty="0">
                          <a:latin typeface="Arial"/>
                          <a:cs typeface="Arial"/>
                        </a:rPr>
                        <a:t>(BLAS, </a:t>
                      </a:r>
                      <a:r>
                        <a:rPr sz="1000" spc="-70" dirty="0">
                          <a:latin typeface="Arial"/>
                          <a:cs typeface="Arial"/>
                        </a:rPr>
                        <a:t>FFT,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DNN,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Rand, 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Solver, </a:t>
                      </a:r>
                      <a:r>
                        <a:rPr sz="1000" spc="-40" dirty="0">
                          <a:latin typeface="Arial"/>
                          <a:cs typeface="Arial"/>
                        </a:rPr>
                        <a:t>Sparse,</a:t>
                      </a:r>
                      <a:r>
                        <a:rPr sz="10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35" dirty="0">
                          <a:latin typeface="Arial"/>
                          <a:cs typeface="Arial"/>
                        </a:rPr>
                        <a:t>HCCL)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46304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000" spc="1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Runtime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Driver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R w="9525">
                      <a:solidFill>
                        <a:srgbClr val="FF6600"/>
                      </a:solidFill>
                      <a:prstDash val="solid"/>
                    </a:lnR>
                    <a:lnT w="9525">
                      <a:solidFill>
                        <a:srgbClr val="FF6600"/>
                      </a:solidFill>
                      <a:prstDash val="solid"/>
                    </a:lnT>
                    <a:lnB w="9525">
                      <a:solidFill>
                        <a:srgbClr val="FF6600"/>
                      </a:solidFill>
                      <a:prstDash val="solid"/>
                    </a:lnB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FF66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7630" marB="0">
                    <a:lnL w="9525">
                      <a:solidFill>
                        <a:srgbClr val="FF6600"/>
                      </a:solidFill>
                      <a:prstDash val="solid"/>
                    </a:lnL>
                    <a:lnR w="9525">
                      <a:solidFill>
                        <a:srgbClr val="FF6600"/>
                      </a:solidFill>
                      <a:prstDash val="solid"/>
                    </a:lnR>
                    <a:lnT w="9525">
                      <a:solidFill>
                        <a:srgbClr val="FF6600"/>
                      </a:solidFill>
                      <a:prstDash val="solid"/>
                    </a:lnT>
                    <a:lnB w="9525">
                      <a:solidFill>
                        <a:srgbClr val="FF6600"/>
                      </a:solidFill>
                      <a:prstDash val="solid"/>
                    </a:lnB>
                  </a:tcPr>
                </a:tc>
              </a:tr>
              <a:tr h="9174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32384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CANN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66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7630" marB="0">
                    <a:lnL w="9525">
                      <a:solidFill>
                        <a:srgbClr val="FF6600"/>
                      </a:solidFill>
                      <a:prstDash val="solid"/>
                    </a:lnL>
                    <a:lnR w="9525">
                      <a:solidFill>
                        <a:srgbClr val="FF6600"/>
                      </a:solidFill>
                      <a:prstDash val="solid"/>
                    </a:lnR>
                    <a:lnT w="9525">
                      <a:solidFill>
                        <a:srgbClr val="FF6600"/>
                      </a:solidFill>
                      <a:prstDash val="solid"/>
                    </a:lnT>
                    <a:lnB w="9525">
                      <a:solidFill>
                        <a:srgbClr val="FF66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6609588" y="1243583"/>
            <a:ext cx="4846320" cy="768350"/>
            <a:chOff x="6609588" y="1243583"/>
            <a:chExt cx="4846320" cy="768350"/>
          </a:xfrm>
        </p:grpSpPr>
        <p:sp>
          <p:nvSpPr>
            <p:cNvPr id="37" name="object 37"/>
            <p:cNvSpPr/>
            <p:nvPr/>
          </p:nvSpPr>
          <p:spPr>
            <a:xfrm>
              <a:off x="6609588" y="1243583"/>
              <a:ext cx="4846320" cy="768350"/>
            </a:xfrm>
            <a:custGeom>
              <a:avLst/>
              <a:gdLst/>
              <a:ahLst/>
              <a:cxnLst/>
              <a:rect l="l" t="t" r="r" b="b"/>
              <a:pathLst>
                <a:path w="4846320" h="768350">
                  <a:moveTo>
                    <a:pt x="4846320" y="0"/>
                  </a:moveTo>
                  <a:lnTo>
                    <a:pt x="0" y="0"/>
                  </a:lnTo>
                  <a:lnTo>
                    <a:pt x="0" y="768096"/>
                  </a:lnTo>
                  <a:lnTo>
                    <a:pt x="4846320" y="768096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79C55B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03236" y="1283207"/>
              <a:ext cx="537972" cy="576072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55904" y="1260347"/>
            <a:ext cx="927100" cy="748665"/>
          </a:xfrm>
          <a:prstGeom prst="rect">
            <a:avLst/>
          </a:prstGeom>
          <a:solidFill>
            <a:srgbClr val="7BBE3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endParaRPr sz="12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Enablement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387341" y="997712"/>
            <a:ext cx="42957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20" dirty="0">
                <a:solidFill>
                  <a:srgbClr val="1D1D1A"/>
                </a:solidFill>
                <a:latin typeface="Arial"/>
                <a:cs typeface="Arial"/>
              </a:rPr>
              <a:t>Internet, </a:t>
            </a:r>
            <a:r>
              <a:rPr sz="1400" spc="-10" dirty="0">
                <a:solidFill>
                  <a:srgbClr val="1D1D1A"/>
                </a:solidFill>
                <a:latin typeface="Arial"/>
                <a:cs typeface="Arial"/>
              </a:rPr>
              <a:t>security, </a:t>
            </a:r>
            <a:r>
              <a:rPr sz="1400" dirty="0">
                <a:solidFill>
                  <a:srgbClr val="1D1D1A"/>
                </a:solidFill>
                <a:latin typeface="Arial"/>
                <a:cs typeface="Arial"/>
              </a:rPr>
              <a:t>finance, </a:t>
            </a:r>
            <a:r>
              <a:rPr sz="1400" spc="25" dirty="0">
                <a:solidFill>
                  <a:srgbClr val="1D1D1A"/>
                </a:solidFill>
                <a:latin typeface="Arial"/>
                <a:cs typeface="Arial"/>
              </a:rPr>
              <a:t>transportation, </a:t>
            </a:r>
            <a:r>
              <a:rPr sz="1400" spc="5" dirty="0">
                <a:solidFill>
                  <a:srgbClr val="1D1D1A"/>
                </a:solidFill>
                <a:latin typeface="Arial"/>
                <a:cs typeface="Arial"/>
              </a:rPr>
              <a:t>power,</a:t>
            </a:r>
            <a:r>
              <a:rPr sz="1400" spc="31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D1D1A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12976" y="1251203"/>
            <a:ext cx="4627245" cy="768350"/>
          </a:xfrm>
          <a:prstGeom prst="rect">
            <a:avLst/>
          </a:prstGeom>
          <a:solidFill>
            <a:srgbClr val="79C55B">
              <a:alpha val="50195"/>
            </a:srgbClr>
          </a:solidFill>
          <a:ln w="12192">
            <a:solidFill>
              <a:srgbClr val="151515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842770">
              <a:lnSpc>
                <a:spcPct val="100000"/>
              </a:lnSpc>
              <a:spcBef>
                <a:spcPts val="355"/>
              </a:spcBef>
            </a:pPr>
            <a:r>
              <a:rPr sz="1400" spc="15" dirty="0">
                <a:latin typeface="Arial"/>
                <a:cs typeface="Arial"/>
              </a:rPr>
              <a:t>Atlas </a:t>
            </a:r>
            <a:r>
              <a:rPr sz="1400" spc="40" dirty="0">
                <a:latin typeface="Arial"/>
                <a:cs typeface="Arial"/>
              </a:rPr>
              <a:t>intelligent </a:t>
            </a:r>
            <a:r>
              <a:rPr sz="1400" spc="-10" dirty="0">
                <a:latin typeface="Arial"/>
                <a:cs typeface="Arial"/>
              </a:rPr>
              <a:t>edge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60" dirty="0">
                <a:latin typeface="Arial"/>
                <a:cs typeface="Arial"/>
              </a:rPr>
              <a:t>platform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09588" y="1243583"/>
            <a:ext cx="4846320" cy="768350"/>
          </a:xfrm>
          <a:prstGeom prst="rect">
            <a:avLst/>
          </a:prstGeom>
          <a:ln w="12192">
            <a:solidFill>
              <a:srgbClr val="151515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1562100">
              <a:lnSpc>
                <a:spcPct val="100000"/>
              </a:lnSpc>
              <a:spcBef>
                <a:spcPts val="415"/>
              </a:spcBef>
            </a:pPr>
            <a:r>
              <a:rPr sz="1400" spc="15" dirty="0">
                <a:latin typeface="Arial"/>
                <a:cs typeface="Arial"/>
              </a:rPr>
              <a:t>Atlas </a:t>
            </a:r>
            <a:r>
              <a:rPr sz="1400" spc="-10" dirty="0">
                <a:latin typeface="Arial"/>
                <a:cs typeface="Arial"/>
              </a:rPr>
              <a:t>deep </a:t>
            </a:r>
            <a:r>
              <a:rPr sz="1400" spc="30" dirty="0">
                <a:latin typeface="Arial"/>
                <a:cs typeface="Arial"/>
              </a:rPr>
              <a:t>learning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spc="60" dirty="0">
                <a:latin typeface="Arial"/>
                <a:cs typeface="Arial"/>
              </a:rPr>
              <a:t>platform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6504" y="1322832"/>
            <a:ext cx="8827008" cy="4963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91370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5" dirty="0"/>
              <a:t>Huawei </a:t>
            </a:r>
            <a:r>
              <a:rPr spc="30" dirty="0"/>
              <a:t>Atlas </a:t>
            </a:r>
            <a:r>
              <a:rPr spc="75" dirty="0"/>
              <a:t>Computational </a:t>
            </a:r>
            <a:r>
              <a:rPr spc="-35" dirty="0"/>
              <a:t>Reasoning</a:t>
            </a:r>
            <a:r>
              <a:rPr spc="250" dirty="0"/>
              <a:t> </a:t>
            </a:r>
            <a:r>
              <a:rPr spc="90" dirty="0"/>
              <a:t>Platform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-35" dirty="0"/>
              <a:t>HUAWEI </a:t>
            </a:r>
            <a:r>
              <a:rPr spc="-90" dirty="0"/>
              <a:t>CLOUD </a:t>
            </a:r>
            <a:r>
              <a:rPr spc="-10" dirty="0"/>
              <a:t>AI </a:t>
            </a:r>
            <a:r>
              <a:rPr spc="45" dirty="0"/>
              <a:t>and </a:t>
            </a:r>
            <a:r>
              <a:rPr spc="-30" dirty="0"/>
              <a:t>HUAWEI </a:t>
            </a:r>
            <a:r>
              <a:rPr spc="100" dirty="0"/>
              <a:t>Mobile </a:t>
            </a:r>
            <a:r>
              <a:rPr spc="-70" dirty="0"/>
              <a:t>Phones </a:t>
            </a:r>
            <a:r>
              <a:rPr spc="55" dirty="0"/>
              <a:t>Help  </a:t>
            </a:r>
            <a:r>
              <a:rPr spc="-260" dirty="0"/>
              <a:t>RFCx </a:t>
            </a:r>
            <a:r>
              <a:rPr spc="25" dirty="0"/>
              <a:t>Protect </a:t>
            </a:r>
            <a:r>
              <a:rPr spc="90" dirty="0"/>
              <a:t>the</a:t>
            </a:r>
            <a:r>
              <a:rPr spc="-95" dirty="0"/>
              <a:t> </a:t>
            </a:r>
            <a:r>
              <a:rPr spc="15" dirty="0"/>
              <a:t>Rainforest</a:t>
            </a:r>
          </a:p>
        </p:txBody>
      </p:sp>
      <p:sp>
        <p:nvSpPr>
          <p:cNvPr id="3" name="object 3"/>
          <p:cNvSpPr/>
          <p:nvPr/>
        </p:nvSpPr>
        <p:spPr>
          <a:xfrm>
            <a:off x="1496567" y="1434083"/>
            <a:ext cx="8462772" cy="4759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>
                <a:moveTo>
                  <a:pt x="2015997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20726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" dirty="0">
                <a:solidFill>
                  <a:srgbClr val="404040"/>
                </a:solidFill>
              </a:rPr>
              <a:t>Conte</a:t>
            </a:r>
            <a:r>
              <a:rPr sz="4000" spc="15" dirty="0">
                <a:solidFill>
                  <a:srgbClr val="404040"/>
                </a:solidFill>
              </a:rPr>
              <a:t>n</a:t>
            </a:r>
            <a:r>
              <a:rPr sz="4000" spc="10" dirty="0">
                <a:solidFill>
                  <a:srgbClr val="404040"/>
                </a:solidFill>
              </a:rPr>
              <a:t>ts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46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09393"/>
            <a:ext cx="6064885" cy="2639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r>
              <a:rPr sz="2200" spc="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Arial"/>
                <a:cs typeface="Arial"/>
              </a:rPr>
              <a:t>Overview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5" dirty="0">
                <a:solidFill>
                  <a:srgbClr val="7E7E7E"/>
                </a:solidFill>
                <a:latin typeface="Arial"/>
                <a:cs typeface="Arial"/>
              </a:rPr>
              <a:t>Technical </a:t>
            </a:r>
            <a:r>
              <a:rPr sz="2200" spc="-40" dirty="0">
                <a:solidFill>
                  <a:srgbClr val="7E7E7E"/>
                </a:solidFill>
                <a:latin typeface="Arial"/>
                <a:cs typeface="Arial"/>
              </a:rPr>
              <a:t>Fields </a:t>
            </a:r>
            <a:r>
              <a:rPr sz="2200" spc="25" dirty="0">
                <a:solidFill>
                  <a:srgbClr val="7E7E7E"/>
                </a:solidFill>
                <a:latin typeface="Arial"/>
                <a:cs typeface="Arial"/>
              </a:rPr>
              <a:t>and </a:t>
            </a:r>
            <a:r>
              <a:rPr sz="2200" spc="40" dirty="0">
                <a:solidFill>
                  <a:srgbClr val="7E7E7E"/>
                </a:solidFill>
                <a:latin typeface="Arial"/>
                <a:cs typeface="Arial"/>
              </a:rPr>
              <a:t>Application </a:t>
            </a:r>
            <a:r>
              <a:rPr sz="2200" spc="-40" dirty="0">
                <a:solidFill>
                  <a:srgbClr val="7E7E7E"/>
                </a:solidFill>
                <a:latin typeface="Arial"/>
                <a:cs typeface="Arial"/>
              </a:rPr>
              <a:t>Fields </a:t>
            </a:r>
            <a:r>
              <a:rPr sz="2200" spc="95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2200" spc="5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4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15" dirty="0">
                <a:solidFill>
                  <a:srgbClr val="7E7E7E"/>
                </a:solidFill>
                <a:latin typeface="Arial"/>
                <a:cs typeface="Arial"/>
              </a:rPr>
              <a:t>Huawei's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 </a:t>
            </a:r>
            <a:r>
              <a:rPr sz="2200" spc="30" dirty="0">
                <a:solidFill>
                  <a:srgbClr val="7E7E7E"/>
                </a:solidFill>
                <a:latin typeface="Arial"/>
                <a:cs typeface="Arial"/>
              </a:rPr>
              <a:t>Development</a:t>
            </a:r>
            <a:r>
              <a:rPr sz="2200" spc="2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srgbClr val="7E7E7E"/>
                </a:solidFill>
                <a:latin typeface="Arial"/>
                <a:cs typeface="Arial"/>
              </a:rPr>
              <a:t>Strategy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39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b="1" spc="5" dirty="0">
                <a:latin typeface="Arial"/>
                <a:cs typeface="Arial"/>
              </a:rPr>
              <a:t>AI</a:t>
            </a:r>
            <a:r>
              <a:rPr sz="2200" b="1" spc="80" dirty="0">
                <a:latin typeface="Arial"/>
                <a:cs typeface="Arial"/>
              </a:rPr>
              <a:t> </a:t>
            </a:r>
            <a:r>
              <a:rPr sz="2200" b="1" spc="-40" dirty="0">
                <a:latin typeface="Arial"/>
                <a:cs typeface="Arial"/>
              </a:rPr>
              <a:t>Disputes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20" dirty="0">
                <a:solidFill>
                  <a:srgbClr val="7E7E7E"/>
                </a:solidFill>
                <a:latin typeface="Arial"/>
                <a:cs typeface="Arial"/>
              </a:rPr>
              <a:t>Future </a:t>
            </a:r>
            <a:r>
              <a:rPr sz="2200" spc="-50" dirty="0">
                <a:solidFill>
                  <a:srgbClr val="7E7E7E"/>
                </a:solidFill>
                <a:latin typeface="Arial"/>
                <a:cs typeface="Arial"/>
              </a:rPr>
              <a:t>Prospects </a:t>
            </a:r>
            <a:r>
              <a:rPr sz="2200" spc="90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2200" spc="2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30448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/>
              <a:t>Algorithmic</a:t>
            </a:r>
            <a:r>
              <a:rPr spc="55" dirty="0"/>
              <a:t> </a:t>
            </a:r>
            <a:r>
              <a:rPr spc="-95" dirty="0"/>
              <a:t>Bias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32662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174749"/>
            <a:ext cx="4905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latin typeface="Arial"/>
                <a:cs typeface="Arial"/>
              </a:rPr>
              <a:t>Algorithmic </a:t>
            </a:r>
            <a:r>
              <a:rPr sz="1600" spc="-40" dirty="0">
                <a:latin typeface="Arial"/>
                <a:cs typeface="Arial"/>
              </a:rPr>
              <a:t>biases </a:t>
            </a:r>
            <a:r>
              <a:rPr sz="1600" dirty="0">
                <a:latin typeface="Arial"/>
                <a:cs typeface="Arial"/>
              </a:rPr>
              <a:t>are </a:t>
            </a:r>
            <a:r>
              <a:rPr sz="1600" spc="40" dirty="0">
                <a:latin typeface="Arial"/>
                <a:cs typeface="Arial"/>
              </a:rPr>
              <a:t>mainly </a:t>
            </a:r>
            <a:r>
              <a:rPr sz="1600" spc="-30" dirty="0">
                <a:latin typeface="Arial"/>
                <a:cs typeface="Arial"/>
              </a:rPr>
              <a:t>caused </a:t>
            </a:r>
            <a:r>
              <a:rPr sz="1600" dirty="0">
                <a:latin typeface="Arial"/>
                <a:cs typeface="Arial"/>
              </a:rPr>
              <a:t>by </a:t>
            </a:r>
            <a:r>
              <a:rPr sz="1600" spc="30" dirty="0">
                <a:latin typeface="Arial"/>
                <a:cs typeface="Arial"/>
              </a:rPr>
              <a:t>data</a:t>
            </a:r>
            <a:r>
              <a:rPr sz="1600" spc="10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biases.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1676145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1520540"/>
            <a:ext cx="10290810" cy="1391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0100"/>
              </a:lnSpc>
              <a:spcBef>
                <a:spcPts val="95"/>
              </a:spcBef>
            </a:pPr>
            <a:r>
              <a:rPr sz="1600" spc="15" dirty="0">
                <a:latin typeface="Arial"/>
                <a:cs typeface="Arial"/>
              </a:rPr>
              <a:t>When </a:t>
            </a:r>
            <a:r>
              <a:rPr sz="1600" spc="25" dirty="0">
                <a:latin typeface="Arial"/>
                <a:cs typeface="Arial"/>
              </a:rPr>
              <a:t>we </a:t>
            </a:r>
            <a:r>
              <a:rPr sz="1600" spc="-45" dirty="0">
                <a:latin typeface="Arial"/>
                <a:cs typeface="Arial"/>
              </a:rPr>
              <a:t>use </a:t>
            </a:r>
            <a:r>
              <a:rPr sz="1600" spc="-10" dirty="0">
                <a:latin typeface="Arial"/>
                <a:cs typeface="Arial"/>
              </a:rPr>
              <a:t>AI </a:t>
            </a:r>
            <a:r>
              <a:rPr sz="1600" spc="40" dirty="0">
                <a:latin typeface="Arial"/>
                <a:cs typeface="Arial"/>
              </a:rPr>
              <a:t>algorithms </a:t>
            </a:r>
            <a:r>
              <a:rPr sz="1600" spc="70" dirty="0">
                <a:latin typeface="Arial"/>
                <a:cs typeface="Arial"/>
              </a:rPr>
              <a:t>for </a:t>
            </a:r>
            <a:r>
              <a:rPr sz="1600" spc="15" dirty="0">
                <a:latin typeface="Arial"/>
                <a:cs typeface="Arial"/>
              </a:rPr>
              <a:t>decision-making, </a:t>
            </a:r>
            <a:r>
              <a:rPr sz="1600" spc="40" dirty="0">
                <a:latin typeface="Arial"/>
                <a:cs typeface="Arial"/>
              </a:rPr>
              <a:t>the algorithms </a:t>
            </a:r>
            <a:r>
              <a:rPr sz="1600" spc="25" dirty="0">
                <a:latin typeface="Arial"/>
                <a:cs typeface="Arial"/>
              </a:rPr>
              <a:t>may </a:t>
            </a:r>
            <a:r>
              <a:rPr sz="1600" spc="20" dirty="0">
                <a:latin typeface="Arial"/>
                <a:cs typeface="Arial"/>
              </a:rPr>
              <a:t>learn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spc="25" dirty="0">
                <a:latin typeface="Arial"/>
                <a:cs typeface="Arial"/>
              </a:rPr>
              <a:t>discriminate </a:t>
            </a:r>
            <a:r>
              <a:rPr sz="1600" spc="20" dirty="0">
                <a:latin typeface="Arial"/>
                <a:cs typeface="Arial"/>
              </a:rPr>
              <a:t>an </a:t>
            </a:r>
            <a:r>
              <a:rPr sz="1600" spc="35" dirty="0">
                <a:latin typeface="Arial"/>
                <a:cs typeface="Arial"/>
              </a:rPr>
              <a:t>individual </a:t>
            </a:r>
            <a:r>
              <a:rPr sz="1600" spc="-30" dirty="0">
                <a:latin typeface="Arial"/>
                <a:cs typeface="Arial"/>
              </a:rPr>
              <a:t>based  </a:t>
            </a:r>
            <a:r>
              <a:rPr sz="1600" spc="35" dirty="0">
                <a:latin typeface="Arial"/>
                <a:cs typeface="Arial"/>
              </a:rPr>
              <a:t>on </a:t>
            </a:r>
            <a:r>
              <a:rPr sz="1600" spc="10" dirty="0">
                <a:latin typeface="Arial"/>
                <a:cs typeface="Arial"/>
              </a:rPr>
              <a:t>existing </a:t>
            </a:r>
            <a:r>
              <a:rPr sz="1600" spc="35" dirty="0">
                <a:latin typeface="Arial"/>
                <a:cs typeface="Arial"/>
              </a:rPr>
              <a:t>data including </a:t>
            </a:r>
            <a:r>
              <a:rPr sz="1600" spc="-15" dirty="0">
                <a:latin typeface="Arial"/>
                <a:cs typeface="Arial"/>
              </a:rPr>
              <a:t>race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dirty="0">
                <a:latin typeface="Arial"/>
                <a:cs typeface="Arial"/>
              </a:rPr>
              <a:t>gender, </a:t>
            </a:r>
            <a:r>
              <a:rPr sz="1600" spc="25" dirty="0">
                <a:latin typeface="Arial"/>
                <a:cs typeface="Arial"/>
              </a:rPr>
              <a:t>and </a:t>
            </a:r>
            <a:r>
              <a:rPr sz="1600" spc="30" dirty="0">
                <a:latin typeface="Arial"/>
                <a:cs typeface="Arial"/>
              </a:rPr>
              <a:t>therefore </a:t>
            </a:r>
            <a:r>
              <a:rPr sz="1600" spc="5" dirty="0">
                <a:latin typeface="Arial"/>
                <a:cs typeface="Arial"/>
              </a:rPr>
              <a:t>create </a:t>
            </a:r>
            <a:r>
              <a:rPr sz="1600" spc="50" dirty="0">
                <a:latin typeface="Arial"/>
                <a:cs typeface="Arial"/>
              </a:rPr>
              <a:t>unfair </a:t>
            </a:r>
            <a:r>
              <a:rPr sz="1600" spc="5" dirty="0">
                <a:latin typeface="Arial"/>
                <a:cs typeface="Arial"/>
              </a:rPr>
              <a:t>outcomes, </a:t>
            </a:r>
            <a:r>
              <a:rPr sz="1600" spc="-25" dirty="0">
                <a:latin typeface="Arial"/>
                <a:cs typeface="Arial"/>
              </a:rPr>
              <a:t>such </a:t>
            </a:r>
            <a:r>
              <a:rPr sz="1600" spc="-65" dirty="0">
                <a:latin typeface="Arial"/>
                <a:cs typeface="Arial"/>
              </a:rPr>
              <a:t>as </a:t>
            </a:r>
            <a:r>
              <a:rPr sz="1600" spc="-20" dirty="0">
                <a:latin typeface="Arial"/>
                <a:cs typeface="Arial"/>
              </a:rPr>
              <a:t>decisions </a:t>
            </a:r>
            <a:r>
              <a:rPr sz="1600" spc="75" dirty="0">
                <a:latin typeface="Arial"/>
                <a:cs typeface="Arial"/>
              </a:rPr>
              <a:t>that </a:t>
            </a:r>
            <a:r>
              <a:rPr sz="1600" spc="5" dirty="0">
                <a:latin typeface="Arial"/>
                <a:cs typeface="Arial"/>
              </a:rPr>
              <a:t>are  </a:t>
            </a:r>
            <a:r>
              <a:rPr sz="1600" spc="30" dirty="0">
                <a:latin typeface="Arial"/>
                <a:cs typeface="Arial"/>
              </a:rPr>
              <a:t>discriminatory </a:t>
            </a:r>
            <a:r>
              <a:rPr sz="1600" spc="-25" dirty="0">
                <a:latin typeface="Arial"/>
                <a:cs typeface="Arial"/>
              </a:rPr>
              <a:t>based </a:t>
            </a:r>
            <a:r>
              <a:rPr sz="1600" spc="35" dirty="0">
                <a:latin typeface="Arial"/>
                <a:cs typeface="Arial"/>
              </a:rPr>
              <a:t>on </a:t>
            </a:r>
            <a:r>
              <a:rPr sz="1600" spc="-25" dirty="0">
                <a:latin typeface="Arial"/>
                <a:cs typeface="Arial"/>
              </a:rPr>
              <a:t>race, </a:t>
            </a:r>
            <a:r>
              <a:rPr sz="1600" spc="-65" dirty="0">
                <a:latin typeface="Arial"/>
                <a:cs typeface="Arial"/>
              </a:rPr>
              <a:t>sex </a:t>
            </a:r>
            <a:r>
              <a:rPr sz="1600" spc="45" dirty="0">
                <a:latin typeface="Arial"/>
                <a:cs typeface="Arial"/>
              </a:rPr>
              <a:t>or other </a:t>
            </a:r>
            <a:r>
              <a:rPr sz="1600" spc="10" dirty="0">
                <a:latin typeface="Arial"/>
                <a:cs typeface="Arial"/>
              </a:rPr>
              <a:t>factors. </a:t>
            </a:r>
            <a:r>
              <a:rPr sz="1600" spc="-55" dirty="0">
                <a:latin typeface="Arial"/>
                <a:cs typeface="Arial"/>
              </a:rPr>
              <a:t>Even </a:t>
            </a:r>
            <a:r>
              <a:rPr sz="1600" spc="80" dirty="0">
                <a:latin typeface="Arial"/>
                <a:cs typeface="Arial"/>
              </a:rPr>
              <a:t>if </a:t>
            </a:r>
            <a:r>
              <a:rPr sz="1600" spc="20" dirty="0">
                <a:latin typeface="Arial"/>
                <a:cs typeface="Arial"/>
              </a:rPr>
              <a:t>factors </a:t>
            </a:r>
            <a:r>
              <a:rPr sz="1600" spc="-30" dirty="0">
                <a:latin typeface="Arial"/>
                <a:cs typeface="Arial"/>
              </a:rPr>
              <a:t>such </a:t>
            </a:r>
            <a:r>
              <a:rPr sz="1600" spc="-60" dirty="0">
                <a:latin typeface="Arial"/>
                <a:cs typeface="Arial"/>
              </a:rPr>
              <a:t>as </a:t>
            </a:r>
            <a:r>
              <a:rPr sz="1600" spc="-15" dirty="0">
                <a:latin typeface="Arial"/>
                <a:cs typeface="Arial"/>
              </a:rPr>
              <a:t>race </a:t>
            </a:r>
            <a:r>
              <a:rPr sz="1600" spc="45" dirty="0">
                <a:latin typeface="Arial"/>
                <a:cs typeface="Arial"/>
              </a:rPr>
              <a:t>or </a:t>
            </a:r>
            <a:r>
              <a:rPr sz="1600" spc="10" dirty="0">
                <a:latin typeface="Arial"/>
                <a:cs typeface="Arial"/>
              </a:rPr>
              <a:t>gender </a:t>
            </a:r>
            <a:r>
              <a:rPr sz="1600" spc="5" dirty="0">
                <a:latin typeface="Arial"/>
                <a:cs typeface="Arial"/>
              </a:rPr>
              <a:t>are </a:t>
            </a:r>
            <a:r>
              <a:rPr sz="1600" dirty="0">
                <a:latin typeface="Arial"/>
                <a:cs typeface="Arial"/>
              </a:rPr>
              <a:t>excluded </a:t>
            </a:r>
            <a:r>
              <a:rPr sz="1600" spc="80" dirty="0">
                <a:latin typeface="Arial"/>
                <a:cs typeface="Arial"/>
              </a:rPr>
              <a:t>from  </a:t>
            </a:r>
            <a:r>
              <a:rPr sz="1600" spc="40" dirty="0">
                <a:latin typeface="Arial"/>
                <a:cs typeface="Arial"/>
              </a:rPr>
              <a:t>the </a:t>
            </a:r>
            <a:r>
              <a:rPr sz="1600" spc="10" dirty="0">
                <a:latin typeface="Arial"/>
                <a:cs typeface="Arial"/>
              </a:rPr>
              <a:t>data, </a:t>
            </a:r>
            <a:r>
              <a:rPr sz="1600" spc="40" dirty="0">
                <a:latin typeface="Arial"/>
                <a:cs typeface="Arial"/>
              </a:rPr>
              <a:t>the algorithms </a:t>
            </a:r>
            <a:r>
              <a:rPr sz="1600" spc="-10" dirty="0">
                <a:latin typeface="Arial"/>
                <a:cs typeface="Arial"/>
              </a:rPr>
              <a:t>can </a:t>
            </a:r>
            <a:r>
              <a:rPr sz="1600" spc="20" dirty="0">
                <a:latin typeface="Arial"/>
                <a:cs typeface="Arial"/>
              </a:rPr>
              <a:t>make </a:t>
            </a:r>
            <a:r>
              <a:rPr sz="1600" spc="25" dirty="0">
                <a:latin typeface="Arial"/>
                <a:cs typeface="Arial"/>
              </a:rPr>
              <a:t>discriminatory </a:t>
            </a:r>
            <a:r>
              <a:rPr sz="1600" spc="-25" dirty="0">
                <a:latin typeface="Arial"/>
                <a:cs typeface="Arial"/>
              </a:rPr>
              <a:t>decisions </a:t>
            </a:r>
            <a:r>
              <a:rPr sz="1600" spc="-30" dirty="0">
                <a:latin typeface="Arial"/>
                <a:cs typeface="Arial"/>
              </a:rPr>
              <a:t>based </a:t>
            </a:r>
            <a:r>
              <a:rPr sz="1600" spc="35" dirty="0">
                <a:latin typeface="Arial"/>
                <a:cs typeface="Arial"/>
              </a:rPr>
              <a:t>on </a:t>
            </a:r>
            <a:r>
              <a:rPr sz="1600" spc="55" dirty="0">
                <a:latin typeface="Arial"/>
                <a:cs typeface="Arial"/>
              </a:rPr>
              <a:t>information </a:t>
            </a:r>
            <a:r>
              <a:rPr sz="1600" spc="70" dirty="0">
                <a:latin typeface="Arial"/>
                <a:cs typeface="Arial"/>
              </a:rPr>
              <a:t>of</a:t>
            </a:r>
            <a:r>
              <a:rPr sz="1600" spc="484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names </a:t>
            </a:r>
            <a:r>
              <a:rPr sz="1600" spc="15" dirty="0">
                <a:latin typeface="Arial"/>
                <a:cs typeface="Arial"/>
              </a:rPr>
              <a:t>and </a:t>
            </a:r>
            <a:r>
              <a:rPr sz="1600" spc="-50" dirty="0">
                <a:latin typeface="Arial"/>
                <a:cs typeface="Arial"/>
              </a:rPr>
              <a:t>addresses.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50263" y="3102864"/>
            <a:ext cx="4497324" cy="178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95525" y="3124276"/>
            <a:ext cx="3469004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60" dirty="0">
                <a:latin typeface="Arial"/>
                <a:cs typeface="Arial"/>
              </a:rPr>
              <a:t>If </a:t>
            </a:r>
            <a:r>
              <a:rPr sz="1600" spc="20" dirty="0">
                <a:latin typeface="Arial"/>
                <a:cs typeface="Arial"/>
              </a:rPr>
              <a:t>we </a:t>
            </a:r>
            <a:r>
              <a:rPr sz="1600" spc="-30" dirty="0">
                <a:latin typeface="Arial"/>
                <a:cs typeface="Arial"/>
              </a:rPr>
              <a:t>search </a:t>
            </a:r>
            <a:r>
              <a:rPr sz="1600" spc="80" dirty="0">
                <a:latin typeface="Arial"/>
                <a:cs typeface="Arial"/>
              </a:rPr>
              <a:t>with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20" dirty="0">
                <a:latin typeface="Arial"/>
                <a:cs typeface="Arial"/>
              </a:rPr>
              <a:t>name </a:t>
            </a:r>
            <a:r>
              <a:rPr sz="1600" spc="-20" dirty="0">
                <a:latin typeface="Arial"/>
                <a:cs typeface="Arial"/>
              </a:rPr>
              <a:t>sounds </a:t>
            </a:r>
            <a:r>
              <a:rPr sz="1600" spc="25" dirty="0">
                <a:latin typeface="Arial"/>
                <a:cs typeface="Arial"/>
              </a:rPr>
              <a:t>like  </a:t>
            </a:r>
            <a:r>
              <a:rPr sz="1600" spc="15" dirty="0">
                <a:latin typeface="Arial"/>
                <a:cs typeface="Arial"/>
              </a:rPr>
              <a:t>an </a:t>
            </a:r>
            <a:r>
              <a:rPr sz="1600" spc="25" dirty="0">
                <a:latin typeface="Arial"/>
                <a:cs typeface="Arial"/>
              </a:rPr>
              <a:t>African </a:t>
            </a:r>
            <a:r>
              <a:rPr sz="1600" spc="5" dirty="0">
                <a:latin typeface="Arial"/>
                <a:cs typeface="Arial"/>
              </a:rPr>
              <a:t>American, </a:t>
            </a:r>
            <a:r>
              <a:rPr sz="1600" spc="15" dirty="0">
                <a:latin typeface="Arial"/>
                <a:cs typeface="Arial"/>
              </a:rPr>
              <a:t>an  advertisement </a:t>
            </a:r>
            <a:r>
              <a:rPr sz="1600" spc="65" dirty="0">
                <a:latin typeface="Arial"/>
                <a:cs typeface="Arial"/>
              </a:rPr>
              <a:t>for </a:t>
            </a:r>
            <a:r>
              <a:rPr sz="1600" b="1" spc="30" dirty="0">
                <a:solidFill>
                  <a:srgbClr val="C00000"/>
                </a:solidFill>
                <a:latin typeface="Arial"/>
                <a:cs typeface="Arial"/>
              </a:rPr>
              <a:t>a tool </a:t>
            </a:r>
            <a:r>
              <a:rPr sz="1600" b="1" spc="-50" dirty="0">
                <a:solidFill>
                  <a:srgbClr val="C00000"/>
                </a:solidFill>
                <a:latin typeface="Arial"/>
                <a:cs typeface="Arial"/>
              </a:rPr>
              <a:t>used </a:t>
            </a:r>
            <a:r>
              <a:rPr sz="1600" b="1" spc="45" dirty="0">
                <a:solidFill>
                  <a:srgbClr val="C00000"/>
                </a:solidFill>
                <a:latin typeface="Arial"/>
                <a:cs typeface="Arial"/>
              </a:rPr>
              <a:t>to  </a:t>
            </a:r>
            <a:r>
              <a:rPr sz="1600" b="1" spc="-40" dirty="0">
                <a:solidFill>
                  <a:srgbClr val="C00000"/>
                </a:solidFill>
                <a:latin typeface="Arial"/>
                <a:cs typeface="Arial"/>
              </a:rPr>
              <a:t>search </a:t>
            </a:r>
            <a:r>
              <a:rPr sz="1600" b="1" spc="15" dirty="0">
                <a:solidFill>
                  <a:srgbClr val="C00000"/>
                </a:solidFill>
                <a:latin typeface="Arial"/>
                <a:cs typeface="Arial"/>
              </a:rPr>
              <a:t>criminal </a:t>
            </a:r>
            <a:r>
              <a:rPr sz="1600" b="1" spc="-40" dirty="0">
                <a:solidFill>
                  <a:srgbClr val="C00000"/>
                </a:solidFill>
                <a:latin typeface="Arial"/>
                <a:cs typeface="Arial"/>
              </a:rPr>
              <a:t>records </a:t>
            </a:r>
            <a:r>
              <a:rPr sz="1600" spc="25" dirty="0">
                <a:latin typeface="Arial"/>
                <a:cs typeface="Arial"/>
              </a:rPr>
              <a:t>may </a:t>
            </a:r>
            <a:r>
              <a:rPr sz="1600" spc="-20" dirty="0">
                <a:latin typeface="Arial"/>
                <a:cs typeface="Arial"/>
              </a:rPr>
              <a:t>be  </a:t>
            </a:r>
            <a:r>
              <a:rPr sz="1600" spc="-10" dirty="0">
                <a:latin typeface="Arial"/>
                <a:cs typeface="Arial"/>
              </a:rPr>
              <a:t>displayed. </a:t>
            </a:r>
            <a:r>
              <a:rPr sz="1600" spc="-30" dirty="0">
                <a:latin typeface="Arial"/>
                <a:cs typeface="Arial"/>
              </a:rPr>
              <a:t>The </a:t>
            </a:r>
            <a:r>
              <a:rPr sz="1600" spc="10" dirty="0">
                <a:latin typeface="Arial"/>
                <a:cs typeface="Arial"/>
              </a:rPr>
              <a:t>advertisement,  </a:t>
            </a:r>
            <a:r>
              <a:rPr sz="1600" dirty="0">
                <a:latin typeface="Arial"/>
                <a:cs typeface="Arial"/>
              </a:rPr>
              <a:t>however, </a:t>
            </a:r>
            <a:r>
              <a:rPr sz="1600" spc="-40" dirty="0">
                <a:latin typeface="Arial"/>
                <a:cs typeface="Arial"/>
              </a:rPr>
              <a:t>is </a:t>
            </a:r>
            <a:r>
              <a:rPr sz="1600" spc="65" dirty="0">
                <a:latin typeface="Arial"/>
                <a:cs typeface="Arial"/>
              </a:rPr>
              <a:t>not </a:t>
            </a:r>
            <a:r>
              <a:rPr sz="1600" spc="30" dirty="0">
                <a:latin typeface="Arial"/>
                <a:cs typeface="Arial"/>
              </a:rPr>
              <a:t>likely </a:t>
            </a:r>
            <a:r>
              <a:rPr sz="1600" spc="-5" dirty="0">
                <a:latin typeface="Arial"/>
                <a:cs typeface="Arial"/>
              </a:rPr>
              <a:t>displayed </a:t>
            </a:r>
            <a:r>
              <a:rPr sz="1600" spc="45" dirty="0">
                <a:latin typeface="Arial"/>
                <a:cs typeface="Arial"/>
              </a:rPr>
              <a:t>in  </a:t>
            </a:r>
            <a:r>
              <a:rPr sz="1600" spc="40" dirty="0">
                <a:latin typeface="Arial"/>
                <a:cs typeface="Arial"/>
              </a:rPr>
              <a:t>other</a:t>
            </a:r>
            <a:r>
              <a:rPr sz="1600" spc="7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cases.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70432" y="3105911"/>
            <a:ext cx="986028" cy="1772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95059" y="3314700"/>
            <a:ext cx="4498847" cy="14950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41209" y="3682110"/>
            <a:ext cx="31356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latin typeface="Arial"/>
                <a:cs typeface="Arial"/>
              </a:rPr>
              <a:t>Online </a:t>
            </a:r>
            <a:r>
              <a:rPr sz="1600" spc="-10" dirty="0">
                <a:latin typeface="Arial"/>
                <a:cs typeface="Arial"/>
              </a:rPr>
              <a:t>advertisers </a:t>
            </a:r>
            <a:r>
              <a:rPr sz="1600" spc="35" dirty="0">
                <a:latin typeface="Arial"/>
                <a:cs typeface="Arial"/>
              </a:rPr>
              <a:t>tend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dirty="0">
                <a:latin typeface="Arial"/>
                <a:cs typeface="Arial"/>
              </a:rPr>
              <a:t>display  </a:t>
            </a:r>
            <a:r>
              <a:rPr sz="1600" spc="5" dirty="0">
                <a:latin typeface="Arial"/>
                <a:cs typeface="Arial"/>
              </a:rPr>
              <a:t>advertisements </a:t>
            </a:r>
            <a:r>
              <a:rPr sz="1600" spc="65" dirty="0">
                <a:latin typeface="Arial"/>
                <a:cs typeface="Arial"/>
              </a:rPr>
              <a:t>of </a:t>
            </a:r>
            <a:r>
              <a:rPr sz="1600" spc="30" dirty="0">
                <a:latin typeface="Arial"/>
                <a:cs typeface="Arial"/>
              </a:rPr>
              <a:t>lower-priced  </a:t>
            </a:r>
            <a:r>
              <a:rPr sz="1600" spc="-5" dirty="0">
                <a:latin typeface="Arial"/>
                <a:cs typeface="Arial"/>
              </a:rPr>
              <a:t>goods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b="1" spc="40" dirty="0">
                <a:solidFill>
                  <a:srgbClr val="C00000"/>
                </a:solidFill>
                <a:latin typeface="Arial"/>
                <a:cs typeface="Arial"/>
              </a:rPr>
              <a:t>female</a:t>
            </a:r>
            <a:r>
              <a:rPr sz="1600" b="1" spc="1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C00000"/>
                </a:solidFill>
                <a:latin typeface="Arial"/>
                <a:cs typeface="Arial"/>
              </a:rPr>
              <a:t>users</a:t>
            </a:r>
            <a:r>
              <a:rPr sz="1600" spc="-70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15228" y="3261359"/>
            <a:ext cx="987551" cy="15560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1900" y="5170932"/>
            <a:ext cx="4498848" cy="932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18430" y="5257546"/>
            <a:ext cx="294640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Google's </a:t>
            </a:r>
            <a:r>
              <a:rPr sz="1600" spc="25" dirty="0">
                <a:latin typeface="Arial"/>
                <a:cs typeface="Arial"/>
              </a:rPr>
              <a:t>image </a:t>
            </a:r>
            <a:r>
              <a:rPr sz="1600" spc="30" dirty="0">
                <a:latin typeface="Arial"/>
                <a:cs typeface="Arial"/>
              </a:rPr>
              <a:t>software </a:t>
            </a:r>
            <a:r>
              <a:rPr sz="1600" spc="-15" dirty="0">
                <a:latin typeface="Arial"/>
                <a:cs typeface="Arial"/>
              </a:rPr>
              <a:t>once  </a:t>
            </a:r>
            <a:r>
              <a:rPr sz="1600" spc="20" dirty="0">
                <a:latin typeface="Arial"/>
                <a:cs typeface="Arial"/>
              </a:rPr>
              <a:t>mistakenly </a:t>
            </a:r>
            <a:r>
              <a:rPr sz="1600" spc="10" dirty="0">
                <a:latin typeface="Arial"/>
                <a:cs typeface="Arial"/>
              </a:rPr>
              <a:t>labeled </a:t>
            </a:r>
            <a:r>
              <a:rPr sz="1600" spc="15" dirty="0">
                <a:latin typeface="Arial"/>
                <a:cs typeface="Arial"/>
              </a:rPr>
              <a:t>an </a:t>
            </a:r>
            <a:r>
              <a:rPr sz="1600" spc="25" dirty="0">
                <a:latin typeface="Arial"/>
                <a:cs typeface="Arial"/>
              </a:rPr>
              <a:t>image </a:t>
            </a:r>
            <a:r>
              <a:rPr sz="1600" spc="65" dirty="0">
                <a:latin typeface="Arial"/>
                <a:cs typeface="Arial"/>
              </a:rPr>
              <a:t>of  </a:t>
            </a:r>
            <a:r>
              <a:rPr sz="1600" spc="10" dirty="0">
                <a:latin typeface="Arial"/>
                <a:cs typeface="Arial"/>
              </a:rPr>
              <a:t>black </a:t>
            </a:r>
            <a:r>
              <a:rPr sz="1600" spc="5" dirty="0">
                <a:latin typeface="Arial"/>
                <a:cs typeface="Arial"/>
              </a:rPr>
              <a:t>people </a:t>
            </a:r>
            <a:r>
              <a:rPr sz="1600" spc="-70" dirty="0">
                <a:latin typeface="Arial"/>
                <a:cs typeface="Arial"/>
              </a:rPr>
              <a:t>as</a:t>
            </a:r>
            <a:r>
              <a:rPr sz="1600" spc="180" dirty="0">
                <a:latin typeface="Arial"/>
                <a:cs typeface="Arial"/>
              </a:rPr>
              <a:t> </a:t>
            </a:r>
            <a:r>
              <a:rPr sz="1600" b="1" spc="15" dirty="0">
                <a:solidFill>
                  <a:srgbClr val="C00000"/>
                </a:solidFill>
                <a:latin typeface="Arial"/>
                <a:cs typeface="Arial"/>
              </a:rPr>
              <a:t>"gorilla"</a:t>
            </a:r>
            <a:r>
              <a:rPr sz="1600" spc="15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92067" y="5135879"/>
            <a:ext cx="987551" cy="961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47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25336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Privacy</a:t>
            </a:r>
            <a:r>
              <a:rPr spc="35" dirty="0"/>
              <a:t> </a:t>
            </a:r>
            <a:r>
              <a:rPr spc="-120" dirty="0"/>
              <a:t>Issues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294620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15" dirty="0">
                <a:latin typeface="Arial"/>
                <a:cs typeface="Arial"/>
              </a:rPr>
              <a:t>existing </a:t>
            </a:r>
            <a:r>
              <a:rPr sz="2000" spc="-10" dirty="0">
                <a:latin typeface="Arial"/>
                <a:cs typeface="Arial"/>
              </a:rPr>
              <a:t>AI </a:t>
            </a:r>
            <a:r>
              <a:rPr sz="2000" spc="50" dirty="0">
                <a:latin typeface="Arial"/>
                <a:cs typeface="Arial"/>
              </a:rPr>
              <a:t>algorithms </a:t>
            </a:r>
            <a:r>
              <a:rPr sz="2000" spc="5" dirty="0">
                <a:latin typeface="Arial"/>
                <a:cs typeface="Arial"/>
              </a:rPr>
              <a:t>are </a:t>
            </a:r>
            <a:r>
              <a:rPr sz="2000" spc="65" dirty="0">
                <a:latin typeface="Arial"/>
                <a:cs typeface="Arial"/>
              </a:rPr>
              <a:t>all </a:t>
            </a:r>
            <a:r>
              <a:rPr sz="2000" spc="30" dirty="0">
                <a:latin typeface="Arial"/>
                <a:cs typeface="Arial"/>
              </a:rPr>
              <a:t>data-driven. </a:t>
            </a:r>
            <a:r>
              <a:rPr sz="2000" spc="35" dirty="0">
                <a:latin typeface="Arial"/>
                <a:cs typeface="Arial"/>
              </a:rPr>
              <a:t>In </a:t>
            </a:r>
            <a:r>
              <a:rPr sz="2000" spc="30" dirty="0">
                <a:latin typeface="Arial"/>
                <a:cs typeface="Arial"/>
              </a:rPr>
              <a:t>this </a:t>
            </a:r>
            <a:r>
              <a:rPr sz="2000" spc="-80" dirty="0">
                <a:latin typeface="Arial"/>
                <a:cs typeface="Arial"/>
              </a:rPr>
              <a:t>case, </a:t>
            </a:r>
            <a:r>
              <a:rPr sz="2000" spc="30" dirty="0">
                <a:latin typeface="Arial"/>
                <a:cs typeface="Arial"/>
              </a:rPr>
              <a:t>we </a:t>
            </a:r>
            <a:r>
              <a:rPr sz="2000" spc="-10" dirty="0">
                <a:latin typeface="Arial"/>
                <a:cs typeface="Arial"/>
              </a:rPr>
              <a:t>need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30" dirty="0">
                <a:latin typeface="Arial"/>
                <a:cs typeface="Arial"/>
              </a:rPr>
              <a:t>large </a:t>
            </a:r>
            <a:r>
              <a:rPr sz="2000" spc="75" dirty="0">
                <a:latin typeface="Arial"/>
                <a:cs typeface="Arial"/>
              </a:rPr>
              <a:t>amount </a:t>
            </a:r>
            <a:r>
              <a:rPr sz="2000" spc="85" dirty="0">
                <a:latin typeface="Arial"/>
                <a:cs typeface="Arial"/>
              </a:rPr>
              <a:t>of  </a:t>
            </a:r>
            <a:r>
              <a:rPr sz="2000" spc="50" dirty="0">
                <a:latin typeface="Arial"/>
                <a:cs typeface="Arial"/>
              </a:rPr>
              <a:t>data </a:t>
            </a:r>
            <a:r>
              <a:rPr sz="2000" spc="105" dirty="0">
                <a:latin typeface="Arial"/>
                <a:cs typeface="Arial"/>
              </a:rPr>
              <a:t>to </a:t>
            </a:r>
            <a:r>
              <a:rPr sz="2000" spc="70" dirty="0">
                <a:latin typeface="Arial"/>
                <a:cs typeface="Arial"/>
              </a:rPr>
              <a:t>train </a:t>
            </a:r>
            <a:r>
              <a:rPr sz="2000" dirty="0">
                <a:latin typeface="Arial"/>
                <a:cs typeface="Arial"/>
              </a:rPr>
              <a:t>models. </a:t>
            </a:r>
            <a:r>
              <a:rPr sz="2000" spc="-5" dirty="0">
                <a:latin typeface="Arial"/>
                <a:cs typeface="Arial"/>
              </a:rPr>
              <a:t>We </a:t>
            </a:r>
            <a:r>
              <a:rPr sz="2000" spc="15" dirty="0">
                <a:latin typeface="Arial"/>
                <a:cs typeface="Arial"/>
              </a:rPr>
              <a:t>enjoy </a:t>
            </a:r>
            <a:r>
              <a:rPr sz="2000" spc="50" dirty="0">
                <a:latin typeface="Arial"/>
                <a:cs typeface="Arial"/>
              </a:rPr>
              <a:t>the </a:t>
            </a:r>
            <a:r>
              <a:rPr sz="2000" spc="-15" dirty="0">
                <a:latin typeface="Arial"/>
                <a:cs typeface="Arial"/>
              </a:rPr>
              <a:t>convenience  </a:t>
            </a:r>
            <a:r>
              <a:rPr sz="2000" spc="70" dirty="0">
                <a:latin typeface="Arial"/>
                <a:cs typeface="Arial"/>
              </a:rPr>
              <a:t>brought </a:t>
            </a:r>
            <a:r>
              <a:rPr sz="2000" spc="10" dirty="0">
                <a:latin typeface="Arial"/>
                <a:cs typeface="Arial"/>
              </a:rPr>
              <a:t>by </a:t>
            </a:r>
            <a:r>
              <a:rPr sz="2000" spc="-10" dirty="0">
                <a:latin typeface="Arial"/>
                <a:cs typeface="Arial"/>
              </a:rPr>
              <a:t>AI </a:t>
            </a:r>
            <a:r>
              <a:rPr sz="2000" spc="-15" dirty="0">
                <a:latin typeface="Arial"/>
                <a:cs typeface="Arial"/>
              </a:rPr>
              <a:t>every  </a:t>
            </a:r>
            <a:r>
              <a:rPr sz="2000" spc="5" dirty="0">
                <a:latin typeface="Arial"/>
                <a:cs typeface="Arial"/>
              </a:rPr>
              <a:t>day </a:t>
            </a:r>
            <a:r>
              <a:rPr sz="2000" spc="60" dirty="0">
                <a:latin typeface="Arial"/>
                <a:cs typeface="Arial"/>
              </a:rPr>
              <a:t>while  </a:t>
            </a:r>
            <a:r>
              <a:rPr sz="2000" spc="30" dirty="0">
                <a:latin typeface="Arial"/>
                <a:cs typeface="Arial"/>
              </a:rPr>
              <a:t>technology </a:t>
            </a:r>
            <a:r>
              <a:rPr sz="2000" dirty="0">
                <a:latin typeface="Arial"/>
                <a:cs typeface="Arial"/>
              </a:rPr>
              <a:t>companies </a:t>
            </a:r>
            <a:r>
              <a:rPr sz="2000" spc="45" dirty="0">
                <a:latin typeface="Arial"/>
                <a:cs typeface="Arial"/>
              </a:rPr>
              <a:t>like </a:t>
            </a:r>
            <a:r>
              <a:rPr sz="2000" spc="-30" dirty="0">
                <a:latin typeface="Arial"/>
                <a:cs typeface="Arial"/>
              </a:rPr>
              <a:t>Facebook, </a:t>
            </a:r>
            <a:r>
              <a:rPr sz="2000" spc="-10" dirty="0">
                <a:latin typeface="Arial"/>
                <a:cs typeface="Arial"/>
              </a:rPr>
              <a:t>Google, </a:t>
            </a:r>
            <a:r>
              <a:rPr sz="2000" spc="10" dirty="0">
                <a:latin typeface="Arial"/>
                <a:cs typeface="Arial"/>
              </a:rPr>
              <a:t>Amazon,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30" dirty="0">
                <a:latin typeface="Arial"/>
                <a:cs typeface="Arial"/>
              </a:rPr>
              <a:t>Alibaba </a:t>
            </a:r>
            <a:r>
              <a:rPr sz="2000" spc="5" dirty="0">
                <a:latin typeface="Arial"/>
                <a:cs typeface="Arial"/>
              </a:rPr>
              <a:t>are </a:t>
            </a:r>
            <a:r>
              <a:rPr sz="2000" spc="55" dirty="0">
                <a:latin typeface="Arial"/>
                <a:cs typeface="Arial"/>
              </a:rPr>
              <a:t>obtaining </a:t>
            </a:r>
            <a:r>
              <a:rPr sz="2000" spc="20" dirty="0">
                <a:latin typeface="Arial"/>
                <a:cs typeface="Arial"/>
              </a:rPr>
              <a:t>an  enormous </a:t>
            </a:r>
            <a:r>
              <a:rPr sz="2000" spc="75" dirty="0">
                <a:latin typeface="Arial"/>
                <a:cs typeface="Arial"/>
              </a:rPr>
              <a:t>amount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user </a:t>
            </a:r>
            <a:r>
              <a:rPr sz="2000" spc="25" dirty="0">
                <a:latin typeface="Arial"/>
                <a:cs typeface="Arial"/>
              </a:rPr>
              <a:t>data, </a:t>
            </a:r>
            <a:r>
              <a:rPr sz="2000" spc="45" dirty="0">
                <a:latin typeface="Arial"/>
                <a:cs typeface="Arial"/>
              </a:rPr>
              <a:t>which </a:t>
            </a:r>
            <a:r>
              <a:rPr sz="2000" spc="100" dirty="0">
                <a:latin typeface="Arial"/>
                <a:cs typeface="Arial"/>
              </a:rPr>
              <a:t>will </a:t>
            </a:r>
            <a:r>
              <a:rPr sz="2000" spc="5" dirty="0">
                <a:latin typeface="Arial"/>
                <a:cs typeface="Arial"/>
              </a:rPr>
              <a:t>reveal various </a:t>
            </a:r>
            <a:r>
              <a:rPr sz="2000" spc="-40" dirty="0">
                <a:latin typeface="Arial"/>
                <a:cs typeface="Arial"/>
              </a:rPr>
              <a:t>aspects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55" dirty="0">
                <a:latin typeface="Arial"/>
                <a:cs typeface="Arial"/>
              </a:rPr>
              <a:t>our </a:t>
            </a:r>
            <a:r>
              <a:rPr sz="2000" spc="-15" dirty="0">
                <a:latin typeface="Arial"/>
                <a:cs typeface="Arial"/>
              </a:rPr>
              <a:t>lives </a:t>
            </a:r>
            <a:r>
              <a:rPr sz="2000" spc="45" dirty="0">
                <a:latin typeface="Arial"/>
                <a:cs typeface="Arial"/>
              </a:rPr>
              <a:t>including  </a:t>
            </a:r>
            <a:r>
              <a:rPr sz="2000" spc="20" dirty="0">
                <a:latin typeface="Arial"/>
                <a:cs typeface="Arial"/>
              </a:rPr>
              <a:t>politics, </a:t>
            </a:r>
            <a:r>
              <a:rPr sz="2000" spc="15" dirty="0">
                <a:latin typeface="Arial"/>
                <a:cs typeface="Arial"/>
              </a:rPr>
              <a:t>religions, </a:t>
            </a:r>
            <a:r>
              <a:rPr sz="2000" spc="25" dirty="0">
                <a:latin typeface="Arial"/>
                <a:cs typeface="Arial"/>
              </a:rPr>
              <a:t>and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gender.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86127" y="3489941"/>
            <a:ext cx="4125595" cy="2226945"/>
            <a:chOff x="1786127" y="3489941"/>
            <a:chExt cx="4125595" cy="2226945"/>
          </a:xfrm>
        </p:grpSpPr>
        <p:sp>
          <p:nvSpPr>
            <p:cNvPr id="6" name="object 6"/>
            <p:cNvSpPr/>
            <p:nvPr/>
          </p:nvSpPr>
          <p:spPr>
            <a:xfrm>
              <a:off x="1786127" y="3489941"/>
              <a:ext cx="4096512" cy="222658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10511" y="4009643"/>
              <a:ext cx="4101084" cy="1235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8611" y="3523487"/>
              <a:ext cx="3971544" cy="211226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8611" y="3523487"/>
              <a:ext cx="3971925" cy="2112645"/>
            </a:xfrm>
            <a:custGeom>
              <a:avLst/>
              <a:gdLst/>
              <a:ahLst/>
              <a:cxnLst/>
              <a:rect l="l" t="t" r="r" b="b"/>
              <a:pathLst>
                <a:path w="3971925" h="2112645">
                  <a:moveTo>
                    <a:pt x="0" y="2112264"/>
                  </a:moveTo>
                  <a:lnTo>
                    <a:pt x="3971544" y="2112264"/>
                  </a:lnTo>
                  <a:lnTo>
                    <a:pt x="3971544" y="0"/>
                  </a:lnTo>
                  <a:lnTo>
                    <a:pt x="0" y="0"/>
                  </a:lnTo>
                  <a:lnTo>
                    <a:pt x="0" y="2112264"/>
                  </a:lnTo>
                  <a:close/>
                </a:path>
              </a:pathLst>
            </a:custGeom>
            <a:ln w="6096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51660" y="4084649"/>
            <a:ext cx="3965575" cy="965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 marR="131445" indent="635" algn="ctr">
              <a:lnSpc>
                <a:spcPct val="110100"/>
              </a:lnSpc>
              <a:spcBef>
                <a:spcPts val="100"/>
              </a:spcBef>
            </a:pPr>
            <a:r>
              <a:rPr sz="1400" b="1" spc="3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principle, technology 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companies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can 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record 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each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click, 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each </a:t>
            </a: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page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scrolling, </a:t>
            </a:r>
            <a:r>
              <a:rPr sz="1400" b="1" spc="50" dirty="0">
                <a:solidFill>
                  <a:srgbClr val="FFFFFF"/>
                </a:solidFill>
                <a:latin typeface="Arial"/>
                <a:cs typeface="Arial"/>
              </a:rPr>
              <a:t>time  </a:t>
            </a:r>
            <a:r>
              <a:rPr sz="1400" b="1" spc="3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400" b="1" spc="20" dirty="0">
                <a:solidFill>
                  <a:srgbClr val="FFFFFF"/>
                </a:solidFill>
                <a:latin typeface="Arial"/>
                <a:cs typeface="Arial"/>
              </a:rPr>
              <a:t>viewing </a:t>
            </a: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any </a:t>
            </a: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content, and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browsing  history </a:t>
            </a:r>
            <a:r>
              <a:rPr sz="1400" b="1" spc="40" dirty="0">
                <a:solidFill>
                  <a:srgbClr val="FFFFFF"/>
                </a:solidFill>
                <a:latin typeface="Arial"/>
                <a:cs typeface="Arial"/>
              </a:rPr>
              <a:t>when 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users </a:t>
            </a:r>
            <a:r>
              <a:rPr sz="1400" b="1" spc="-80" dirty="0">
                <a:solidFill>
                  <a:srgbClr val="FFFFFF"/>
                </a:solidFill>
                <a:latin typeface="Arial"/>
                <a:cs typeface="Arial"/>
              </a:rPr>
              <a:t>access </a:t>
            </a:r>
            <a:r>
              <a:rPr sz="1400" b="1" spc="4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b="1" spc="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FFFFFF"/>
                </a:solidFill>
                <a:latin typeface="Arial"/>
                <a:cs typeface="Arial"/>
              </a:rPr>
              <a:t>Internet.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45564" y="5518403"/>
            <a:ext cx="3977640" cy="93345"/>
            <a:chOff x="1845564" y="5518403"/>
            <a:chExt cx="3977640" cy="93345"/>
          </a:xfrm>
        </p:grpSpPr>
        <p:sp>
          <p:nvSpPr>
            <p:cNvPr id="12" name="object 12"/>
            <p:cNvSpPr/>
            <p:nvPr/>
          </p:nvSpPr>
          <p:spPr>
            <a:xfrm>
              <a:off x="1848612" y="5521451"/>
              <a:ext cx="3971925" cy="86995"/>
            </a:xfrm>
            <a:custGeom>
              <a:avLst/>
              <a:gdLst/>
              <a:ahLst/>
              <a:cxnLst/>
              <a:rect l="l" t="t" r="r" b="b"/>
              <a:pathLst>
                <a:path w="3971925" h="86995">
                  <a:moveTo>
                    <a:pt x="3971544" y="0"/>
                  </a:moveTo>
                  <a:lnTo>
                    <a:pt x="0" y="0"/>
                  </a:lnTo>
                  <a:lnTo>
                    <a:pt x="0" y="86868"/>
                  </a:lnTo>
                  <a:lnTo>
                    <a:pt x="3971544" y="86868"/>
                  </a:lnTo>
                  <a:lnTo>
                    <a:pt x="3971544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48612" y="5521451"/>
              <a:ext cx="3971925" cy="86995"/>
            </a:xfrm>
            <a:custGeom>
              <a:avLst/>
              <a:gdLst/>
              <a:ahLst/>
              <a:cxnLst/>
              <a:rect l="l" t="t" r="r" b="b"/>
              <a:pathLst>
                <a:path w="3971925" h="86995">
                  <a:moveTo>
                    <a:pt x="0" y="86868"/>
                  </a:moveTo>
                  <a:lnTo>
                    <a:pt x="3971544" y="86868"/>
                  </a:lnTo>
                  <a:lnTo>
                    <a:pt x="3971544" y="0"/>
                  </a:lnTo>
                  <a:lnTo>
                    <a:pt x="0" y="0"/>
                  </a:lnTo>
                  <a:lnTo>
                    <a:pt x="0" y="86868"/>
                  </a:lnTo>
                  <a:close/>
                </a:path>
              </a:pathLst>
            </a:custGeom>
            <a:ln w="6096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313932" y="3457955"/>
            <a:ext cx="4119879" cy="2186940"/>
            <a:chOff x="6313932" y="3457955"/>
            <a:chExt cx="4119879" cy="2186940"/>
          </a:xfrm>
        </p:grpSpPr>
        <p:sp>
          <p:nvSpPr>
            <p:cNvPr id="15" name="object 15"/>
            <p:cNvSpPr/>
            <p:nvPr/>
          </p:nvSpPr>
          <p:spPr>
            <a:xfrm>
              <a:off x="6313932" y="3457955"/>
              <a:ext cx="4096512" cy="21869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44412" y="3727703"/>
              <a:ext cx="4088891" cy="17053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76416" y="3500627"/>
              <a:ext cx="3971543" cy="2063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76416" y="3500627"/>
              <a:ext cx="3971925" cy="2063750"/>
            </a:xfrm>
            <a:custGeom>
              <a:avLst/>
              <a:gdLst/>
              <a:ahLst/>
              <a:cxnLst/>
              <a:rect l="l" t="t" r="r" b="b"/>
              <a:pathLst>
                <a:path w="3971925" h="2063750">
                  <a:moveTo>
                    <a:pt x="0" y="2063496"/>
                  </a:moveTo>
                  <a:lnTo>
                    <a:pt x="3971543" y="2063496"/>
                  </a:lnTo>
                  <a:lnTo>
                    <a:pt x="3971543" y="0"/>
                  </a:lnTo>
                  <a:lnTo>
                    <a:pt x="0" y="0"/>
                  </a:lnTo>
                  <a:lnTo>
                    <a:pt x="0" y="2063496"/>
                  </a:lnTo>
                  <a:close/>
                </a:path>
              </a:pathLst>
            </a:custGeom>
            <a:ln w="6096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79464" y="3803472"/>
            <a:ext cx="3965575" cy="1434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 marR="135255" indent="5080" algn="ctr">
              <a:lnSpc>
                <a:spcPct val="11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Technology 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companies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400" b="1" spc="40" dirty="0">
                <a:solidFill>
                  <a:srgbClr val="FFFFFF"/>
                </a:solidFill>
                <a:latin typeface="Arial"/>
                <a:cs typeface="Arial"/>
              </a:rPr>
              <a:t>know </a:t>
            </a:r>
            <a:r>
              <a:rPr sz="1400" b="1" spc="10" dirty="0">
                <a:solidFill>
                  <a:srgbClr val="FFFFFF"/>
                </a:solidFill>
                <a:latin typeface="Arial"/>
                <a:cs typeface="Arial"/>
              </a:rPr>
              <a:t>our 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privacy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including </a:t>
            </a:r>
            <a:r>
              <a:rPr sz="1400" b="1" spc="35" dirty="0">
                <a:solidFill>
                  <a:srgbClr val="FFFFFF"/>
                </a:solidFill>
                <a:latin typeface="Arial"/>
                <a:cs typeface="Arial"/>
              </a:rPr>
              <a:t>where </a:t>
            </a:r>
            <a:r>
              <a:rPr sz="1400" b="1" spc="20" dirty="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sz="1400" b="1" spc="35" dirty="0">
                <a:solidFill>
                  <a:srgbClr val="FFFFFF"/>
                </a:solidFill>
                <a:latin typeface="Arial"/>
                <a:cs typeface="Arial"/>
              </a:rPr>
              <a:t>we, where </a:t>
            </a:r>
            <a:r>
              <a:rPr sz="1400" b="1" spc="60" dirty="0">
                <a:solidFill>
                  <a:srgbClr val="FFFFFF"/>
                </a:solidFill>
                <a:latin typeface="Arial"/>
                <a:cs typeface="Arial"/>
              </a:rPr>
              <a:t>we  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go, </a:t>
            </a:r>
            <a:r>
              <a:rPr sz="1400" b="1" spc="70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1400" b="1" spc="60" dirty="0">
                <a:solidFill>
                  <a:srgbClr val="FFFFFF"/>
                </a:solidFill>
                <a:latin typeface="Arial"/>
                <a:cs typeface="Arial"/>
              </a:rPr>
              <a:t>we </a:t>
            </a: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done, </a:t>
            </a: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education 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background, consumption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capabilities, </a:t>
            </a: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personal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preferences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based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sz="1400" b="1" spc="10" dirty="0">
                <a:solidFill>
                  <a:srgbClr val="FFFFFF"/>
                </a:solidFill>
                <a:latin typeface="Arial"/>
                <a:cs typeface="Arial"/>
              </a:rPr>
              <a:t>our </a:t>
            </a:r>
            <a:r>
              <a:rPr sz="1400" b="1" spc="20" dirty="0">
                <a:solidFill>
                  <a:srgbClr val="FFFFFF"/>
                </a:solidFill>
                <a:latin typeface="Arial"/>
                <a:cs typeface="Arial"/>
              </a:rPr>
              <a:t>ride-  hailing 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records </a:t>
            </a: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consumption</a:t>
            </a:r>
            <a:r>
              <a:rPr sz="14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records.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73367" y="5506211"/>
            <a:ext cx="3977640" cy="81280"/>
            <a:chOff x="6373367" y="5506211"/>
            <a:chExt cx="3977640" cy="81280"/>
          </a:xfrm>
        </p:grpSpPr>
        <p:sp>
          <p:nvSpPr>
            <p:cNvPr id="21" name="object 21"/>
            <p:cNvSpPr/>
            <p:nvPr/>
          </p:nvSpPr>
          <p:spPr>
            <a:xfrm>
              <a:off x="6376415" y="5509259"/>
              <a:ext cx="3971925" cy="74930"/>
            </a:xfrm>
            <a:custGeom>
              <a:avLst/>
              <a:gdLst/>
              <a:ahLst/>
              <a:cxnLst/>
              <a:rect l="l" t="t" r="r" b="b"/>
              <a:pathLst>
                <a:path w="3971925" h="74929">
                  <a:moveTo>
                    <a:pt x="3971543" y="0"/>
                  </a:moveTo>
                  <a:lnTo>
                    <a:pt x="0" y="0"/>
                  </a:lnTo>
                  <a:lnTo>
                    <a:pt x="0" y="74675"/>
                  </a:lnTo>
                  <a:lnTo>
                    <a:pt x="3971543" y="74675"/>
                  </a:lnTo>
                  <a:lnTo>
                    <a:pt x="3971543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76415" y="5509259"/>
              <a:ext cx="3971925" cy="74930"/>
            </a:xfrm>
            <a:custGeom>
              <a:avLst/>
              <a:gdLst/>
              <a:ahLst/>
              <a:cxnLst/>
              <a:rect l="l" t="t" r="r" b="b"/>
              <a:pathLst>
                <a:path w="3971925" h="74929">
                  <a:moveTo>
                    <a:pt x="0" y="74675"/>
                  </a:moveTo>
                  <a:lnTo>
                    <a:pt x="3971543" y="74675"/>
                  </a:lnTo>
                  <a:lnTo>
                    <a:pt x="3971543" y="0"/>
                  </a:lnTo>
                  <a:lnTo>
                    <a:pt x="0" y="0"/>
                  </a:lnTo>
                  <a:lnTo>
                    <a:pt x="0" y="74675"/>
                  </a:lnTo>
                  <a:close/>
                </a:path>
              </a:pathLst>
            </a:custGeom>
            <a:ln w="6096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48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35934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Seeing </a:t>
            </a:r>
            <a:r>
              <a:rPr spc="-25" dirty="0"/>
              <a:t>=</a:t>
            </a:r>
            <a:r>
              <a:rPr spc="195" dirty="0"/>
              <a:t> </a:t>
            </a:r>
            <a:r>
              <a:rPr spc="-20" dirty="0"/>
              <a:t>Believing?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49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50950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213"/>
            <a:ext cx="10292715" cy="1177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1800" spc="70" dirty="0">
                <a:latin typeface="Arial"/>
                <a:cs typeface="Arial"/>
              </a:rPr>
              <a:t>With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30" dirty="0">
                <a:latin typeface="Arial"/>
                <a:cs typeface="Arial"/>
              </a:rPr>
              <a:t>development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40" dirty="0">
                <a:latin typeface="Arial"/>
                <a:cs typeface="Arial"/>
              </a:rPr>
              <a:t>computer </a:t>
            </a:r>
            <a:r>
              <a:rPr sz="1800" dirty="0">
                <a:latin typeface="Arial"/>
                <a:cs typeface="Arial"/>
              </a:rPr>
              <a:t>vision technologies, </a:t>
            </a:r>
            <a:r>
              <a:rPr sz="1800" spc="45" dirty="0">
                <a:latin typeface="Arial"/>
                <a:cs typeface="Arial"/>
              </a:rPr>
              <a:t>reliability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images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-20" dirty="0">
                <a:latin typeface="Arial"/>
                <a:cs typeface="Arial"/>
              </a:rPr>
              <a:t>videos </a:t>
            </a:r>
            <a:r>
              <a:rPr sz="1800" spc="-35" dirty="0">
                <a:latin typeface="Arial"/>
                <a:cs typeface="Arial"/>
              </a:rPr>
              <a:t>is  </a:t>
            </a:r>
            <a:r>
              <a:rPr sz="1800" spc="-20" dirty="0">
                <a:latin typeface="Arial"/>
                <a:cs typeface="Arial"/>
              </a:rPr>
              <a:t>decreasing. </a:t>
            </a:r>
            <a:r>
              <a:rPr sz="1800" spc="-40" dirty="0">
                <a:latin typeface="Arial"/>
                <a:cs typeface="Arial"/>
              </a:rPr>
              <a:t>Fake </a:t>
            </a:r>
            <a:r>
              <a:rPr sz="1800" spc="5" dirty="0">
                <a:latin typeface="Arial"/>
                <a:cs typeface="Arial"/>
              </a:rPr>
              <a:t>images </a:t>
            </a:r>
            <a:r>
              <a:rPr sz="1800" spc="-15" dirty="0">
                <a:latin typeface="Arial"/>
                <a:cs typeface="Arial"/>
              </a:rPr>
              <a:t>can be </a:t>
            </a:r>
            <a:r>
              <a:rPr sz="1800" spc="15" dirty="0">
                <a:latin typeface="Arial"/>
                <a:cs typeface="Arial"/>
              </a:rPr>
              <a:t>produced </a:t>
            </a:r>
            <a:r>
              <a:rPr sz="1800" spc="90" dirty="0">
                <a:latin typeface="Arial"/>
                <a:cs typeface="Arial"/>
              </a:rPr>
              <a:t>with </a:t>
            </a:r>
            <a:r>
              <a:rPr sz="1800" spc="10" dirty="0">
                <a:latin typeface="Arial"/>
                <a:cs typeface="Arial"/>
              </a:rPr>
              <a:t>technologies </a:t>
            </a:r>
            <a:r>
              <a:rPr sz="1800" spc="-30" dirty="0">
                <a:latin typeface="Arial"/>
                <a:cs typeface="Arial"/>
              </a:rPr>
              <a:t>such </a:t>
            </a:r>
            <a:r>
              <a:rPr sz="1800" spc="-75" dirty="0">
                <a:latin typeface="Arial"/>
                <a:cs typeface="Arial"/>
              </a:rPr>
              <a:t>as </a:t>
            </a:r>
            <a:r>
              <a:rPr sz="1800" spc="-210" dirty="0">
                <a:latin typeface="Arial"/>
                <a:cs typeface="Arial"/>
              </a:rPr>
              <a:t>PS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15" dirty="0">
                <a:latin typeface="Arial"/>
                <a:cs typeface="Arial"/>
              </a:rPr>
              <a:t>generative </a:t>
            </a:r>
            <a:r>
              <a:rPr sz="1800" spc="5" dirty="0">
                <a:latin typeface="Arial"/>
                <a:cs typeface="Arial"/>
              </a:rPr>
              <a:t>adversarial  </a:t>
            </a:r>
            <a:r>
              <a:rPr sz="1800" spc="30" dirty="0">
                <a:latin typeface="Arial"/>
                <a:cs typeface="Arial"/>
              </a:rPr>
              <a:t>networks </a:t>
            </a:r>
            <a:r>
              <a:rPr sz="1800" spc="20" dirty="0">
                <a:latin typeface="Arial"/>
                <a:cs typeface="Arial"/>
              </a:rPr>
              <a:t>(GAN), </a:t>
            </a:r>
            <a:r>
              <a:rPr sz="1800" spc="45" dirty="0">
                <a:latin typeface="Arial"/>
                <a:cs typeface="Arial"/>
              </a:rPr>
              <a:t>making </a:t>
            </a:r>
            <a:r>
              <a:rPr sz="1800" spc="100" dirty="0">
                <a:latin typeface="Arial"/>
                <a:cs typeface="Arial"/>
              </a:rPr>
              <a:t>it </a:t>
            </a:r>
            <a:r>
              <a:rPr sz="1800" spc="35" dirty="0">
                <a:latin typeface="Arial"/>
                <a:cs typeface="Arial"/>
              </a:rPr>
              <a:t>hard </a:t>
            </a:r>
            <a:r>
              <a:rPr sz="1800" spc="90" dirty="0">
                <a:latin typeface="Arial"/>
                <a:cs typeface="Arial"/>
              </a:rPr>
              <a:t>to </a:t>
            </a:r>
            <a:r>
              <a:rPr sz="1800" spc="45" dirty="0">
                <a:latin typeface="Arial"/>
                <a:cs typeface="Arial"/>
              </a:rPr>
              <a:t>identify whether </a:t>
            </a:r>
            <a:r>
              <a:rPr sz="1800" dirty="0">
                <a:latin typeface="Arial"/>
                <a:cs typeface="Arial"/>
              </a:rPr>
              <a:t>images are </a:t>
            </a:r>
            <a:r>
              <a:rPr sz="1800" spc="55" dirty="0">
                <a:latin typeface="Arial"/>
                <a:cs typeface="Arial"/>
              </a:rPr>
              <a:t>true </a:t>
            </a:r>
            <a:r>
              <a:rPr sz="1800" spc="50" dirty="0">
                <a:latin typeface="Arial"/>
                <a:cs typeface="Arial"/>
              </a:rPr>
              <a:t>or</a:t>
            </a:r>
            <a:r>
              <a:rPr sz="1800" spc="285" dirty="0">
                <a:latin typeface="Arial"/>
                <a:cs typeface="Arial"/>
              </a:rPr>
              <a:t> </a:t>
            </a:r>
            <a:r>
              <a:rPr sz="1800" spc="30" dirty="0">
                <a:latin typeface="Arial"/>
                <a:cs typeface="Arial"/>
              </a:rPr>
              <a:t>not.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505583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441575"/>
            <a:ext cx="96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Arial"/>
                <a:cs typeface="Arial"/>
              </a:rPr>
              <a:t>Exam</a:t>
            </a:r>
            <a:r>
              <a:rPr sz="1800" spc="20" dirty="0">
                <a:latin typeface="Arial"/>
                <a:cs typeface="Arial"/>
              </a:rPr>
              <a:t>ple</a:t>
            </a:r>
            <a:r>
              <a:rPr sz="1800" spc="-9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3043" y="2959735"/>
            <a:ext cx="11683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3388" y="2804129"/>
            <a:ext cx="9470390" cy="7080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spc="-25" dirty="0">
                <a:latin typeface="Arial"/>
                <a:cs typeface="Arial"/>
              </a:rPr>
              <a:t>A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suspect</a:t>
            </a:r>
            <a:r>
              <a:rPr sz="1600" spc="90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provided</a:t>
            </a:r>
            <a:r>
              <a:rPr sz="1600" spc="100" dirty="0">
                <a:latin typeface="Arial"/>
                <a:cs typeface="Arial"/>
              </a:rPr>
              <a:t> </a:t>
            </a:r>
            <a:r>
              <a:rPr sz="1600" spc="25" dirty="0">
                <a:latin typeface="Arial"/>
                <a:cs typeface="Arial"/>
              </a:rPr>
              <a:t>fake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evidence</a:t>
            </a:r>
            <a:r>
              <a:rPr sz="1600" spc="1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spc="50" dirty="0">
                <a:latin typeface="Arial"/>
                <a:cs typeface="Arial"/>
              </a:rPr>
              <a:t>forging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an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25" dirty="0">
                <a:latin typeface="Arial"/>
                <a:cs typeface="Arial"/>
              </a:rPr>
              <a:t>image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spc="45" dirty="0">
                <a:latin typeface="Arial"/>
                <a:cs typeface="Arial"/>
              </a:rPr>
              <a:t>in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spc="25" dirty="0">
                <a:latin typeface="Arial"/>
                <a:cs typeface="Arial"/>
              </a:rPr>
              <a:t>which</a:t>
            </a:r>
            <a:r>
              <a:rPr sz="1600" spc="90" dirty="0">
                <a:latin typeface="Arial"/>
                <a:cs typeface="Arial"/>
              </a:rPr>
              <a:t> </a:t>
            </a:r>
            <a:r>
              <a:rPr sz="1600" spc="40" dirty="0">
                <a:latin typeface="Arial"/>
                <a:cs typeface="Arial"/>
              </a:rPr>
              <a:t>the</a:t>
            </a:r>
            <a:r>
              <a:rPr sz="1600" spc="70" dirty="0">
                <a:latin typeface="Arial"/>
                <a:cs typeface="Arial"/>
              </a:rPr>
              <a:t> </a:t>
            </a:r>
            <a:r>
              <a:rPr sz="1600" spc="-30" dirty="0">
                <a:latin typeface="Arial"/>
                <a:cs typeface="Arial"/>
              </a:rPr>
              <a:t>suspect</a:t>
            </a:r>
            <a:r>
              <a:rPr sz="1600" spc="9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is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45" dirty="0">
                <a:latin typeface="Arial"/>
                <a:cs typeface="Arial"/>
              </a:rPr>
              <a:t>in</a:t>
            </a:r>
            <a:r>
              <a:rPr sz="1600" spc="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place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where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he</a:t>
            </a:r>
            <a:r>
              <a:rPr sz="1600" spc="70" dirty="0">
                <a:latin typeface="Arial"/>
                <a:cs typeface="Arial"/>
              </a:rPr>
              <a:t> </a:t>
            </a:r>
            <a:r>
              <a:rPr sz="1600" spc="-30" dirty="0">
                <a:latin typeface="Arial"/>
                <a:cs typeface="Arial"/>
              </a:rPr>
              <a:t>has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600" spc="-5" dirty="0">
                <a:latin typeface="Arial"/>
                <a:cs typeface="Arial"/>
              </a:rPr>
              <a:t>never </a:t>
            </a:r>
            <a:r>
              <a:rPr sz="1600" spc="-15" dirty="0">
                <a:latin typeface="Arial"/>
                <a:cs typeface="Arial"/>
              </a:rPr>
              <a:t>been </a:t>
            </a:r>
            <a:r>
              <a:rPr sz="1600" spc="80" dirty="0">
                <a:latin typeface="Arial"/>
                <a:cs typeface="Arial"/>
              </a:rPr>
              <a:t>to</a:t>
            </a:r>
            <a:r>
              <a:rPr sz="1600" spc="235" dirty="0">
                <a:latin typeface="Arial"/>
                <a:cs typeface="Arial"/>
              </a:rPr>
              <a:t> </a:t>
            </a:r>
            <a:r>
              <a:rPr sz="1600" spc="50" dirty="0">
                <a:latin typeface="Arial"/>
                <a:cs typeface="Arial"/>
              </a:rPr>
              <a:t>or </a:t>
            </a:r>
            <a:r>
              <a:rPr sz="1600" spc="80" dirty="0">
                <a:latin typeface="Arial"/>
                <a:cs typeface="Arial"/>
              </a:rPr>
              <a:t>with </a:t>
            </a:r>
            <a:r>
              <a:rPr sz="1600" spc="-5" dirty="0">
                <a:latin typeface="Arial"/>
                <a:cs typeface="Arial"/>
              </a:rPr>
              <a:t>someone he </a:t>
            </a:r>
            <a:r>
              <a:rPr sz="1600" spc="-30" dirty="0">
                <a:latin typeface="Arial"/>
                <a:cs typeface="Arial"/>
              </a:rPr>
              <a:t>has </a:t>
            </a:r>
            <a:r>
              <a:rPr sz="1600" spc="-5" dirty="0">
                <a:latin typeface="Arial"/>
                <a:cs typeface="Arial"/>
              </a:rPr>
              <a:t>never </a:t>
            </a:r>
            <a:r>
              <a:rPr sz="1600" spc="-50" dirty="0">
                <a:latin typeface="Arial"/>
                <a:cs typeface="Arial"/>
              </a:rPr>
              <a:t>seen </a:t>
            </a:r>
            <a:r>
              <a:rPr sz="1600" spc="5" dirty="0">
                <a:latin typeface="Arial"/>
                <a:cs typeface="Arial"/>
              </a:rPr>
              <a:t>using </a:t>
            </a:r>
            <a:r>
              <a:rPr sz="1600" spc="-190" dirty="0">
                <a:latin typeface="Arial"/>
                <a:cs typeface="Arial"/>
              </a:rPr>
              <a:t>PS </a:t>
            </a:r>
            <a:r>
              <a:rPr sz="1600" dirty="0">
                <a:latin typeface="Arial"/>
                <a:cs typeface="Arial"/>
              </a:rPr>
              <a:t>technologies.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3043" y="3731133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3388" y="3575075"/>
            <a:ext cx="9895840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600" spc="25" dirty="0">
                <a:latin typeface="Arial"/>
                <a:cs typeface="Arial"/>
              </a:rPr>
              <a:t>In </a:t>
            </a:r>
            <a:r>
              <a:rPr sz="1600" spc="5" dirty="0">
                <a:latin typeface="Arial"/>
                <a:cs typeface="Arial"/>
              </a:rPr>
              <a:t>advertisements </a:t>
            </a:r>
            <a:r>
              <a:rPr sz="1600" spc="65" dirty="0">
                <a:latin typeface="Arial"/>
                <a:cs typeface="Arial"/>
              </a:rPr>
              <a:t>for </a:t>
            </a:r>
            <a:r>
              <a:rPr sz="1600" spc="35" dirty="0">
                <a:latin typeface="Arial"/>
                <a:cs typeface="Arial"/>
              </a:rPr>
              <a:t>diet </a:t>
            </a:r>
            <a:r>
              <a:rPr sz="1600" spc="5" dirty="0">
                <a:latin typeface="Arial"/>
                <a:cs typeface="Arial"/>
              </a:rPr>
              <a:t>pills, </a:t>
            </a:r>
            <a:r>
              <a:rPr sz="1600" spc="-5" dirty="0">
                <a:latin typeface="Arial"/>
                <a:cs typeface="Arial"/>
              </a:rPr>
              <a:t>people's </a:t>
            </a:r>
            <a:r>
              <a:rPr sz="1600" spc="-20" dirty="0">
                <a:latin typeface="Arial"/>
                <a:cs typeface="Arial"/>
              </a:rPr>
              <a:t>appearances </a:t>
            </a:r>
            <a:r>
              <a:rPr sz="1600" spc="20" dirty="0">
                <a:latin typeface="Arial"/>
                <a:cs typeface="Arial"/>
              </a:rPr>
              <a:t>before </a:t>
            </a:r>
            <a:r>
              <a:rPr sz="1600" spc="15" dirty="0">
                <a:latin typeface="Arial"/>
                <a:cs typeface="Arial"/>
              </a:rPr>
              <a:t>and </a:t>
            </a:r>
            <a:r>
              <a:rPr sz="1600" spc="45" dirty="0">
                <a:latin typeface="Arial"/>
                <a:cs typeface="Arial"/>
              </a:rPr>
              <a:t>after weight </a:t>
            </a:r>
            <a:r>
              <a:rPr sz="1600" spc="-40" dirty="0">
                <a:latin typeface="Arial"/>
                <a:cs typeface="Arial"/>
              </a:rPr>
              <a:t>loss </a:t>
            </a:r>
            <a:r>
              <a:rPr sz="1600" spc="-10" dirty="0">
                <a:latin typeface="Arial"/>
                <a:cs typeface="Arial"/>
              </a:rPr>
              <a:t>can </a:t>
            </a:r>
            <a:r>
              <a:rPr sz="1600" spc="-20" dirty="0">
                <a:latin typeface="Arial"/>
                <a:cs typeface="Arial"/>
              </a:rPr>
              <a:t>be </a:t>
            </a:r>
            <a:r>
              <a:rPr sz="1600" dirty="0">
                <a:latin typeface="Arial"/>
                <a:cs typeface="Arial"/>
              </a:rPr>
              <a:t>changed </a:t>
            </a:r>
            <a:r>
              <a:rPr sz="1600" spc="75" dirty="0">
                <a:latin typeface="Arial"/>
                <a:cs typeface="Arial"/>
              </a:rPr>
              <a:t>with </a:t>
            </a:r>
            <a:r>
              <a:rPr sz="1600" spc="-190" dirty="0">
                <a:latin typeface="Arial"/>
                <a:cs typeface="Arial"/>
              </a:rPr>
              <a:t>PS  </a:t>
            </a:r>
            <a:r>
              <a:rPr sz="1600" spc="10" dirty="0">
                <a:latin typeface="Arial"/>
                <a:cs typeface="Arial"/>
              </a:rPr>
              <a:t>technologies </a:t>
            </a:r>
            <a:r>
              <a:rPr sz="1600" spc="80" dirty="0">
                <a:latin typeface="Arial"/>
                <a:cs typeface="Arial"/>
              </a:rPr>
              <a:t>to </a:t>
            </a:r>
            <a:r>
              <a:rPr sz="1600" dirty="0">
                <a:latin typeface="Arial"/>
                <a:cs typeface="Arial"/>
              </a:rPr>
              <a:t>exaggerate </a:t>
            </a:r>
            <a:r>
              <a:rPr sz="1600" spc="40" dirty="0">
                <a:latin typeface="Arial"/>
                <a:cs typeface="Arial"/>
              </a:rPr>
              <a:t>the </a:t>
            </a:r>
            <a:r>
              <a:rPr sz="1600" spc="30" dirty="0">
                <a:latin typeface="Arial"/>
                <a:cs typeface="Arial"/>
              </a:rPr>
              <a:t>effect </a:t>
            </a:r>
            <a:r>
              <a:rPr sz="1600" spc="65" dirty="0">
                <a:latin typeface="Arial"/>
                <a:cs typeface="Arial"/>
              </a:rPr>
              <a:t>of </a:t>
            </a:r>
            <a:r>
              <a:rPr sz="1600" spc="40" dirty="0">
                <a:latin typeface="Arial"/>
                <a:cs typeface="Arial"/>
              </a:rPr>
              <a:t>the</a:t>
            </a:r>
            <a:r>
              <a:rPr sz="1600" spc="3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pills.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3043" y="4503801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3388" y="4346970"/>
            <a:ext cx="9471025" cy="70993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600" dirty="0">
                <a:latin typeface="Arial"/>
                <a:cs typeface="Arial"/>
              </a:rPr>
              <a:t>Lyrebird,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65" dirty="0">
                <a:latin typeface="Arial"/>
                <a:cs typeface="Arial"/>
              </a:rPr>
              <a:t>tool </a:t>
            </a:r>
            <a:r>
              <a:rPr sz="1600" spc="70" dirty="0">
                <a:latin typeface="Arial"/>
                <a:cs typeface="Arial"/>
              </a:rPr>
              <a:t>for </a:t>
            </a:r>
            <a:r>
              <a:rPr sz="1600" spc="35" dirty="0">
                <a:latin typeface="Arial"/>
                <a:cs typeface="Arial"/>
              </a:rPr>
              <a:t>simulating </a:t>
            </a:r>
            <a:r>
              <a:rPr sz="1600" spc="-15" dirty="0">
                <a:latin typeface="Arial"/>
                <a:cs typeface="Arial"/>
              </a:rPr>
              <a:t>voice </a:t>
            </a:r>
            <a:r>
              <a:rPr sz="1600" spc="70" dirty="0">
                <a:latin typeface="Arial"/>
                <a:cs typeface="Arial"/>
              </a:rPr>
              <a:t>of </a:t>
            </a:r>
            <a:r>
              <a:rPr sz="1600" spc="40" dirty="0">
                <a:latin typeface="Arial"/>
                <a:cs typeface="Arial"/>
              </a:rPr>
              <a:t>human </a:t>
            </a:r>
            <a:r>
              <a:rPr sz="1600" spc="-10" dirty="0">
                <a:latin typeface="Arial"/>
                <a:cs typeface="Arial"/>
              </a:rPr>
              <a:t>beings </a:t>
            </a:r>
            <a:r>
              <a:rPr sz="1600" spc="-30" dirty="0">
                <a:latin typeface="Arial"/>
                <a:cs typeface="Arial"/>
              </a:rPr>
              <a:t>based </a:t>
            </a:r>
            <a:r>
              <a:rPr sz="1600" spc="35" dirty="0">
                <a:latin typeface="Arial"/>
                <a:cs typeface="Arial"/>
              </a:rPr>
              <a:t>on </a:t>
            </a:r>
            <a:r>
              <a:rPr sz="1600" spc="20" dirty="0">
                <a:latin typeface="Arial"/>
                <a:cs typeface="Arial"/>
              </a:rPr>
              <a:t>recording </a:t>
            </a:r>
            <a:r>
              <a:rPr sz="1600" spc="-15" dirty="0">
                <a:latin typeface="Arial"/>
                <a:cs typeface="Arial"/>
              </a:rPr>
              <a:t>samples </a:t>
            </a:r>
            <a:r>
              <a:rPr sz="1600" spc="70" dirty="0">
                <a:latin typeface="Arial"/>
                <a:cs typeface="Arial"/>
              </a:rPr>
              <a:t>of</a:t>
            </a:r>
            <a:r>
              <a:rPr sz="1600" spc="425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minutes, </a:t>
            </a:r>
            <a:r>
              <a:rPr sz="1600" spc="25" dirty="0">
                <a:latin typeface="Arial"/>
                <a:cs typeface="Arial"/>
              </a:rPr>
              <a:t>may </a:t>
            </a:r>
            <a:r>
              <a:rPr sz="1600" spc="-15" dirty="0">
                <a:latin typeface="Arial"/>
                <a:cs typeface="Arial"/>
              </a:rPr>
              <a:t>be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600" spc="-30" dirty="0">
                <a:latin typeface="Arial"/>
                <a:cs typeface="Arial"/>
              </a:rPr>
              <a:t>used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155" dirty="0">
                <a:latin typeface="Arial"/>
                <a:cs typeface="Arial"/>
              </a:rPr>
              <a:t> </a:t>
            </a:r>
            <a:r>
              <a:rPr sz="1600" spc="10" dirty="0">
                <a:latin typeface="Arial"/>
                <a:cs typeface="Arial"/>
              </a:rPr>
              <a:t>criminals.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3043" y="5275326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53388" y="5217414"/>
            <a:ext cx="9138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10" dirty="0">
                <a:latin typeface="Arial"/>
                <a:cs typeface="Arial"/>
              </a:rPr>
              <a:t>Household</a:t>
            </a:r>
            <a:r>
              <a:rPr sz="1600" spc="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images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released</a:t>
            </a:r>
            <a:r>
              <a:rPr sz="1600" spc="110" dirty="0">
                <a:latin typeface="Arial"/>
                <a:cs typeface="Arial"/>
              </a:rPr>
              <a:t> </a:t>
            </a:r>
            <a:r>
              <a:rPr sz="1600" spc="30" dirty="0">
                <a:latin typeface="Arial"/>
                <a:cs typeface="Arial"/>
              </a:rPr>
              <a:t>on</a:t>
            </a:r>
            <a:r>
              <a:rPr sz="1600" spc="75" dirty="0">
                <a:latin typeface="Arial"/>
                <a:cs typeface="Arial"/>
              </a:rPr>
              <a:t> </a:t>
            </a:r>
            <a:r>
              <a:rPr sz="1600" spc="45" dirty="0">
                <a:latin typeface="Arial"/>
                <a:cs typeface="Arial"/>
              </a:rPr>
              <a:t>rent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and</a:t>
            </a:r>
            <a:r>
              <a:rPr sz="1600" spc="75" dirty="0">
                <a:latin typeface="Arial"/>
                <a:cs typeface="Arial"/>
              </a:rPr>
              <a:t> </a:t>
            </a:r>
            <a:r>
              <a:rPr sz="1600" spc="45" dirty="0">
                <a:latin typeface="Arial"/>
                <a:cs typeface="Arial"/>
              </a:rPr>
              <a:t>hotel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spc="30" dirty="0">
                <a:latin typeface="Arial"/>
                <a:cs typeface="Arial"/>
              </a:rPr>
              <a:t>booking</a:t>
            </a:r>
            <a:r>
              <a:rPr sz="1600" spc="100" dirty="0">
                <a:latin typeface="Arial"/>
                <a:cs typeface="Arial"/>
              </a:rPr>
              <a:t> </a:t>
            </a:r>
            <a:r>
              <a:rPr sz="1600" spc="45" dirty="0">
                <a:latin typeface="Arial"/>
                <a:cs typeface="Arial"/>
              </a:rPr>
              <a:t>platforms</a:t>
            </a:r>
            <a:r>
              <a:rPr sz="1600" spc="100" dirty="0">
                <a:latin typeface="Arial"/>
                <a:cs typeface="Arial"/>
              </a:rPr>
              <a:t> </a:t>
            </a:r>
            <a:r>
              <a:rPr sz="1600" spc="25" dirty="0">
                <a:latin typeface="Arial"/>
                <a:cs typeface="Arial"/>
              </a:rPr>
              <a:t>may</a:t>
            </a:r>
            <a:r>
              <a:rPr sz="1600" spc="7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be</a:t>
            </a:r>
            <a:r>
              <a:rPr sz="1600" spc="75" dirty="0">
                <a:latin typeface="Arial"/>
                <a:cs typeface="Arial"/>
              </a:rPr>
              <a:t> </a:t>
            </a:r>
            <a:r>
              <a:rPr sz="1600" spc="10" dirty="0">
                <a:latin typeface="Arial"/>
                <a:cs typeface="Arial"/>
              </a:rPr>
              <a:t>generated</a:t>
            </a:r>
            <a:r>
              <a:rPr sz="1600" spc="120" dirty="0">
                <a:latin typeface="Arial"/>
                <a:cs typeface="Arial"/>
              </a:rPr>
              <a:t> </a:t>
            </a:r>
            <a:r>
              <a:rPr sz="1600" spc="50" dirty="0">
                <a:latin typeface="Arial"/>
                <a:cs typeface="Arial"/>
              </a:rPr>
              <a:t>through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GAN.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7749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AI </a:t>
            </a:r>
            <a:r>
              <a:rPr spc="50" dirty="0"/>
              <a:t>Development </a:t>
            </a:r>
            <a:r>
              <a:rPr spc="-25" dirty="0"/>
              <a:t>= </a:t>
            </a:r>
            <a:r>
              <a:rPr spc="-45" dirty="0"/>
              <a:t>Rising</a:t>
            </a:r>
            <a:r>
              <a:rPr spc="340" dirty="0"/>
              <a:t> </a:t>
            </a:r>
            <a:r>
              <a:rPr spc="55" dirty="0"/>
              <a:t>Unemployment?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50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50950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213"/>
            <a:ext cx="10295255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1800" spc="20" dirty="0">
                <a:latin typeface="Arial"/>
                <a:cs typeface="Arial"/>
              </a:rPr>
              <a:t>Looking </a:t>
            </a:r>
            <a:r>
              <a:rPr sz="1800" spc="-15" dirty="0">
                <a:latin typeface="Arial"/>
                <a:cs typeface="Arial"/>
              </a:rPr>
              <a:t>back, </a:t>
            </a:r>
            <a:r>
              <a:rPr sz="1800" spc="50" dirty="0">
                <a:latin typeface="Arial"/>
                <a:cs typeface="Arial"/>
              </a:rPr>
              <a:t>human </a:t>
            </a:r>
            <a:r>
              <a:rPr sz="1800" spc="-10" dirty="0">
                <a:latin typeface="Arial"/>
                <a:cs typeface="Arial"/>
              </a:rPr>
              <a:t>beings have </a:t>
            </a:r>
            <a:r>
              <a:rPr sz="1800" dirty="0">
                <a:latin typeface="Arial"/>
                <a:cs typeface="Arial"/>
              </a:rPr>
              <a:t>always </a:t>
            </a:r>
            <a:r>
              <a:rPr sz="1800" spc="-5" dirty="0">
                <a:latin typeface="Arial"/>
                <a:cs typeface="Arial"/>
              </a:rPr>
              <a:t>been </a:t>
            </a:r>
            <a:r>
              <a:rPr sz="1800" spc="-10" dirty="0">
                <a:latin typeface="Arial"/>
                <a:cs typeface="Arial"/>
              </a:rPr>
              <a:t>seeking </a:t>
            </a:r>
            <a:r>
              <a:rPr sz="1800" spc="-15" dirty="0">
                <a:latin typeface="Arial"/>
                <a:cs typeface="Arial"/>
              </a:rPr>
              <a:t>ways </a:t>
            </a:r>
            <a:r>
              <a:rPr sz="1800" spc="85" dirty="0">
                <a:latin typeface="Arial"/>
                <a:cs typeface="Arial"/>
              </a:rPr>
              <a:t>to </a:t>
            </a:r>
            <a:r>
              <a:rPr sz="1800" spc="35" dirty="0">
                <a:latin typeface="Arial"/>
                <a:cs typeface="Arial"/>
              </a:rPr>
              <a:t>improve </a:t>
            </a:r>
            <a:r>
              <a:rPr sz="1800" spc="5" dirty="0">
                <a:latin typeface="Arial"/>
                <a:cs typeface="Arial"/>
              </a:rPr>
              <a:t>efficiency, </a:t>
            </a:r>
            <a:r>
              <a:rPr sz="1800" spc="80" dirty="0">
                <a:latin typeface="Arial"/>
                <a:cs typeface="Arial"/>
              </a:rPr>
              <a:t>that </a:t>
            </a:r>
            <a:r>
              <a:rPr sz="1800" spc="-55" dirty="0">
                <a:latin typeface="Arial"/>
                <a:cs typeface="Arial"/>
              </a:rPr>
              <a:t>is, </a:t>
            </a:r>
            <a:r>
              <a:rPr sz="1800" spc="50" dirty="0">
                <a:latin typeface="Arial"/>
                <a:cs typeface="Arial"/>
              </a:rPr>
              <a:t>obtain  </a:t>
            </a:r>
            <a:r>
              <a:rPr sz="1800" spc="40" dirty="0">
                <a:latin typeface="Arial"/>
                <a:cs typeface="Arial"/>
              </a:rPr>
              <a:t>more </a:t>
            </a:r>
            <a:r>
              <a:rPr sz="1800" spc="90" dirty="0">
                <a:latin typeface="Arial"/>
                <a:cs typeface="Arial"/>
              </a:rPr>
              <a:t>with </a:t>
            </a:r>
            <a:r>
              <a:rPr sz="1800" spc="-65" dirty="0">
                <a:latin typeface="Arial"/>
                <a:cs typeface="Arial"/>
              </a:rPr>
              <a:t>less </a:t>
            </a:r>
            <a:r>
              <a:rPr sz="1800" spc="-35" dirty="0">
                <a:latin typeface="Arial"/>
                <a:cs typeface="Arial"/>
              </a:rPr>
              <a:t>resources. </a:t>
            </a:r>
            <a:r>
              <a:rPr sz="1800" spc="-10" dirty="0">
                <a:latin typeface="Arial"/>
                <a:cs typeface="Arial"/>
              </a:rPr>
              <a:t>We </a:t>
            </a:r>
            <a:r>
              <a:rPr sz="1800" spc="-30" dirty="0">
                <a:latin typeface="Arial"/>
                <a:cs typeface="Arial"/>
              </a:rPr>
              <a:t>used </a:t>
            </a:r>
            <a:r>
              <a:rPr sz="1800" dirty="0">
                <a:latin typeface="Arial"/>
                <a:cs typeface="Arial"/>
              </a:rPr>
              <a:t>sharp </a:t>
            </a:r>
            <a:r>
              <a:rPr sz="1800" spc="-25" dirty="0">
                <a:latin typeface="Arial"/>
                <a:cs typeface="Arial"/>
              </a:rPr>
              <a:t>stones </a:t>
            </a:r>
            <a:r>
              <a:rPr sz="1800" spc="95" dirty="0">
                <a:latin typeface="Arial"/>
                <a:cs typeface="Arial"/>
              </a:rPr>
              <a:t>to </a:t>
            </a:r>
            <a:r>
              <a:rPr sz="1800" spc="70" dirty="0">
                <a:latin typeface="Arial"/>
                <a:cs typeface="Arial"/>
              </a:rPr>
              <a:t>hunt </a:t>
            </a:r>
            <a:r>
              <a:rPr sz="1800" spc="20" dirty="0">
                <a:latin typeface="Arial"/>
                <a:cs typeface="Arial"/>
              </a:rPr>
              <a:t>and collect </a:t>
            </a:r>
            <a:r>
              <a:rPr sz="1800" spc="55" dirty="0">
                <a:latin typeface="Arial"/>
                <a:cs typeface="Arial"/>
              </a:rPr>
              <a:t>food </a:t>
            </a:r>
            <a:r>
              <a:rPr sz="1800" spc="40" dirty="0">
                <a:latin typeface="Arial"/>
                <a:cs typeface="Arial"/>
              </a:rPr>
              <a:t>more </a:t>
            </a:r>
            <a:r>
              <a:rPr sz="1800" spc="30" dirty="0">
                <a:latin typeface="Arial"/>
                <a:cs typeface="Arial"/>
              </a:rPr>
              <a:t>efficiently. </a:t>
            </a:r>
            <a:r>
              <a:rPr sz="1800" spc="-10" dirty="0">
                <a:latin typeface="Arial"/>
                <a:cs typeface="Arial"/>
              </a:rPr>
              <a:t>We  </a:t>
            </a:r>
            <a:r>
              <a:rPr sz="1800" spc="-30" dirty="0">
                <a:latin typeface="Arial"/>
                <a:cs typeface="Arial"/>
              </a:rPr>
              <a:t>used </a:t>
            </a:r>
            <a:r>
              <a:rPr sz="1800" spc="10" dirty="0">
                <a:latin typeface="Arial"/>
                <a:cs typeface="Arial"/>
              </a:rPr>
              <a:t>steam </a:t>
            </a:r>
            <a:r>
              <a:rPr sz="1800" spc="-15" dirty="0">
                <a:latin typeface="Arial"/>
                <a:cs typeface="Arial"/>
              </a:rPr>
              <a:t>engines </a:t>
            </a:r>
            <a:r>
              <a:rPr sz="1800" spc="95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reduce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need </a:t>
            </a:r>
            <a:r>
              <a:rPr sz="1800" spc="75" dirty="0">
                <a:latin typeface="Arial"/>
                <a:cs typeface="Arial"/>
              </a:rPr>
              <a:t>for </a:t>
            </a:r>
            <a:r>
              <a:rPr sz="1800" spc="-45" dirty="0">
                <a:latin typeface="Arial"/>
                <a:cs typeface="Arial"/>
              </a:rPr>
              <a:t>horses. </a:t>
            </a:r>
            <a:r>
              <a:rPr sz="1800" spc="-50" dirty="0">
                <a:latin typeface="Arial"/>
                <a:cs typeface="Arial"/>
              </a:rPr>
              <a:t>Every </a:t>
            </a:r>
            <a:r>
              <a:rPr sz="1800" spc="-5" dirty="0">
                <a:latin typeface="Arial"/>
                <a:cs typeface="Arial"/>
              </a:rPr>
              <a:t>step </a:t>
            </a:r>
            <a:r>
              <a:rPr sz="1800" spc="50" dirty="0">
                <a:latin typeface="Arial"/>
                <a:cs typeface="Arial"/>
              </a:rPr>
              <a:t>in </a:t>
            </a:r>
            <a:r>
              <a:rPr sz="1800" spc="10" dirty="0">
                <a:latin typeface="Arial"/>
                <a:cs typeface="Arial"/>
              </a:rPr>
              <a:t>achieving </a:t>
            </a:r>
            <a:r>
              <a:rPr sz="1800" spc="60" dirty="0">
                <a:latin typeface="Arial"/>
                <a:cs typeface="Arial"/>
              </a:rPr>
              <a:t>automation </a:t>
            </a:r>
            <a:r>
              <a:rPr sz="1800" spc="85" dirty="0">
                <a:latin typeface="Arial"/>
                <a:cs typeface="Arial"/>
              </a:rPr>
              <a:t>will </a:t>
            </a:r>
            <a:r>
              <a:rPr sz="1800" dirty="0">
                <a:latin typeface="Arial"/>
                <a:cs typeface="Arial"/>
              </a:rPr>
              <a:t>change  </a:t>
            </a:r>
            <a:r>
              <a:rPr sz="1800" spc="50" dirty="0">
                <a:latin typeface="Arial"/>
                <a:cs typeface="Arial"/>
              </a:rPr>
              <a:t>our </a:t>
            </a:r>
            <a:r>
              <a:rPr sz="1800" spc="55" dirty="0">
                <a:latin typeface="Arial"/>
                <a:cs typeface="Arial"/>
              </a:rPr>
              <a:t>life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35" dirty="0">
                <a:latin typeface="Arial"/>
                <a:cs typeface="Arial"/>
              </a:rPr>
              <a:t>work. </a:t>
            </a:r>
            <a:r>
              <a:rPr sz="1800" spc="30" dirty="0">
                <a:latin typeface="Arial"/>
                <a:cs typeface="Arial"/>
              </a:rPr>
              <a:t>In </a:t>
            </a:r>
            <a:r>
              <a:rPr sz="1800" spc="4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era </a:t>
            </a:r>
            <a:r>
              <a:rPr sz="1800" spc="75" dirty="0">
                <a:latin typeface="Arial"/>
                <a:cs typeface="Arial"/>
              </a:rPr>
              <a:t>of </a:t>
            </a:r>
            <a:r>
              <a:rPr sz="1800" spc="-30" dirty="0">
                <a:latin typeface="Arial"/>
                <a:cs typeface="Arial"/>
              </a:rPr>
              <a:t>AI, </a:t>
            </a:r>
            <a:r>
              <a:rPr sz="1800" spc="75" dirty="0">
                <a:latin typeface="Arial"/>
                <a:cs typeface="Arial"/>
              </a:rPr>
              <a:t>what </a:t>
            </a:r>
            <a:r>
              <a:rPr sz="1800" spc="-10" dirty="0">
                <a:latin typeface="Arial"/>
                <a:cs typeface="Arial"/>
              </a:rPr>
              <a:t>jobs </a:t>
            </a:r>
            <a:r>
              <a:rPr sz="1800" spc="85" dirty="0">
                <a:latin typeface="Arial"/>
                <a:cs typeface="Arial"/>
              </a:rPr>
              <a:t>will </a:t>
            </a:r>
            <a:r>
              <a:rPr sz="1800" spc="-15" dirty="0">
                <a:latin typeface="Arial"/>
                <a:cs typeface="Arial"/>
              </a:rPr>
              <a:t>be </a:t>
            </a:r>
            <a:r>
              <a:rPr sz="1800" dirty="0">
                <a:latin typeface="Arial"/>
                <a:cs typeface="Arial"/>
              </a:rPr>
              <a:t>replaced </a:t>
            </a:r>
            <a:r>
              <a:rPr sz="1800" spc="5" dirty="0">
                <a:latin typeface="Arial"/>
                <a:cs typeface="Arial"/>
              </a:rPr>
              <a:t>by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AI?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889630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825622"/>
            <a:ext cx="820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answer </a:t>
            </a:r>
            <a:r>
              <a:rPr sz="1800" spc="-45" dirty="0">
                <a:latin typeface="Arial"/>
                <a:cs typeface="Arial"/>
              </a:rPr>
              <a:t>is </a:t>
            </a:r>
            <a:r>
              <a:rPr sz="1800" spc="30" dirty="0">
                <a:latin typeface="Arial"/>
                <a:cs typeface="Arial"/>
              </a:rPr>
              <a:t>repetitive </a:t>
            </a:r>
            <a:r>
              <a:rPr sz="1800" spc="-10" dirty="0">
                <a:latin typeface="Arial"/>
                <a:cs typeface="Arial"/>
              </a:rPr>
              <a:t>jobs </a:t>
            </a:r>
            <a:r>
              <a:rPr sz="1800" spc="85" dirty="0">
                <a:latin typeface="Arial"/>
                <a:cs typeface="Arial"/>
              </a:rPr>
              <a:t>that </a:t>
            </a:r>
            <a:r>
              <a:rPr sz="1800" spc="15" dirty="0">
                <a:latin typeface="Arial"/>
                <a:cs typeface="Arial"/>
              </a:rPr>
              <a:t>involve </a:t>
            </a:r>
            <a:r>
              <a:rPr sz="1800" spc="75" dirty="0">
                <a:latin typeface="Arial"/>
                <a:cs typeface="Arial"/>
              </a:rPr>
              <a:t>little</a:t>
            </a:r>
            <a:r>
              <a:rPr sz="1800" spc="200" dirty="0">
                <a:latin typeface="Arial"/>
                <a:cs typeface="Arial"/>
              </a:rPr>
              <a:t> </a:t>
            </a:r>
            <a:r>
              <a:rPr sz="1800" spc="30" dirty="0">
                <a:latin typeface="Arial"/>
                <a:cs typeface="Arial"/>
              </a:rPr>
              <a:t>creativity </a:t>
            </a:r>
            <a:r>
              <a:rPr sz="1800" spc="20" dirty="0">
                <a:latin typeface="Arial"/>
                <a:cs typeface="Arial"/>
              </a:rPr>
              <a:t>and </a:t>
            </a:r>
            <a:r>
              <a:rPr sz="1800" spc="-15" dirty="0">
                <a:latin typeface="Arial"/>
                <a:cs typeface="Arial"/>
              </a:rPr>
              <a:t>social </a:t>
            </a:r>
            <a:r>
              <a:rPr sz="1800" spc="30" dirty="0">
                <a:latin typeface="Arial"/>
                <a:cs typeface="Arial"/>
              </a:rPr>
              <a:t>interaction.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66075" y="3432238"/>
          <a:ext cx="9196070" cy="2813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1485"/>
                <a:gridCol w="4890770"/>
              </a:tblGrid>
              <a:tr h="3481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85" dirty="0">
                          <a:latin typeface="Arial"/>
                          <a:cs typeface="Arial"/>
                        </a:rPr>
                        <a:t>Jobs </a:t>
                      </a:r>
                      <a:r>
                        <a:rPr sz="1600" spc="40" dirty="0">
                          <a:latin typeface="Arial"/>
                          <a:cs typeface="Arial"/>
                        </a:rPr>
                        <a:t>Most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Likely </a:t>
                      </a:r>
                      <a:r>
                        <a:rPr sz="1600" spc="8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600" spc="-85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Replaced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160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AI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85" dirty="0">
                          <a:latin typeface="Arial"/>
                          <a:cs typeface="Arial"/>
                        </a:rPr>
                        <a:t>Jobs </a:t>
                      </a:r>
                      <a:r>
                        <a:rPr sz="1600" spc="40" dirty="0">
                          <a:latin typeface="Arial"/>
                          <a:cs typeface="Arial"/>
                        </a:rPr>
                        <a:t>Most </a:t>
                      </a:r>
                      <a:r>
                        <a:rPr sz="1600" spc="25" dirty="0">
                          <a:latin typeface="Arial"/>
                          <a:cs typeface="Arial"/>
                        </a:rPr>
                        <a:t>Unlikely </a:t>
                      </a:r>
                      <a:r>
                        <a:rPr sz="1600" spc="8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600" spc="-85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Replaced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16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AI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481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Courier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45" dirty="0">
                          <a:latin typeface="Arial"/>
                          <a:cs typeface="Arial"/>
                        </a:rPr>
                        <a:t>Writer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Taxi</a:t>
                      </a:r>
                      <a:r>
                        <a:rPr sz="16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20" dirty="0">
                          <a:latin typeface="Arial"/>
                          <a:cs typeface="Arial"/>
                        </a:rPr>
                        <a:t>driver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35" dirty="0">
                          <a:latin typeface="Arial"/>
                          <a:cs typeface="Arial"/>
                        </a:rPr>
                        <a:t>Management</a:t>
                      </a:r>
                      <a:r>
                        <a:rPr sz="16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personnel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81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Soldier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20" dirty="0">
                          <a:latin typeface="Arial"/>
                          <a:cs typeface="Arial"/>
                        </a:rPr>
                        <a:t>Software</a:t>
                      </a:r>
                      <a:r>
                        <a:rPr sz="16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engineers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20" dirty="0">
                          <a:latin typeface="Arial"/>
                          <a:cs typeface="Arial"/>
                        </a:rPr>
                        <a:t>Accounting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70" dirty="0">
                          <a:latin typeface="Arial"/>
                          <a:cs typeface="Arial"/>
                        </a:rPr>
                        <a:t>HR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20" dirty="0">
                          <a:latin typeface="Arial"/>
                          <a:cs typeface="Arial"/>
                        </a:rPr>
                        <a:t>manager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810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45" dirty="0">
                          <a:latin typeface="Arial"/>
                          <a:cs typeface="Arial"/>
                        </a:rPr>
                        <a:t>Telesales</a:t>
                      </a:r>
                      <a:r>
                        <a:rPr sz="16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personnel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Designer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8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Customer</a:t>
                      </a:r>
                      <a:r>
                        <a:rPr sz="16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service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30" dirty="0">
                          <a:latin typeface="Arial"/>
                          <a:cs typeface="Arial"/>
                        </a:rPr>
                        <a:t>Activity</a:t>
                      </a:r>
                      <a:r>
                        <a:rPr sz="16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25" dirty="0">
                          <a:latin typeface="Arial"/>
                          <a:cs typeface="Arial"/>
                        </a:rPr>
                        <a:t>planner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80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spc="-80" dirty="0">
                          <a:latin typeface="Arial"/>
                          <a:cs typeface="Arial"/>
                        </a:rPr>
                        <a:t>...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spc="-80" dirty="0">
                          <a:latin typeface="Arial"/>
                          <a:cs typeface="Arial"/>
                        </a:rPr>
                        <a:t>...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41744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Problems </a:t>
            </a:r>
            <a:r>
              <a:rPr spc="165" dirty="0"/>
              <a:t>to </a:t>
            </a:r>
            <a:r>
              <a:rPr spc="-155" dirty="0"/>
              <a:t>Be</a:t>
            </a:r>
            <a:r>
              <a:rPr spc="114" dirty="0"/>
              <a:t> </a:t>
            </a:r>
            <a:r>
              <a:rPr spc="-50" dirty="0"/>
              <a:t>Solved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199133"/>
            <a:ext cx="5871845" cy="1916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Are </a:t>
            </a:r>
            <a:r>
              <a:rPr sz="2000" spc="20" dirty="0">
                <a:latin typeface="Arial"/>
                <a:cs typeface="Arial"/>
              </a:rPr>
              <a:t>AI-created </a:t>
            </a:r>
            <a:r>
              <a:rPr sz="2000" spc="30" dirty="0">
                <a:latin typeface="Arial"/>
                <a:cs typeface="Arial"/>
              </a:rPr>
              <a:t>works </a:t>
            </a:r>
            <a:r>
              <a:rPr sz="2000" spc="35" dirty="0">
                <a:latin typeface="Arial"/>
                <a:cs typeface="Arial"/>
              </a:rPr>
              <a:t>protected </a:t>
            </a:r>
            <a:r>
              <a:rPr sz="2000" spc="10" dirty="0">
                <a:latin typeface="Arial"/>
                <a:cs typeface="Arial"/>
              </a:rPr>
              <a:t>by </a:t>
            </a:r>
            <a:r>
              <a:rPr sz="2000" spc="40" dirty="0">
                <a:latin typeface="Arial"/>
                <a:cs typeface="Arial"/>
              </a:rPr>
              <a:t>copyright</a:t>
            </a:r>
            <a:r>
              <a:rPr sz="2000" spc="2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laws?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2000" spc="50" dirty="0">
                <a:latin typeface="Arial"/>
                <a:cs typeface="Arial"/>
              </a:rPr>
              <a:t>Who </a:t>
            </a:r>
            <a:r>
              <a:rPr sz="2000" spc="-30" dirty="0">
                <a:latin typeface="Arial"/>
                <a:cs typeface="Arial"/>
              </a:rPr>
              <a:t>gives </a:t>
            </a:r>
            <a:r>
              <a:rPr sz="2000" spc="65" dirty="0">
                <a:latin typeface="Arial"/>
                <a:cs typeface="Arial"/>
              </a:rPr>
              <a:t>authority </a:t>
            </a:r>
            <a:r>
              <a:rPr sz="2000" spc="105" dirty="0">
                <a:latin typeface="Arial"/>
                <a:cs typeface="Arial"/>
              </a:rPr>
              <a:t>to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robots?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2000" spc="65" dirty="0">
                <a:latin typeface="Arial"/>
                <a:cs typeface="Arial"/>
              </a:rPr>
              <a:t>What </a:t>
            </a:r>
            <a:r>
              <a:rPr sz="2000" spc="45" dirty="0">
                <a:latin typeface="Arial"/>
                <a:cs typeface="Arial"/>
              </a:rPr>
              <a:t>rights </a:t>
            </a:r>
            <a:r>
              <a:rPr sz="2000" spc="20" dirty="0">
                <a:latin typeface="Arial"/>
                <a:cs typeface="Arial"/>
              </a:rPr>
              <a:t>shall </a:t>
            </a:r>
            <a:r>
              <a:rPr sz="2000" spc="-10" dirty="0">
                <a:latin typeface="Arial"/>
                <a:cs typeface="Arial"/>
              </a:rPr>
              <a:t>be </a:t>
            </a:r>
            <a:r>
              <a:rPr sz="2000" spc="35" dirty="0">
                <a:latin typeface="Arial"/>
                <a:cs typeface="Arial"/>
              </a:rPr>
              <a:t>authorized </a:t>
            </a:r>
            <a:r>
              <a:rPr sz="2000" spc="105" dirty="0">
                <a:latin typeface="Arial"/>
                <a:cs typeface="Arial"/>
              </a:rPr>
              <a:t>to</a:t>
            </a:r>
            <a:r>
              <a:rPr sz="2000" spc="18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robots?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sz="2000" spc="-10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1799589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9287" y="2327274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287" y="2856102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>
                <a:moveTo>
                  <a:pt x="2015997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20726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" dirty="0">
                <a:solidFill>
                  <a:srgbClr val="404040"/>
                </a:solidFill>
              </a:rPr>
              <a:t>Conte</a:t>
            </a:r>
            <a:r>
              <a:rPr sz="4000" spc="15" dirty="0">
                <a:solidFill>
                  <a:srgbClr val="404040"/>
                </a:solidFill>
              </a:rPr>
              <a:t>n</a:t>
            </a:r>
            <a:r>
              <a:rPr sz="4000" spc="10" dirty="0">
                <a:solidFill>
                  <a:srgbClr val="404040"/>
                </a:solidFill>
              </a:rPr>
              <a:t>ts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09393"/>
            <a:ext cx="6064885" cy="2639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r>
              <a:rPr sz="2200" spc="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Arial"/>
                <a:cs typeface="Arial"/>
              </a:rPr>
              <a:t>Overview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5" dirty="0">
                <a:solidFill>
                  <a:srgbClr val="7E7E7E"/>
                </a:solidFill>
                <a:latin typeface="Arial"/>
                <a:cs typeface="Arial"/>
              </a:rPr>
              <a:t>Technical </a:t>
            </a:r>
            <a:r>
              <a:rPr sz="2200" spc="-40" dirty="0">
                <a:solidFill>
                  <a:srgbClr val="7E7E7E"/>
                </a:solidFill>
                <a:latin typeface="Arial"/>
                <a:cs typeface="Arial"/>
              </a:rPr>
              <a:t>Fields </a:t>
            </a:r>
            <a:r>
              <a:rPr sz="2200" spc="25" dirty="0">
                <a:solidFill>
                  <a:srgbClr val="7E7E7E"/>
                </a:solidFill>
                <a:latin typeface="Arial"/>
                <a:cs typeface="Arial"/>
              </a:rPr>
              <a:t>and </a:t>
            </a:r>
            <a:r>
              <a:rPr sz="2200" spc="40" dirty="0">
                <a:solidFill>
                  <a:srgbClr val="7E7E7E"/>
                </a:solidFill>
                <a:latin typeface="Arial"/>
                <a:cs typeface="Arial"/>
              </a:rPr>
              <a:t>Application </a:t>
            </a:r>
            <a:r>
              <a:rPr sz="2200" spc="-40" dirty="0">
                <a:solidFill>
                  <a:srgbClr val="7E7E7E"/>
                </a:solidFill>
                <a:latin typeface="Arial"/>
                <a:cs typeface="Arial"/>
              </a:rPr>
              <a:t>Fields </a:t>
            </a:r>
            <a:r>
              <a:rPr sz="2200" spc="95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2200" spc="5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4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15" dirty="0">
                <a:solidFill>
                  <a:srgbClr val="7E7E7E"/>
                </a:solidFill>
                <a:latin typeface="Arial"/>
                <a:cs typeface="Arial"/>
              </a:rPr>
              <a:t>Huawei's </a:t>
            </a: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 </a:t>
            </a:r>
            <a:r>
              <a:rPr sz="2200" spc="30" dirty="0">
                <a:solidFill>
                  <a:srgbClr val="7E7E7E"/>
                </a:solidFill>
                <a:latin typeface="Arial"/>
                <a:cs typeface="Arial"/>
              </a:rPr>
              <a:t>Development</a:t>
            </a:r>
            <a:r>
              <a:rPr sz="2200" spc="2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srgbClr val="7E7E7E"/>
                </a:solidFill>
                <a:latin typeface="Arial"/>
                <a:cs typeface="Arial"/>
              </a:rPr>
              <a:t>Strategy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39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spc="-10" dirty="0">
                <a:solidFill>
                  <a:srgbClr val="7E7E7E"/>
                </a:solidFill>
                <a:latin typeface="Arial"/>
                <a:cs typeface="Arial"/>
              </a:rPr>
              <a:t>AI</a:t>
            </a:r>
            <a:r>
              <a:rPr sz="2200" spc="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7E7E7E"/>
                </a:solidFill>
                <a:latin typeface="Arial"/>
                <a:cs typeface="Arial"/>
              </a:rPr>
              <a:t>Disputes</a:t>
            </a:r>
            <a:endParaRPr sz="2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200" b="1" spc="15" dirty="0">
                <a:latin typeface="Arial"/>
                <a:cs typeface="Arial"/>
              </a:rPr>
              <a:t>Future </a:t>
            </a:r>
            <a:r>
              <a:rPr sz="2200" b="1" spc="-80" dirty="0">
                <a:latin typeface="Arial"/>
                <a:cs typeface="Arial"/>
              </a:rPr>
              <a:t>Prospects </a:t>
            </a:r>
            <a:r>
              <a:rPr sz="2200" b="1" spc="40" dirty="0">
                <a:latin typeface="Arial"/>
                <a:cs typeface="Arial"/>
              </a:rPr>
              <a:t>of</a:t>
            </a:r>
            <a:r>
              <a:rPr sz="2200" b="1" spc="315" dirty="0">
                <a:latin typeface="Arial"/>
                <a:cs typeface="Arial"/>
              </a:rPr>
              <a:t> </a:t>
            </a:r>
            <a:r>
              <a:rPr sz="2200" b="1" spc="5" dirty="0">
                <a:latin typeface="Arial"/>
                <a:cs typeface="Arial"/>
              </a:rPr>
              <a:t>AI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4155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0" dirty="0"/>
              <a:t>Development </a:t>
            </a:r>
            <a:r>
              <a:rPr spc="-40" dirty="0"/>
              <a:t>Trends </a:t>
            </a:r>
            <a:r>
              <a:rPr spc="145" dirty="0"/>
              <a:t>of </a:t>
            </a:r>
            <a:r>
              <a:rPr spc="-10" dirty="0"/>
              <a:t>AI</a:t>
            </a:r>
            <a:r>
              <a:rPr spc="290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199133"/>
            <a:ext cx="9807575" cy="2445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latin typeface="Arial"/>
                <a:cs typeface="Arial"/>
              </a:rPr>
              <a:t>Framework: </a:t>
            </a:r>
            <a:r>
              <a:rPr sz="2000" spc="10" dirty="0">
                <a:latin typeface="Arial"/>
                <a:cs typeface="Arial"/>
              </a:rPr>
              <a:t>easier-to-use </a:t>
            </a:r>
            <a:r>
              <a:rPr sz="2000" spc="35" dirty="0">
                <a:latin typeface="Arial"/>
                <a:cs typeface="Arial"/>
              </a:rPr>
              <a:t>development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spc="60" dirty="0">
                <a:latin typeface="Arial"/>
                <a:cs typeface="Arial"/>
              </a:rPr>
              <a:t>framework</a:t>
            </a:r>
            <a:endParaRPr sz="2000">
              <a:latin typeface="Arial"/>
              <a:cs typeface="Arial"/>
            </a:endParaRPr>
          </a:p>
          <a:p>
            <a:pPr marL="12700" marR="433070">
              <a:lnSpc>
                <a:spcPct val="173100"/>
              </a:lnSpc>
              <a:spcBef>
                <a:spcPts val="5"/>
              </a:spcBef>
            </a:pPr>
            <a:r>
              <a:rPr sz="2000" spc="60" dirty="0">
                <a:latin typeface="Arial"/>
                <a:cs typeface="Arial"/>
              </a:rPr>
              <a:t>Algorithm: </a:t>
            </a:r>
            <a:r>
              <a:rPr sz="2000" spc="75" dirty="0">
                <a:latin typeface="Arial"/>
                <a:cs typeface="Arial"/>
              </a:rPr>
              <a:t>algorithm </a:t>
            </a:r>
            <a:r>
              <a:rPr sz="2000" spc="15" dirty="0">
                <a:latin typeface="Arial"/>
                <a:cs typeface="Arial"/>
              </a:rPr>
              <a:t>models </a:t>
            </a:r>
            <a:r>
              <a:rPr sz="2000" spc="105" dirty="0">
                <a:latin typeface="Arial"/>
                <a:cs typeface="Arial"/>
              </a:rPr>
              <a:t>with </a:t>
            </a:r>
            <a:r>
              <a:rPr sz="2000" spc="55" dirty="0">
                <a:latin typeface="Arial"/>
                <a:cs typeface="Arial"/>
              </a:rPr>
              <a:t>better </a:t>
            </a:r>
            <a:r>
              <a:rPr sz="2000" spc="35" dirty="0">
                <a:latin typeface="Arial"/>
                <a:cs typeface="Arial"/>
              </a:rPr>
              <a:t>performance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30" dirty="0">
                <a:latin typeface="Arial"/>
                <a:cs typeface="Arial"/>
              </a:rPr>
              <a:t>smaller </a:t>
            </a:r>
            <a:r>
              <a:rPr sz="2000" spc="-55" dirty="0">
                <a:latin typeface="Arial"/>
                <a:cs typeface="Arial"/>
              </a:rPr>
              <a:t>size  </a:t>
            </a:r>
            <a:r>
              <a:rPr sz="2000" spc="40" dirty="0">
                <a:latin typeface="Arial"/>
                <a:cs typeface="Arial"/>
              </a:rPr>
              <a:t>Computing </a:t>
            </a:r>
            <a:r>
              <a:rPr sz="2000" spc="20" dirty="0">
                <a:latin typeface="Arial"/>
                <a:cs typeface="Arial"/>
              </a:rPr>
              <a:t>power: </a:t>
            </a:r>
            <a:r>
              <a:rPr sz="2000" dirty="0">
                <a:latin typeface="Arial"/>
                <a:cs typeface="Arial"/>
              </a:rPr>
              <a:t>comprehensive </a:t>
            </a:r>
            <a:r>
              <a:rPr sz="2000" spc="35" dirty="0">
                <a:latin typeface="Arial"/>
                <a:cs typeface="Arial"/>
              </a:rPr>
              <a:t>development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10" dirty="0">
                <a:latin typeface="Arial"/>
                <a:cs typeface="Arial"/>
              </a:rPr>
              <a:t>device-edge-cloud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spc="55" dirty="0">
                <a:latin typeface="Arial"/>
                <a:cs typeface="Arial"/>
              </a:rPr>
              <a:t>computing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ts val="4170"/>
              </a:lnSpc>
              <a:spcBef>
                <a:spcPts val="430"/>
              </a:spcBef>
            </a:pPr>
            <a:r>
              <a:rPr sz="2000" spc="10" dirty="0">
                <a:latin typeface="Arial"/>
                <a:cs typeface="Arial"/>
              </a:rPr>
              <a:t>Data: </a:t>
            </a:r>
            <a:r>
              <a:rPr sz="2000" spc="50" dirty="0">
                <a:latin typeface="Arial"/>
                <a:cs typeface="Arial"/>
              </a:rPr>
              <a:t>more </a:t>
            </a:r>
            <a:r>
              <a:rPr sz="2000" dirty="0">
                <a:latin typeface="Arial"/>
                <a:cs typeface="Arial"/>
              </a:rPr>
              <a:t>comprehensive </a:t>
            </a:r>
            <a:r>
              <a:rPr sz="2000" spc="-30" dirty="0">
                <a:latin typeface="Arial"/>
                <a:cs typeface="Arial"/>
              </a:rPr>
              <a:t>basic </a:t>
            </a:r>
            <a:r>
              <a:rPr sz="2000" spc="50" dirty="0">
                <a:latin typeface="Arial"/>
                <a:cs typeface="Arial"/>
              </a:rPr>
              <a:t>data </a:t>
            </a:r>
            <a:r>
              <a:rPr sz="2000" spc="-35" dirty="0">
                <a:latin typeface="Arial"/>
                <a:cs typeface="Arial"/>
              </a:rPr>
              <a:t>service </a:t>
            </a:r>
            <a:r>
              <a:rPr sz="2000" spc="40" dirty="0">
                <a:latin typeface="Arial"/>
                <a:cs typeface="Arial"/>
              </a:rPr>
              <a:t>industry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50" dirty="0">
                <a:latin typeface="Arial"/>
                <a:cs typeface="Arial"/>
              </a:rPr>
              <a:t>more </a:t>
            </a:r>
            <a:r>
              <a:rPr sz="2000" spc="-35" dirty="0">
                <a:latin typeface="Arial"/>
                <a:cs typeface="Arial"/>
              </a:rPr>
              <a:t>secure </a:t>
            </a:r>
            <a:r>
              <a:rPr sz="2000" spc="50" dirty="0">
                <a:latin typeface="Arial"/>
                <a:cs typeface="Arial"/>
              </a:rPr>
              <a:t>data </a:t>
            </a:r>
            <a:r>
              <a:rPr sz="2000" spc="20" dirty="0">
                <a:latin typeface="Arial"/>
                <a:cs typeface="Arial"/>
              </a:rPr>
              <a:t>sharing  </a:t>
            </a:r>
            <a:r>
              <a:rPr sz="2000" spc="-35" dirty="0">
                <a:latin typeface="Arial"/>
                <a:cs typeface="Arial"/>
              </a:rPr>
              <a:t>Scenario: </a:t>
            </a:r>
            <a:r>
              <a:rPr sz="2000" spc="30" dirty="0">
                <a:latin typeface="Arial"/>
                <a:cs typeface="Arial"/>
              </a:rPr>
              <a:t>continuous </a:t>
            </a:r>
            <a:r>
              <a:rPr sz="2000" spc="35" dirty="0">
                <a:latin typeface="Arial"/>
                <a:cs typeface="Arial"/>
              </a:rPr>
              <a:t>breakthroughs </a:t>
            </a:r>
            <a:r>
              <a:rPr sz="2000" spc="65" dirty="0">
                <a:latin typeface="Arial"/>
                <a:cs typeface="Arial"/>
              </a:rPr>
              <a:t>in </a:t>
            </a:r>
            <a:r>
              <a:rPr sz="2000" spc="40" dirty="0">
                <a:latin typeface="Arial"/>
                <a:cs typeface="Arial"/>
              </a:rPr>
              <a:t>industry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25" dirty="0"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1799589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9287" y="2327274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287" y="2856102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9287" y="3384625"/>
            <a:ext cx="1206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73228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Arial"/>
                <a:cs typeface="Arial"/>
              </a:rPr>
              <a:t>Easier-to-Use </a:t>
            </a:r>
            <a:r>
              <a:rPr sz="3200" spc="50" dirty="0">
                <a:latin typeface="Arial"/>
                <a:cs typeface="Arial"/>
              </a:rPr>
              <a:t>Development</a:t>
            </a:r>
            <a:r>
              <a:rPr sz="3200" spc="21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Framework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1733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Various </a:t>
            </a: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35" dirty="0">
                <a:latin typeface="Arial"/>
                <a:cs typeface="Arial"/>
              </a:rPr>
              <a:t>development </a:t>
            </a:r>
            <a:r>
              <a:rPr sz="2000" spc="40" dirty="0">
                <a:latin typeface="Arial"/>
                <a:cs typeface="Arial"/>
              </a:rPr>
              <a:t>frameworks </a:t>
            </a:r>
            <a:r>
              <a:rPr sz="2000" spc="5" dirty="0">
                <a:latin typeface="Arial"/>
                <a:cs typeface="Arial"/>
              </a:rPr>
              <a:t>are </a:t>
            </a:r>
            <a:r>
              <a:rPr sz="2000" spc="25" dirty="0">
                <a:latin typeface="Arial"/>
                <a:cs typeface="Arial"/>
              </a:rPr>
              <a:t>evolving </a:t>
            </a:r>
            <a:r>
              <a:rPr sz="2000" spc="40" dirty="0">
                <a:latin typeface="Arial"/>
                <a:cs typeface="Arial"/>
              </a:rPr>
              <a:t>towards </a:t>
            </a:r>
            <a:r>
              <a:rPr sz="2000" dirty="0">
                <a:latin typeface="Arial"/>
                <a:cs typeface="Arial"/>
              </a:rPr>
              <a:t>ease-of-use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55" dirty="0">
                <a:latin typeface="Arial"/>
                <a:cs typeface="Arial"/>
              </a:rPr>
              <a:t>omnipotent,  </a:t>
            </a:r>
            <a:r>
              <a:rPr sz="2000" spc="30" dirty="0">
                <a:latin typeface="Arial"/>
                <a:cs typeface="Arial"/>
              </a:rPr>
              <a:t>continuously </a:t>
            </a:r>
            <a:r>
              <a:rPr sz="2000" spc="55" dirty="0">
                <a:latin typeface="Arial"/>
                <a:cs typeface="Arial"/>
              </a:rPr>
              <a:t>lowering the </a:t>
            </a:r>
            <a:r>
              <a:rPr sz="2000" spc="35" dirty="0">
                <a:latin typeface="Arial"/>
                <a:cs typeface="Arial"/>
              </a:rPr>
              <a:t>threshold </a:t>
            </a:r>
            <a:r>
              <a:rPr sz="2000" spc="85" dirty="0">
                <a:latin typeface="Arial"/>
                <a:cs typeface="Arial"/>
              </a:rPr>
              <a:t>for </a:t>
            </a:r>
            <a:r>
              <a:rPr sz="2000" spc="-5" dirty="0">
                <a:latin typeface="Arial"/>
                <a:cs typeface="Arial"/>
              </a:rPr>
              <a:t>AI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spc="25" dirty="0">
                <a:latin typeface="Arial"/>
                <a:cs typeface="Arial"/>
              </a:rPr>
              <a:t>development.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62200" y="2313432"/>
            <a:ext cx="7927975" cy="3009265"/>
            <a:chOff x="2362200" y="2313432"/>
            <a:chExt cx="7927975" cy="3009265"/>
          </a:xfrm>
        </p:grpSpPr>
        <p:sp>
          <p:nvSpPr>
            <p:cNvPr id="6" name="object 6"/>
            <p:cNvSpPr/>
            <p:nvPr/>
          </p:nvSpPr>
          <p:spPr>
            <a:xfrm>
              <a:off x="2362200" y="3947160"/>
              <a:ext cx="1891233" cy="13255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19480" y="4530852"/>
              <a:ext cx="4270599" cy="7913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09288" y="2313432"/>
              <a:ext cx="2951988" cy="22174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27508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40" dirty="0">
                <a:latin typeface="Arial"/>
                <a:cs typeface="Arial"/>
              </a:rPr>
              <a:t>Tensorflow</a:t>
            </a:r>
            <a:r>
              <a:rPr sz="3200" spc="75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2.0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965708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000" spc="-5" dirty="0">
                <a:latin typeface="Arial"/>
                <a:cs typeface="Arial"/>
              </a:rPr>
              <a:t>TensorFlow </a:t>
            </a:r>
            <a:r>
              <a:rPr sz="2000" spc="-35" dirty="0">
                <a:latin typeface="Arial"/>
                <a:cs typeface="Arial"/>
              </a:rPr>
              <a:t>2.0 </a:t>
            </a:r>
            <a:r>
              <a:rPr sz="2000" spc="-40" dirty="0">
                <a:latin typeface="Arial"/>
                <a:cs typeface="Arial"/>
              </a:rPr>
              <a:t>has </a:t>
            </a:r>
            <a:r>
              <a:rPr sz="2000" spc="-5" dirty="0">
                <a:latin typeface="Arial"/>
                <a:cs typeface="Arial"/>
              </a:rPr>
              <a:t>been </a:t>
            </a:r>
            <a:r>
              <a:rPr sz="2000" spc="50" dirty="0">
                <a:latin typeface="Arial"/>
                <a:cs typeface="Arial"/>
              </a:rPr>
              <a:t>officially </a:t>
            </a:r>
            <a:r>
              <a:rPr sz="2000" spc="-25" dirty="0">
                <a:latin typeface="Arial"/>
                <a:cs typeface="Arial"/>
              </a:rPr>
              <a:t>released. </a:t>
            </a:r>
            <a:r>
              <a:rPr sz="2000" spc="90" dirty="0">
                <a:latin typeface="Arial"/>
                <a:cs typeface="Arial"/>
              </a:rPr>
              <a:t>It </a:t>
            </a:r>
            <a:r>
              <a:rPr sz="2000" spc="30" dirty="0">
                <a:latin typeface="Arial"/>
                <a:cs typeface="Arial"/>
              </a:rPr>
              <a:t>integrates </a:t>
            </a:r>
            <a:r>
              <a:rPr sz="2000" spc="-55" dirty="0">
                <a:latin typeface="Arial"/>
                <a:cs typeface="Arial"/>
              </a:rPr>
              <a:t>Keras </a:t>
            </a:r>
            <a:r>
              <a:rPr sz="2000" spc="-85" dirty="0">
                <a:latin typeface="Arial"/>
                <a:cs typeface="Arial"/>
              </a:rPr>
              <a:t>as </a:t>
            </a:r>
            <a:r>
              <a:rPr sz="2000" spc="30" dirty="0">
                <a:latin typeface="Arial"/>
                <a:cs typeface="Arial"/>
              </a:rPr>
              <a:t>its </a:t>
            </a:r>
            <a:r>
              <a:rPr sz="2000" spc="45" dirty="0">
                <a:latin typeface="Arial"/>
                <a:cs typeface="Arial"/>
              </a:rPr>
              <a:t>high-level </a:t>
            </a:r>
            <a:r>
              <a:rPr sz="2000" spc="-70" dirty="0">
                <a:latin typeface="Arial"/>
                <a:cs typeface="Arial"/>
              </a:rPr>
              <a:t>API,  </a:t>
            </a:r>
            <a:r>
              <a:rPr sz="2000" spc="40" dirty="0">
                <a:latin typeface="Arial"/>
                <a:cs typeface="Arial"/>
              </a:rPr>
              <a:t>greatly </a:t>
            </a:r>
            <a:r>
              <a:rPr sz="2000" spc="55" dirty="0">
                <a:latin typeface="Arial"/>
                <a:cs typeface="Arial"/>
              </a:rPr>
              <a:t>improving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usability.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28900" y="2319527"/>
            <a:ext cx="6318504" cy="3816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40913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/>
              <a:t>Pytorch </a:t>
            </a:r>
            <a:r>
              <a:rPr spc="-140" dirty="0"/>
              <a:t>vs</a:t>
            </a:r>
            <a:r>
              <a:rPr spc="170" dirty="0"/>
              <a:t> </a:t>
            </a:r>
            <a:r>
              <a:rPr spc="4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199133"/>
            <a:ext cx="7083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>
                <a:latin typeface="Arial"/>
                <a:cs typeface="Arial"/>
              </a:rPr>
              <a:t>PyTorch </a:t>
            </a:r>
            <a:r>
              <a:rPr sz="2000" spc="-45" dirty="0">
                <a:latin typeface="Arial"/>
                <a:cs typeface="Arial"/>
              </a:rPr>
              <a:t>is </a:t>
            </a:r>
            <a:r>
              <a:rPr sz="2000" spc="45" dirty="0">
                <a:latin typeface="Arial"/>
                <a:cs typeface="Arial"/>
              </a:rPr>
              <a:t>widely </a:t>
            </a:r>
            <a:r>
              <a:rPr sz="2000" spc="5" dirty="0">
                <a:latin typeface="Arial"/>
                <a:cs typeface="Arial"/>
              </a:rPr>
              <a:t>recognized </a:t>
            </a:r>
            <a:r>
              <a:rPr sz="2000" spc="10" dirty="0">
                <a:latin typeface="Arial"/>
                <a:cs typeface="Arial"/>
              </a:rPr>
              <a:t>by </a:t>
            </a:r>
            <a:r>
              <a:rPr sz="2000" spc="5" dirty="0">
                <a:latin typeface="Arial"/>
                <a:cs typeface="Arial"/>
              </a:rPr>
              <a:t>academia </a:t>
            </a:r>
            <a:r>
              <a:rPr sz="2000" spc="85" dirty="0">
                <a:latin typeface="Arial"/>
                <a:cs typeface="Arial"/>
              </a:rPr>
              <a:t>for </a:t>
            </a:r>
            <a:r>
              <a:rPr sz="2000" spc="30" dirty="0">
                <a:latin typeface="Arial"/>
                <a:cs typeface="Arial"/>
              </a:rPr>
              <a:t>its </a:t>
            </a:r>
            <a:r>
              <a:rPr sz="2000" spc="-75" dirty="0">
                <a:latin typeface="Arial"/>
                <a:cs typeface="Arial"/>
              </a:rPr>
              <a:t>ease </a:t>
            </a:r>
            <a:r>
              <a:rPr sz="2000" spc="90" dirty="0">
                <a:latin typeface="Arial"/>
                <a:cs typeface="Arial"/>
              </a:rPr>
              <a:t>of</a:t>
            </a:r>
            <a:r>
              <a:rPr sz="2000" spc="63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use.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50571" y="2034216"/>
            <a:ext cx="5728876" cy="37423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52315" y="5785510"/>
            <a:ext cx="3241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Comparison </a:t>
            </a:r>
            <a:r>
              <a:rPr sz="1200" spc="15" dirty="0">
                <a:latin typeface="Arial"/>
                <a:cs typeface="Arial"/>
              </a:rPr>
              <a:t>between </a:t>
            </a:r>
            <a:r>
              <a:rPr sz="1200" spc="-25" dirty="0">
                <a:latin typeface="Arial"/>
                <a:cs typeface="Arial"/>
              </a:rPr>
              <a:t>PyTorch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-10" dirty="0">
                <a:latin typeface="Arial"/>
                <a:cs typeface="Arial"/>
              </a:rPr>
              <a:t>TensorFlow  </a:t>
            </a:r>
            <a:r>
              <a:rPr sz="1200" spc="-20" dirty="0">
                <a:latin typeface="Arial"/>
                <a:cs typeface="Arial"/>
              </a:rPr>
              <a:t>usage </a:t>
            </a:r>
            <a:r>
              <a:rPr sz="1200" spc="-5" dirty="0">
                <a:latin typeface="Arial"/>
                <a:cs typeface="Arial"/>
              </a:rPr>
              <a:t>statistics </a:t>
            </a:r>
            <a:r>
              <a:rPr sz="1200" spc="55" dirty="0">
                <a:latin typeface="Arial"/>
                <a:cs typeface="Arial"/>
              </a:rPr>
              <a:t>of </a:t>
            </a:r>
            <a:r>
              <a:rPr sz="1200" spc="45" dirty="0">
                <a:latin typeface="Arial"/>
                <a:cs typeface="Arial"/>
              </a:rPr>
              <a:t>top </a:t>
            </a:r>
            <a:r>
              <a:rPr sz="1200" spc="-5" dirty="0">
                <a:latin typeface="Arial"/>
                <a:cs typeface="Arial"/>
              </a:rPr>
              <a:t>academic</a:t>
            </a:r>
            <a:r>
              <a:rPr sz="1200" spc="16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conferences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56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80200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5" dirty="0"/>
              <a:t>Algorithms </a:t>
            </a:r>
            <a:r>
              <a:rPr spc="95" dirty="0"/>
              <a:t>Model </a:t>
            </a:r>
            <a:r>
              <a:rPr spc="170" dirty="0"/>
              <a:t>with </a:t>
            </a:r>
            <a:r>
              <a:rPr spc="45" dirty="0"/>
              <a:t>Better</a:t>
            </a:r>
            <a:r>
              <a:rPr spc="20" dirty="0"/>
              <a:t> </a:t>
            </a:r>
            <a:r>
              <a:rPr spc="15" dirty="0"/>
              <a:t>Performance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57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993775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000" spc="35" dirty="0">
                <a:latin typeface="Arial"/>
                <a:cs typeface="Arial"/>
              </a:rPr>
              <a:t>In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45" dirty="0">
                <a:latin typeface="Arial"/>
                <a:cs typeface="Arial"/>
              </a:rPr>
              <a:t>computer </a:t>
            </a:r>
            <a:r>
              <a:rPr sz="2000" spc="10" dirty="0">
                <a:latin typeface="Arial"/>
                <a:cs typeface="Arial"/>
              </a:rPr>
              <a:t>vision </a:t>
            </a:r>
            <a:r>
              <a:rPr sz="2000" spc="30" dirty="0">
                <a:latin typeface="Arial"/>
                <a:cs typeface="Arial"/>
              </a:rPr>
              <a:t>field, </a:t>
            </a:r>
            <a:r>
              <a:rPr sz="2000" spc="-25" dirty="0">
                <a:latin typeface="Arial"/>
                <a:cs typeface="Arial"/>
              </a:rPr>
              <a:t>GAN </a:t>
            </a:r>
            <a:r>
              <a:rPr sz="2000" spc="-40" dirty="0">
                <a:latin typeface="Arial"/>
                <a:cs typeface="Arial"/>
              </a:rPr>
              <a:t>has </a:t>
            </a:r>
            <a:r>
              <a:rPr sz="2000" spc="-5" dirty="0">
                <a:latin typeface="Arial"/>
                <a:cs typeface="Arial"/>
              </a:rPr>
              <a:t>been </a:t>
            </a:r>
            <a:r>
              <a:rPr sz="2000" spc="15" dirty="0">
                <a:latin typeface="Arial"/>
                <a:cs typeface="Arial"/>
              </a:rPr>
              <a:t>able </a:t>
            </a:r>
            <a:r>
              <a:rPr sz="2000" spc="100" dirty="0">
                <a:latin typeface="Arial"/>
                <a:cs typeface="Arial"/>
              </a:rPr>
              <a:t>to </a:t>
            </a:r>
            <a:r>
              <a:rPr sz="2000" spc="20" dirty="0">
                <a:latin typeface="Arial"/>
                <a:cs typeface="Arial"/>
              </a:rPr>
              <a:t>generate </a:t>
            </a:r>
            <a:r>
              <a:rPr sz="2000" spc="65" dirty="0">
                <a:latin typeface="Arial"/>
                <a:cs typeface="Arial"/>
              </a:rPr>
              <a:t>high-quality </a:t>
            </a:r>
            <a:r>
              <a:rPr sz="2000" spc="5" dirty="0">
                <a:latin typeface="Arial"/>
                <a:cs typeface="Arial"/>
              </a:rPr>
              <a:t>images </a:t>
            </a:r>
            <a:r>
              <a:rPr sz="2000" spc="95" dirty="0">
                <a:latin typeface="Arial"/>
                <a:cs typeface="Arial"/>
              </a:rPr>
              <a:t>that  </a:t>
            </a:r>
            <a:r>
              <a:rPr sz="2000" spc="35" dirty="0">
                <a:latin typeface="Arial"/>
                <a:cs typeface="Arial"/>
              </a:rPr>
              <a:t>cannot </a:t>
            </a:r>
            <a:r>
              <a:rPr sz="2000" spc="-10" dirty="0">
                <a:latin typeface="Arial"/>
                <a:cs typeface="Arial"/>
              </a:rPr>
              <a:t>be </a:t>
            </a:r>
            <a:r>
              <a:rPr sz="2000" spc="50" dirty="0">
                <a:latin typeface="Arial"/>
                <a:cs typeface="Arial"/>
              </a:rPr>
              <a:t>identified </a:t>
            </a:r>
            <a:r>
              <a:rPr sz="2000" spc="10" dirty="0">
                <a:latin typeface="Arial"/>
                <a:cs typeface="Arial"/>
              </a:rPr>
              <a:t>by </a:t>
            </a:r>
            <a:r>
              <a:rPr sz="2000" spc="60" dirty="0">
                <a:latin typeface="Arial"/>
                <a:cs typeface="Arial"/>
              </a:rPr>
              <a:t>human </a:t>
            </a:r>
            <a:r>
              <a:rPr sz="2000" spc="-80" dirty="0">
                <a:latin typeface="Arial"/>
                <a:cs typeface="Arial"/>
              </a:rPr>
              <a:t>eyes. </a:t>
            </a:r>
            <a:r>
              <a:rPr sz="2000" spc="30" dirty="0">
                <a:latin typeface="Arial"/>
                <a:cs typeface="Arial"/>
              </a:rPr>
              <a:t>GAN-related </a:t>
            </a:r>
            <a:r>
              <a:rPr sz="2000" spc="50" dirty="0">
                <a:latin typeface="Arial"/>
                <a:cs typeface="Arial"/>
              </a:rPr>
              <a:t>algorithms </a:t>
            </a:r>
            <a:r>
              <a:rPr sz="2000" spc="-10" dirty="0">
                <a:latin typeface="Arial"/>
                <a:cs typeface="Arial"/>
              </a:rPr>
              <a:t>have </a:t>
            </a:r>
            <a:r>
              <a:rPr sz="2000" spc="-5" dirty="0">
                <a:latin typeface="Arial"/>
                <a:cs typeface="Arial"/>
              </a:rPr>
              <a:t>been </a:t>
            </a:r>
            <a:r>
              <a:rPr sz="2000" spc="25" dirty="0">
                <a:latin typeface="Arial"/>
                <a:cs typeface="Arial"/>
              </a:rPr>
              <a:t>applied </a:t>
            </a:r>
            <a:r>
              <a:rPr sz="2000" spc="100" dirty="0">
                <a:latin typeface="Arial"/>
                <a:cs typeface="Arial"/>
              </a:rPr>
              <a:t>to  </a:t>
            </a:r>
            <a:r>
              <a:rPr sz="2000" spc="55" dirty="0">
                <a:latin typeface="Arial"/>
                <a:cs typeface="Arial"/>
              </a:rPr>
              <a:t>other </a:t>
            </a:r>
            <a:r>
              <a:rPr sz="2000" spc="30" dirty="0">
                <a:latin typeface="Arial"/>
                <a:cs typeface="Arial"/>
              </a:rPr>
              <a:t>vision-related </a:t>
            </a:r>
            <a:r>
              <a:rPr sz="2000" spc="-30" dirty="0">
                <a:latin typeface="Arial"/>
                <a:cs typeface="Arial"/>
              </a:rPr>
              <a:t>tasks, such </a:t>
            </a:r>
            <a:r>
              <a:rPr sz="2000" spc="-85" dirty="0">
                <a:latin typeface="Arial"/>
                <a:cs typeface="Arial"/>
              </a:rPr>
              <a:t>as </a:t>
            </a:r>
            <a:r>
              <a:rPr sz="2000" spc="15" dirty="0">
                <a:latin typeface="Arial"/>
                <a:cs typeface="Arial"/>
              </a:rPr>
              <a:t>semantic </a:t>
            </a:r>
            <a:r>
              <a:rPr sz="2000" spc="30" dirty="0">
                <a:latin typeface="Arial"/>
                <a:cs typeface="Arial"/>
              </a:rPr>
              <a:t>segmentation, facial recognition, </a:t>
            </a:r>
            <a:r>
              <a:rPr sz="2000" spc="10" dirty="0">
                <a:latin typeface="Arial"/>
                <a:cs typeface="Arial"/>
              </a:rPr>
              <a:t>video  </a:t>
            </a:r>
            <a:r>
              <a:rPr sz="2000" spc="-25" dirty="0">
                <a:latin typeface="Arial"/>
                <a:cs typeface="Arial"/>
              </a:rPr>
              <a:t>synthesis,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-5" dirty="0">
                <a:latin typeface="Arial"/>
                <a:cs typeface="Arial"/>
              </a:rPr>
              <a:t>unsupervised</a:t>
            </a:r>
            <a:r>
              <a:rPr sz="2000" spc="14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clustering.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3080130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886938"/>
            <a:ext cx="974979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000" spc="35" dirty="0">
                <a:latin typeface="Arial"/>
                <a:cs typeface="Arial"/>
              </a:rPr>
              <a:t>In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NLP </a:t>
            </a:r>
            <a:r>
              <a:rPr sz="2000" spc="30" dirty="0">
                <a:latin typeface="Arial"/>
                <a:cs typeface="Arial"/>
              </a:rPr>
              <a:t>field,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60" dirty="0">
                <a:latin typeface="Arial"/>
                <a:cs typeface="Arial"/>
              </a:rPr>
              <a:t>pre-training </a:t>
            </a:r>
            <a:r>
              <a:rPr sz="2000" spc="50" dirty="0">
                <a:latin typeface="Arial"/>
                <a:cs typeface="Arial"/>
              </a:rPr>
              <a:t>model </a:t>
            </a:r>
            <a:r>
              <a:rPr sz="2000" spc="-30" dirty="0">
                <a:latin typeface="Arial"/>
                <a:cs typeface="Arial"/>
              </a:rPr>
              <a:t>based </a:t>
            </a:r>
            <a:r>
              <a:rPr sz="2000" spc="45" dirty="0">
                <a:latin typeface="Arial"/>
                <a:cs typeface="Arial"/>
              </a:rPr>
              <a:t>on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25" dirty="0">
                <a:latin typeface="Arial"/>
                <a:cs typeface="Arial"/>
              </a:rPr>
              <a:t>Transformer </a:t>
            </a:r>
            <a:r>
              <a:rPr sz="2000" spc="30" dirty="0">
                <a:latin typeface="Arial"/>
                <a:cs typeface="Arial"/>
              </a:rPr>
              <a:t>architecture </a:t>
            </a:r>
            <a:r>
              <a:rPr sz="2000" spc="-40" dirty="0">
                <a:latin typeface="Arial"/>
                <a:cs typeface="Arial"/>
              </a:rPr>
              <a:t>has  </a:t>
            </a:r>
            <a:r>
              <a:rPr sz="2000" spc="25" dirty="0">
                <a:latin typeface="Arial"/>
                <a:cs typeface="Arial"/>
              </a:rPr>
              <a:t>made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35" dirty="0">
                <a:latin typeface="Arial"/>
                <a:cs typeface="Arial"/>
              </a:rPr>
              <a:t>significant </a:t>
            </a:r>
            <a:r>
              <a:rPr sz="2000" spc="40" dirty="0">
                <a:latin typeface="Arial"/>
                <a:cs typeface="Arial"/>
              </a:rPr>
              <a:t>breakthrough. </a:t>
            </a:r>
            <a:r>
              <a:rPr sz="2000" spc="-10" dirty="0">
                <a:latin typeface="Arial"/>
                <a:cs typeface="Arial"/>
              </a:rPr>
              <a:t>Related </a:t>
            </a:r>
            <a:r>
              <a:rPr sz="2000" spc="15" dirty="0">
                <a:latin typeface="Arial"/>
                <a:cs typeface="Arial"/>
              </a:rPr>
              <a:t>models </a:t>
            </a:r>
            <a:r>
              <a:rPr sz="2000" spc="-30" dirty="0">
                <a:latin typeface="Arial"/>
                <a:cs typeface="Arial"/>
              </a:rPr>
              <a:t>such </a:t>
            </a:r>
            <a:r>
              <a:rPr sz="2000" spc="-85" dirty="0">
                <a:latin typeface="Arial"/>
                <a:cs typeface="Arial"/>
              </a:rPr>
              <a:t>as </a:t>
            </a:r>
            <a:r>
              <a:rPr sz="2000" spc="-160" dirty="0">
                <a:latin typeface="Arial"/>
                <a:cs typeface="Arial"/>
              </a:rPr>
              <a:t>BERT, </a:t>
            </a:r>
            <a:r>
              <a:rPr sz="2000" spc="-125" dirty="0">
                <a:latin typeface="Arial"/>
                <a:cs typeface="Arial"/>
              </a:rPr>
              <a:t>GPT,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-20" dirty="0">
                <a:latin typeface="Arial"/>
                <a:cs typeface="Arial"/>
              </a:rPr>
              <a:t>XLNet </a:t>
            </a:r>
            <a:r>
              <a:rPr sz="2000" dirty="0">
                <a:latin typeface="Arial"/>
                <a:cs typeface="Arial"/>
              </a:rPr>
              <a:t>are  </a:t>
            </a:r>
            <a:r>
              <a:rPr sz="2000" spc="45" dirty="0">
                <a:latin typeface="Arial"/>
                <a:cs typeface="Arial"/>
              </a:rPr>
              <a:t>widely </a:t>
            </a:r>
            <a:r>
              <a:rPr sz="2000" spc="-30" dirty="0">
                <a:latin typeface="Arial"/>
                <a:cs typeface="Arial"/>
              </a:rPr>
              <a:t>used </a:t>
            </a:r>
            <a:r>
              <a:rPr sz="2000" spc="60" dirty="0">
                <a:latin typeface="Arial"/>
                <a:cs typeface="Arial"/>
              </a:rPr>
              <a:t>in </a:t>
            </a:r>
            <a:r>
              <a:rPr sz="2000" spc="50" dirty="0">
                <a:latin typeface="Arial"/>
                <a:cs typeface="Arial"/>
              </a:rPr>
              <a:t>industrial</a:t>
            </a:r>
            <a:r>
              <a:rPr sz="2000" spc="16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scenarios.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287" y="4461128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1039" y="4267420"/>
            <a:ext cx="10021570" cy="88011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000" spc="35" dirty="0">
                <a:latin typeface="Arial"/>
                <a:cs typeface="Arial"/>
              </a:rPr>
              <a:t>In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40" dirty="0">
                <a:latin typeface="Arial"/>
                <a:cs typeface="Arial"/>
              </a:rPr>
              <a:t>reinforcement </a:t>
            </a:r>
            <a:r>
              <a:rPr sz="2000" spc="45" dirty="0">
                <a:latin typeface="Arial"/>
                <a:cs typeface="Arial"/>
              </a:rPr>
              <a:t>learning </a:t>
            </a:r>
            <a:r>
              <a:rPr sz="2000" spc="35" dirty="0">
                <a:latin typeface="Arial"/>
                <a:cs typeface="Arial"/>
              </a:rPr>
              <a:t>field, </a:t>
            </a:r>
            <a:r>
              <a:rPr sz="2000" spc="15" dirty="0">
                <a:latin typeface="Arial"/>
                <a:cs typeface="Arial"/>
              </a:rPr>
              <a:t>AlphaStar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30" dirty="0">
                <a:latin typeface="Arial"/>
                <a:cs typeface="Arial"/>
              </a:rPr>
              <a:t>DeepMind </a:t>
            </a:r>
            <a:r>
              <a:rPr sz="2000" spc="60" dirty="0">
                <a:latin typeface="Arial"/>
                <a:cs typeface="Arial"/>
              </a:rPr>
              <a:t>team </a:t>
            </a:r>
            <a:r>
              <a:rPr sz="2000" spc="25" dirty="0">
                <a:latin typeface="Arial"/>
                <a:cs typeface="Arial"/>
              </a:rPr>
              <a:t>defeated </a:t>
            </a:r>
            <a:r>
              <a:rPr sz="2000" spc="55" dirty="0">
                <a:latin typeface="Arial"/>
                <a:cs typeface="Arial"/>
              </a:rPr>
              <a:t>the</a:t>
            </a:r>
            <a:r>
              <a:rPr sz="2000" spc="215" dirty="0">
                <a:latin typeface="Arial"/>
                <a:cs typeface="Arial"/>
              </a:rPr>
              <a:t> </a:t>
            </a:r>
            <a:r>
              <a:rPr sz="2000" spc="80" dirty="0">
                <a:latin typeface="Arial"/>
                <a:cs typeface="Arial"/>
              </a:rPr>
              <a:t>top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spc="60" dirty="0">
                <a:latin typeface="Arial"/>
                <a:cs typeface="Arial"/>
              </a:rPr>
              <a:t>human </a:t>
            </a:r>
            <a:r>
              <a:rPr sz="2000" spc="25" dirty="0">
                <a:latin typeface="Arial"/>
                <a:cs typeface="Arial"/>
              </a:rPr>
              <a:t>player </a:t>
            </a:r>
            <a:r>
              <a:rPr sz="2000" spc="60" dirty="0">
                <a:latin typeface="Arial"/>
                <a:cs typeface="Arial"/>
              </a:rPr>
              <a:t>in </a:t>
            </a:r>
            <a:r>
              <a:rPr sz="2000" spc="10" dirty="0">
                <a:latin typeface="Arial"/>
                <a:cs typeface="Arial"/>
              </a:rPr>
              <a:t>StarCraft</a:t>
            </a:r>
            <a:r>
              <a:rPr sz="2000" spc="114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II.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9287" y="5417058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1039" y="5345379"/>
            <a:ext cx="1993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7175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" dirty="0"/>
              <a:t>Smaller </a:t>
            </a:r>
            <a:r>
              <a:rPr spc="-30" dirty="0"/>
              <a:t>Deep </a:t>
            </a:r>
            <a:r>
              <a:rPr spc="25" dirty="0"/>
              <a:t>Learning</a:t>
            </a:r>
            <a:r>
              <a:rPr spc="270" dirty="0"/>
              <a:t> </a:t>
            </a:r>
            <a:r>
              <a:rPr spc="35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29335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sz="2000" spc="-25" dirty="0">
                <a:latin typeface="Arial"/>
                <a:cs typeface="Arial"/>
              </a:rPr>
              <a:t>A </a:t>
            </a:r>
            <a:r>
              <a:rPr sz="2000" spc="50" dirty="0">
                <a:latin typeface="Arial"/>
                <a:cs typeface="Arial"/>
              </a:rPr>
              <a:t>model </a:t>
            </a:r>
            <a:r>
              <a:rPr sz="2000" spc="105" dirty="0">
                <a:latin typeface="Arial"/>
                <a:cs typeface="Arial"/>
              </a:rPr>
              <a:t>with </a:t>
            </a:r>
            <a:r>
              <a:rPr sz="2000" spc="55" dirty="0">
                <a:latin typeface="Arial"/>
                <a:cs typeface="Arial"/>
              </a:rPr>
              <a:t>better </a:t>
            </a:r>
            <a:r>
              <a:rPr sz="2000" spc="30" dirty="0">
                <a:latin typeface="Arial"/>
                <a:cs typeface="Arial"/>
              </a:rPr>
              <a:t>performance </a:t>
            </a:r>
            <a:r>
              <a:rPr sz="2000" spc="20" dirty="0">
                <a:latin typeface="Arial"/>
                <a:cs typeface="Arial"/>
              </a:rPr>
              <a:t>usually </a:t>
            </a:r>
            <a:r>
              <a:rPr sz="2000" spc="-35" dirty="0">
                <a:latin typeface="Arial"/>
                <a:cs typeface="Arial"/>
              </a:rPr>
              <a:t>has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40" dirty="0">
                <a:latin typeface="Arial"/>
                <a:cs typeface="Arial"/>
              </a:rPr>
              <a:t>larger </a:t>
            </a:r>
            <a:r>
              <a:rPr sz="2000" spc="65" dirty="0">
                <a:latin typeface="Arial"/>
                <a:cs typeface="Arial"/>
              </a:rPr>
              <a:t>quantity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10" dirty="0">
                <a:latin typeface="Arial"/>
                <a:cs typeface="Arial"/>
              </a:rPr>
              <a:t>parameters,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-5" dirty="0">
                <a:latin typeface="Arial"/>
                <a:cs typeface="Arial"/>
              </a:rPr>
              <a:t>a  </a:t>
            </a:r>
            <a:r>
              <a:rPr sz="2000" spc="30" dirty="0">
                <a:latin typeface="Arial"/>
                <a:cs typeface="Arial"/>
              </a:rPr>
              <a:t>large </a:t>
            </a:r>
            <a:r>
              <a:rPr sz="2000" spc="45" dirty="0">
                <a:latin typeface="Arial"/>
                <a:cs typeface="Arial"/>
              </a:rPr>
              <a:t>model </a:t>
            </a:r>
            <a:r>
              <a:rPr sz="2000" spc="-40" dirty="0">
                <a:latin typeface="Arial"/>
                <a:cs typeface="Arial"/>
              </a:rPr>
              <a:t>has </a:t>
            </a:r>
            <a:r>
              <a:rPr sz="2000" spc="60" dirty="0">
                <a:latin typeface="Arial"/>
                <a:cs typeface="Arial"/>
              </a:rPr>
              <a:t>lower </a:t>
            </a:r>
            <a:r>
              <a:rPr sz="2000" spc="55" dirty="0">
                <a:latin typeface="Arial"/>
                <a:cs typeface="Arial"/>
              </a:rPr>
              <a:t>running </a:t>
            </a:r>
            <a:r>
              <a:rPr sz="2000" spc="10" dirty="0">
                <a:latin typeface="Arial"/>
                <a:cs typeface="Arial"/>
              </a:rPr>
              <a:t>efficiency </a:t>
            </a:r>
            <a:r>
              <a:rPr sz="2000" spc="65" dirty="0">
                <a:latin typeface="Arial"/>
                <a:cs typeface="Arial"/>
              </a:rPr>
              <a:t>in </a:t>
            </a:r>
            <a:r>
              <a:rPr sz="2000" spc="45" dirty="0">
                <a:latin typeface="Arial"/>
                <a:cs typeface="Arial"/>
              </a:rPr>
              <a:t>industrial </a:t>
            </a:r>
            <a:r>
              <a:rPr sz="2000" spc="15" dirty="0">
                <a:latin typeface="Arial"/>
                <a:cs typeface="Arial"/>
              </a:rPr>
              <a:t>applications. </a:t>
            </a:r>
            <a:r>
              <a:rPr sz="2000" spc="60" dirty="0">
                <a:latin typeface="Arial"/>
                <a:cs typeface="Arial"/>
              </a:rPr>
              <a:t>More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45" dirty="0">
                <a:latin typeface="Arial"/>
                <a:cs typeface="Arial"/>
              </a:rPr>
              <a:t>more  </a:t>
            </a:r>
            <a:r>
              <a:rPr sz="2000" spc="50" dirty="0">
                <a:latin typeface="Arial"/>
                <a:cs typeface="Arial"/>
              </a:rPr>
              <a:t>model </a:t>
            </a:r>
            <a:r>
              <a:rPr sz="2000" spc="-5" dirty="0">
                <a:latin typeface="Arial"/>
                <a:cs typeface="Arial"/>
              </a:rPr>
              <a:t>compression </a:t>
            </a:r>
            <a:r>
              <a:rPr sz="2000" spc="10" dirty="0">
                <a:latin typeface="Arial"/>
                <a:cs typeface="Arial"/>
              </a:rPr>
              <a:t>technologies </a:t>
            </a:r>
            <a:r>
              <a:rPr sz="2000" spc="5" dirty="0">
                <a:latin typeface="Arial"/>
                <a:cs typeface="Arial"/>
              </a:rPr>
              <a:t>are proposed </a:t>
            </a:r>
            <a:r>
              <a:rPr sz="2000" spc="100" dirty="0">
                <a:latin typeface="Arial"/>
                <a:cs typeface="Arial"/>
              </a:rPr>
              <a:t>to </a:t>
            </a:r>
            <a:r>
              <a:rPr sz="2000" spc="75" dirty="0">
                <a:latin typeface="Arial"/>
                <a:cs typeface="Arial"/>
              </a:rPr>
              <a:t>further </a:t>
            </a:r>
            <a:r>
              <a:rPr sz="2000" spc="-25" dirty="0">
                <a:latin typeface="Arial"/>
                <a:cs typeface="Arial"/>
              </a:rPr>
              <a:t>compress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45" dirty="0">
                <a:latin typeface="Arial"/>
                <a:cs typeface="Arial"/>
              </a:rPr>
              <a:t>model </a:t>
            </a:r>
            <a:r>
              <a:rPr sz="2000" spc="-55" dirty="0">
                <a:latin typeface="Arial"/>
                <a:cs typeface="Arial"/>
              </a:rPr>
              <a:t>size </a:t>
            </a:r>
            <a:r>
              <a:rPr sz="2000" spc="60" dirty="0">
                <a:latin typeface="Arial"/>
                <a:cs typeface="Arial"/>
              </a:rPr>
              <a:t>while  </a:t>
            </a:r>
            <a:r>
              <a:rPr sz="2000" spc="20" dirty="0">
                <a:latin typeface="Arial"/>
                <a:cs typeface="Arial"/>
              </a:rPr>
              <a:t>ensuring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50" dirty="0">
                <a:latin typeface="Arial"/>
                <a:cs typeface="Arial"/>
              </a:rPr>
              <a:t>model </a:t>
            </a:r>
            <a:r>
              <a:rPr sz="2000" spc="25" dirty="0">
                <a:latin typeface="Arial"/>
                <a:cs typeface="Arial"/>
              </a:rPr>
              <a:t>performance, </a:t>
            </a:r>
            <a:r>
              <a:rPr sz="2000" spc="50" dirty="0">
                <a:latin typeface="Arial"/>
                <a:cs typeface="Arial"/>
              </a:rPr>
              <a:t>meeting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30" dirty="0">
                <a:latin typeface="Arial"/>
                <a:cs typeface="Arial"/>
              </a:rPr>
              <a:t>requirements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50" dirty="0">
                <a:latin typeface="Arial"/>
                <a:cs typeface="Arial"/>
              </a:rPr>
              <a:t>industrial</a:t>
            </a:r>
            <a:r>
              <a:rPr sz="2000" spc="9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applications.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4755" y="3046603"/>
            <a:ext cx="127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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3388" y="2982595"/>
            <a:ext cx="257492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0" dirty="0">
                <a:latin typeface="Arial"/>
                <a:cs typeface="Arial"/>
              </a:rPr>
              <a:t>Low </a:t>
            </a:r>
            <a:r>
              <a:rPr sz="1800" spc="40" dirty="0">
                <a:latin typeface="Arial"/>
                <a:cs typeface="Arial"/>
              </a:rPr>
              <a:t>rank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40" dirty="0">
                <a:latin typeface="Arial"/>
                <a:cs typeface="Arial"/>
              </a:rPr>
              <a:t>approximation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800" spc="60" dirty="0">
                <a:latin typeface="Arial"/>
                <a:cs typeface="Arial"/>
              </a:rPr>
              <a:t>Network</a:t>
            </a:r>
            <a:r>
              <a:rPr sz="1800" spc="50" dirty="0">
                <a:latin typeface="Arial"/>
                <a:cs typeface="Arial"/>
              </a:rPr>
              <a:t> pruning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4755" y="3520820"/>
            <a:ext cx="127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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4755" y="3993260"/>
            <a:ext cx="127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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3388" y="3929253"/>
            <a:ext cx="2614930" cy="124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Arial"/>
                <a:cs typeface="Arial"/>
              </a:rPr>
              <a:t>Network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45" dirty="0">
                <a:latin typeface="Arial"/>
                <a:cs typeface="Arial"/>
              </a:rPr>
              <a:t>quantification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800" spc="10" dirty="0">
                <a:latin typeface="Arial"/>
                <a:cs typeface="Arial"/>
              </a:rPr>
              <a:t>Knowledge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45" dirty="0">
                <a:latin typeface="Arial"/>
                <a:cs typeface="Arial"/>
              </a:rPr>
              <a:t>distillation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1800" spc="5" dirty="0">
                <a:latin typeface="Arial"/>
                <a:cs typeface="Arial"/>
              </a:rPr>
              <a:t>Compact </a:t>
            </a:r>
            <a:r>
              <a:rPr sz="1800" spc="55" dirty="0">
                <a:latin typeface="Arial"/>
                <a:cs typeface="Arial"/>
              </a:rPr>
              <a:t>network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4755" y="4465701"/>
            <a:ext cx="127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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4755" y="4940045"/>
            <a:ext cx="127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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66204" y="3070860"/>
            <a:ext cx="3313176" cy="3014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231248" y="5402960"/>
            <a:ext cx="7315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 indent="-21590">
              <a:lnSpc>
                <a:spcPct val="100000"/>
              </a:lnSpc>
              <a:spcBef>
                <a:spcPts val="100"/>
              </a:spcBef>
            </a:pPr>
            <a:r>
              <a:rPr sz="1100" spc="-65" dirty="0">
                <a:latin typeface="Arial"/>
                <a:cs typeface="Arial"/>
              </a:rPr>
              <a:t>K</a:t>
            </a:r>
            <a:r>
              <a:rPr sz="1100" spc="20" dirty="0">
                <a:latin typeface="Arial"/>
                <a:cs typeface="Arial"/>
              </a:rPr>
              <a:t>n</a:t>
            </a:r>
            <a:r>
              <a:rPr sz="1100" spc="25" dirty="0">
                <a:latin typeface="Arial"/>
                <a:cs typeface="Arial"/>
              </a:rPr>
              <a:t>o</a:t>
            </a:r>
            <a:r>
              <a:rPr sz="1100" spc="65" dirty="0">
                <a:latin typeface="Arial"/>
                <a:cs typeface="Arial"/>
              </a:rPr>
              <a:t>w</a:t>
            </a:r>
            <a:r>
              <a:rPr sz="1100" spc="10" dirty="0">
                <a:latin typeface="Arial"/>
                <a:cs typeface="Arial"/>
              </a:rPr>
              <a:t>le</a:t>
            </a:r>
            <a:r>
              <a:rPr sz="1100" dirty="0">
                <a:latin typeface="Arial"/>
                <a:cs typeface="Arial"/>
              </a:rPr>
              <a:t>dge  </a:t>
            </a:r>
            <a:r>
              <a:rPr sz="1100" spc="25" dirty="0">
                <a:latin typeface="Arial"/>
                <a:cs typeface="Arial"/>
              </a:rPr>
              <a:t>distillation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58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493122" y="4146930"/>
            <a:ext cx="574040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latin typeface="Arial"/>
                <a:cs typeface="Arial"/>
              </a:rPr>
              <a:t>Network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100" spc="30" dirty="0">
                <a:latin typeface="Arial"/>
                <a:cs typeface="Arial"/>
              </a:rPr>
              <a:t>pruning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82788" y="4462653"/>
            <a:ext cx="11760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448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latin typeface="Arial"/>
                <a:cs typeface="Arial"/>
              </a:rPr>
              <a:t>Model  </a:t>
            </a:r>
            <a:r>
              <a:rPr sz="1600" spc="-20" dirty="0">
                <a:latin typeface="Arial"/>
                <a:cs typeface="Arial"/>
              </a:rPr>
              <a:t>co</a:t>
            </a:r>
            <a:r>
              <a:rPr sz="1600" spc="75" dirty="0">
                <a:latin typeface="Arial"/>
                <a:cs typeface="Arial"/>
              </a:rPr>
              <a:t>m</a:t>
            </a:r>
            <a:r>
              <a:rPr sz="1600" spc="40" dirty="0">
                <a:latin typeface="Arial"/>
                <a:cs typeface="Arial"/>
              </a:rPr>
              <a:t>p</a:t>
            </a:r>
            <a:r>
              <a:rPr sz="1600" spc="-60" dirty="0">
                <a:latin typeface="Arial"/>
                <a:cs typeface="Arial"/>
              </a:rPr>
              <a:t>res</a:t>
            </a:r>
            <a:r>
              <a:rPr sz="1600" spc="-75" dirty="0">
                <a:latin typeface="Arial"/>
                <a:cs typeface="Arial"/>
              </a:rPr>
              <a:t>s</a:t>
            </a:r>
            <a:r>
              <a:rPr sz="1600" spc="20" dirty="0">
                <a:latin typeface="Arial"/>
                <a:cs typeface="Arial"/>
              </a:rPr>
              <a:t>i</a:t>
            </a:r>
            <a:r>
              <a:rPr sz="1600" spc="60" dirty="0">
                <a:latin typeface="Arial"/>
                <a:cs typeface="Arial"/>
              </a:rPr>
              <a:t>o</a:t>
            </a:r>
            <a:r>
              <a:rPr sz="1600" spc="4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25308" y="5385561"/>
            <a:ext cx="90741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5735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latin typeface="Arial"/>
                <a:cs typeface="Arial"/>
              </a:rPr>
              <a:t>Network  </a:t>
            </a:r>
            <a:r>
              <a:rPr sz="1100" spc="20" dirty="0">
                <a:latin typeface="Arial"/>
                <a:cs typeface="Arial"/>
              </a:rPr>
              <a:t>q</a:t>
            </a:r>
            <a:r>
              <a:rPr sz="1100" spc="25" dirty="0">
                <a:latin typeface="Arial"/>
                <a:cs typeface="Arial"/>
              </a:rPr>
              <a:t>u</a:t>
            </a:r>
            <a:r>
              <a:rPr sz="1100" spc="10" dirty="0">
                <a:latin typeface="Arial"/>
                <a:cs typeface="Arial"/>
              </a:rPr>
              <a:t>a</a:t>
            </a:r>
            <a:r>
              <a:rPr sz="1100" spc="15" dirty="0">
                <a:latin typeface="Arial"/>
                <a:cs typeface="Arial"/>
              </a:rPr>
              <a:t>n</a:t>
            </a:r>
            <a:r>
              <a:rPr sz="1100" spc="90" dirty="0">
                <a:latin typeface="Arial"/>
                <a:cs typeface="Arial"/>
              </a:rPr>
              <a:t>t</a:t>
            </a:r>
            <a:r>
              <a:rPr sz="1100" spc="25" dirty="0">
                <a:latin typeface="Arial"/>
                <a:cs typeface="Arial"/>
              </a:rPr>
              <a:t>i</a:t>
            </a:r>
            <a:r>
              <a:rPr sz="1100" spc="60" dirty="0">
                <a:latin typeface="Arial"/>
                <a:cs typeface="Arial"/>
              </a:rPr>
              <a:t>f</a:t>
            </a:r>
            <a:r>
              <a:rPr sz="1100" spc="40" dirty="0">
                <a:latin typeface="Arial"/>
                <a:cs typeface="Arial"/>
              </a:rPr>
              <a:t>i</a:t>
            </a:r>
            <a:r>
              <a:rPr sz="1100" spc="15" dirty="0">
                <a:latin typeface="Arial"/>
                <a:cs typeface="Arial"/>
              </a:rPr>
              <a:t>ca</a:t>
            </a:r>
            <a:r>
              <a:rPr sz="1100" spc="5" dirty="0">
                <a:latin typeface="Arial"/>
                <a:cs typeface="Arial"/>
              </a:rPr>
              <a:t>t</a:t>
            </a:r>
            <a:r>
              <a:rPr sz="1100" spc="25" dirty="0">
                <a:latin typeface="Arial"/>
                <a:cs typeface="Arial"/>
              </a:rPr>
              <a:t>i</a:t>
            </a:r>
            <a:r>
              <a:rPr sz="1100" spc="20" dirty="0">
                <a:latin typeface="Arial"/>
                <a:cs typeface="Arial"/>
              </a:rPr>
              <a:t>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03795" y="4099686"/>
            <a:ext cx="86486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0495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Arial"/>
                <a:cs typeface="Arial"/>
              </a:rPr>
              <a:t>Low </a:t>
            </a:r>
            <a:r>
              <a:rPr sz="1000" spc="20" dirty="0">
                <a:latin typeface="Arial"/>
                <a:cs typeface="Arial"/>
              </a:rPr>
              <a:t>rank 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5" dirty="0">
                <a:latin typeface="Arial"/>
                <a:cs typeface="Arial"/>
              </a:rPr>
              <a:t>p</a:t>
            </a:r>
            <a:r>
              <a:rPr sz="1000" spc="15" dirty="0">
                <a:latin typeface="Arial"/>
                <a:cs typeface="Arial"/>
              </a:rPr>
              <a:t>p</a:t>
            </a:r>
            <a:r>
              <a:rPr sz="1000" spc="20" dirty="0">
                <a:latin typeface="Arial"/>
                <a:cs typeface="Arial"/>
              </a:rPr>
              <a:t>rox</a:t>
            </a:r>
            <a:r>
              <a:rPr sz="1000" dirty="0">
                <a:latin typeface="Arial"/>
                <a:cs typeface="Arial"/>
              </a:rPr>
              <a:t>i</a:t>
            </a:r>
            <a:r>
              <a:rPr sz="1000" spc="30" dirty="0">
                <a:latin typeface="Arial"/>
                <a:cs typeface="Arial"/>
              </a:rPr>
              <a:t>mation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90306" y="3252596"/>
            <a:ext cx="78422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100" spc="35" dirty="0">
                <a:latin typeface="Arial"/>
                <a:cs typeface="Arial"/>
              </a:rPr>
              <a:t>Network  </a:t>
            </a:r>
            <a:r>
              <a:rPr sz="1100" spc="15" dirty="0">
                <a:latin typeface="Arial"/>
                <a:cs typeface="Arial"/>
              </a:rPr>
              <a:t>ar</a:t>
            </a:r>
            <a:r>
              <a:rPr sz="1100" spc="10" dirty="0">
                <a:latin typeface="Arial"/>
                <a:cs typeface="Arial"/>
              </a:rPr>
              <a:t>ch</a:t>
            </a:r>
            <a:r>
              <a:rPr sz="1100" spc="-5" dirty="0">
                <a:latin typeface="Arial"/>
                <a:cs typeface="Arial"/>
              </a:rPr>
              <a:t>i</a:t>
            </a:r>
            <a:r>
              <a:rPr sz="1100" spc="90" dirty="0">
                <a:latin typeface="Arial"/>
                <a:cs typeface="Arial"/>
              </a:rPr>
              <a:t>t</a:t>
            </a:r>
            <a:r>
              <a:rPr sz="1100" spc="-25" dirty="0">
                <a:latin typeface="Arial"/>
                <a:cs typeface="Arial"/>
              </a:rPr>
              <a:t>e</a:t>
            </a:r>
            <a:r>
              <a:rPr sz="1100" spc="30" dirty="0">
                <a:latin typeface="Arial"/>
                <a:cs typeface="Arial"/>
              </a:rPr>
              <a:t>c</a:t>
            </a:r>
            <a:r>
              <a:rPr sz="1100" spc="5" dirty="0">
                <a:latin typeface="Arial"/>
                <a:cs typeface="Arial"/>
              </a:rPr>
              <a:t>t</a:t>
            </a:r>
            <a:r>
              <a:rPr sz="1100" spc="50" dirty="0">
                <a:latin typeface="Arial"/>
                <a:cs typeface="Arial"/>
              </a:rPr>
              <a:t>u</a:t>
            </a:r>
            <a:r>
              <a:rPr sz="1100" spc="25" dirty="0">
                <a:latin typeface="Arial"/>
                <a:cs typeface="Arial"/>
              </a:rPr>
              <a:t>r</a:t>
            </a:r>
            <a:r>
              <a:rPr sz="1100" spc="-20" dirty="0">
                <a:latin typeface="Arial"/>
                <a:cs typeface="Arial"/>
              </a:rPr>
              <a:t>e  </a:t>
            </a:r>
            <a:r>
              <a:rPr sz="1100" spc="-5" dirty="0">
                <a:latin typeface="Arial"/>
                <a:cs typeface="Arial"/>
              </a:rPr>
              <a:t>design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65" dirty="0"/>
              <a:t>Computing </a:t>
            </a:r>
            <a:r>
              <a:rPr spc="-5" dirty="0"/>
              <a:t>Power </a:t>
            </a:r>
            <a:r>
              <a:rPr spc="170" dirty="0"/>
              <a:t>with </a:t>
            </a:r>
            <a:r>
              <a:rPr spc="-15" dirty="0"/>
              <a:t>Comprehensive Device-Edge-  </a:t>
            </a:r>
            <a:r>
              <a:rPr dirty="0"/>
              <a:t>Cloud</a:t>
            </a:r>
            <a:r>
              <a:rPr spc="90" dirty="0"/>
              <a:t> </a:t>
            </a:r>
            <a:r>
              <a:rPr spc="5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702688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509750"/>
            <a:ext cx="949388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scale </a:t>
            </a:r>
            <a:r>
              <a:rPr sz="2000" spc="85" dirty="0">
                <a:latin typeface="Arial"/>
                <a:cs typeface="Arial"/>
              </a:rPr>
              <a:t>of </a:t>
            </a: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-15" dirty="0">
                <a:latin typeface="Arial"/>
                <a:cs typeface="Arial"/>
              </a:rPr>
              <a:t>chips </a:t>
            </a:r>
            <a:r>
              <a:rPr sz="2000" spc="25" dirty="0">
                <a:latin typeface="Arial"/>
                <a:cs typeface="Arial"/>
              </a:rPr>
              <a:t>applied </a:t>
            </a:r>
            <a:r>
              <a:rPr sz="2000" spc="100" dirty="0">
                <a:latin typeface="Arial"/>
                <a:cs typeface="Arial"/>
              </a:rPr>
              <a:t>to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10" dirty="0">
                <a:latin typeface="Arial"/>
                <a:cs typeface="Arial"/>
              </a:rPr>
              <a:t>cloud, </a:t>
            </a:r>
            <a:r>
              <a:rPr sz="2000" spc="-15" dirty="0">
                <a:latin typeface="Arial"/>
                <a:cs typeface="Arial"/>
              </a:rPr>
              <a:t>edge </a:t>
            </a:r>
            <a:r>
              <a:rPr sz="2000" spc="-45" dirty="0">
                <a:latin typeface="Arial"/>
                <a:cs typeface="Arial"/>
              </a:rPr>
              <a:t>devices,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50" dirty="0">
                <a:latin typeface="Arial"/>
                <a:cs typeface="Arial"/>
              </a:rPr>
              <a:t>mobile </a:t>
            </a:r>
            <a:r>
              <a:rPr sz="2000" spc="-40" dirty="0">
                <a:latin typeface="Arial"/>
                <a:cs typeface="Arial"/>
              </a:rPr>
              <a:t>devices </a:t>
            </a:r>
            <a:r>
              <a:rPr sz="2000" spc="-35" dirty="0">
                <a:latin typeface="Arial"/>
                <a:cs typeface="Arial"/>
              </a:rPr>
              <a:t>keeps  </a:t>
            </a:r>
            <a:r>
              <a:rPr sz="2000" dirty="0">
                <a:latin typeface="Arial"/>
                <a:cs typeface="Arial"/>
              </a:rPr>
              <a:t>increasing, </a:t>
            </a:r>
            <a:r>
              <a:rPr sz="2000" spc="75" dirty="0">
                <a:latin typeface="Arial"/>
                <a:cs typeface="Arial"/>
              </a:rPr>
              <a:t>further </a:t>
            </a:r>
            <a:r>
              <a:rPr sz="2000" spc="50" dirty="0">
                <a:latin typeface="Arial"/>
                <a:cs typeface="Arial"/>
              </a:rPr>
              <a:t>meeting </a:t>
            </a:r>
            <a:r>
              <a:rPr sz="2000" spc="55" dirty="0">
                <a:latin typeface="Arial"/>
                <a:cs typeface="Arial"/>
              </a:rPr>
              <a:t>the computing </a:t>
            </a:r>
            <a:r>
              <a:rPr sz="2000" spc="45" dirty="0">
                <a:latin typeface="Arial"/>
                <a:cs typeface="Arial"/>
              </a:rPr>
              <a:t>power </a:t>
            </a:r>
            <a:r>
              <a:rPr sz="2000" spc="35" dirty="0">
                <a:latin typeface="Arial"/>
                <a:cs typeface="Arial"/>
              </a:rPr>
              <a:t>demand </a:t>
            </a:r>
            <a:r>
              <a:rPr sz="2000" spc="90" dirty="0">
                <a:latin typeface="Arial"/>
                <a:cs typeface="Arial"/>
              </a:rPr>
              <a:t>of</a:t>
            </a:r>
            <a:r>
              <a:rPr sz="2000" spc="10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AI.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1509" y="5294731"/>
            <a:ext cx="5307330" cy="57467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sz="1200" spc="-15" dirty="0">
                <a:latin typeface="Arial"/>
                <a:cs typeface="Arial"/>
              </a:rPr>
              <a:t>China </a:t>
            </a:r>
            <a:r>
              <a:rPr sz="1200" spc="-10" dirty="0">
                <a:latin typeface="Arial"/>
                <a:cs typeface="Arial"/>
              </a:rPr>
              <a:t>AI </a:t>
            </a:r>
            <a:r>
              <a:rPr sz="1200" spc="-15" dirty="0">
                <a:latin typeface="Arial"/>
                <a:cs typeface="Arial"/>
              </a:rPr>
              <a:t>Chip </a:t>
            </a:r>
            <a:r>
              <a:rPr sz="1200" spc="10" dirty="0">
                <a:latin typeface="Arial"/>
                <a:cs typeface="Arial"/>
              </a:rPr>
              <a:t>Industry </a:t>
            </a:r>
            <a:r>
              <a:rPr sz="1200" spc="15" dirty="0">
                <a:latin typeface="Arial"/>
                <a:cs typeface="Arial"/>
              </a:rPr>
              <a:t>Development </a:t>
            </a:r>
            <a:r>
              <a:rPr sz="1200" spc="30" dirty="0">
                <a:latin typeface="Arial"/>
                <a:cs typeface="Arial"/>
              </a:rPr>
              <a:t>White </a:t>
            </a:r>
            <a:r>
              <a:rPr sz="1200" spc="-25" dirty="0">
                <a:latin typeface="Arial"/>
                <a:cs typeface="Arial"/>
              </a:rPr>
              <a:t>Paper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200" spc="40" dirty="0">
                <a:latin typeface="Arial"/>
                <a:cs typeface="Arial"/>
              </a:rPr>
              <a:t>Market </a:t>
            </a:r>
            <a:r>
              <a:rPr sz="1200" spc="-45" dirty="0">
                <a:latin typeface="Arial"/>
                <a:cs typeface="Arial"/>
              </a:rPr>
              <a:t>Scale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30" dirty="0">
                <a:latin typeface="Arial"/>
                <a:cs typeface="Arial"/>
              </a:rPr>
              <a:t>Growth </a:t>
            </a:r>
            <a:r>
              <a:rPr sz="1200" spc="5" dirty="0">
                <a:latin typeface="Arial"/>
                <a:cs typeface="Arial"/>
              </a:rPr>
              <a:t>Prediction </a:t>
            </a:r>
            <a:r>
              <a:rPr sz="1200" spc="55" dirty="0">
                <a:latin typeface="Arial"/>
                <a:cs typeface="Arial"/>
              </a:rPr>
              <a:t>of </a:t>
            </a:r>
            <a:r>
              <a:rPr sz="1200" spc="-10" dirty="0">
                <a:latin typeface="Arial"/>
                <a:cs typeface="Arial"/>
              </a:rPr>
              <a:t>AI </a:t>
            </a:r>
            <a:r>
              <a:rPr sz="1200" spc="-35" dirty="0">
                <a:latin typeface="Arial"/>
                <a:cs typeface="Arial"/>
              </a:rPr>
              <a:t>Chips </a:t>
            </a:r>
            <a:r>
              <a:rPr sz="1200" spc="30" dirty="0">
                <a:latin typeface="Arial"/>
                <a:cs typeface="Arial"/>
              </a:rPr>
              <a:t>in </a:t>
            </a:r>
            <a:r>
              <a:rPr sz="1200" spc="-15" dirty="0">
                <a:latin typeface="Arial"/>
                <a:cs typeface="Arial"/>
              </a:rPr>
              <a:t>China </a:t>
            </a:r>
            <a:r>
              <a:rPr sz="1200" spc="55" dirty="0">
                <a:latin typeface="Arial"/>
                <a:cs typeface="Arial"/>
              </a:rPr>
              <a:t>from </a:t>
            </a:r>
            <a:r>
              <a:rPr sz="1200" dirty="0">
                <a:latin typeface="Arial"/>
                <a:cs typeface="Arial"/>
              </a:rPr>
              <a:t>2020 </a:t>
            </a:r>
            <a:r>
              <a:rPr sz="1200" spc="60" dirty="0">
                <a:latin typeface="Arial"/>
                <a:cs typeface="Arial"/>
              </a:rPr>
              <a:t>to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2021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33633" y="2834639"/>
            <a:ext cx="5495460" cy="2141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66259" y="4671059"/>
            <a:ext cx="2487295" cy="279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2710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730"/>
              </a:spcBef>
            </a:pPr>
            <a:r>
              <a:rPr sz="1200" spc="-55" dirty="0">
                <a:latin typeface="Arial"/>
                <a:cs typeface="Arial"/>
              </a:rPr>
              <a:t>Sales </a:t>
            </a:r>
            <a:r>
              <a:rPr sz="1200" spc="-10" dirty="0">
                <a:latin typeface="Arial"/>
                <a:cs typeface="Arial"/>
              </a:rPr>
              <a:t>revenue </a:t>
            </a:r>
            <a:r>
              <a:rPr sz="1200" spc="-20" dirty="0">
                <a:latin typeface="Arial"/>
                <a:cs typeface="Arial"/>
              </a:rPr>
              <a:t>(CNY100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45" dirty="0">
                <a:latin typeface="Arial"/>
                <a:cs typeface="Arial"/>
              </a:rPr>
              <a:t>million)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59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29143" y="4654296"/>
            <a:ext cx="1109980" cy="279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334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735"/>
              </a:spcBef>
            </a:pPr>
            <a:r>
              <a:rPr sz="1200" spc="30" dirty="0">
                <a:latin typeface="Arial"/>
                <a:cs typeface="Arial"/>
              </a:rPr>
              <a:t>Growth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rate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49066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0" dirty="0"/>
              <a:t>More </a:t>
            </a:r>
            <a:r>
              <a:rPr spc="-90" dirty="0"/>
              <a:t>Secure </a:t>
            </a:r>
            <a:r>
              <a:rPr spc="65" dirty="0"/>
              <a:t>Data</a:t>
            </a:r>
            <a:r>
              <a:rPr spc="235" dirty="0"/>
              <a:t> </a:t>
            </a:r>
            <a:r>
              <a:rPr dirty="0"/>
              <a:t>Sharing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987552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000" spc="-5" dirty="0">
                <a:latin typeface="Arial"/>
                <a:cs typeface="Arial"/>
              </a:rPr>
              <a:t>Federated </a:t>
            </a:r>
            <a:r>
              <a:rPr sz="2000" spc="45" dirty="0">
                <a:latin typeface="Arial"/>
                <a:cs typeface="Arial"/>
              </a:rPr>
              <a:t>learning </a:t>
            </a:r>
            <a:r>
              <a:rPr sz="2000" spc="-80" dirty="0">
                <a:latin typeface="Arial"/>
                <a:cs typeface="Arial"/>
              </a:rPr>
              <a:t>uses </a:t>
            </a:r>
            <a:r>
              <a:rPr sz="2000" spc="60" dirty="0">
                <a:latin typeface="Arial"/>
                <a:cs typeface="Arial"/>
              </a:rPr>
              <a:t>different </a:t>
            </a:r>
            <a:r>
              <a:rPr sz="2000" spc="50" dirty="0">
                <a:latin typeface="Arial"/>
                <a:cs typeface="Arial"/>
              </a:rPr>
              <a:t>data </a:t>
            </a:r>
            <a:r>
              <a:rPr sz="2000" spc="-40" dirty="0">
                <a:latin typeface="Arial"/>
                <a:cs typeface="Arial"/>
              </a:rPr>
              <a:t>sources </a:t>
            </a:r>
            <a:r>
              <a:rPr sz="2000" spc="100" dirty="0">
                <a:latin typeface="Arial"/>
                <a:cs typeface="Arial"/>
              </a:rPr>
              <a:t>to </a:t>
            </a:r>
            <a:r>
              <a:rPr sz="2000" spc="70" dirty="0">
                <a:latin typeface="Arial"/>
                <a:cs typeface="Arial"/>
              </a:rPr>
              <a:t>train </a:t>
            </a:r>
            <a:r>
              <a:rPr sz="2000" dirty="0">
                <a:latin typeface="Arial"/>
                <a:cs typeface="Arial"/>
              </a:rPr>
              <a:t>models, </a:t>
            </a:r>
            <a:r>
              <a:rPr sz="2000" spc="75" dirty="0">
                <a:latin typeface="Arial"/>
                <a:cs typeface="Arial"/>
              </a:rPr>
              <a:t>further </a:t>
            </a:r>
            <a:r>
              <a:rPr sz="2000" spc="35" dirty="0">
                <a:latin typeface="Arial"/>
                <a:cs typeface="Arial"/>
              </a:rPr>
              <a:t>breaking </a:t>
            </a:r>
            <a:r>
              <a:rPr sz="2000" spc="45" dirty="0">
                <a:latin typeface="Arial"/>
                <a:cs typeface="Arial"/>
              </a:rPr>
              <a:t>data  </a:t>
            </a:r>
            <a:r>
              <a:rPr sz="2000" spc="25" dirty="0">
                <a:latin typeface="Arial"/>
                <a:cs typeface="Arial"/>
              </a:rPr>
              <a:t>bottlenecks </a:t>
            </a:r>
            <a:r>
              <a:rPr sz="2000" spc="60" dirty="0">
                <a:latin typeface="Arial"/>
                <a:cs typeface="Arial"/>
              </a:rPr>
              <a:t>while </a:t>
            </a:r>
            <a:r>
              <a:rPr sz="2000" spc="20" dirty="0">
                <a:latin typeface="Arial"/>
                <a:cs typeface="Arial"/>
              </a:rPr>
              <a:t>ensuring </a:t>
            </a:r>
            <a:r>
              <a:rPr sz="2000" spc="50" dirty="0">
                <a:latin typeface="Arial"/>
                <a:cs typeface="Arial"/>
              </a:rPr>
              <a:t>data </a:t>
            </a:r>
            <a:r>
              <a:rPr sz="2000" spc="10" dirty="0">
                <a:latin typeface="Arial"/>
                <a:cs typeface="Arial"/>
              </a:rPr>
              <a:t>privacy </a:t>
            </a:r>
            <a:r>
              <a:rPr sz="2000" spc="25" dirty="0">
                <a:latin typeface="Arial"/>
                <a:cs typeface="Arial"/>
              </a:rPr>
              <a:t>and</a:t>
            </a:r>
            <a:r>
              <a:rPr sz="2000" spc="17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security.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4519" y="5859881"/>
            <a:ext cx="34975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Federated </a:t>
            </a:r>
            <a:r>
              <a:rPr sz="1600" spc="10" dirty="0">
                <a:latin typeface="Arial"/>
                <a:cs typeface="Arial"/>
              </a:rPr>
              <a:t>Learning </a:t>
            </a:r>
            <a:r>
              <a:rPr sz="1600" spc="40" dirty="0">
                <a:latin typeface="Arial"/>
                <a:cs typeface="Arial"/>
              </a:rPr>
              <a:t>White </a:t>
            </a:r>
            <a:r>
              <a:rPr sz="1600" spc="-30" dirty="0">
                <a:latin typeface="Arial"/>
                <a:cs typeface="Arial"/>
              </a:rPr>
              <a:t>Paper</a:t>
            </a:r>
            <a:r>
              <a:rPr sz="1600" spc="26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V1.0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99488" y="2333243"/>
            <a:ext cx="7633716" cy="3564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60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9497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" dirty="0"/>
              <a:t>Continuous </a:t>
            </a:r>
            <a:r>
              <a:rPr spc="30" dirty="0"/>
              <a:t>Breakthroughs </a:t>
            </a:r>
            <a:r>
              <a:rPr spc="95" dirty="0"/>
              <a:t>in </a:t>
            </a:r>
            <a:r>
              <a:rPr spc="65" dirty="0"/>
              <a:t>Application</a:t>
            </a:r>
            <a:r>
              <a:rPr spc="350" dirty="0"/>
              <a:t> </a:t>
            </a:r>
            <a:r>
              <a:rPr spc="-65" dirty="0"/>
              <a:t>Scenarios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90574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6604"/>
            <a:ext cx="10292080" cy="96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  <a:tabLst>
                <a:tab pos="803275" algn="l"/>
                <a:tab pos="1399540" algn="l"/>
                <a:tab pos="2976880" algn="l"/>
                <a:tab pos="4595495" algn="l"/>
                <a:tab pos="5037455" algn="l"/>
                <a:tab pos="5482590" algn="l"/>
                <a:tab pos="5903595" algn="l"/>
                <a:tab pos="6994525" algn="l"/>
                <a:tab pos="8282940" algn="l"/>
                <a:tab pos="8879840" algn="l"/>
              </a:tabLst>
            </a:pPr>
            <a:r>
              <a:rPr sz="2200" spc="90" dirty="0">
                <a:latin typeface="Arial"/>
                <a:cs typeface="Arial"/>
              </a:rPr>
              <a:t>W</a:t>
            </a:r>
            <a:r>
              <a:rPr sz="2200" spc="30" dirty="0">
                <a:latin typeface="Arial"/>
                <a:cs typeface="Arial"/>
              </a:rPr>
              <a:t>i</a:t>
            </a:r>
            <a:r>
              <a:rPr sz="2200" spc="75" dirty="0">
                <a:latin typeface="Arial"/>
                <a:cs typeface="Arial"/>
              </a:rPr>
              <a:t>t</a:t>
            </a:r>
            <a:r>
              <a:rPr sz="2200" spc="165" dirty="0">
                <a:latin typeface="Arial"/>
                <a:cs typeface="Arial"/>
              </a:rPr>
              <a:t>h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45" dirty="0">
                <a:latin typeface="Arial"/>
                <a:cs typeface="Arial"/>
              </a:rPr>
              <a:t>th</a:t>
            </a:r>
            <a:r>
              <a:rPr sz="2200" spc="7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0" dirty="0">
                <a:latin typeface="Arial"/>
                <a:cs typeface="Arial"/>
              </a:rPr>
              <a:t>conti</a:t>
            </a:r>
            <a:r>
              <a:rPr sz="2200" spc="70" dirty="0">
                <a:latin typeface="Arial"/>
                <a:cs typeface="Arial"/>
              </a:rPr>
              <a:t>n</a:t>
            </a:r>
            <a:r>
              <a:rPr sz="2200" spc="-5" dirty="0">
                <a:latin typeface="Arial"/>
                <a:cs typeface="Arial"/>
              </a:rPr>
              <a:t>uous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70" dirty="0">
                <a:latin typeface="Arial"/>
                <a:cs typeface="Arial"/>
              </a:rPr>
              <a:t>e</a:t>
            </a:r>
            <a:r>
              <a:rPr sz="2200" spc="50" dirty="0">
                <a:latin typeface="Arial"/>
                <a:cs typeface="Arial"/>
              </a:rPr>
              <a:t>xploratio</a:t>
            </a:r>
            <a:r>
              <a:rPr sz="2200" spc="75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20" dirty="0">
                <a:latin typeface="Arial"/>
                <a:cs typeface="Arial"/>
              </a:rPr>
              <a:t>o</a:t>
            </a:r>
            <a:r>
              <a:rPr sz="2200" spc="65" dirty="0">
                <a:latin typeface="Arial"/>
                <a:cs typeface="Arial"/>
              </a:rPr>
              <a:t>f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" dirty="0">
                <a:latin typeface="Arial"/>
                <a:cs typeface="Arial"/>
              </a:rPr>
              <a:t>AI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0" dirty="0">
                <a:latin typeface="Arial"/>
                <a:cs typeface="Arial"/>
              </a:rPr>
              <a:t>i</a:t>
            </a:r>
            <a:r>
              <a:rPr sz="2200" spc="90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30" dirty="0">
                <a:latin typeface="Arial"/>
                <a:cs typeface="Arial"/>
              </a:rPr>
              <a:t>var</a:t>
            </a:r>
            <a:r>
              <a:rPr sz="2200" spc="20" dirty="0">
                <a:latin typeface="Arial"/>
                <a:cs typeface="Arial"/>
              </a:rPr>
              <a:t>i</a:t>
            </a:r>
            <a:r>
              <a:rPr sz="2200" spc="-30" dirty="0">
                <a:latin typeface="Arial"/>
                <a:cs typeface="Arial"/>
              </a:rPr>
              <a:t>ou</a:t>
            </a:r>
            <a:r>
              <a:rPr sz="2200" spc="-2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0" dirty="0">
                <a:latin typeface="Arial"/>
                <a:cs typeface="Arial"/>
              </a:rPr>
              <a:t>v</a:t>
            </a:r>
            <a:r>
              <a:rPr sz="2200" spc="-45" dirty="0">
                <a:latin typeface="Arial"/>
                <a:cs typeface="Arial"/>
              </a:rPr>
              <a:t>e</a:t>
            </a:r>
            <a:r>
              <a:rPr sz="2200" spc="10" dirty="0">
                <a:latin typeface="Arial"/>
                <a:cs typeface="Arial"/>
              </a:rPr>
              <a:t>rticals,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45" dirty="0">
                <a:latin typeface="Arial"/>
                <a:cs typeface="Arial"/>
              </a:rPr>
              <a:t>th</a:t>
            </a:r>
            <a:r>
              <a:rPr sz="2200" spc="7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35" dirty="0">
                <a:latin typeface="Arial"/>
                <a:cs typeface="Arial"/>
              </a:rPr>
              <a:t>applicati</a:t>
            </a:r>
            <a:r>
              <a:rPr sz="2200" spc="45" dirty="0">
                <a:latin typeface="Arial"/>
                <a:cs typeface="Arial"/>
              </a:rPr>
              <a:t>o</a:t>
            </a:r>
            <a:r>
              <a:rPr sz="2200" spc="40" dirty="0">
                <a:latin typeface="Arial"/>
                <a:cs typeface="Arial"/>
              </a:rPr>
              <a:t>n  </a:t>
            </a:r>
            <a:r>
              <a:rPr sz="2200" spc="-30" dirty="0">
                <a:latin typeface="Arial"/>
                <a:cs typeface="Arial"/>
              </a:rPr>
              <a:t>scenarios </a:t>
            </a:r>
            <a:r>
              <a:rPr sz="2200" spc="90" dirty="0">
                <a:latin typeface="Arial"/>
                <a:cs typeface="Arial"/>
              </a:rPr>
              <a:t>of </a:t>
            </a:r>
            <a:r>
              <a:rPr sz="2200" spc="-10" dirty="0">
                <a:latin typeface="Arial"/>
                <a:cs typeface="Arial"/>
              </a:rPr>
              <a:t>AI </a:t>
            </a:r>
            <a:r>
              <a:rPr sz="2200" spc="105" dirty="0">
                <a:latin typeface="Arial"/>
                <a:cs typeface="Arial"/>
              </a:rPr>
              <a:t>will </a:t>
            </a:r>
            <a:r>
              <a:rPr sz="2200" spc="-20" dirty="0">
                <a:latin typeface="Arial"/>
                <a:cs typeface="Arial"/>
              </a:rPr>
              <a:t>be </a:t>
            </a:r>
            <a:r>
              <a:rPr sz="2200" spc="30" dirty="0">
                <a:latin typeface="Arial"/>
                <a:cs typeface="Arial"/>
              </a:rPr>
              <a:t>continuously </a:t>
            </a:r>
            <a:r>
              <a:rPr sz="2200" spc="35" dirty="0">
                <a:latin typeface="Arial"/>
                <a:cs typeface="Arial"/>
              </a:rPr>
              <a:t>broken</a:t>
            </a:r>
            <a:r>
              <a:rPr sz="2200" spc="380" dirty="0">
                <a:latin typeface="Arial"/>
                <a:cs typeface="Arial"/>
              </a:rPr>
              <a:t> </a:t>
            </a:r>
            <a:r>
              <a:rPr sz="2200" spc="45" dirty="0">
                <a:latin typeface="Arial"/>
                <a:cs typeface="Arial"/>
              </a:rPr>
              <a:t>through.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4755" y="2298318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3388" y="2226691"/>
            <a:ext cx="5691505" cy="187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80" dirty="0">
                <a:latin typeface="Arial"/>
                <a:cs typeface="Arial"/>
              </a:rPr>
              <a:t>Mitigating </a:t>
            </a:r>
            <a:r>
              <a:rPr sz="2000" spc="10" dirty="0">
                <a:latin typeface="Arial"/>
                <a:cs typeface="Arial"/>
              </a:rPr>
              <a:t>psychological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25" dirty="0">
                <a:latin typeface="Arial"/>
                <a:cs typeface="Arial"/>
              </a:rPr>
              <a:t>problems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spc="60" dirty="0">
                <a:latin typeface="Arial"/>
                <a:cs typeface="Arial"/>
              </a:rPr>
              <a:t>Automatic </a:t>
            </a:r>
            <a:r>
              <a:rPr sz="2000" dirty="0">
                <a:latin typeface="Arial"/>
                <a:cs typeface="Arial"/>
              </a:rPr>
              <a:t>vehicle insurance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-40" dirty="0">
                <a:latin typeface="Arial"/>
                <a:cs typeface="Arial"/>
              </a:rPr>
              <a:t>loss</a:t>
            </a:r>
            <a:r>
              <a:rPr sz="2000" spc="16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assessment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spc="35" dirty="0">
                <a:latin typeface="Arial"/>
                <a:cs typeface="Arial"/>
              </a:rPr>
              <a:t>Office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75" dirty="0">
                <a:latin typeface="Arial"/>
                <a:cs typeface="Arial"/>
              </a:rPr>
              <a:t>automation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2000" spc="-10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4755" y="2813430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4755" y="3328237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4755" y="3845433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</a:t>
            </a:r>
            <a:endParaRPr sz="10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63722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30" dirty="0">
                <a:latin typeface="Arial"/>
                <a:cs typeface="Arial"/>
              </a:rPr>
              <a:t>Mitigating </a:t>
            </a:r>
            <a:r>
              <a:rPr sz="3200" spc="-20" dirty="0">
                <a:latin typeface="Arial"/>
                <a:cs typeface="Arial"/>
              </a:rPr>
              <a:t>Psychological</a:t>
            </a:r>
            <a:r>
              <a:rPr sz="3200" spc="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Problems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958532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30" dirty="0">
                <a:latin typeface="Arial"/>
                <a:cs typeface="Arial"/>
              </a:rPr>
              <a:t>chat </a:t>
            </a:r>
            <a:r>
              <a:rPr sz="2000" spc="35" dirty="0">
                <a:latin typeface="Arial"/>
                <a:cs typeface="Arial"/>
              </a:rPr>
              <a:t>robots </a:t>
            </a:r>
            <a:r>
              <a:rPr sz="2000" spc="30" dirty="0">
                <a:latin typeface="Arial"/>
                <a:cs typeface="Arial"/>
              </a:rPr>
              <a:t>help alleviate </a:t>
            </a:r>
            <a:r>
              <a:rPr sz="2000" spc="65" dirty="0">
                <a:latin typeface="Arial"/>
                <a:cs typeface="Arial"/>
              </a:rPr>
              <a:t>mental </a:t>
            </a:r>
            <a:r>
              <a:rPr sz="2000" spc="50" dirty="0">
                <a:latin typeface="Arial"/>
                <a:cs typeface="Arial"/>
              </a:rPr>
              <a:t>health </a:t>
            </a:r>
            <a:r>
              <a:rPr sz="2000" spc="25" dirty="0">
                <a:latin typeface="Arial"/>
                <a:cs typeface="Arial"/>
              </a:rPr>
              <a:t>problems </a:t>
            </a:r>
            <a:r>
              <a:rPr sz="2000" spc="-30" dirty="0">
                <a:latin typeface="Arial"/>
                <a:cs typeface="Arial"/>
              </a:rPr>
              <a:t>such </a:t>
            </a:r>
            <a:r>
              <a:rPr sz="2000" spc="-85" dirty="0">
                <a:latin typeface="Arial"/>
                <a:cs typeface="Arial"/>
              </a:rPr>
              <a:t>as </a:t>
            </a:r>
            <a:r>
              <a:rPr sz="2000" spc="45" dirty="0">
                <a:latin typeface="Arial"/>
                <a:cs typeface="Arial"/>
              </a:rPr>
              <a:t>autism </a:t>
            </a:r>
            <a:r>
              <a:rPr sz="2000" spc="10" dirty="0">
                <a:latin typeface="Arial"/>
                <a:cs typeface="Arial"/>
              </a:rPr>
              <a:t>by </a:t>
            </a:r>
            <a:r>
              <a:rPr sz="2000" spc="45" dirty="0">
                <a:latin typeface="Arial"/>
                <a:cs typeface="Arial"/>
              </a:rPr>
              <a:t>combining  </a:t>
            </a:r>
            <a:r>
              <a:rPr sz="2000" spc="10" dirty="0">
                <a:latin typeface="Arial"/>
                <a:cs typeface="Arial"/>
              </a:rPr>
              <a:t>psychological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spc="25" dirty="0">
                <a:latin typeface="Arial"/>
                <a:cs typeface="Arial"/>
              </a:rPr>
              <a:t>knowledge.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8455" y="2491679"/>
            <a:ext cx="4885944" cy="377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93052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5" dirty="0">
                <a:latin typeface="Arial"/>
                <a:cs typeface="Arial"/>
              </a:rPr>
              <a:t>Automatic </a:t>
            </a:r>
            <a:r>
              <a:rPr sz="3200" spc="-15" dirty="0">
                <a:latin typeface="Arial"/>
                <a:cs typeface="Arial"/>
              </a:rPr>
              <a:t>Vehicle </a:t>
            </a:r>
            <a:r>
              <a:rPr sz="3200" spc="-5" dirty="0">
                <a:latin typeface="Arial"/>
                <a:cs typeface="Arial"/>
              </a:rPr>
              <a:t>Insurance </a:t>
            </a:r>
            <a:r>
              <a:rPr sz="3200" spc="45" dirty="0">
                <a:latin typeface="Arial"/>
                <a:cs typeface="Arial"/>
              </a:rPr>
              <a:t>and </a:t>
            </a:r>
            <a:r>
              <a:rPr sz="3200" spc="-150" dirty="0">
                <a:latin typeface="Arial"/>
                <a:cs typeface="Arial"/>
              </a:rPr>
              <a:t>Loss</a:t>
            </a:r>
            <a:r>
              <a:rPr sz="3200" spc="375" dirty="0">
                <a:latin typeface="Arial"/>
                <a:cs typeface="Arial"/>
              </a:rPr>
              <a:t> </a:t>
            </a:r>
            <a:r>
              <a:rPr sz="3200" spc="-60" dirty="0">
                <a:latin typeface="Arial"/>
                <a:cs typeface="Arial"/>
              </a:rPr>
              <a:t>Assessment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9666605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1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15" dirty="0">
                <a:latin typeface="Arial"/>
                <a:cs typeface="Arial"/>
              </a:rPr>
              <a:t>technologies </a:t>
            </a:r>
            <a:r>
              <a:rPr sz="2000" spc="30" dirty="0">
                <a:latin typeface="Arial"/>
                <a:cs typeface="Arial"/>
              </a:rPr>
              <a:t>help </a:t>
            </a:r>
            <a:r>
              <a:rPr sz="2000" dirty="0">
                <a:latin typeface="Arial"/>
                <a:cs typeface="Arial"/>
              </a:rPr>
              <a:t>insurance companies </a:t>
            </a:r>
            <a:r>
              <a:rPr sz="2000" spc="45" dirty="0">
                <a:latin typeface="Arial"/>
                <a:cs typeface="Arial"/>
              </a:rPr>
              <a:t>optimize </a:t>
            </a:r>
            <a:r>
              <a:rPr sz="2000" dirty="0">
                <a:latin typeface="Arial"/>
                <a:cs typeface="Arial"/>
              </a:rPr>
              <a:t>vehicle insurance </a:t>
            </a:r>
            <a:r>
              <a:rPr sz="2000" spc="10" dirty="0">
                <a:latin typeface="Arial"/>
                <a:cs typeface="Arial"/>
              </a:rPr>
              <a:t>claims </a:t>
            </a:r>
            <a:r>
              <a:rPr sz="2000" spc="25" dirty="0">
                <a:latin typeface="Arial"/>
                <a:cs typeface="Arial"/>
              </a:rPr>
              <a:t>and  </a:t>
            </a:r>
            <a:r>
              <a:rPr sz="2000" spc="35" dirty="0">
                <a:latin typeface="Arial"/>
                <a:cs typeface="Arial"/>
              </a:rPr>
              <a:t>complete </a:t>
            </a:r>
            <a:r>
              <a:rPr sz="2000" dirty="0">
                <a:latin typeface="Arial"/>
                <a:cs typeface="Arial"/>
              </a:rPr>
              <a:t>vehicle insurance </a:t>
            </a:r>
            <a:r>
              <a:rPr sz="2000" spc="-40" dirty="0">
                <a:latin typeface="Arial"/>
                <a:cs typeface="Arial"/>
              </a:rPr>
              <a:t>loss assessment </a:t>
            </a:r>
            <a:r>
              <a:rPr sz="2000" spc="15" dirty="0">
                <a:latin typeface="Arial"/>
                <a:cs typeface="Arial"/>
              </a:rPr>
              <a:t>using </a:t>
            </a:r>
            <a:r>
              <a:rPr sz="2000" spc="-10" dirty="0">
                <a:latin typeface="Arial"/>
                <a:cs typeface="Arial"/>
              </a:rPr>
              <a:t>deep </a:t>
            </a:r>
            <a:r>
              <a:rPr sz="2000" spc="45" dirty="0">
                <a:latin typeface="Arial"/>
                <a:cs typeface="Arial"/>
              </a:rPr>
              <a:t>learning </a:t>
            </a:r>
            <a:r>
              <a:rPr sz="2000" spc="50" dirty="0">
                <a:latin typeface="Arial"/>
                <a:cs typeface="Arial"/>
              </a:rPr>
              <a:t>algorithms </a:t>
            </a:r>
            <a:r>
              <a:rPr sz="2000" spc="-30" dirty="0">
                <a:latin typeface="Arial"/>
                <a:cs typeface="Arial"/>
              </a:rPr>
              <a:t>such </a:t>
            </a:r>
            <a:r>
              <a:rPr sz="2000" spc="-85" dirty="0">
                <a:latin typeface="Arial"/>
                <a:cs typeface="Arial"/>
              </a:rPr>
              <a:t>as  </a:t>
            </a:r>
            <a:r>
              <a:rPr sz="2000" spc="35" dirty="0">
                <a:latin typeface="Arial"/>
                <a:cs typeface="Arial"/>
              </a:rPr>
              <a:t>image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recognition.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33116" y="2448891"/>
            <a:ext cx="6864096" cy="38589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346582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5" dirty="0">
                <a:latin typeface="Arial"/>
                <a:cs typeface="Arial"/>
              </a:rPr>
              <a:t>Office</a:t>
            </a:r>
            <a:r>
              <a:rPr sz="3200" spc="50" dirty="0">
                <a:latin typeface="Arial"/>
                <a:cs typeface="Arial"/>
              </a:rPr>
              <a:t> </a:t>
            </a:r>
            <a:r>
              <a:rPr sz="3200" spc="114" dirty="0">
                <a:latin typeface="Arial"/>
                <a:cs typeface="Arial"/>
              </a:rPr>
              <a:t>Automation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135870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1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AI </a:t>
            </a:r>
            <a:r>
              <a:rPr sz="2000" spc="-45" dirty="0">
                <a:latin typeface="Arial"/>
                <a:cs typeface="Arial"/>
              </a:rPr>
              <a:t>is </a:t>
            </a:r>
            <a:r>
              <a:rPr sz="2000" spc="70" dirty="0">
                <a:latin typeface="Arial"/>
                <a:cs typeface="Arial"/>
              </a:rPr>
              <a:t>automating </a:t>
            </a:r>
            <a:r>
              <a:rPr sz="2000" spc="35" dirty="0">
                <a:latin typeface="Arial"/>
                <a:cs typeface="Arial"/>
              </a:rPr>
              <a:t>management, </a:t>
            </a:r>
            <a:r>
              <a:rPr sz="2000" spc="90" dirty="0">
                <a:latin typeface="Arial"/>
                <a:cs typeface="Arial"/>
              </a:rPr>
              <a:t>but </a:t>
            </a:r>
            <a:r>
              <a:rPr sz="2000" spc="55" dirty="0">
                <a:latin typeface="Arial"/>
                <a:cs typeface="Arial"/>
              </a:rPr>
              <a:t>the </a:t>
            </a:r>
            <a:r>
              <a:rPr sz="2000" spc="60" dirty="0">
                <a:latin typeface="Arial"/>
                <a:cs typeface="Arial"/>
              </a:rPr>
              <a:t>different </a:t>
            </a:r>
            <a:r>
              <a:rPr sz="2000" spc="50" dirty="0">
                <a:latin typeface="Arial"/>
                <a:cs typeface="Arial"/>
              </a:rPr>
              <a:t>nature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95" dirty="0">
                <a:latin typeface="Arial"/>
                <a:cs typeface="Arial"/>
              </a:rPr>
              <a:t>format </a:t>
            </a:r>
            <a:r>
              <a:rPr sz="2000" spc="90" dirty="0">
                <a:latin typeface="Arial"/>
                <a:cs typeface="Arial"/>
              </a:rPr>
              <a:t>of </a:t>
            </a:r>
            <a:r>
              <a:rPr sz="2000" spc="45" dirty="0">
                <a:latin typeface="Arial"/>
                <a:cs typeface="Arial"/>
              </a:rPr>
              <a:t>data </a:t>
            </a:r>
            <a:r>
              <a:rPr sz="2000" spc="-10" dirty="0">
                <a:latin typeface="Arial"/>
                <a:cs typeface="Arial"/>
              </a:rPr>
              <a:t>makes </a:t>
            </a:r>
            <a:r>
              <a:rPr sz="2000" spc="120" dirty="0">
                <a:latin typeface="Arial"/>
                <a:cs typeface="Arial"/>
              </a:rPr>
              <a:t>it </a:t>
            </a:r>
            <a:r>
              <a:rPr sz="2000" spc="-5" dirty="0">
                <a:latin typeface="Arial"/>
                <a:cs typeface="Arial"/>
              </a:rPr>
              <a:t>a  </a:t>
            </a:r>
            <a:r>
              <a:rPr sz="2000" spc="35" dirty="0">
                <a:latin typeface="Arial"/>
                <a:cs typeface="Arial"/>
              </a:rPr>
              <a:t>challenging </a:t>
            </a:r>
            <a:r>
              <a:rPr sz="2000" spc="-10" dirty="0">
                <a:latin typeface="Arial"/>
                <a:cs typeface="Arial"/>
              </a:rPr>
              <a:t>task. </a:t>
            </a:r>
            <a:r>
              <a:rPr sz="2000" spc="45" dirty="0">
                <a:latin typeface="Arial"/>
                <a:cs typeface="Arial"/>
              </a:rPr>
              <a:t>While </a:t>
            </a:r>
            <a:r>
              <a:rPr sz="2000" spc="-30" dirty="0">
                <a:latin typeface="Arial"/>
                <a:cs typeface="Arial"/>
              </a:rPr>
              <a:t>each </a:t>
            </a:r>
            <a:r>
              <a:rPr sz="2000" spc="40" dirty="0">
                <a:latin typeface="Arial"/>
                <a:cs typeface="Arial"/>
              </a:rPr>
              <a:t>industry </a:t>
            </a:r>
            <a:r>
              <a:rPr sz="2000" spc="25" dirty="0">
                <a:latin typeface="Arial"/>
                <a:cs typeface="Arial"/>
              </a:rPr>
              <a:t>and </a:t>
            </a:r>
            <a:r>
              <a:rPr sz="2000" spc="40" dirty="0">
                <a:latin typeface="Arial"/>
                <a:cs typeface="Arial"/>
              </a:rPr>
              <a:t>application </a:t>
            </a:r>
            <a:r>
              <a:rPr sz="2000" spc="-40" dirty="0">
                <a:latin typeface="Arial"/>
                <a:cs typeface="Arial"/>
              </a:rPr>
              <a:t>has </a:t>
            </a:r>
            <a:r>
              <a:rPr sz="2000" spc="25" dirty="0">
                <a:latin typeface="Arial"/>
                <a:cs typeface="Arial"/>
              </a:rPr>
              <a:t>its </a:t>
            </a:r>
            <a:r>
              <a:rPr sz="2000" spc="70" dirty="0">
                <a:latin typeface="Arial"/>
                <a:cs typeface="Arial"/>
              </a:rPr>
              <a:t>own </a:t>
            </a:r>
            <a:r>
              <a:rPr sz="2000" spc="40" dirty="0">
                <a:latin typeface="Arial"/>
                <a:cs typeface="Arial"/>
              </a:rPr>
              <a:t>unique </a:t>
            </a:r>
            <a:r>
              <a:rPr sz="2000" spc="-10" dirty="0">
                <a:latin typeface="Arial"/>
                <a:cs typeface="Arial"/>
              </a:rPr>
              <a:t>challenges,  </a:t>
            </a:r>
            <a:r>
              <a:rPr sz="2000" spc="60" dirty="0">
                <a:latin typeface="Arial"/>
                <a:cs typeface="Arial"/>
              </a:rPr>
              <a:t>different </a:t>
            </a:r>
            <a:r>
              <a:rPr sz="2000" spc="15" dirty="0">
                <a:latin typeface="Arial"/>
                <a:cs typeface="Arial"/>
              </a:rPr>
              <a:t>industries </a:t>
            </a:r>
            <a:r>
              <a:rPr sz="2000" spc="5" dirty="0">
                <a:latin typeface="Arial"/>
                <a:cs typeface="Arial"/>
              </a:rPr>
              <a:t>are </a:t>
            </a:r>
            <a:r>
              <a:rPr sz="2000" spc="40" dirty="0">
                <a:latin typeface="Arial"/>
                <a:cs typeface="Arial"/>
              </a:rPr>
              <a:t>gradually </a:t>
            </a:r>
            <a:r>
              <a:rPr sz="2000" spc="50" dirty="0">
                <a:latin typeface="Arial"/>
                <a:cs typeface="Arial"/>
              </a:rPr>
              <a:t>adopting </a:t>
            </a:r>
            <a:r>
              <a:rPr sz="2000" spc="20" dirty="0">
                <a:latin typeface="Arial"/>
                <a:cs typeface="Arial"/>
              </a:rPr>
              <a:t>machine </a:t>
            </a:r>
            <a:r>
              <a:rPr sz="2000" spc="25" dirty="0">
                <a:latin typeface="Arial"/>
                <a:cs typeface="Arial"/>
              </a:rPr>
              <a:t>learning-based </a:t>
            </a:r>
            <a:r>
              <a:rPr sz="2000" spc="90" dirty="0">
                <a:latin typeface="Arial"/>
                <a:cs typeface="Arial"/>
              </a:rPr>
              <a:t>workflow</a:t>
            </a:r>
            <a:r>
              <a:rPr sz="2000" spc="37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solutions.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85032" y="3224783"/>
            <a:ext cx="4629912" cy="2604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196465" cy="0"/>
          </a:xfrm>
          <a:custGeom>
            <a:avLst/>
            <a:gdLst/>
            <a:ahLst/>
            <a:cxnLst/>
            <a:rect l="l" t="t" r="r" b="b"/>
            <a:pathLst>
              <a:path w="2196465">
                <a:moveTo>
                  <a:pt x="2195957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22332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0" dirty="0">
                <a:solidFill>
                  <a:srgbClr val="404040"/>
                </a:solidFill>
              </a:rPr>
              <a:t>Summary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88642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9794" y="1875123"/>
            <a:ext cx="969645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95"/>
              </a:spcBef>
            </a:pPr>
            <a:r>
              <a:rPr sz="2200" spc="-40" dirty="0">
                <a:latin typeface="Arial"/>
                <a:cs typeface="Arial"/>
              </a:rPr>
              <a:t>This</a:t>
            </a:r>
            <a:r>
              <a:rPr sz="2200" spc="530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chapter </a:t>
            </a:r>
            <a:r>
              <a:rPr sz="2200" spc="20" dirty="0">
                <a:latin typeface="Arial"/>
                <a:cs typeface="Arial"/>
              </a:rPr>
              <a:t>introduces </a:t>
            </a:r>
            <a:r>
              <a:rPr sz="2200" spc="55" dirty="0">
                <a:latin typeface="Arial"/>
                <a:cs typeface="Arial"/>
              </a:rPr>
              <a:t>the </a:t>
            </a:r>
            <a:r>
              <a:rPr sz="2200" spc="70" dirty="0">
                <a:latin typeface="Arial"/>
                <a:cs typeface="Arial"/>
              </a:rPr>
              <a:t>definition </a:t>
            </a:r>
            <a:r>
              <a:rPr sz="2200" spc="25" dirty="0">
                <a:latin typeface="Arial"/>
                <a:cs typeface="Arial"/>
              </a:rPr>
              <a:t>and </a:t>
            </a:r>
            <a:r>
              <a:rPr sz="2200" spc="35" dirty="0">
                <a:latin typeface="Arial"/>
                <a:cs typeface="Arial"/>
              </a:rPr>
              <a:t>development </a:t>
            </a:r>
            <a:r>
              <a:rPr sz="2200" spc="30" dirty="0">
                <a:latin typeface="Arial"/>
                <a:cs typeface="Arial"/>
              </a:rPr>
              <a:t>history </a:t>
            </a:r>
            <a:r>
              <a:rPr sz="2200" spc="100" dirty="0">
                <a:latin typeface="Arial"/>
                <a:cs typeface="Arial"/>
              </a:rPr>
              <a:t>of </a:t>
            </a:r>
            <a:r>
              <a:rPr sz="2200" spc="-35" dirty="0">
                <a:latin typeface="Arial"/>
                <a:cs typeface="Arial"/>
              </a:rPr>
              <a:t>AI,  </a:t>
            </a:r>
            <a:r>
              <a:rPr sz="2200" spc="-40" dirty="0">
                <a:latin typeface="Arial"/>
                <a:cs typeface="Arial"/>
              </a:rPr>
              <a:t>describes </a:t>
            </a:r>
            <a:r>
              <a:rPr sz="2200" spc="55" dirty="0">
                <a:latin typeface="Arial"/>
                <a:cs typeface="Arial"/>
              </a:rPr>
              <a:t>the </a:t>
            </a:r>
            <a:r>
              <a:rPr sz="2200" spc="20" dirty="0">
                <a:latin typeface="Arial"/>
                <a:cs typeface="Arial"/>
              </a:rPr>
              <a:t>technical fields </a:t>
            </a:r>
            <a:r>
              <a:rPr sz="2200" spc="30" dirty="0">
                <a:latin typeface="Arial"/>
                <a:cs typeface="Arial"/>
              </a:rPr>
              <a:t>and </a:t>
            </a:r>
            <a:r>
              <a:rPr sz="2200" spc="45" dirty="0">
                <a:latin typeface="Arial"/>
                <a:cs typeface="Arial"/>
              </a:rPr>
              <a:t>application </a:t>
            </a:r>
            <a:r>
              <a:rPr sz="2200" spc="20" dirty="0">
                <a:latin typeface="Arial"/>
                <a:cs typeface="Arial"/>
              </a:rPr>
              <a:t>fields </a:t>
            </a:r>
            <a:r>
              <a:rPr sz="2200" spc="100" dirty="0">
                <a:latin typeface="Arial"/>
                <a:cs typeface="Arial"/>
              </a:rPr>
              <a:t>of </a:t>
            </a:r>
            <a:r>
              <a:rPr sz="2200" spc="-35" dirty="0">
                <a:latin typeface="Arial"/>
                <a:cs typeface="Arial"/>
              </a:rPr>
              <a:t>AI, </a:t>
            </a:r>
            <a:r>
              <a:rPr sz="2200" spc="55" dirty="0">
                <a:latin typeface="Arial"/>
                <a:cs typeface="Arial"/>
              </a:rPr>
              <a:t>briefly </a:t>
            </a:r>
            <a:r>
              <a:rPr sz="2200" spc="20" dirty="0">
                <a:latin typeface="Arial"/>
                <a:cs typeface="Arial"/>
              </a:rPr>
              <a:t>introduces  </a:t>
            </a:r>
            <a:r>
              <a:rPr sz="2200" spc="15" dirty="0">
                <a:latin typeface="Arial"/>
                <a:cs typeface="Arial"/>
              </a:rPr>
              <a:t>Huawei's </a:t>
            </a:r>
            <a:r>
              <a:rPr sz="2200" spc="-10" dirty="0">
                <a:latin typeface="Arial"/>
                <a:cs typeface="Arial"/>
              </a:rPr>
              <a:t>AI </a:t>
            </a:r>
            <a:r>
              <a:rPr sz="2200" spc="35" dirty="0">
                <a:latin typeface="Arial"/>
                <a:cs typeface="Arial"/>
              </a:rPr>
              <a:t>development </a:t>
            </a:r>
            <a:r>
              <a:rPr sz="2200" spc="10" dirty="0">
                <a:latin typeface="Arial"/>
                <a:cs typeface="Arial"/>
              </a:rPr>
              <a:t>strategy, </a:t>
            </a:r>
            <a:r>
              <a:rPr sz="2200" spc="25" dirty="0">
                <a:latin typeface="Arial"/>
                <a:cs typeface="Arial"/>
              </a:rPr>
              <a:t>and </a:t>
            </a:r>
            <a:r>
              <a:rPr sz="2200" spc="65" dirty="0">
                <a:latin typeface="Arial"/>
                <a:cs typeface="Arial"/>
              </a:rPr>
              <a:t>finally </a:t>
            </a:r>
            <a:r>
              <a:rPr sz="2200" spc="-80" dirty="0">
                <a:latin typeface="Arial"/>
                <a:cs typeface="Arial"/>
              </a:rPr>
              <a:t>discusses </a:t>
            </a:r>
            <a:r>
              <a:rPr sz="2200" spc="55" dirty="0">
                <a:latin typeface="Arial"/>
                <a:cs typeface="Arial"/>
              </a:rPr>
              <a:t>the </a:t>
            </a:r>
            <a:r>
              <a:rPr sz="2200" spc="-5" dirty="0">
                <a:latin typeface="Arial"/>
                <a:cs typeface="Arial"/>
              </a:rPr>
              <a:t>disputes </a:t>
            </a:r>
            <a:r>
              <a:rPr sz="2200" spc="25" dirty="0">
                <a:latin typeface="Arial"/>
                <a:cs typeface="Arial"/>
              </a:rPr>
              <a:t>and  </a:t>
            </a:r>
            <a:r>
              <a:rPr sz="2200" spc="55" dirty="0">
                <a:latin typeface="Arial"/>
                <a:cs typeface="Arial"/>
              </a:rPr>
              <a:t>the </a:t>
            </a:r>
            <a:r>
              <a:rPr sz="2200" spc="35" dirty="0">
                <a:latin typeface="Arial"/>
                <a:cs typeface="Arial"/>
              </a:rPr>
              <a:t>development </a:t>
            </a:r>
            <a:r>
              <a:rPr sz="2200" spc="20" dirty="0">
                <a:latin typeface="Arial"/>
                <a:cs typeface="Arial"/>
              </a:rPr>
              <a:t>trends </a:t>
            </a:r>
            <a:r>
              <a:rPr sz="2200" spc="90" dirty="0">
                <a:latin typeface="Arial"/>
                <a:cs typeface="Arial"/>
              </a:rPr>
              <a:t>of</a:t>
            </a:r>
            <a:r>
              <a:rPr sz="2200" spc="215" dirty="0">
                <a:latin typeface="Arial"/>
                <a:cs typeface="Arial"/>
              </a:rPr>
              <a:t> </a:t>
            </a:r>
            <a:r>
              <a:rPr sz="2200" spc="-45" dirty="0">
                <a:latin typeface="Arial"/>
                <a:cs typeface="Arial"/>
              </a:rPr>
              <a:t>AI.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5288</Words>
  <Application>Microsoft Office PowerPoint</Application>
  <PresentationFormat>Widescreen</PresentationFormat>
  <Paragraphs>911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Arial</vt:lpstr>
      <vt:lpstr>Calibri</vt:lpstr>
      <vt:lpstr>Times New Roman</vt:lpstr>
      <vt:lpstr>Wingdings</vt:lpstr>
      <vt:lpstr>Office Theme</vt:lpstr>
      <vt:lpstr>AI Overview</vt:lpstr>
      <vt:lpstr>Foreword</vt:lpstr>
      <vt:lpstr>Objectives</vt:lpstr>
      <vt:lpstr>Contents</vt:lpstr>
      <vt:lpstr>AI in the Eyes of the Society</vt:lpstr>
      <vt:lpstr>AI in the Eyes of Researchers</vt:lpstr>
      <vt:lpstr>What Are Intelligences?</vt:lpstr>
      <vt:lpstr>What Is AI?</vt:lpstr>
      <vt:lpstr>Relationship of AI, Machine Learning, and Deep Learning</vt:lpstr>
      <vt:lpstr>Relationship of AI, Machine Learning and Deep Learning</vt:lpstr>
      <vt:lpstr>Three Major Schools of Thought: Symbolism</vt:lpstr>
      <vt:lpstr>Three Major Schools of Thought: Connectionism</vt:lpstr>
      <vt:lpstr>Three Major Schools of Thought: Behaviorism</vt:lpstr>
      <vt:lpstr>Brief Development History of AI</vt:lpstr>
      <vt:lpstr>Overview of AI Technologies</vt:lpstr>
      <vt:lpstr>Types of AI</vt:lpstr>
      <vt:lpstr>Classification of Intelligent Robots</vt:lpstr>
      <vt:lpstr>PowerPoint Presentation</vt:lpstr>
      <vt:lpstr>Sub-fields of AI</vt:lpstr>
      <vt:lpstr>Contents</vt:lpstr>
      <vt:lpstr>Technical Fields and Application Fields of AI</vt:lpstr>
      <vt:lpstr>Distribution of AI Application Technologies in Enterprises  Inside and Outside China</vt:lpstr>
      <vt:lpstr>Computer Vision Application Scenario (1)</vt:lpstr>
      <vt:lpstr>Computer Vision Application Scenario (2)</vt:lpstr>
      <vt:lpstr>Voice Processing Application Scenario (1)</vt:lpstr>
      <vt:lpstr>Voice Processing Application Scenario (2)</vt:lpstr>
      <vt:lpstr>NLP Application Scenario (1)</vt:lpstr>
      <vt:lpstr>NLP Application Scenario (2)</vt:lpstr>
      <vt:lpstr>AI Application Field - Intelligent Healthcare</vt:lpstr>
      <vt:lpstr>AI Application Field - Intelligent Security</vt:lpstr>
      <vt:lpstr>AI Application Field - Smart Home</vt:lpstr>
      <vt:lpstr>AI Application Field - Smart City</vt:lpstr>
      <vt:lpstr>AI Application Field - Retail</vt:lpstr>
      <vt:lpstr>AI Application Field - Autonomous Driving</vt:lpstr>
      <vt:lpstr>AI Will Change All Industries</vt:lpstr>
      <vt:lpstr>AI: Still in Its Infancy</vt:lpstr>
      <vt:lpstr>Contents</vt:lpstr>
      <vt:lpstr>Huawei's Full-Stack, All-Scenario AI Portfolio</vt:lpstr>
      <vt:lpstr>Full Stack - ModelArts Full-Cycle AI Workflow</vt:lpstr>
      <vt:lpstr>Full Stack — MindSpore (Huawei AI Computing  Framework)</vt:lpstr>
      <vt:lpstr>Full Stack — CANN</vt:lpstr>
      <vt:lpstr>Full Stack — Ascend 310 AI Processor and Da Vinci Core</vt:lpstr>
      <vt:lpstr>Ascend AI Processors: Infusing Superior Intelligence for  Computing</vt:lpstr>
      <vt:lpstr>Atlas AI Computing Platform Portfolio</vt:lpstr>
      <vt:lpstr>Huawei Atlas Computational Reasoning Platform</vt:lpstr>
      <vt:lpstr>HUAWEI CLOUD AI and HUAWEI Mobile Phones Help  RFCx Protect the Rainforest</vt:lpstr>
      <vt:lpstr>Contents</vt:lpstr>
      <vt:lpstr>Algorithmic Bias</vt:lpstr>
      <vt:lpstr>Privacy Issues</vt:lpstr>
      <vt:lpstr>Seeing = Believing?</vt:lpstr>
      <vt:lpstr>AI Development = Rising Unemployment?</vt:lpstr>
      <vt:lpstr>Problems to Be Solved</vt:lpstr>
      <vt:lpstr>Contents</vt:lpstr>
      <vt:lpstr>Development Trends of AI Technologies</vt:lpstr>
      <vt:lpstr>PowerPoint Presentation</vt:lpstr>
      <vt:lpstr>PowerPoint Presentation</vt:lpstr>
      <vt:lpstr>Pytorch vs Tensorflow</vt:lpstr>
      <vt:lpstr>Algorithms Model with Better Performance</vt:lpstr>
      <vt:lpstr>Smaller Deep Learning Models</vt:lpstr>
      <vt:lpstr>Computing Power with Comprehensive Device-Edge-  Cloud Development</vt:lpstr>
      <vt:lpstr>More Secure Data Sharing</vt:lpstr>
      <vt:lpstr>Continuous Breakthroughs in Application Scenarios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sri winiarti</cp:lastModifiedBy>
  <cp:revision>1</cp:revision>
  <dcterms:created xsi:type="dcterms:W3CDTF">2021-07-17T04:41:46Z</dcterms:created>
  <dcterms:modified xsi:type="dcterms:W3CDTF">2021-07-19T10:29:54Z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2020-11-26T00:00:00Z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2021-07-17T00:00:00Z</vt:filetime>
  </property>
</Properties>
</file>